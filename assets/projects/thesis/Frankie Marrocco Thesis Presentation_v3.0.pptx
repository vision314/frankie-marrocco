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charts/chart3.xml" ContentType="application/vnd.openxmlformats-officedocument.drawingml.chart+xml"/>
  <Override PartName="/ppt/notesSlides/notesSlide61.xml" ContentType="application/vnd.openxmlformats-officedocument.presentationml.notesSlide+xml"/>
  <Override PartName="/ppt/charts/chart4.xml" ContentType="application/vnd.openxmlformats-officedocument.drawingml.chart+xml"/>
  <Override PartName="/ppt/notesSlides/notesSlide62.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1"/>
  </p:notesMasterIdLst>
  <p:handoutMasterIdLst>
    <p:handoutMasterId r:id="rId82"/>
  </p:handoutMasterIdLst>
  <p:sldIdLst>
    <p:sldId id="2132" r:id="rId2"/>
    <p:sldId id="2225" r:id="rId3"/>
    <p:sldId id="2209" r:id="rId4"/>
    <p:sldId id="2152" r:id="rId5"/>
    <p:sldId id="2139" r:id="rId6"/>
    <p:sldId id="2149" r:id="rId7"/>
    <p:sldId id="2166" r:id="rId8"/>
    <p:sldId id="2220" r:id="rId9"/>
    <p:sldId id="2221" r:id="rId10"/>
    <p:sldId id="2222" r:id="rId11"/>
    <p:sldId id="2223" r:id="rId12"/>
    <p:sldId id="2215" r:id="rId13"/>
    <p:sldId id="2200" r:id="rId14"/>
    <p:sldId id="2212" r:id="rId15"/>
    <p:sldId id="2199" r:id="rId16"/>
    <p:sldId id="2153" r:id="rId17"/>
    <p:sldId id="2150" r:id="rId18"/>
    <p:sldId id="2180" r:id="rId19"/>
    <p:sldId id="2181" r:id="rId20"/>
    <p:sldId id="2171" r:id="rId21"/>
    <p:sldId id="2183" r:id="rId22"/>
    <p:sldId id="2216" r:id="rId23"/>
    <p:sldId id="2172" r:id="rId24"/>
    <p:sldId id="2174" r:id="rId25"/>
    <p:sldId id="2190" r:id="rId26"/>
    <p:sldId id="2175" r:id="rId27"/>
    <p:sldId id="2176" r:id="rId28"/>
    <p:sldId id="2205" r:id="rId29"/>
    <p:sldId id="2169" r:id="rId30"/>
    <p:sldId id="2141" r:id="rId31"/>
    <p:sldId id="2227" r:id="rId32"/>
    <p:sldId id="2228" r:id="rId33"/>
    <p:sldId id="2192" r:id="rId34"/>
    <p:sldId id="2193" r:id="rId35"/>
    <p:sldId id="2144" r:id="rId36"/>
    <p:sldId id="2201" r:id="rId37"/>
    <p:sldId id="2194" r:id="rId38"/>
    <p:sldId id="2207" r:id="rId39"/>
    <p:sldId id="2197" r:id="rId40"/>
    <p:sldId id="2208" r:id="rId41"/>
    <p:sldId id="2206" r:id="rId42"/>
    <p:sldId id="2219" r:id="rId43"/>
    <p:sldId id="2196" r:id="rId44"/>
    <p:sldId id="2155" r:id="rId45"/>
    <p:sldId id="2145" r:id="rId46"/>
    <p:sldId id="2147" r:id="rId47"/>
    <p:sldId id="2204" r:id="rId48"/>
    <p:sldId id="2189" r:id="rId49"/>
    <p:sldId id="2226" r:id="rId50"/>
    <p:sldId id="2182" r:id="rId51"/>
    <p:sldId id="2160" r:id="rId52"/>
    <p:sldId id="2162" r:id="rId53"/>
    <p:sldId id="2213" r:id="rId54"/>
    <p:sldId id="2214" r:id="rId55"/>
    <p:sldId id="2198" r:id="rId56"/>
    <p:sldId id="2168" r:id="rId57"/>
    <p:sldId id="2133" r:id="rId58"/>
    <p:sldId id="2099" r:id="rId59"/>
    <p:sldId id="2129" r:id="rId60"/>
    <p:sldId id="2130" r:id="rId61"/>
    <p:sldId id="2104" r:id="rId62"/>
    <p:sldId id="2124" r:id="rId63"/>
    <p:sldId id="2123" r:id="rId64"/>
    <p:sldId id="2125" r:id="rId65"/>
    <p:sldId id="2106" r:id="rId66"/>
    <p:sldId id="2126" r:id="rId67"/>
    <p:sldId id="2127" r:id="rId68"/>
    <p:sldId id="2128" r:id="rId69"/>
    <p:sldId id="264" r:id="rId70"/>
    <p:sldId id="266" r:id="rId71"/>
    <p:sldId id="268" r:id="rId72"/>
    <p:sldId id="270" r:id="rId73"/>
    <p:sldId id="2138" r:id="rId74"/>
    <p:sldId id="2136" r:id="rId75"/>
    <p:sldId id="2135" r:id="rId76"/>
    <p:sldId id="2137" r:id="rId77"/>
    <p:sldId id="2165" r:id="rId78"/>
    <p:sldId id="2164" r:id="rId79"/>
    <p:sldId id="2167" r:id="rId80"/>
  </p:sldIdLst>
  <p:sldSz cx="12192000" cy="6858000"/>
  <p:notesSz cx="7010400" cy="9296400"/>
  <p:custDataLst>
    <p:tags r:id="rId8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6B7CC2B-0207-45D7-BFC9-AD8C646F61C5}">
          <p14:sldIdLst>
            <p14:sldId id="2132"/>
            <p14:sldId id="2225"/>
            <p14:sldId id="2209"/>
            <p14:sldId id="2152"/>
            <p14:sldId id="2139"/>
            <p14:sldId id="2149"/>
            <p14:sldId id="2166"/>
            <p14:sldId id="2220"/>
            <p14:sldId id="2221"/>
            <p14:sldId id="2222"/>
            <p14:sldId id="2223"/>
            <p14:sldId id="2215"/>
            <p14:sldId id="2200"/>
            <p14:sldId id="2212"/>
            <p14:sldId id="2199"/>
            <p14:sldId id="2153"/>
            <p14:sldId id="2150"/>
            <p14:sldId id="2180"/>
            <p14:sldId id="2181"/>
            <p14:sldId id="2171"/>
            <p14:sldId id="2183"/>
          </p14:sldIdLst>
        </p14:section>
        <p14:section name="T&amp;U Specturm Estimation" id="{7B3E9B44-4F15-4628-8345-6B1BDCEF1250}">
          <p14:sldIdLst>
            <p14:sldId id="2216"/>
            <p14:sldId id="2172"/>
            <p14:sldId id="2174"/>
            <p14:sldId id="2190"/>
            <p14:sldId id="2175"/>
            <p14:sldId id="2176"/>
          </p14:sldIdLst>
        </p14:section>
        <p14:section name="Static Characterization" id="{D9E4C982-30B7-4A7D-8D36-011DFC740734}">
          <p14:sldIdLst>
            <p14:sldId id="2205"/>
            <p14:sldId id="2169"/>
            <p14:sldId id="2141"/>
            <p14:sldId id="2227"/>
            <p14:sldId id="2228"/>
            <p14:sldId id="2192"/>
            <p14:sldId id="2193"/>
            <p14:sldId id="2144"/>
            <p14:sldId id="2201"/>
            <p14:sldId id="2194"/>
            <p14:sldId id="2207"/>
            <p14:sldId id="2197"/>
            <p14:sldId id="2208"/>
            <p14:sldId id="2206"/>
            <p14:sldId id="2219"/>
            <p14:sldId id="2196"/>
            <p14:sldId id="2155"/>
            <p14:sldId id="2145"/>
            <p14:sldId id="2147"/>
            <p14:sldId id="2204"/>
            <p14:sldId id="2189"/>
            <p14:sldId id="2226"/>
            <p14:sldId id="2182"/>
            <p14:sldId id="2160"/>
            <p14:sldId id="2162"/>
            <p14:sldId id="2213"/>
            <p14:sldId id="2214"/>
            <p14:sldId id="2198"/>
            <p14:sldId id="2168"/>
            <p14:sldId id="2133"/>
            <p14:sldId id="2099"/>
            <p14:sldId id="2129"/>
            <p14:sldId id="2130"/>
            <p14:sldId id="2104"/>
            <p14:sldId id="2124"/>
            <p14:sldId id="2123"/>
            <p14:sldId id="2125"/>
            <p14:sldId id="2106"/>
            <p14:sldId id="2126"/>
            <p14:sldId id="2127"/>
            <p14:sldId id="2128"/>
            <p14:sldId id="264"/>
            <p14:sldId id="266"/>
            <p14:sldId id="268"/>
            <p14:sldId id="270"/>
            <p14:sldId id="2138"/>
            <p14:sldId id="2136"/>
            <p14:sldId id="2135"/>
            <p14:sldId id="2137"/>
            <p14:sldId id="2165"/>
            <p14:sldId id="2164"/>
            <p14:sldId id="2167"/>
          </p14:sldIdLst>
        </p14:section>
      </p14:sectionLst>
    </p:ext>
    <p:ext uri="{EFAFB233-063F-42B5-8137-9DF3F51BA10A}">
      <p15:sldGuideLst xmlns:p15="http://schemas.microsoft.com/office/powerpoint/2012/main">
        <p15:guide id="1" orient="horz" pos="720" userDrawn="1">
          <p15:clr>
            <a:srgbClr val="A4A3A4"/>
          </p15:clr>
        </p15:guide>
        <p15:guide id="2" orient="horz" pos="960" userDrawn="1">
          <p15:clr>
            <a:srgbClr val="A4A3A4"/>
          </p15:clr>
        </p15:guide>
        <p15:guide id="3" orient="horz" pos="3888" userDrawn="1">
          <p15:clr>
            <a:srgbClr val="A4A3A4"/>
          </p15:clr>
        </p15:guide>
        <p15:guide id="4" pos="456" userDrawn="1">
          <p15:clr>
            <a:srgbClr val="A4A3A4"/>
          </p15:clr>
        </p15:guide>
        <p15:guide id="5" pos="7296" userDrawn="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B0B0"/>
    <a:srgbClr val="EAEAEA"/>
    <a:srgbClr val="000000"/>
    <a:srgbClr val="FFFF00"/>
    <a:srgbClr val="2FF942"/>
    <a:srgbClr val="4CFA5D"/>
    <a:srgbClr val="6E008A"/>
    <a:srgbClr val="C78A3D"/>
    <a:srgbClr val="F19DA9"/>
    <a:srgbClr val="AB19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73" autoAdjust="0"/>
    <p:restoredTop sz="83813" autoAdjust="0"/>
  </p:normalViewPr>
  <p:slideViewPr>
    <p:cSldViewPr snapToGrid="0">
      <p:cViewPr varScale="1">
        <p:scale>
          <a:sx n="81" d="100"/>
          <a:sy n="81" d="100"/>
        </p:scale>
        <p:origin x="883" y="53"/>
      </p:cViewPr>
      <p:guideLst>
        <p:guide orient="horz" pos="720"/>
        <p:guide orient="horz" pos="960"/>
        <p:guide orient="horz" pos="3888"/>
        <p:guide pos="456"/>
        <p:guide pos="7296"/>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102" d="100"/>
          <a:sy n="102" d="100"/>
        </p:scale>
        <p:origin x="4304" y="176"/>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Francesco%20Marrocco\OneDrive%20-%20Worcester%20Polytechnic%20Institute%20(wpi.edu)\THESIS\Writing\dynamic_results_shee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Francesco%20Marrocco\OneDrive%20-%20Worcester%20Polytechnic%20Institute%20(wpi.edu)\THESIS\Writing\dynamic_results_shee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Top ADC</a:t>
            </a:r>
            <a:r>
              <a:rPr lang="en-US" baseline="0"/>
              <a:t> ENOB vs Bottoom ADC ENOB (HPM)</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v>TOP FADC ENOB</c:v>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'DATA FINAL'!$B$3:$B$8</c:f>
              <c:numCache>
                <c:formatCode>0.0</c:formatCode>
                <c:ptCount val="6"/>
                <c:pt idx="0">
                  <c:v>0.5</c:v>
                </c:pt>
                <c:pt idx="1">
                  <c:v>1</c:v>
                </c:pt>
                <c:pt idx="2">
                  <c:v>2</c:v>
                </c:pt>
                <c:pt idx="3">
                  <c:v>3</c:v>
                </c:pt>
                <c:pt idx="4">
                  <c:v>4</c:v>
                </c:pt>
                <c:pt idx="5">
                  <c:v>5</c:v>
                </c:pt>
              </c:numCache>
            </c:numRef>
          </c:cat>
          <c:val>
            <c:numRef>
              <c:f>'DATA FINAL'!$D$3:$D$8</c:f>
              <c:numCache>
                <c:formatCode>General</c:formatCode>
                <c:ptCount val="6"/>
                <c:pt idx="0">
                  <c:v>4.38</c:v>
                </c:pt>
                <c:pt idx="1">
                  <c:v>4.51</c:v>
                </c:pt>
                <c:pt idx="2">
                  <c:v>4.51</c:v>
                </c:pt>
                <c:pt idx="3">
                  <c:v>4.08</c:v>
                </c:pt>
                <c:pt idx="4">
                  <c:v>3.87</c:v>
                </c:pt>
                <c:pt idx="5">
                  <c:v>-0.1</c:v>
                </c:pt>
              </c:numCache>
            </c:numRef>
          </c:val>
          <c:smooth val="0"/>
          <c:extLst>
            <c:ext xmlns:c16="http://schemas.microsoft.com/office/drawing/2014/chart" uri="{C3380CC4-5D6E-409C-BE32-E72D297353CC}">
              <c16:uniqueId val="{00000000-92B1-4767-A481-09B4AEF7631D}"/>
            </c:ext>
          </c:extLst>
        </c:ser>
        <c:ser>
          <c:idx val="1"/>
          <c:order val="1"/>
          <c:tx>
            <c:v>BOTTOM FADC ENOB</c:v>
          </c:tx>
          <c:spPr>
            <a:ln w="28575" cap="rnd">
              <a:solidFill>
                <a:schemeClr val="accent2"/>
              </a:solidFill>
              <a:round/>
            </a:ln>
            <a:effectLst/>
          </c:spPr>
          <c:marker>
            <c:symbol val="circle"/>
            <c:size val="5"/>
            <c:spPr>
              <a:solidFill>
                <a:schemeClr val="accent2"/>
              </a:solidFill>
              <a:ln w="9525">
                <a:solidFill>
                  <a:schemeClr val="accent2"/>
                </a:solidFill>
              </a:ln>
              <a:effectLst/>
            </c:spPr>
          </c:marker>
          <c:val>
            <c:numRef>
              <c:f>'DATA FINAL'!$D$23:$D$28</c:f>
              <c:numCache>
                <c:formatCode>General</c:formatCode>
                <c:ptCount val="6"/>
                <c:pt idx="0">
                  <c:v>4.45</c:v>
                </c:pt>
                <c:pt idx="1">
                  <c:v>4.55</c:v>
                </c:pt>
                <c:pt idx="2">
                  <c:v>4.5599999999999996</c:v>
                </c:pt>
                <c:pt idx="3">
                  <c:v>4.09</c:v>
                </c:pt>
                <c:pt idx="4">
                  <c:v>3.81</c:v>
                </c:pt>
                <c:pt idx="5">
                  <c:v>0.5</c:v>
                </c:pt>
              </c:numCache>
            </c:numRef>
          </c:val>
          <c:smooth val="0"/>
          <c:extLst>
            <c:ext xmlns:c16="http://schemas.microsoft.com/office/drawing/2014/chart" uri="{C3380CC4-5D6E-409C-BE32-E72D297353CC}">
              <c16:uniqueId val="{00000001-92B1-4767-A481-09B4AEF7631D}"/>
            </c:ext>
          </c:extLst>
        </c:ser>
        <c:dLbls>
          <c:showLegendKey val="0"/>
          <c:showVal val="0"/>
          <c:showCatName val="0"/>
          <c:showSerName val="0"/>
          <c:showPercent val="0"/>
          <c:showBubbleSize val="0"/>
        </c:dLbls>
        <c:marker val="1"/>
        <c:smooth val="0"/>
        <c:axId val="1694767984"/>
        <c:axId val="1694744944"/>
      </c:lineChart>
      <c:catAx>
        <c:axId val="169476798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Sampling</a:t>
                </a:r>
                <a:r>
                  <a:rPr lang="en-US" baseline="0" dirty="0"/>
                  <a:t> Frequency</a:t>
                </a:r>
                <a:r>
                  <a:rPr lang="en-US" dirty="0"/>
                  <a:t> (MHz)</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94744944"/>
        <c:crosses val="autoZero"/>
        <c:auto val="1"/>
        <c:lblAlgn val="ctr"/>
        <c:lblOffset val="100"/>
        <c:noMultiLvlLbl val="0"/>
      </c:catAx>
      <c:valAx>
        <c:axId val="1694744944"/>
        <c:scaling>
          <c:orientation val="minMax"/>
          <c:max val="5"/>
          <c:min val="3"/>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ENOB</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9476798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0"/>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ENOB</a:t>
            </a:r>
            <a:r>
              <a:rPr lang="en-US" baseline="0"/>
              <a:t> vs Power Mode and Sampling Frequnecy</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v>HPM</c:v>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'DATA FINAL'!$B$3:$B$8</c:f>
              <c:numCache>
                <c:formatCode>0.0</c:formatCode>
                <c:ptCount val="6"/>
                <c:pt idx="0">
                  <c:v>0.5</c:v>
                </c:pt>
                <c:pt idx="1">
                  <c:v>1</c:v>
                </c:pt>
                <c:pt idx="2">
                  <c:v>2</c:v>
                </c:pt>
                <c:pt idx="3">
                  <c:v>3</c:v>
                </c:pt>
                <c:pt idx="4">
                  <c:v>4</c:v>
                </c:pt>
                <c:pt idx="5">
                  <c:v>5</c:v>
                </c:pt>
              </c:numCache>
            </c:numRef>
          </c:cat>
          <c:val>
            <c:numRef>
              <c:f>'DATA FINAL'!$D$3:$D$8</c:f>
              <c:numCache>
                <c:formatCode>General</c:formatCode>
                <c:ptCount val="6"/>
                <c:pt idx="0">
                  <c:v>4.38</c:v>
                </c:pt>
                <c:pt idx="1">
                  <c:v>4.51</c:v>
                </c:pt>
                <c:pt idx="2">
                  <c:v>4.51</c:v>
                </c:pt>
                <c:pt idx="3">
                  <c:v>4.08</c:v>
                </c:pt>
                <c:pt idx="4">
                  <c:v>3.87</c:v>
                </c:pt>
                <c:pt idx="5">
                  <c:v>-0.1</c:v>
                </c:pt>
              </c:numCache>
            </c:numRef>
          </c:val>
          <c:smooth val="0"/>
          <c:extLst>
            <c:ext xmlns:c16="http://schemas.microsoft.com/office/drawing/2014/chart" uri="{C3380CC4-5D6E-409C-BE32-E72D297353CC}">
              <c16:uniqueId val="{00000000-2A2A-421A-93A0-1B65376E926D}"/>
            </c:ext>
          </c:extLst>
        </c:ser>
        <c:ser>
          <c:idx val="1"/>
          <c:order val="1"/>
          <c:tx>
            <c:v>RPM</c:v>
          </c:tx>
          <c:spPr>
            <a:ln w="28575" cap="rnd">
              <a:solidFill>
                <a:schemeClr val="accent2"/>
              </a:solidFill>
              <a:round/>
            </a:ln>
            <a:effectLst/>
          </c:spPr>
          <c:marker>
            <c:symbol val="circle"/>
            <c:size val="5"/>
            <c:spPr>
              <a:solidFill>
                <a:schemeClr val="accent2"/>
              </a:solidFill>
              <a:ln w="9525">
                <a:solidFill>
                  <a:schemeClr val="accent2"/>
                </a:solidFill>
              </a:ln>
              <a:effectLst/>
            </c:spPr>
          </c:marker>
          <c:val>
            <c:numRef>
              <c:f>'DATA FINAL'!$D$9:$D$14</c:f>
              <c:numCache>
                <c:formatCode>General</c:formatCode>
                <c:ptCount val="6"/>
                <c:pt idx="0">
                  <c:v>4.5199999999999996</c:v>
                </c:pt>
                <c:pt idx="1">
                  <c:v>4.63</c:v>
                </c:pt>
                <c:pt idx="2">
                  <c:v>4.08</c:v>
                </c:pt>
                <c:pt idx="3">
                  <c:v>3.88</c:v>
                </c:pt>
                <c:pt idx="4">
                  <c:v>3.64</c:v>
                </c:pt>
                <c:pt idx="5">
                  <c:v>-0.02</c:v>
                </c:pt>
              </c:numCache>
            </c:numRef>
          </c:val>
          <c:smooth val="0"/>
          <c:extLst>
            <c:ext xmlns:c16="http://schemas.microsoft.com/office/drawing/2014/chart" uri="{C3380CC4-5D6E-409C-BE32-E72D297353CC}">
              <c16:uniqueId val="{00000001-2A2A-421A-93A0-1B65376E926D}"/>
            </c:ext>
          </c:extLst>
        </c:ser>
        <c:ser>
          <c:idx val="2"/>
          <c:order val="2"/>
          <c:tx>
            <c:v>LPM</c:v>
          </c:tx>
          <c:spPr>
            <a:ln w="28575" cap="rnd">
              <a:solidFill>
                <a:schemeClr val="accent3"/>
              </a:solidFill>
              <a:round/>
            </a:ln>
            <a:effectLst/>
          </c:spPr>
          <c:marker>
            <c:symbol val="circle"/>
            <c:size val="5"/>
            <c:spPr>
              <a:solidFill>
                <a:schemeClr val="accent3"/>
              </a:solidFill>
              <a:ln w="9525">
                <a:solidFill>
                  <a:schemeClr val="accent3"/>
                </a:solidFill>
              </a:ln>
              <a:effectLst/>
            </c:spPr>
          </c:marker>
          <c:val>
            <c:numRef>
              <c:f>'DATA FINAL'!$D$15:$D$20</c:f>
              <c:numCache>
                <c:formatCode>General</c:formatCode>
                <c:ptCount val="6"/>
                <c:pt idx="0">
                  <c:v>4.8600000000000003</c:v>
                </c:pt>
                <c:pt idx="1">
                  <c:v>3.59</c:v>
                </c:pt>
                <c:pt idx="2">
                  <c:v>2.85</c:v>
                </c:pt>
                <c:pt idx="3">
                  <c:v>1.64</c:v>
                </c:pt>
                <c:pt idx="4">
                  <c:v>0.83</c:v>
                </c:pt>
                <c:pt idx="5">
                  <c:v>-0.69</c:v>
                </c:pt>
              </c:numCache>
            </c:numRef>
          </c:val>
          <c:smooth val="0"/>
          <c:extLst>
            <c:ext xmlns:c16="http://schemas.microsoft.com/office/drawing/2014/chart" uri="{C3380CC4-5D6E-409C-BE32-E72D297353CC}">
              <c16:uniqueId val="{00000002-2A2A-421A-93A0-1B65376E926D}"/>
            </c:ext>
          </c:extLst>
        </c:ser>
        <c:dLbls>
          <c:showLegendKey val="0"/>
          <c:showVal val="0"/>
          <c:showCatName val="0"/>
          <c:showSerName val="0"/>
          <c:showPercent val="0"/>
          <c:showBubbleSize val="0"/>
        </c:dLbls>
        <c:marker val="1"/>
        <c:smooth val="0"/>
        <c:axId val="1694767984"/>
        <c:axId val="1694744944"/>
      </c:lineChart>
      <c:catAx>
        <c:axId val="169476798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Sampling</a:t>
                </a:r>
                <a:r>
                  <a:rPr lang="en-US" baseline="0" dirty="0"/>
                  <a:t> Frequency</a:t>
                </a:r>
                <a:r>
                  <a:rPr lang="en-US" dirty="0"/>
                  <a:t> (MHz)</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94744944"/>
        <c:crosses val="autoZero"/>
        <c:auto val="1"/>
        <c:lblAlgn val="ctr"/>
        <c:lblOffset val="100"/>
        <c:noMultiLvlLbl val="0"/>
      </c:catAx>
      <c:valAx>
        <c:axId val="1694744944"/>
        <c:scaling>
          <c:orientation val="minMax"/>
          <c:max val="8"/>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ENOB</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9476798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0"/>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Sheet1!$B$1</c:f>
              <c:strCache>
                <c:ptCount val="1"/>
                <c:pt idx="0">
                  <c:v>Series 1</c:v>
                </c:pt>
              </c:strCache>
            </c:strRef>
          </c:tx>
          <c:spPr>
            <a:solidFill>
              <a:srgbClr val="AB162B"/>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CA8-8644-A5F4-CDC04B5B54B5}"/>
            </c:ext>
          </c:extLst>
        </c:ser>
        <c:ser>
          <c:idx val="1"/>
          <c:order val="1"/>
          <c:tx>
            <c:strRef>
              <c:f>Sheet1!$C$1</c:f>
              <c:strCache>
                <c:ptCount val="1"/>
                <c:pt idx="0">
                  <c:v>Series 2</c:v>
                </c:pt>
              </c:strCache>
            </c:strRef>
          </c:tx>
          <c:spPr>
            <a:solidFill>
              <a:srgbClr val="B2B7BB"/>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CA8-8644-A5F4-CDC04B5B54B5}"/>
            </c:ext>
          </c:extLst>
        </c:ser>
        <c:ser>
          <c:idx val="2"/>
          <c:order val="2"/>
          <c:tx>
            <c:strRef>
              <c:f>Sheet1!$D$1</c:f>
              <c:strCache>
                <c:ptCount val="1"/>
                <c:pt idx="0">
                  <c:v>Series 3</c:v>
                </c:pt>
              </c:strCache>
            </c:strRef>
          </c:tx>
          <c:spPr>
            <a:solidFill>
              <a:srgbClr val="002E6D"/>
            </a:solidFill>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6CA8-8644-A5F4-CDC04B5B54B5}"/>
            </c:ext>
          </c:extLst>
        </c:ser>
        <c:ser>
          <c:idx val="3"/>
          <c:order val="3"/>
          <c:tx>
            <c:strRef>
              <c:f>Sheet1!$E$1</c:f>
              <c:strCache>
                <c:ptCount val="1"/>
                <c:pt idx="0">
                  <c:v>Series 4</c:v>
                </c:pt>
              </c:strCache>
            </c:strRef>
          </c:tx>
          <c:spPr>
            <a:solidFill>
              <a:srgbClr val="5E7361"/>
            </a:solidFill>
          </c:spPr>
          <c:invertIfNegative val="0"/>
          <c:cat>
            <c:strRef>
              <c:f>Sheet1!$A$2:$A$5</c:f>
              <c:strCache>
                <c:ptCount val="4"/>
                <c:pt idx="0">
                  <c:v>Category 1</c:v>
                </c:pt>
                <c:pt idx="1">
                  <c:v>Category 2</c:v>
                </c:pt>
                <c:pt idx="2">
                  <c:v>Category 3</c:v>
                </c:pt>
                <c:pt idx="3">
                  <c:v>Category 4</c:v>
                </c:pt>
              </c:strCache>
            </c:strRef>
          </c:cat>
          <c:val>
            <c:numRef>
              <c:f>Sheet1!$E$2:$E$5</c:f>
              <c:numCache>
                <c:formatCode>General</c:formatCode>
                <c:ptCount val="4"/>
                <c:pt idx="0">
                  <c:v>5</c:v>
                </c:pt>
                <c:pt idx="1">
                  <c:v>3</c:v>
                </c:pt>
                <c:pt idx="2">
                  <c:v>2</c:v>
                </c:pt>
                <c:pt idx="3">
                  <c:v>1</c:v>
                </c:pt>
              </c:numCache>
            </c:numRef>
          </c:val>
          <c:extLst>
            <c:ext xmlns:c16="http://schemas.microsoft.com/office/drawing/2014/chart" uri="{C3380CC4-5D6E-409C-BE32-E72D297353CC}">
              <c16:uniqueId val="{00000003-6CA8-8644-A5F4-CDC04B5B54B5}"/>
            </c:ext>
          </c:extLst>
        </c:ser>
        <c:ser>
          <c:idx val="4"/>
          <c:order val="4"/>
          <c:tx>
            <c:strRef>
              <c:f>Sheet1!$F$1</c:f>
              <c:strCache>
                <c:ptCount val="1"/>
                <c:pt idx="0">
                  <c:v>Series 5</c:v>
                </c:pt>
              </c:strCache>
            </c:strRef>
          </c:tx>
          <c:spPr>
            <a:solidFill>
              <a:srgbClr val="C78A3D"/>
            </a:solidFill>
          </c:spPr>
          <c:invertIfNegative val="0"/>
          <c:cat>
            <c:strRef>
              <c:f>Sheet1!$A$2:$A$5</c:f>
              <c:strCache>
                <c:ptCount val="4"/>
                <c:pt idx="0">
                  <c:v>Category 1</c:v>
                </c:pt>
                <c:pt idx="1">
                  <c:v>Category 2</c:v>
                </c:pt>
                <c:pt idx="2">
                  <c:v>Category 3</c:v>
                </c:pt>
                <c:pt idx="3">
                  <c:v>Category 4</c:v>
                </c:pt>
              </c:strCache>
            </c:strRef>
          </c:cat>
          <c:val>
            <c:numRef>
              <c:f>Sheet1!$F$2:$F$5</c:f>
              <c:numCache>
                <c:formatCode>General</c:formatCode>
                <c:ptCount val="4"/>
                <c:pt idx="0">
                  <c:v>3</c:v>
                </c:pt>
                <c:pt idx="1">
                  <c:v>4</c:v>
                </c:pt>
                <c:pt idx="2">
                  <c:v>3</c:v>
                </c:pt>
                <c:pt idx="3">
                  <c:v>2</c:v>
                </c:pt>
              </c:numCache>
            </c:numRef>
          </c:val>
          <c:extLst>
            <c:ext xmlns:c16="http://schemas.microsoft.com/office/drawing/2014/chart" uri="{C3380CC4-5D6E-409C-BE32-E72D297353CC}">
              <c16:uniqueId val="{00000004-6CA8-8644-A5F4-CDC04B5B54B5}"/>
            </c:ext>
          </c:extLst>
        </c:ser>
        <c:ser>
          <c:idx val="5"/>
          <c:order val="5"/>
          <c:tx>
            <c:strRef>
              <c:f>Sheet1!$G$1</c:f>
              <c:strCache>
                <c:ptCount val="1"/>
                <c:pt idx="0">
                  <c:v>Series 6</c:v>
                </c:pt>
              </c:strCache>
            </c:strRef>
          </c:tx>
          <c:spPr>
            <a:solidFill>
              <a:srgbClr val="7C6569"/>
            </a:solidFill>
          </c:spPr>
          <c:invertIfNegative val="0"/>
          <c:cat>
            <c:strRef>
              <c:f>Sheet1!$A$2:$A$5</c:f>
              <c:strCache>
                <c:ptCount val="4"/>
                <c:pt idx="0">
                  <c:v>Category 1</c:v>
                </c:pt>
                <c:pt idx="1">
                  <c:v>Category 2</c:v>
                </c:pt>
                <c:pt idx="2">
                  <c:v>Category 3</c:v>
                </c:pt>
                <c:pt idx="3">
                  <c:v>Category 4</c:v>
                </c:pt>
              </c:strCache>
            </c:strRef>
          </c:cat>
          <c:val>
            <c:numRef>
              <c:f>Sheet1!$G$2:$G$5</c:f>
              <c:numCache>
                <c:formatCode>General</c:formatCode>
                <c:ptCount val="4"/>
                <c:pt idx="0">
                  <c:v>4</c:v>
                </c:pt>
                <c:pt idx="1">
                  <c:v>5</c:v>
                </c:pt>
                <c:pt idx="2">
                  <c:v>2</c:v>
                </c:pt>
                <c:pt idx="3">
                  <c:v>3</c:v>
                </c:pt>
              </c:numCache>
            </c:numRef>
          </c:val>
          <c:extLst>
            <c:ext xmlns:c16="http://schemas.microsoft.com/office/drawing/2014/chart" uri="{C3380CC4-5D6E-409C-BE32-E72D297353CC}">
              <c16:uniqueId val="{00000005-6CA8-8644-A5F4-CDC04B5B54B5}"/>
            </c:ext>
          </c:extLst>
        </c:ser>
        <c:dLbls>
          <c:showLegendKey val="0"/>
          <c:showVal val="0"/>
          <c:showCatName val="0"/>
          <c:showSerName val="0"/>
          <c:showPercent val="0"/>
          <c:showBubbleSize val="0"/>
        </c:dLbls>
        <c:gapWidth val="150"/>
        <c:axId val="2109342232"/>
        <c:axId val="2109345368"/>
      </c:barChart>
      <c:catAx>
        <c:axId val="2109342232"/>
        <c:scaling>
          <c:orientation val="minMax"/>
        </c:scaling>
        <c:delete val="0"/>
        <c:axPos val="b"/>
        <c:numFmt formatCode="General" sourceLinked="0"/>
        <c:majorTickMark val="out"/>
        <c:minorTickMark val="none"/>
        <c:tickLblPos val="nextTo"/>
        <c:crossAx val="2109345368"/>
        <c:crosses val="autoZero"/>
        <c:auto val="1"/>
        <c:lblAlgn val="ctr"/>
        <c:lblOffset val="100"/>
        <c:noMultiLvlLbl val="0"/>
      </c:catAx>
      <c:valAx>
        <c:axId val="2109345368"/>
        <c:scaling>
          <c:orientation val="minMax"/>
        </c:scaling>
        <c:delete val="0"/>
        <c:axPos val="l"/>
        <c:majorGridlines/>
        <c:numFmt formatCode="General" sourceLinked="1"/>
        <c:majorTickMark val="out"/>
        <c:minorTickMark val="none"/>
        <c:tickLblPos val="nextTo"/>
        <c:crossAx val="2109342232"/>
        <c:crosses val="autoZero"/>
        <c:crossBetween val="between"/>
      </c:val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Series 1</c:v>
                </c:pt>
              </c:strCache>
            </c:strRef>
          </c:tx>
          <c:spPr>
            <a:ln>
              <a:solidFill>
                <a:srgbClr val="AB162B"/>
              </a:solidFill>
            </a:ln>
          </c:spPr>
          <c:marker>
            <c:symbol val="square"/>
            <c:size val="8"/>
            <c:spPr>
              <a:solidFill>
                <a:srgbClr val="AB162B"/>
              </a:solidFill>
              <a:ln>
                <a:solidFill>
                  <a:srgbClr val="AB162B"/>
                </a:solidFill>
              </a:ln>
            </c:spPr>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9D82-B942-9E8A-285508679E48}"/>
            </c:ext>
          </c:extLst>
        </c:ser>
        <c:ser>
          <c:idx val="1"/>
          <c:order val="1"/>
          <c:tx>
            <c:strRef>
              <c:f>Sheet1!$C$1</c:f>
              <c:strCache>
                <c:ptCount val="1"/>
                <c:pt idx="0">
                  <c:v>Series 2</c:v>
                </c:pt>
              </c:strCache>
            </c:strRef>
          </c:tx>
          <c:spPr>
            <a:ln>
              <a:solidFill>
                <a:srgbClr val="B2B7BB"/>
              </a:solidFill>
            </a:ln>
          </c:spPr>
          <c:marker>
            <c:symbol val="square"/>
            <c:size val="8"/>
            <c:spPr>
              <a:solidFill>
                <a:srgbClr val="B2B7BB"/>
              </a:solidFill>
              <a:ln>
                <a:solidFill>
                  <a:srgbClr val="B2B7BB"/>
                </a:solidFill>
              </a:ln>
            </c:spPr>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9D82-B942-9E8A-285508679E48}"/>
            </c:ext>
          </c:extLst>
        </c:ser>
        <c:ser>
          <c:idx val="2"/>
          <c:order val="2"/>
          <c:tx>
            <c:strRef>
              <c:f>Sheet1!$D$1</c:f>
              <c:strCache>
                <c:ptCount val="1"/>
                <c:pt idx="0">
                  <c:v>Series 3</c:v>
                </c:pt>
              </c:strCache>
            </c:strRef>
          </c:tx>
          <c:spPr>
            <a:ln>
              <a:solidFill>
                <a:srgbClr val="002E6D"/>
              </a:solidFill>
            </a:ln>
          </c:spPr>
          <c:marker>
            <c:symbol val="square"/>
            <c:size val="8"/>
            <c:spPr>
              <a:solidFill>
                <a:srgbClr val="002E6D"/>
              </a:solidFill>
              <a:ln>
                <a:solidFill>
                  <a:srgbClr val="002E6D"/>
                </a:solidFill>
              </a:ln>
            </c:spPr>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9D82-B942-9E8A-285508679E48}"/>
            </c:ext>
          </c:extLst>
        </c:ser>
        <c:ser>
          <c:idx val="3"/>
          <c:order val="3"/>
          <c:tx>
            <c:strRef>
              <c:f>Sheet1!$E$1</c:f>
              <c:strCache>
                <c:ptCount val="1"/>
                <c:pt idx="0">
                  <c:v>Series 4</c:v>
                </c:pt>
              </c:strCache>
            </c:strRef>
          </c:tx>
          <c:spPr>
            <a:ln>
              <a:solidFill>
                <a:srgbClr val="5E7361"/>
              </a:solidFill>
            </a:ln>
          </c:spPr>
          <c:marker>
            <c:symbol val="square"/>
            <c:size val="8"/>
            <c:spPr>
              <a:solidFill>
                <a:srgbClr val="5E7361"/>
              </a:solidFill>
              <a:ln>
                <a:solidFill>
                  <a:srgbClr val="5E7361"/>
                </a:solidFill>
              </a:ln>
            </c:spPr>
          </c:marker>
          <c:cat>
            <c:strRef>
              <c:f>Sheet1!$A$2:$A$5</c:f>
              <c:strCache>
                <c:ptCount val="4"/>
                <c:pt idx="0">
                  <c:v>Category 1</c:v>
                </c:pt>
                <c:pt idx="1">
                  <c:v>Category 2</c:v>
                </c:pt>
                <c:pt idx="2">
                  <c:v>Category 3</c:v>
                </c:pt>
                <c:pt idx="3">
                  <c:v>Category 4</c:v>
                </c:pt>
              </c:strCache>
            </c:strRef>
          </c:cat>
          <c:val>
            <c:numRef>
              <c:f>Sheet1!$E$2:$E$5</c:f>
              <c:numCache>
                <c:formatCode>General</c:formatCode>
                <c:ptCount val="4"/>
                <c:pt idx="0">
                  <c:v>1</c:v>
                </c:pt>
                <c:pt idx="1">
                  <c:v>3</c:v>
                </c:pt>
                <c:pt idx="2">
                  <c:v>4</c:v>
                </c:pt>
                <c:pt idx="3">
                  <c:v>3.5</c:v>
                </c:pt>
              </c:numCache>
            </c:numRef>
          </c:val>
          <c:smooth val="0"/>
          <c:extLst>
            <c:ext xmlns:c16="http://schemas.microsoft.com/office/drawing/2014/chart" uri="{C3380CC4-5D6E-409C-BE32-E72D297353CC}">
              <c16:uniqueId val="{00000003-9D82-B942-9E8A-285508679E48}"/>
            </c:ext>
          </c:extLst>
        </c:ser>
        <c:ser>
          <c:idx val="4"/>
          <c:order val="4"/>
          <c:tx>
            <c:strRef>
              <c:f>Sheet1!$F$1</c:f>
              <c:strCache>
                <c:ptCount val="1"/>
                <c:pt idx="0">
                  <c:v>Series 5</c:v>
                </c:pt>
              </c:strCache>
            </c:strRef>
          </c:tx>
          <c:spPr>
            <a:ln>
              <a:solidFill>
                <a:srgbClr val="C78A3D"/>
              </a:solidFill>
            </a:ln>
          </c:spPr>
          <c:marker>
            <c:symbol val="square"/>
            <c:size val="8"/>
            <c:spPr>
              <a:solidFill>
                <a:srgbClr val="C78A3D"/>
              </a:solidFill>
              <a:ln>
                <a:solidFill>
                  <a:srgbClr val="C78A3D"/>
                </a:solidFill>
              </a:ln>
            </c:spPr>
          </c:marker>
          <c:cat>
            <c:strRef>
              <c:f>Sheet1!$A$2:$A$5</c:f>
              <c:strCache>
                <c:ptCount val="4"/>
                <c:pt idx="0">
                  <c:v>Category 1</c:v>
                </c:pt>
                <c:pt idx="1">
                  <c:v>Category 2</c:v>
                </c:pt>
                <c:pt idx="2">
                  <c:v>Category 3</c:v>
                </c:pt>
                <c:pt idx="3">
                  <c:v>Category 4</c:v>
                </c:pt>
              </c:strCache>
            </c:strRef>
          </c:cat>
          <c:val>
            <c:numRef>
              <c:f>Sheet1!$F$2:$F$5</c:f>
              <c:numCache>
                <c:formatCode>General</c:formatCode>
                <c:ptCount val="4"/>
                <c:pt idx="0">
                  <c:v>3</c:v>
                </c:pt>
                <c:pt idx="1">
                  <c:v>4</c:v>
                </c:pt>
                <c:pt idx="2">
                  <c:v>3</c:v>
                </c:pt>
                <c:pt idx="3">
                  <c:v>2</c:v>
                </c:pt>
              </c:numCache>
            </c:numRef>
          </c:val>
          <c:smooth val="0"/>
          <c:extLst>
            <c:ext xmlns:c16="http://schemas.microsoft.com/office/drawing/2014/chart" uri="{C3380CC4-5D6E-409C-BE32-E72D297353CC}">
              <c16:uniqueId val="{00000004-9D82-B942-9E8A-285508679E48}"/>
            </c:ext>
          </c:extLst>
        </c:ser>
        <c:ser>
          <c:idx val="5"/>
          <c:order val="5"/>
          <c:tx>
            <c:strRef>
              <c:f>Sheet1!$G$1</c:f>
              <c:strCache>
                <c:ptCount val="1"/>
                <c:pt idx="0">
                  <c:v>Series 6</c:v>
                </c:pt>
              </c:strCache>
            </c:strRef>
          </c:tx>
          <c:spPr>
            <a:ln>
              <a:solidFill>
                <a:srgbClr val="7C6569"/>
              </a:solidFill>
            </a:ln>
          </c:spPr>
          <c:marker>
            <c:symbol val="square"/>
            <c:size val="8"/>
            <c:spPr>
              <a:solidFill>
                <a:srgbClr val="7C6569"/>
              </a:solidFill>
              <a:ln>
                <a:solidFill>
                  <a:srgbClr val="7C6569"/>
                </a:solidFill>
              </a:ln>
            </c:spPr>
          </c:marker>
          <c:cat>
            <c:strRef>
              <c:f>Sheet1!$A$2:$A$5</c:f>
              <c:strCache>
                <c:ptCount val="4"/>
                <c:pt idx="0">
                  <c:v>Category 1</c:v>
                </c:pt>
                <c:pt idx="1">
                  <c:v>Category 2</c:v>
                </c:pt>
                <c:pt idx="2">
                  <c:v>Category 3</c:v>
                </c:pt>
                <c:pt idx="3">
                  <c:v>Category 4</c:v>
                </c:pt>
              </c:strCache>
            </c:strRef>
          </c:cat>
          <c:val>
            <c:numRef>
              <c:f>Sheet1!$G$2:$G$5</c:f>
              <c:numCache>
                <c:formatCode>General</c:formatCode>
                <c:ptCount val="4"/>
                <c:pt idx="0">
                  <c:v>4</c:v>
                </c:pt>
                <c:pt idx="1">
                  <c:v>5</c:v>
                </c:pt>
                <c:pt idx="2">
                  <c:v>2</c:v>
                </c:pt>
                <c:pt idx="3">
                  <c:v>3</c:v>
                </c:pt>
              </c:numCache>
            </c:numRef>
          </c:val>
          <c:smooth val="0"/>
          <c:extLst>
            <c:ext xmlns:c16="http://schemas.microsoft.com/office/drawing/2014/chart" uri="{C3380CC4-5D6E-409C-BE32-E72D297353CC}">
              <c16:uniqueId val="{00000005-9D82-B942-9E8A-285508679E48}"/>
            </c:ext>
          </c:extLst>
        </c:ser>
        <c:dLbls>
          <c:showLegendKey val="0"/>
          <c:showVal val="0"/>
          <c:showCatName val="0"/>
          <c:showSerName val="0"/>
          <c:showPercent val="0"/>
          <c:showBubbleSize val="0"/>
        </c:dLbls>
        <c:marker val="1"/>
        <c:smooth val="0"/>
        <c:axId val="2109474344"/>
        <c:axId val="2109479176"/>
      </c:lineChart>
      <c:catAx>
        <c:axId val="2109474344"/>
        <c:scaling>
          <c:orientation val="minMax"/>
        </c:scaling>
        <c:delete val="0"/>
        <c:axPos val="b"/>
        <c:numFmt formatCode="General" sourceLinked="0"/>
        <c:majorTickMark val="out"/>
        <c:minorTickMark val="none"/>
        <c:tickLblPos val="nextTo"/>
        <c:crossAx val="2109479176"/>
        <c:crosses val="autoZero"/>
        <c:auto val="1"/>
        <c:lblAlgn val="ctr"/>
        <c:lblOffset val="100"/>
        <c:noMultiLvlLbl val="0"/>
      </c:catAx>
      <c:valAx>
        <c:axId val="2109479176"/>
        <c:scaling>
          <c:orientation val="minMax"/>
        </c:scaling>
        <c:delete val="0"/>
        <c:axPos val="l"/>
        <c:majorGridlines/>
        <c:numFmt formatCode="General" sourceLinked="1"/>
        <c:majorTickMark val="out"/>
        <c:minorTickMark val="none"/>
        <c:tickLblPos val="nextTo"/>
        <c:crossAx val="2109474344"/>
        <c:crosses val="autoZero"/>
        <c:crossBetween val="between"/>
      </c:valAx>
    </c:plotArea>
    <c:legend>
      <c:legendPos val="r"/>
      <c:layout>
        <c:manualLayout>
          <c:xMode val="edge"/>
          <c:yMode val="edge"/>
          <c:x val="0.88190963108778064"/>
          <c:y val="0.26410796684342713"/>
          <c:w val="0.1169329615048119"/>
          <c:h val="0.47178406631314573"/>
        </c:manualLayout>
      </c:layout>
      <c:overlay val="0"/>
    </c:legend>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rgbClr val="AB162B"/>
              </a:solidFill>
            </c:spPr>
            <c:extLst>
              <c:ext xmlns:c16="http://schemas.microsoft.com/office/drawing/2014/chart" uri="{C3380CC4-5D6E-409C-BE32-E72D297353CC}">
                <c16:uniqueId val="{00000001-FF09-7B4F-ADA9-C065C27082EF}"/>
              </c:ext>
            </c:extLst>
          </c:dPt>
          <c:dPt>
            <c:idx val="1"/>
            <c:bubble3D val="0"/>
            <c:spPr>
              <a:solidFill>
                <a:srgbClr val="B2B7BB"/>
              </a:solidFill>
            </c:spPr>
            <c:extLst>
              <c:ext xmlns:c16="http://schemas.microsoft.com/office/drawing/2014/chart" uri="{C3380CC4-5D6E-409C-BE32-E72D297353CC}">
                <c16:uniqueId val="{00000003-FF09-7B4F-ADA9-C065C27082EF}"/>
              </c:ext>
            </c:extLst>
          </c:dPt>
          <c:dPt>
            <c:idx val="2"/>
            <c:bubble3D val="0"/>
            <c:spPr>
              <a:solidFill>
                <a:srgbClr val="002E6D"/>
              </a:solidFill>
            </c:spPr>
            <c:extLst>
              <c:ext xmlns:c16="http://schemas.microsoft.com/office/drawing/2014/chart" uri="{C3380CC4-5D6E-409C-BE32-E72D297353CC}">
                <c16:uniqueId val="{00000005-FF09-7B4F-ADA9-C065C27082EF}"/>
              </c:ext>
            </c:extLst>
          </c:dPt>
          <c:dPt>
            <c:idx val="3"/>
            <c:bubble3D val="0"/>
            <c:spPr>
              <a:solidFill>
                <a:srgbClr val="5E7361"/>
              </a:solidFill>
            </c:spPr>
            <c:extLst>
              <c:ext xmlns:c16="http://schemas.microsoft.com/office/drawing/2014/chart" uri="{C3380CC4-5D6E-409C-BE32-E72D297353CC}">
                <c16:uniqueId val="{00000007-FF09-7B4F-ADA9-C065C27082EF}"/>
              </c:ext>
            </c:extLst>
          </c:dPt>
          <c:dPt>
            <c:idx val="4"/>
            <c:bubble3D val="0"/>
            <c:spPr>
              <a:solidFill>
                <a:srgbClr val="C78A3D"/>
              </a:solidFill>
            </c:spPr>
            <c:extLst>
              <c:ext xmlns:c16="http://schemas.microsoft.com/office/drawing/2014/chart" uri="{C3380CC4-5D6E-409C-BE32-E72D297353CC}">
                <c16:uniqueId val="{00000009-FF09-7B4F-ADA9-C065C27082EF}"/>
              </c:ext>
            </c:extLst>
          </c:dPt>
          <c:dPt>
            <c:idx val="5"/>
            <c:bubble3D val="0"/>
            <c:spPr>
              <a:solidFill>
                <a:srgbClr val="7C6569"/>
              </a:solidFill>
            </c:spPr>
            <c:extLst>
              <c:ext xmlns:c16="http://schemas.microsoft.com/office/drawing/2014/chart" uri="{C3380CC4-5D6E-409C-BE32-E72D297353CC}">
                <c16:uniqueId val="{0000000B-FF09-7B4F-ADA9-C065C27082EF}"/>
              </c:ext>
            </c:extLst>
          </c:dPt>
          <c:cat>
            <c:strRef>
              <c:f>Sheet1!$A$2:$A$7</c:f>
              <c:strCache>
                <c:ptCount val="6"/>
                <c:pt idx="0">
                  <c:v>Series 1</c:v>
                </c:pt>
                <c:pt idx="1">
                  <c:v>Series 2</c:v>
                </c:pt>
                <c:pt idx="2">
                  <c:v>Series 3</c:v>
                </c:pt>
                <c:pt idx="3">
                  <c:v>Series 4</c:v>
                </c:pt>
                <c:pt idx="4">
                  <c:v>Series 5</c:v>
                </c:pt>
                <c:pt idx="5">
                  <c:v>Series 6</c:v>
                </c:pt>
              </c:strCache>
            </c:strRef>
          </c:cat>
          <c:val>
            <c:numRef>
              <c:f>Sheet1!$B$2:$B$7</c:f>
              <c:numCache>
                <c:formatCode>General</c:formatCode>
                <c:ptCount val="6"/>
                <c:pt idx="0">
                  <c:v>11</c:v>
                </c:pt>
                <c:pt idx="1">
                  <c:v>3</c:v>
                </c:pt>
                <c:pt idx="2">
                  <c:v>2</c:v>
                </c:pt>
                <c:pt idx="3">
                  <c:v>1.5</c:v>
                </c:pt>
                <c:pt idx="4">
                  <c:v>1</c:v>
                </c:pt>
                <c:pt idx="5">
                  <c:v>0.5</c:v>
                </c:pt>
              </c:numCache>
            </c:numRef>
          </c:val>
          <c:extLst>
            <c:ext xmlns:c16="http://schemas.microsoft.com/office/drawing/2014/chart" uri="{C3380CC4-5D6E-409C-BE32-E72D297353CC}">
              <c16:uniqueId val="{0000000C-FF09-7B4F-ADA9-C065C27082EF}"/>
            </c:ext>
          </c:extLst>
        </c:ser>
        <c:dLbls>
          <c:showLegendKey val="0"/>
          <c:showVal val="0"/>
          <c:showCatName val="0"/>
          <c:showSerName val="0"/>
          <c:showPercent val="0"/>
          <c:showBubbleSize val="0"/>
          <c:showLeaderLines val="0"/>
        </c:dLbls>
        <c:firstSliceAng val="0"/>
      </c:pieChart>
    </c:plotArea>
    <c:legend>
      <c:legendPos val="r"/>
      <c:layout>
        <c:manualLayout>
          <c:xMode val="edge"/>
          <c:yMode val="edge"/>
          <c:x val="0.7572298401765396"/>
          <c:y val="0.26410796684342713"/>
          <c:w val="0.21331530337295707"/>
          <c:h val="0.47178406631314573"/>
        </c:manualLayout>
      </c:layout>
      <c:overlay val="0"/>
    </c:legend>
    <c:plotVisOnly val="1"/>
    <c:dispBlanksAs val="zero"/>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rgbClr val="AB162B"/>
              </a:solidFill>
            </c:spPr>
            <c:extLst>
              <c:ext xmlns:c16="http://schemas.microsoft.com/office/drawing/2014/chart" uri="{C3380CC4-5D6E-409C-BE32-E72D297353CC}">
                <c16:uniqueId val="{00000001-3E7B-C64F-A3DE-F2BD0C243818}"/>
              </c:ext>
            </c:extLst>
          </c:dPt>
          <c:dPt>
            <c:idx val="1"/>
            <c:bubble3D val="0"/>
            <c:spPr>
              <a:solidFill>
                <a:srgbClr val="B2B7BB"/>
              </a:solidFill>
            </c:spPr>
            <c:extLst>
              <c:ext xmlns:c16="http://schemas.microsoft.com/office/drawing/2014/chart" uri="{C3380CC4-5D6E-409C-BE32-E72D297353CC}">
                <c16:uniqueId val="{00000003-3E7B-C64F-A3DE-F2BD0C243818}"/>
              </c:ext>
            </c:extLst>
          </c:dPt>
          <c:dPt>
            <c:idx val="2"/>
            <c:bubble3D val="0"/>
            <c:spPr>
              <a:solidFill>
                <a:srgbClr val="002E6D"/>
              </a:solidFill>
            </c:spPr>
            <c:extLst>
              <c:ext xmlns:c16="http://schemas.microsoft.com/office/drawing/2014/chart" uri="{C3380CC4-5D6E-409C-BE32-E72D297353CC}">
                <c16:uniqueId val="{00000005-3E7B-C64F-A3DE-F2BD0C243818}"/>
              </c:ext>
            </c:extLst>
          </c:dPt>
          <c:dPt>
            <c:idx val="3"/>
            <c:bubble3D val="0"/>
            <c:spPr>
              <a:solidFill>
                <a:srgbClr val="5E7361"/>
              </a:solidFill>
            </c:spPr>
            <c:extLst>
              <c:ext xmlns:c16="http://schemas.microsoft.com/office/drawing/2014/chart" uri="{C3380CC4-5D6E-409C-BE32-E72D297353CC}">
                <c16:uniqueId val="{00000007-3E7B-C64F-A3DE-F2BD0C243818}"/>
              </c:ext>
            </c:extLst>
          </c:dPt>
          <c:dPt>
            <c:idx val="4"/>
            <c:bubble3D val="0"/>
            <c:spPr>
              <a:solidFill>
                <a:srgbClr val="C78A3D"/>
              </a:solidFill>
            </c:spPr>
            <c:extLst>
              <c:ext xmlns:c16="http://schemas.microsoft.com/office/drawing/2014/chart" uri="{C3380CC4-5D6E-409C-BE32-E72D297353CC}">
                <c16:uniqueId val="{00000009-3E7B-C64F-A3DE-F2BD0C243818}"/>
              </c:ext>
            </c:extLst>
          </c:dPt>
          <c:dPt>
            <c:idx val="5"/>
            <c:bubble3D val="0"/>
            <c:spPr>
              <a:solidFill>
                <a:srgbClr val="7C6569"/>
              </a:solidFill>
            </c:spPr>
            <c:extLst>
              <c:ext xmlns:c16="http://schemas.microsoft.com/office/drawing/2014/chart" uri="{C3380CC4-5D6E-409C-BE32-E72D297353CC}">
                <c16:uniqueId val="{0000000B-3E7B-C64F-A3DE-F2BD0C243818}"/>
              </c:ext>
            </c:extLst>
          </c:dPt>
          <c:cat>
            <c:strRef>
              <c:f>Sheet1!$A$2:$A$7</c:f>
              <c:strCache>
                <c:ptCount val="6"/>
                <c:pt idx="0">
                  <c:v>Series 1</c:v>
                </c:pt>
                <c:pt idx="1">
                  <c:v>Series 2</c:v>
                </c:pt>
                <c:pt idx="2">
                  <c:v>Series 3</c:v>
                </c:pt>
                <c:pt idx="3">
                  <c:v>Series 4</c:v>
                </c:pt>
                <c:pt idx="4">
                  <c:v>Series 5</c:v>
                </c:pt>
                <c:pt idx="5">
                  <c:v>Series 6</c:v>
                </c:pt>
              </c:strCache>
            </c:strRef>
          </c:cat>
          <c:val>
            <c:numRef>
              <c:f>Sheet1!$B$2:$B$7</c:f>
              <c:numCache>
                <c:formatCode>General</c:formatCode>
                <c:ptCount val="6"/>
                <c:pt idx="0">
                  <c:v>11</c:v>
                </c:pt>
                <c:pt idx="1">
                  <c:v>3</c:v>
                </c:pt>
                <c:pt idx="2">
                  <c:v>2</c:v>
                </c:pt>
                <c:pt idx="3">
                  <c:v>1.5</c:v>
                </c:pt>
                <c:pt idx="4">
                  <c:v>1</c:v>
                </c:pt>
                <c:pt idx="5">
                  <c:v>0.5</c:v>
                </c:pt>
              </c:numCache>
            </c:numRef>
          </c:val>
          <c:extLst>
            <c:ext xmlns:c16="http://schemas.microsoft.com/office/drawing/2014/chart" uri="{C3380CC4-5D6E-409C-BE32-E72D297353CC}">
              <c16:uniqueId val="{0000000C-3E7B-C64F-A3DE-F2BD0C243818}"/>
            </c:ext>
          </c:extLst>
        </c:ser>
        <c:dLbls>
          <c:showLegendKey val="0"/>
          <c:showVal val="0"/>
          <c:showCatName val="0"/>
          <c:showSerName val="0"/>
          <c:showPercent val="0"/>
          <c:showBubbleSize val="0"/>
          <c:showLeaderLines val="0"/>
        </c:dLbls>
        <c:firstSliceAng val="0"/>
      </c:pieChart>
    </c:plotArea>
    <c:legend>
      <c:legendPos val="r"/>
      <c:layout>
        <c:manualLayout>
          <c:xMode val="edge"/>
          <c:yMode val="edge"/>
          <c:x val="0.7572298401765396"/>
          <c:y val="0.26410796684342713"/>
          <c:w val="0.21331530337295707"/>
          <c:h val="0.47178406631314573"/>
        </c:manualLayout>
      </c:layout>
      <c:overlay val="0"/>
    </c:legend>
    <c:plotVisOnly val="1"/>
    <c:dispBlanksAs val="zero"/>
    <c:showDLblsOverMax val="0"/>
  </c:chart>
  <c:txPr>
    <a:bodyPr/>
    <a:lstStyle/>
    <a:p>
      <a:pPr>
        <a:defRPr sz="1800"/>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9428D58-3712-4AAD-8090-EB6BA68768B2}"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9DD817A9-B7A0-47CB-96EE-090144BBB0D9}">
      <dgm:prSet phldrT="[Text]" phldr="0"/>
      <dgm:spPr/>
      <dgm:t>
        <a:bodyPr/>
        <a:lstStyle/>
        <a:p>
          <a:r>
            <a:rPr lang="en-US" b="1" dirty="0"/>
            <a:t>2024-2025</a:t>
          </a:r>
        </a:p>
      </dgm:t>
    </dgm:pt>
    <dgm:pt modelId="{223404D6-A4AF-4A7D-A933-4BFFEB40F873}" type="parTrans" cxnId="{A8646CDE-5BDA-4A78-BB62-9774AA3E5968}">
      <dgm:prSet/>
      <dgm:spPr/>
      <dgm:t>
        <a:bodyPr/>
        <a:lstStyle/>
        <a:p>
          <a:endParaRPr lang="en-US"/>
        </a:p>
      </dgm:t>
    </dgm:pt>
    <dgm:pt modelId="{55232ED2-E005-4513-BAF0-9999E39455B0}" type="sibTrans" cxnId="{A8646CDE-5BDA-4A78-BB62-9774AA3E5968}">
      <dgm:prSet/>
      <dgm:spPr/>
      <dgm:t>
        <a:bodyPr/>
        <a:lstStyle/>
        <a:p>
          <a:endParaRPr lang="en-US"/>
        </a:p>
      </dgm:t>
    </dgm:pt>
    <dgm:pt modelId="{F3EEE984-BCA6-49DF-ABC5-DB65247DA838}">
      <dgm:prSet phldrT="[Text]" phldr="0"/>
      <dgm:spPr/>
      <dgm:t>
        <a:bodyPr anchor="ctr"/>
        <a:lstStyle/>
        <a:p>
          <a:pPr algn="l"/>
          <a:r>
            <a:rPr lang="en-US" sz="2500" b="1" dirty="0"/>
            <a:t>CMOS Image Sensor MQP</a:t>
          </a:r>
          <a:endParaRPr lang="en-US" sz="2500" dirty="0"/>
        </a:p>
      </dgm:t>
    </dgm:pt>
    <dgm:pt modelId="{7EF27D7E-1B93-4F17-87AC-36710BCDC56E}" type="parTrans" cxnId="{217E8599-6B04-42C9-BB76-A5A1E9D99812}">
      <dgm:prSet/>
      <dgm:spPr/>
      <dgm:t>
        <a:bodyPr/>
        <a:lstStyle/>
        <a:p>
          <a:endParaRPr lang="en-US"/>
        </a:p>
      </dgm:t>
    </dgm:pt>
    <dgm:pt modelId="{4FDE95DE-2B25-4FE3-AE0D-907D2AAB4CD4}" type="sibTrans" cxnId="{217E8599-6B04-42C9-BB76-A5A1E9D99812}">
      <dgm:prSet/>
      <dgm:spPr/>
      <dgm:t>
        <a:bodyPr/>
        <a:lstStyle/>
        <a:p>
          <a:endParaRPr lang="en-US"/>
        </a:p>
      </dgm:t>
    </dgm:pt>
    <dgm:pt modelId="{3DB99FFD-4BBF-47B8-AF97-0948B269EC89}">
      <dgm:prSet phldrT="[Text]" phldr="0"/>
      <dgm:spPr/>
      <dgm:t>
        <a:bodyPr/>
        <a:lstStyle/>
        <a:p>
          <a:r>
            <a:rPr lang="en-US" b="1" dirty="0"/>
            <a:t>May, 2025</a:t>
          </a:r>
        </a:p>
      </dgm:t>
    </dgm:pt>
    <dgm:pt modelId="{E62809F1-316A-427B-87AC-D6106DEFF88D}" type="parTrans" cxnId="{787CA010-FA6E-4D75-ADE4-96DBB8FFFFF2}">
      <dgm:prSet/>
      <dgm:spPr/>
      <dgm:t>
        <a:bodyPr/>
        <a:lstStyle/>
        <a:p>
          <a:endParaRPr lang="en-US"/>
        </a:p>
      </dgm:t>
    </dgm:pt>
    <dgm:pt modelId="{50763CCE-984C-4218-B985-E132A671FEF6}" type="sibTrans" cxnId="{787CA010-FA6E-4D75-ADE4-96DBB8FFFFF2}">
      <dgm:prSet/>
      <dgm:spPr/>
      <dgm:t>
        <a:bodyPr/>
        <a:lstStyle/>
        <a:p>
          <a:endParaRPr lang="en-US"/>
        </a:p>
      </dgm:t>
    </dgm:pt>
    <dgm:pt modelId="{A8BBD34E-F4A9-4755-B3C3-90CBC89F044C}">
      <dgm:prSet phldrT="[Text]" phldr="0"/>
      <dgm:spPr/>
      <dgm:t>
        <a:bodyPr/>
        <a:lstStyle/>
        <a:p>
          <a:r>
            <a:rPr lang="en-US" sz="2500" b="1" dirty="0"/>
            <a:t>B.S. @ WPI</a:t>
          </a:r>
        </a:p>
      </dgm:t>
    </dgm:pt>
    <dgm:pt modelId="{35ACB942-05A1-4392-8F63-E14AF2C51E46}" type="parTrans" cxnId="{03158258-3C2B-43AE-9D03-0AC2A7747752}">
      <dgm:prSet/>
      <dgm:spPr/>
      <dgm:t>
        <a:bodyPr/>
        <a:lstStyle/>
        <a:p>
          <a:endParaRPr lang="en-US"/>
        </a:p>
      </dgm:t>
    </dgm:pt>
    <dgm:pt modelId="{11FCFD41-812F-4703-AB8C-91AD7E2084BE}" type="sibTrans" cxnId="{03158258-3C2B-43AE-9D03-0AC2A7747752}">
      <dgm:prSet/>
      <dgm:spPr/>
      <dgm:t>
        <a:bodyPr/>
        <a:lstStyle/>
        <a:p>
          <a:endParaRPr lang="en-US"/>
        </a:p>
      </dgm:t>
    </dgm:pt>
    <dgm:pt modelId="{F06B6B6F-1F46-4B90-B674-B910B9FC2A1B}">
      <dgm:prSet phldrT="[Text]" phldr="0" custT="1"/>
      <dgm:spPr/>
      <dgm:t>
        <a:bodyPr/>
        <a:lstStyle/>
        <a:p>
          <a:r>
            <a:rPr lang="en-US" sz="2000" b="1" dirty="0"/>
            <a:t>ECE &amp; Data Science</a:t>
          </a:r>
          <a:endParaRPr lang="en-US" sz="2500" b="1" dirty="0"/>
        </a:p>
      </dgm:t>
    </dgm:pt>
    <dgm:pt modelId="{6D052DCE-2BF3-45B3-B07F-E7468EC2AF41}" type="parTrans" cxnId="{76381CBF-1BC8-4E8C-AFE7-C3341DF9B970}">
      <dgm:prSet/>
      <dgm:spPr/>
      <dgm:t>
        <a:bodyPr/>
        <a:lstStyle/>
        <a:p>
          <a:endParaRPr lang="en-US"/>
        </a:p>
      </dgm:t>
    </dgm:pt>
    <dgm:pt modelId="{C93B060C-9F8C-4177-ADE2-9ECE2A79C8C1}" type="sibTrans" cxnId="{76381CBF-1BC8-4E8C-AFE7-C3341DF9B970}">
      <dgm:prSet/>
      <dgm:spPr/>
      <dgm:t>
        <a:bodyPr/>
        <a:lstStyle/>
        <a:p>
          <a:endParaRPr lang="en-US"/>
        </a:p>
      </dgm:t>
    </dgm:pt>
    <dgm:pt modelId="{17638281-13A8-4AD1-96A0-7AD9D683E4F4}">
      <dgm:prSet phldrT="[Text]" phldr="0"/>
      <dgm:spPr/>
      <dgm:t>
        <a:bodyPr/>
        <a:lstStyle/>
        <a:p>
          <a:r>
            <a:rPr lang="en-US" b="1" dirty="0"/>
            <a:t>Summer 2025</a:t>
          </a:r>
        </a:p>
      </dgm:t>
    </dgm:pt>
    <dgm:pt modelId="{D7DDBAF6-7F7A-40D4-B696-B6AB295EAC1E}" type="parTrans" cxnId="{1CDFA7B9-5EC8-4216-A638-8F7931743123}">
      <dgm:prSet/>
      <dgm:spPr/>
      <dgm:t>
        <a:bodyPr/>
        <a:lstStyle/>
        <a:p>
          <a:endParaRPr lang="en-US"/>
        </a:p>
      </dgm:t>
    </dgm:pt>
    <dgm:pt modelId="{3882630C-7212-4EA4-86D8-29B5AE3F7F15}" type="sibTrans" cxnId="{1CDFA7B9-5EC8-4216-A638-8F7931743123}">
      <dgm:prSet/>
      <dgm:spPr/>
      <dgm:t>
        <a:bodyPr/>
        <a:lstStyle/>
        <a:p>
          <a:endParaRPr lang="en-US"/>
        </a:p>
      </dgm:t>
    </dgm:pt>
    <dgm:pt modelId="{6617CCD3-3DB7-4AFE-9128-1902739F89BC}">
      <dgm:prSet phldrT="[Text]" phldr="0"/>
      <dgm:spPr/>
      <dgm:t>
        <a:bodyPr/>
        <a:lstStyle/>
        <a:p>
          <a:r>
            <a:rPr lang="en-US" b="1" dirty="0"/>
            <a:t>ADC Characterization Independent Study</a:t>
          </a:r>
        </a:p>
      </dgm:t>
    </dgm:pt>
    <dgm:pt modelId="{21073FD9-DEA8-4CB6-AEC9-C07A732C409C}" type="parTrans" cxnId="{D0564FB9-D4E6-4E24-9862-E37373223448}">
      <dgm:prSet/>
      <dgm:spPr/>
      <dgm:t>
        <a:bodyPr/>
        <a:lstStyle/>
        <a:p>
          <a:endParaRPr lang="en-US"/>
        </a:p>
      </dgm:t>
    </dgm:pt>
    <dgm:pt modelId="{79AB1371-4D76-460C-BCED-A7E6C8685732}" type="sibTrans" cxnId="{D0564FB9-D4E6-4E24-9862-E37373223448}">
      <dgm:prSet/>
      <dgm:spPr/>
      <dgm:t>
        <a:bodyPr/>
        <a:lstStyle/>
        <a:p>
          <a:endParaRPr lang="en-US"/>
        </a:p>
      </dgm:t>
    </dgm:pt>
    <dgm:pt modelId="{FF6A361A-D752-4C9C-A48D-250B53B47DEA}">
      <dgm:prSet phldrT="[Text]" phldr="0"/>
      <dgm:spPr/>
      <dgm:t>
        <a:bodyPr/>
        <a:lstStyle/>
        <a:p>
          <a:r>
            <a:rPr lang="en-US" b="1" dirty="0"/>
            <a:t>2026</a:t>
          </a:r>
        </a:p>
      </dgm:t>
    </dgm:pt>
    <dgm:pt modelId="{AFE11F56-A35A-4F2D-9C13-DC291B94E7B3}" type="parTrans" cxnId="{B5DE7616-CAB8-4A7A-9DFA-D2D4D6F53789}">
      <dgm:prSet/>
      <dgm:spPr/>
      <dgm:t>
        <a:bodyPr/>
        <a:lstStyle/>
        <a:p>
          <a:endParaRPr lang="en-US"/>
        </a:p>
      </dgm:t>
    </dgm:pt>
    <dgm:pt modelId="{BF935361-48A2-48C0-82DF-67F191EA7C36}" type="sibTrans" cxnId="{B5DE7616-CAB8-4A7A-9DFA-D2D4D6F53789}">
      <dgm:prSet/>
      <dgm:spPr/>
      <dgm:t>
        <a:bodyPr/>
        <a:lstStyle/>
        <a:p>
          <a:endParaRPr lang="en-US"/>
        </a:p>
      </dgm:t>
    </dgm:pt>
    <dgm:pt modelId="{6B608AC2-E0BE-47AC-8A3B-614F7DE2C134}">
      <dgm:prSet phldrT="[Text]" phldr="0"/>
      <dgm:spPr/>
      <dgm:t>
        <a:bodyPr/>
        <a:lstStyle/>
        <a:p>
          <a:r>
            <a:rPr lang="en-US" b="1" dirty="0" err="1"/>
            <a:t>GlobTek</a:t>
          </a:r>
          <a:r>
            <a:rPr lang="en-US" b="1" dirty="0"/>
            <a:t> Inc. Design Engineer, Northvale NJ</a:t>
          </a:r>
        </a:p>
      </dgm:t>
    </dgm:pt>
    <dgm:pt modelId="{3178F61E-A5C2-45CA-B9FB-C134C246F97B}" type="parTrans" cxnId="{EE388223-C6D4-4503-B0EE-7D2258C994FD}">
      <dgm:prSet/>
      <dgm:spPr/>
      <dgm:t>
        <a:bodyPr/>
        <a:lstStyle/>
        <a:p>
          <a:endParaRPr lang="en-US"/>
        </a:p>
      </dgm:t>
    </dgm:pt>
    <dgm:pt modelId="{6AD0FAAF-1DE3-4CCF-864F-35474218580F}" type="sibTrans" cxnId="{EE388223-C6D4-4503-B0EE-7D2258C994FD}">
      <dgm:prSet/>
      <dgm:spPr/>
      <dgm:t>
        <a:bodyPr/>
        <a:lstStyle/>
        <a:p>
          <a:endParaRPr lang="en-US"/>
        </a:p>
      </dgm:t>
    </dgm:pt>
    <dgm:pt modelId="{4D5B22D4-6404-49AE-90F3-1A529A7E6FC8}" type="pres">
      <dgm:prSet presAssocID="{69428D58-3712-4AAD-8090-EB6BA68768B2}" presName="linearFlow" presStyleCnt="0">
        <dgm:presLayoutVars>
          <dgm:dir/>
          <dgm:animLvl val="lvl"/>
          <dgm:resizeHandles val="exact"/>
        </dgm:presLayoutVars>
      </dgm:prSet>
      <dgm:spPr/>
    </dgm:pt>
    <dgm:pt modelId="{B23734B6-9F8D-4480-A8C2-C32252266C98}" type="pres">
      <dgm:prSet presAssocID="{9DD817A9-B7A0-47CB-96EE-090144BBB0D9}" presName="composite" presStyleCnt="0"/>
      <dgm:spPr/>
    </dgm:pt>
    <dgm:pt modelId="{D79FE53A-6E88-4873-BFE1-4685091DEAE4}" type="pres">
      <dgm:prSet presAssocID="{9DD817A9-B7A0-47CB-96EE-090144BBB0D9}" presName="parentText" presStyleLbl="alignNode1" presStyleIdx="0" presStyleCnt="4">
        <dgm:presLayoutVars>
          <dgm:chMax val="1"/>
          <dgm:bulletEnabled val="1"/>
        </dgm:presLayoutVars>
      </dgm:prSet>
      <dgm:spPr/>
    </dgm:pt>
    <dgm:pt modelId="{1DA352EB-73AD-4547-B5FB-B5BA892F5985}" type="pres">
      <dgm:prSet presAssocID="{9DD817A9-B7A0-47CB-96EE-090144BBB0D9}" presName="descendantText" presStyleLbl="alignAcc1" presStyleIdx="0" presStyleCnt="4">
        <dgm:presLayoutVars>
          <dgm:bulletEnabled val="1"/>
        </dgm:presLayoutVars>
      </dgm:prSet>
      <dgm:spPr/>
    </dgm:pt>
    <dgm:pt modelId="{F8BD0F88-DB64-4B6C-9EDA-82EBCC6D9176}" type="pres">
      <dgm:prSet presAssocID="{55232ED2-E005-4513-BAF0-9999E39455B0}" presName="sp" presStyleCnt="0"/>
      <dgm:spPr/>
    </dgm:pt>
    <dgm:pt modelId="{4F0E96F8-8055-42FC-9900-4253C3432F63}" type="pres">
      <dgm:prSet presAssocID="{3DB99FFD-4BBF-47B8-AF97-0948B269EC89}" presName="composite" presStyleCnt="0"/>
      <dgm:spPr/>
    </dgm:pt>
    <dgm:pt modelId="{3B03DFA1-7868-4EA3-9FEC-5305BFD5F9CC}" type="pres">
      <dgm:prSet presAssocID="{3DB99FFD-4BBF-47B8-AF97-0948B269EC89}" presName="parentText" presStyleLbl="alignNode1" presStyleIdx="1" presStyleCnt="4">
        <dgm:presLayoutVars>
          <dgm:chMax val="1"/>
          <dgm:bulletEnabled val="1"/>
        </dgm:presLayoutVars>
      </dgm:prSet>
      <dgm:spPr/>
    </dgm:pt>
    <dgm:pt modelId="{02CB300F-C680-4D7A-A84A-B424A179B9C4}" type="pres">
      <dgm:prSet presAssocID="{3DB99FFD-4BBF-47B8-AF97-0948B269EC89}" presName="descendantText" presStyleLbl="alignAcc1" presStyleIdx="1" presStyleCnt="4">
        <dgm:presLayoutVars>
          <dgm:bulletEnabled val="1"/>
        </dgm:presLayoutVars>
      </dgm:prSet>
      <dgm:spPr/>
    </dgm:pt>
    <dgm:pt modelId="{B0CAF0D2-23C5-4546-B813-0A1F2645086A}" type="pres">
      <dgm:prSet presAssocID="{50763CCE-984C-4218-B985-E132A671FEF6}" presName="sp" presStyleCnt="0"/>
      <dgm:spPr/>
    </dgm:pt>
    <dgm:pt modelId="{E21F0985-D9E5-4736-A230-1D605C4AD8AA}" type="pres">
      <dgm:prSet presAssocID="{17638281-13A8-4AD1-96A0-7AD9D683E4F4}" presName="composite" presStyleCnt="0"/>
      <dgm:spPr/>
    </dgm:pt>
    <dgm:pt modelId="{30F66A09-65F5-483C-9B64-67608A95F9AF}" type="pres">
      <dgm:prSet presAssocID="{17638281-13A8-4AD1-96A0-7AD9D683E4F4}" presName="parentText" presStyleLbl="alignNode1" presStyleIdx="2" presStyleCnt="4">
        <dgm:presLayoutVars>
          <dgm:chMax val="1"/>
          <dgm:bulletEnabled val="1"/>
        </dgm:presLayoutVars>
      </dgm:prSet>
      <dgm:spPr/>
    </dgm:pt>
    <dgm:pt modelId="{4F95ACD0-5BE7-44B0-8B75-94974B9D7276}" type="pres">
      <dgm:prSet presAssocID="{17638281-13A8-4AD1-96A0-7AD9D683E4F4}" presName="descendantText" presStyleLbl="alignAcc1" presStyleIdx="2" presStyleCnt="4">
        <dgm:presLayoutVars>
          <dgm:bulletEnabled val="1"/>
        </dgm:presLayoutVars>
      </dgm:prSet>
      <dgm:spPr/>
    </dgm:pt>
    <dgm:pt modelId="{C28D5DBF-D91D-43C3-9D65-F930FB1F0E69}" type="pres">
      <dgm:prSet presAssocID="{3882630C-7212-4EA4-86D8-29B5AE3F7F15}" presName="sp" presStyleCnt="0"/>
      <dgm:spPr/>
    </dgm:pt>
    <dgm:pt modelId="{F1BFE90A-2406-4757-9B6D-2EADF5E0DD70}" type="pres">
      <dgm:prSet presAssocID="{FF6A361A-D752-4C9C-A48D-250B53B47DEA}" presName="composite" presStyleCnt="0"/>
      <dgm:spPr/>
    </dgm:pt>
    <dgm:pt modelId="{7FED8E40-D258-42F8-964C-30C2C70A8D57}" type="pres">
      <dgm:prSet presAssocID="{FF6A361A-D752-4C9C-A48D-250B53B47DEA}" presName="parentText" presStyleLbl="alignNode1" presStyleIdx="3" presStyleCnt="4">
        <dgm:presLayoutVars>
          <dgm:chMax val="1"/>
          <dgm:bulletEnabled val="1"/>
        </dgm:presLayoutVars>
      </dgm:prSet>
      <dgm:spPr/>
    </dgm:pt>
    <dgm:pt modelId="{E4930DA7-3910-4D27-99EA-D008AFFB7123}" type="pres">
      <dgm:prSet presAssocID="{FF6A361A-D752-4C9C-A48D-250B53B47DEA}" presName="descendantText" presStyleLbl="alignAcc1" presStyleIdx="3" presStyleCnt="4">
        <dgm:presLayoutVars>
          <dgm:bulletEnabled val="1"/>
        </dgm:presLayoutVars>
      </dgm:prSet>
      <dgm:spPr/>
    </dgm:pt>
  </dgm:ptLst>
  <dgm:cxnLst>
    <dgm:cxn modelId="{787CA010-FA6E-4D75-ADE4-96DBB8FFFFF2}" srcId="{69428D58-3712-4AAD-8090-EB6BA68768B2}" destId="{3DB99FFD-4BBF-47B8-AF97-0948B269EC89}" srcOrd="1" destOrd="0" parTransId="{E62809F1-316A-427B-87AC-D6106DEFF88D}" sibTransId="{50763CCE-984C-4218-B985-E132A671FEF6}"/>
    <dgm:cxn modelId="{363F2413-0DE2-4310-B73C-A288CCC6F11E}" type="presOf" srcId="{F06B6B6F-1F46-4B90-B674-B910B9FC2A1B}" destId="{02CB300F-C680-4D7A-A84A-B424A179B9C4}" srcOrd="0" destOrd="1" presId="urn:microsoft.com/office/officeart/2005/8/layout/chevron2"/>
    <dgm:cxn modelId="{B5DE7616-CAB8-4A7A-9DFA-D2D4D6F53789}" srcId="{69428D58-3712-4AAD-8090-EB6BA68768B2}" destId="{FF6A361A-D752-4C9C-A48D-250B53B47DEA}" srcOrd="3" destOrd="0" parTransId="{AFE11F56-A35A-4F2D-9C13-DC291B94E7B3}" sibTransId="{BF935361-48A2-48C0-82DF-67F191EA7C36}"/>
    <dgm:cxn modelId="{E6AD5820-50A4-43F7-92BB-1B6E7E659512}" type="presOf" srcId="{69428D58-3712-4AAD-8090-EB6BA68768B2}" destId="{4D5B22D4-6404-49AE-90F3-1A529A7E6FC8}" srcOrd="0" destOrd="0" presId="urn:microsoft.com/office/officeart/2005/8/layout/chevron2"/>
    <dgm:cxn modelId="{3DC24621-8085-40EF-AA45-66867FD1F422}" type="presOf" srcId="{6B608AC2-E0BE-47AC-8A3B-614F7DE2C134}" destId="{E4930DA7-3910-4D27-99EA-D008AFFB7123}" srcOrd="0" destOrd="0" presId="urn:microsoft.com/office/officeart/2005/8/layout/chevron2"/>
    <dgm:cxn modelId="{EE388223-C6D4-4503-B0EE-7D2258C994FD}" srcId="{FF6A361A-D752-4C9C-A48D-250B53B47DEA}" destId="{6B608AC2-E0BE-47AC-8A3B-614F7DE2C134}" srcOrd="0" destOrd="0" parTransId="{3178F61E-A5C2-45CA-B9FB-C134C246F97B}" sibTransId="{6AD0FAAF-1DE3-4CCF-864F-35474218580F}"/>
    <dgm:cxn modelId="{1DA6944F-5471-479E-92B0-65F761F7E8AA}" type="presOf" srcId="{FF6A361A-D752-4C9C-A48D-250B53B47DEA}" destId="{7FED8E40-D258-42F8-964C-30C2C70A8D57}" srcOrd="0" destOrd="0" presId="urn:microsoft.com/office/officeart/2005/8/layout/chevron2"/>
    <dgm:cxn modelId="{B6F8E772-95DE-467C-827A-3C3AC3A24951}" type="presOf" srcId="{6617CCD3-3DB7-4AFE-9128-1902739F89BC}" destId="{4F95ACD0-5BE7-44B0-8B75-94974B9D7276}" srcOrd="0" destOrd="0" presId="urn:microsoft.com/office/officeart/2005/8/layout/chevron2"/>
    <dgm:cxn modelId="{03158258-3C2B-43AE-9D03-0AC2A7747752}" srcId="{3DB99FFD-4BBF-47B8-AF97-0948B269EC89}" destId="{A8BBD34E-F4A9-4755-B3C3-90CBC89F044C}" srcOrd="0" destOrd="0" parTransId="{35ACB942-05A1-4392-8F63-E14AF2C51E46}" sibTransId="{11FCFD41-812F-4703-AB8C-91AD7E2084BE}"/>
    <dgm:cxn modelId="{10EF027A-C99C-4A70-9D04-A046B8B9DD8F}" type="presOf" srcId="{9DD817A9-B7A0-47CB-96EE-090144BBB0D9}" destId="{D79FE53A-6E88-4873-BFE1-4685091DEAE4}" srcOrd="0" destOrd="0" presId="urn:microsoft.com/office/officeart/2005/8/layout/chevron2"/>
    <dgm:cxn modelId="{217E8599-6B04-42C9-BB76-A5A1E9D99812}" srcId="{9DD817A9-B7A0-47CB-96EE-090144BBB0D9}" destId="{F3EEE984-BCA6-49DF-ABC5-DB65247DA838}" srcOrd="0" destOrd="0" parTransId="{7EF27D7E-1B93-4F17-87AC-36710BCDC56E}" sibTransId="{4FDE95DE-2B25-4FE3-AE0D-907D2AAB4CD4}"/>
    <dgm:cxn modelId="{72E9609F-2DC8-4A32-8784-891BF5B41163}" type="presOf" srcId="{3DB99FFD-4BBF-47B8-AF97-0948B269EC89}" destId="{3B03DFA1-7868-4EA3-9FEC-5305BFD5F9CC}" srcOrd="0" destOrd="0" presId="urn:microsoft.com/office/officeart/2005/8/layout/chevron2"/>
    <dgm:cxn modelId="{D0564FB9-D4E6-4E24-9862-E37373223448}" srcId="{17638281-13A8-4AD1-96A0-7AD9D683E4F4}" destId="{6617CCD3-3DB7-4AFE-9128-1902739F89BC}" srcOrd="0" destOrd="0" parTransId="{21073FD9-DEA8-4CB6-AEC9-C07A732C409C}" sibTransId="{79AB1371-4D76-460C-BCED-A7E6C8685732}"/>
    <dgm:cxn modelId="{1CDFA7B9-5EC8-4216-A638-8F7931743123}" srcId="{69428D58-3712-4AAD-8090-EB6BA68768B2}" destId="{17638281-13A8-4AD1-96A0-7AD9D683E4F4}" srcOrd="2" destOrd="0" parTransId="{D7DDBAF6-7F7A-40D4-B696-B6AB295EAC1E}" sibTransId="{3882630C-7212-4EA4-86D8-29B5AE3F7F15}"/>
    <dgm:cxn modelId="{36A356BC-EAD9-4391-9EEA-01CBF1AD5684}" type="presOf" srcId="{A8BBD34E-F4A9-4755-B3C3-90CBC89F044C}" destId="{02CB300F-C680-4D7A-A84A-B424A179B9C4}" srcOrd="0" destOrd="0" presId="urn:microsoft.com/office/officeart/2005/8/layout/chevron2"/>
    <dgm:cxn modelId="{76381CBF-1BC8-4E8C-AFE7-C3341DF9B970}" srcId="{A8BBD34E-F4A9-4755-B3C3-90CBC89F044C}" destId="{F06B6B6F-1F46-4B90-B674-B910B9FC2A1B}" srcOrd="0" destOrd="0" parTransId="{6D052DCE-2BF3-45B3-B07F-E7468EC2AF41}" sibTransId="{C93B060C-9F8C-4177-ADE2-9ECE2A79C8C1}"/>
    <dgm:cxn modelId="{6A74CFC2-C51A-40A2-B1EC-C6FEEBC4B1B0}" type="presOf" srcId="{F3EEE984-BCA6-49DF-ABC5-DB65247DA838}" destId="{1DA352EB-73AD-4547-B5FB-B5BA892F5985}" srcOrd="0" destOrd="0" presId="urn:microsoft.com/office/officeart/2005/8/layout/chevron2"/>
    <dgm:cxn modelId="{590D2CC7-5B67-4A86-82E9-0259B95FF648}" type="presOf" srcId="{17638281-13A8-4AD1-96A0-7AD9D683E4F4}" destId="{30F66A09-65F5-483C-9B64-67608A95F9AF}" srcOrd="0" destOrd="0" presId="urn:microsoft.com/office/officeart/2005/8/layout/chevron2"/>
    <dgm:cxn modelId="{A8646CDE-5BDA-4A78-BB62-9774AA3E5968}" srcId="{69428D58-3712-4AAD-8090-EB6BA68768B2}" destId="{9DD817A9-B7A0-47CB-96EE-090144BBB0D9}" srcOrd="0" destOrd="0" parTransId="{223404D6-A4AF-4A7D-A933-4BFFEB40F873}" sibTransId="{55232ED2-E005-4513-BAF0-9999E39455B0}"/>
    <dgm:cxn modelId="{E44B1F89-3D32-4419-9DAF-8DF2E15DAFD6}" type="presParOf" srcId="{4D5B22D4-6404-49AE-90F3-1A529A7E6FC8}" destId="{B23734B6-9F8D-4480-A8C2-C32252266C98}" srcOrd="0" destOrd="0" presId="urn:microsoft.com/office/officeart/2005/8/layout/chevron2"/>
    <dgm:cxn modelId="{4FA2BE4F-E72B-44AF-BCD3-16A4DD61A477}" type="presParOf" srcId="{B23734B6-9F8D-4480-A8C2-C32252266C98}" destId="{D79FE53A-6E88-4873-BFE1-4685091DEAE4}" srcOrd="0" destOrd="0" presId="urn:microsoft.com/office/officeart/2005/8/layout/chevron2"/>
    <dgm:cxn modelId="{9F7E9F8D-034C-460F-8F6C-338717CCFFB0}" type="presParOf" srcId="{B23734B6-9F8D-4480-A8C2-C32252266C98}" destId="{1DA352EB-73AD-4547-B5FB-B5BA892F5985}" srcOrd="1" destOrd="0" presId="urn:microsoft.com/office/officeart/2005/8/layout/chevron2"/>
    <dgm:cxn modelId="{FFE28309-4EC6-431B-B03C-75F64F1DB2A0}" type="presParOf" srcId="{4D5B22D4-6404-49AE-90F3-1A529A7E6FC8}" destId="{F8BD0F88-DB64-4B6C-9EDA-82EBCC6D9176}" srcOrd="1" destOrd="0" presId="urn:microsoft.com/office/officeart/2005/8/layout/chevron2"/>
    <dgm:cxn modelId="{3F6372A4-CA1C-44B0-8213-C03D8695B206}" type="presParOf" srcId="{4D5B22D4-6404-49AE-90F3-1A529A7E6FC8}" destId="{4F0E96F8-8055-42FC-9900-4253C3432F63}" srcOrd="2" destOrd="0" presId="urn:microsoft.com/office/officeart/2005/8/layout/chevron2"/>
    <dgm:cxn modelId="{B86A692E-B0F8-407C-BAF6-CB382350CFE9}" type="presParOf" srcId="{4F0E96F8-8055-42FC-9900-4253C3432F63}" destId="{3B03DFA1-7868-4EA3-9FEC-5305BFD5F9CC}" srcOrd="0" destOrd="0" presId="urn:microsoft.com/office/officeart/2005/8/layout/chevron2"/>
    <dgm:cxn modelId="{E25F790B-BCF4-424D-8584-F0D6CD74822A}" type="presParOf" srcId="{4F0E96F8-8055-42FC-9900-4253C3432F63}" destId="{02CB300F-C680-4D7A-A84A-B424A179B9C4}" srcOrd="1" destOrd="0" presId="urn:microsoft.com/office/officeart/2005/8/layout/chevron2"/>
    <dgm:cxn modelId="{8D48A3F2-DB55-4C06-9B97-F1696A28B583}" type="presParOf" srcId="{4D5B22D4-6404-49AE-90F3-1A529A7E6FC8}" destId="{B0CAF0D2-23C5-4546-B813-0A1F2645086A}" srcOrd="3" destOrd="0" presId="urn:microsoft.com/office/officeart/2005/8/layout/chevron2"/>
    <dgm:cxn modelId="{C4CE9B29-FE57-4062-A4E7-B2645CE0D80D}" type="presParOf" srcId="{4D5B22D4-6404-49AE-90F3-1A529A7E6FC8}" destId="{E21F0985-D9E5-4736-A230-1D605C4AD8AA}" srcOrd="4" destOrd="0" presId="urn:microsoft.com/office/officeart/2005/8/layout/chevron2"/>
    <dgm:cxn modelId="{AED0EF8E-0643-4FC2-A734-B9E37A569EAA}" type="presParOf" srcId="{E21F0985-D9E5-4736-A230-1D605C4AD8AA}" destId="{30F66A09-65F5-483C-9B64-67608A95F9AF}" srcOrd="0" destOrd="0" presId="urn:microsoft.com/office/officeart/2005/8/layout/chevron2"/>
    <dgm:cxn modelId="{E676FA57-460C-44AD-927F-49784FF9C859}" type="presParOf" srcId="{E21F0985-D9E5-4736-A230-1D605C4AD8AA}" destId="{4F95ACD0-5BE7-44B0-8B75-94974B9D7276}" srcOrd="1" destOrd="0" presId="urn:microsoft.com/office/officeart/2005/8/layout/chevron2"/>
    <dgm:cxn modelId="{076EBA3F-1DA2-4194-A230-8EF3431BC991}" type="presParOf" srcId="{4D5B22D4-6404-49AE-90F3-1A529A7E6FC8}" destId="{C28D5DBF-D91D-43C3-9D65-F930FB1F0E69}" srcOrd="5" destOrd="0" presId="urn:microsoft.com/office/officeart/2005/8/layout/chevron2"/>
    <dgm:cxn modelId="{186414C7-8C85-438A-B23C-394327104919}" type="presParOf" srcId="{4D5B22D4-6404-49AE-90F3-1A529A7E6FC8}" destId="{F1BFE90A-2406-4757-9B6D-2EADF5E0DD70}" srcOrd="6" destOrd="0" presId="urn:microsoft.com/office/officeart/2005/8/layout/chevron2"/>
    <dgm:cxn modelId="{8746DC45-43E8-4797-AD48-0F3F9BA49B2C}" type="presParOf" srcId="{F1BFE90A-2406-4757-9B6D-2EADF5E0DD70}" destId="{7FED8E40-D258-42F8-964C-30C2C70A8D57}" srcOrd="0" destOrd="0" presId="urn:microsoft.com/office/officeart/2005/8/layout/chevron2"/>
    <dgm:cxn modelId="{D346BAC9-D2D7-402B-866C-B60002CB8FCA}" type="presParOf" srcId="{F1BFE90A-2406-4757-9B6D-2EADF5E0DD70}" destId="{E4930DA7-3910-4D27-99EA-D008AFFB7123}"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FBD1920-A1E2-4D45-816C-D4F31AF07FA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92B54B4-3A10-431F-8BA7-D5DC73C42C56}">
      <dgm:prSet/>
      <dgm:spPr/>
      <dgm:t>
        <a:bodyPr/>
        <a:lstStyle/>
        <a:p>
          <a:r>
            <a:rPr lang="en-US" b="1" dirty="0"/>
            <a:t>Parallel ADC calibration to remove thermal or jitter noise from FFT</a:t>
          </a:r>
        </a:p>
      </dgm:t>
    </dgm:pt>
    <dgm:pt modelId="{E5EF047D-C553-44C4-8ECE-B7B144DAD860}" type="parTrans" cxnId="{AAFE50A6-921F-44C0-AD6B-BAB80203327C}">
      <dgm:prSet/>
      <dgm:spPr/>
      <dgm:t>
        <a:bodyPr/>
        <a:lstStyle/>
        <a:p>
          <a:endParaRPr lang="en-US"/>
        </a:p>
      </dgm:t>
    </dgm:pt>
    <dgm:pt modelId="{E9A3CC22-19FF-4AF7-8630-D28F716392FD}" type="sibTrans" cxnId="{AAFE50A6-921F-44C0-AD6B-BAB80203327C}">
      <dgm:prSet/>
      <dgm:spPr/>
      <dgm:t>
        <a:bodyPr/>
        <a:lstStyle/>
        <a:p>
          <a:endParaRPr lang="en-US"/>
        </a:p>
      </dgm:t>
    </dgm:pt>
    <dgm:pt modelId="{A8D8ECA5-C70D-4CDE-A673-2F0AE1344975}">
      <dgm:prSet/>
      <dgm:spPr/>
      <dgm:t>
        <a:bodyPr/>
        <a:lstStyle/>
        <a:p>
          <a:r>
            <a:rPr lang="en-US" b="1" dirty="0"/>
            <a:t>Characterize image sensor</a:t>
          </a:r>
        </a:p>
      </dgm:t>
    </dgm:pt>
    <dgm:pt modelId="{13EF12F2-1040-46ED-8B95-7FCCF76A5EAD}" type="parTrans" cxnId="{B62B4E3A-2B07-440B-A959-2BA21D554401}">
      <dgm:prSet/>
      <dgm:spPr/>
      <dgm:t>
        <a:bodyPr/>
        <a:lstStyle/>
        <a:p>
          <a:endParaRPr lang="en-US"/>
        </a:p>
      </dgm:t>
    </dgm:pt>
    <dgm:pt modelId="{FFEBB4BB-0D97-4000-9F6E-F15C375F4966}" type="sibTrans" cxnId="{B62B4E3A-2B07-440B-A959-2BA21D554401}">
      <dgm:prSet/>
      <dgm:spPr/>
      <dgm:t>
        <a:bodyPr/>
        <a:lstStyle/>
        <a:p>
          <a:endParaRPr lang="en-US"/>
        </a:p>
      </dgm:t>
    </dgm:pt>
    <dgm:pt modelId="{FB09ECB7-F4D2-49A0-A033-CC936055EF27}">
      <dgm:prSet/>
      <dgm:spPr/>
      <dgm:t>
        <a:bodyPr/>
        <a:lstStyle/>
        <a:p>
          <a:r>
            <a:rPr lang="en-US" b="1" dirty="0"/>
            <a:t>Associate researcher in WPI CHIPS Design Studio</a:t>
          </a:r>
        </a:p>
      </dgm:t>
    </dgm:pt>
    <dgm:pt modelId="{E4A4DB85-07E9-4E38-84C9-C3DA30F74250}" type="parTrans" cxnId="{7712ED95-6BB5-4EA5-9953-557F3169E783}">
      <dgm:prSet/>
      <dgm:spPr/>
      <dgm:t>
        <a:bodyPr/>
        <a:lstStyle/>
        <a:p>
          <a:endParaRPr lang="en-US"/>
        </a:p>
      </dgm:t>
    </dgm:pt>
    <dgm:pt modelId="{4ADFC696-6856-4C36-AAA5-B56499F16B72}" type="sibTrans" cxnId="{7712ED95-6BB5-4EA5-9953-557F3169E783}">
      <dgm:prSet/>
      <dgm:spPr/>
      <dgm:t>
        <a:bodyPr/>
        <a:lstStyle/>
        <a:p>
          <a:endParaRPr lang="en-US"/>
        </a:p>
      </dgm:t>
    </dgm:pt>
    <dgm:pt modelId="{7E494E3E-797D-401E-9B0E-842DB5C2621F}">
      <dgm:prSet/>
      <dgm:spPr/>
      <dgm:t>
        <a:bodyPr/>
        <a:lstStyle/>
        <a:p>
          <a:r>
            <a:rPr lang="en-US" b="1" dirty="0"/>
            <a:t>New classes at WPI!</a:t>
          </a:r>
        </a:p>
      </dgm:t>
    </dgm:pt>
    <dgm:pt modelId="{A25A47AA-BA6D-4DB9-8F18-2017E90F9826}" type="parTrans" cxnId="{BAE238BC-6191-4187-A1ED-E29D60403F4F}">
      <dgm:prSet/>
      <dgm:spPr/>
      <dgm:t>
        <a:bodyPr/>
        <a:lstStyle/>
        <a:p>
          <a:endParaRPr lang="en-US"/>
        </a:p>
      </dgm:t>
    </dgm:pt>
    <dgm:pt modelId="{E6C3CD22-4C45-4A4E-93D5-B1355673A6ED}" type="sibTrans" cxnId="{BAE238BC-6191-4187-A1ED-E29D60403F4F}">
      <dgm:prSet/>
      <dgm:spPr/>
      <dgm:t>
        <a:bodyPr/>
        <a:lstStyle/>
        <a:p>
          <a:endParaRPr lang="en-US"/>
        </a:p>
      </dgm:t>
    </dgm:pt>
    <dgm:pt modelId="{8C9FC54A-F2EE-41DA-8B07-5CCFBFCF2866}">
      <dgm:prSet/>
      <dgm:spPr/>
      <dgm:t>
        <a:bodyPr/>
        <a:lstStyle/>
        <a:p>
          <a:r>
            <a:rPr lang="en-US" b="1" dirty="0"/>
            <a:t>Moving to Boston!</a:t>
          </a:r>
        </a:p>
      </dgm:t>
    </dgm:pt>
    <dgm:pt modelId="{7CFDFCB5-6578-4752-937D-6C56B3EF9C79}" type="parTrans" cxnId="{6533FEF1-691F-49FE-A297-C7DB7F2CBC35}">
      <dgm:prSet/>
      <dgm:spPr/>
      <dgm:t>
        <a:bodyPr/>
        <a:lstStyle/>
        <a:p>
          <a:endParaRPr lang="en-US"/>
        </a:p>
      </dgm:t>
    </dgm:pt>
    <dgm:pt modelId="{77FFB5F0-CF1F-42A5-AA8E-6E3C088BDA0B}" type="sibTrans" cxnId="{6533FEF1-691F-49FE-A297-C7DB7F2CBC35}">
      <dgm:prSet/>
      <dgm:spPr/>
      <dgm:t>
        <a:bodyPr/>
        <a:lstStyle/>
        <a:p>
          <a:endParaRPr lang="en-US"/>
        </a:p>
      </dgm:t>
    </dgm:pt>
    <dgm:pt modelId="{67372658-9D82-41B4-9F14-A9567AE498D4}" type="pres">
      <dgm:prSet presAssocID="{8FBD1920-A1E2-4D45-816C-D4F31AF07FA8}" presName="linear" presStyleCnt="0">
        <dgm:presLayoutVars>
          <dgm:animLvl val="lvl"/>
          <dgm:resizeHandles val="exact"/>
        </dgm:presLayoutVars>
      </dgm:prSet>
      <dgm:spPr/>
    </dgm:pt>
    <dgm:pt modelId="{058AF88B-A185-455E-A5CA-F92A2D560D19}" type="pres">
      <dgm:prSet presAssocID="{B92B54B4-3A10-431F-8BA7-D5DC73C42C56}" presName="parentText" presStyleLbl="node1" presStyleIdx="0" presStyleCnt="5">
        <dgm:presLayoutVars>
          <dgm:chMax val="0"/>
          <dgm:bulletEnabled val="1"/>
        </dgm:presLayoutVars>
      </dgm:prSet>
      <dgm:spPr/>
    </dgm:pt>
    <dgm:pt modelId="{55C7F367-89CC-4E9B-9987-C0288C879B07}" type="pres">
      <dgm:prSet presAssocID="{E9A3CC22-19FF-4AF7-8630-D28F716392FD}" presName="spacer" presStyleCnt="0"/>
      <dgm:spPr/>
    </dgm:pt>
    <dgm:pt modelId="{C6C57DE4-F30B-4AC8-9548-94B5EE2B1C9F}" type="pres">
      <dgm:prSet presAssocID="{A8D8ECA5-C70D-4CDE-A673-2F0AE1344975}" presName="parentText" presStyleLbl="node1" presStyleIdx="1" presStyleCnt="5">
        <dgm:presLayoutVars>
          <dgm:chMax val="0"/>
          <dgm:bulletEnabled val="1"/>
        </dgm:presLayoutVars>
      </dgm:prSet>
      <dgm:spPr/>
    </dgm:pt>
    <dgm:pt modelId="{71B5D4BB-9883-4072-A346-5894A458B38E}" type="pres">
      <dgm:prSet presAssocID="{FFEBB4BB-0D97-4000-9F6E-F15C375F4966}" presName="spacer" presStyleCnt="0"/>
      <dgm:spPr/>
    </dgm:pt>
    <dgm:pt modelId="{6A659509-A92B-47C1-979B-4A5D6209DA65}" type="pres">
      <dgm:prSet presAssocID="{FB09ECB7-F4D2-49A0-A033-CC936055EF27}" presName="parentText" presStyleLbl="node1" presStyleIdx="2" presStyleCnt="5">
        <dgm:presLayoutVars>
          <dgm:chMax val="0"/>
          <dgm:bulletEnabled val="1"/>
        </dgm:presLayoutVars>
      </dgm:prSet>
      <dgm:spPr/>
    </dgm:pt>
    <dgm:pt modelId="{B08C7D6F-2354-4EC7-8E7E-8D6970E8A792}" type="pres">
      <dgm:prSet presAssocID="{4ADFC696-6856-4C36-AAA5-B56499F16B72}" presName="spacer" presStyleCnt="0"/>
      <dgm:spPr/>
    </dgm:pt>
    <dgm:pt modelId="{B9AE7B23-2697-46DB-9F93-EB8882B6DE0F}" type="pres">
      <dgm:prSet presAssocID="{7E494E3E-797D-401E-9B0E-842DB5C2621F}" presName="parentText" presStyleLbl="node1" presStyleIdx="3" presStyleCnt="5">
        <dgm:presLayoutVars>
          <dgm:chMax val="0"/>
          <dgm:bulletEnabled val="1"/>
        </dgm:presLayoutVars>
      </dgm:prSet>
      <dgm:spPr/>
    </dgm:pt>
    <dgm:pt modelId="{244E8477-0EF8-461C-B582-D419A9CB9B1F}" type="pres">
      <dgm:prSet presAssocID="{E6C3CD22-4C45-4A4E-93D5-B1355673A6ED}" presName="spacer" presStyleCnt="0"/>
      <dgm:spPr/>
    </dgm:pt>
    <dgm:pt modelId="{526ABAC1-158E-4F27-A4AD-0254D6827B35}" type="pres">
      <dgm:prSet presAssocID="{8C9FC54A-F2EE-41DA-8B07-5CCFBFCF2866}" presName="parentText" presStyleLbl="node1" presStyleIdx="4" presStyleCnt="5">
        <dgm:presLayoutVars>
          <dgm:chMax val="0"/>
          <dgm:bulletEnabled val="1"/>
        </dgm:presLayoutVars>
      </dgm:prSet>
      <dgm:spPr/>
    </dgm:pt>
  </dgm:ptLst>
  <dgm:cxnLst>
    <dgm:cxn modelId="{2E3DE003-27F2-4CE7-853F-8D306683CC3F}" type="presOf" srcId="{FB09ECB7-F4D2-49A0-A033-CC936055EF27}" destId="{6A659509-A92B-47C1-979B-4A5D6209DA65}" srcOrd="0" destOrd="0" presId="urn:microsoft.com/office/officeart/2005/8/layout/vList2"/>
    <dgm:cxn modelId="{FDF5022E-F02F-4763-BA15-010F765AF583}" type="presOf" srcId="{B92B54B4-3A10-431F-8BA7-D5DC73C42C56}" destId="{058AF88B-A185-455E-A5CA-F92A2D560D19}" srcOrd="0" destOrd="0" presId="urn:microsoft.com/office/officeart/2005/8/layout/vList2"/>
    <dgm:cxn modelId="{B62B4E3A-2B07-440B-A959-2BA21D554401}" srcId="{8FBD1920-A1E2-4D45-816C-D4F31AF07FA8}" destId="{A8D8ECA5-C70D-4CDE-A673-2F0AE1344975}" srcOrd="1" destOrd="0" parTransId="{13EF12F2-1040-46ED-8B95-7FCCF76A5EAD}" sibTransId="{FFEBB4BB-0D97-4000-9F6E-F15C375F4966}"/>
    <dgm:cxn modelId="{3A091B4F-B4F8-4ECB-9FF0-2A659319212F}" type="presOf" srcId="{8C9FC54A-F2EE-41DA-8B07-5CCFBFCF2866}" destId="{526ABAC1-158E-4F27-A4AD-0254D6827B35}" srcOrd="0" destOrd="0" presId="urn:microsoft.com/office/officeart/2005/8/layout/vList2"/>
    <dgm:cxn modelId="{5474B456-B4A7-4050-A947-CA7B3C5343BB}" type="presOf" srcId="{7E494E3E-797D-401E-9B0E-842DB5C2621F}" destId="{B9AE7B23-2697-46DB-9F93-EB8882B6DE0F}" srcOrd="0" destOrd="0" presId="urn:microsoft.com/office/officeart/2005/8/layout/vList2"/>
    <dgm:cxn modelId="{7712ED95-6BB5-4EA5-9953-557F3169E783}" srcId="{8FBD1920-A1E2-4D45-816C-D4F31AF07FA8}" destId="{FB09ECB7-F4D2-49A0-A033-CC936055EF27}" srcOrd="2" destOrd="0" parTransId="{E4A4DB85-07E9-4E38-84C9-C3DA30F74250}" sibTransId="{4ADFC696-6856-4C36-AAA5-B56499F16B72}"/>
    <dgm:cxn modelId="{600C5C99-805F-4907-989A-246DC00E4E9E}" type="presOf" srcId="{8FBD1920-A1E2-4D45-816C-D4F31AF07FA8}" destId="{67372658-9D82-41B4-9F14-A9567AE498D4}" srcOrd="0" destOrd="0" presId="urn:microsoft.com/office/officeart/2005/8/layout/vList2"/>
    <dgm:cxn modelId="{AAFE50A6-921F-44C0-AD6B-BAB80203327C}" srcId="{8FBD1920-A1E2-4D45-816C-D4F31AF07FA8}" destId="{B92B54B4-3A10-431F-8BA7-D5DC73C42C56}" srcOrd="0" destOrd="0" parTransId="{E5EF047D-C553-44C4-8ECE-B7B144DAD860}" sibTransId="{E9A3CC22-19FF-4AF7-8630-D28F716392FD}"/>
    <dgm:cxn modelId="{BAE238BC-6191-4187-A1ED-E29D60403F4F}" srcId="{8FBD1920-A1E2-4D45-816C-D4F31AF07FA8}" destId="{7E494E3E-797D-401E-9B0E-842DB5C2621F}" srcOrd="3" destOrd="0" parTransId="{A25A47AA-BA6D-4DB9-8F18-2017E90F9826}" sibTransId="{E6C3CD22-4C45-4A4E-93D5-B1355673A6ED}"/>
    <dgm:cxn modelId="{3EB51CBF-505E-4366-98DC-4613C660C490}" type="presOf" srcId="{A8D8ECA5-C70D-4CDE-A673-2F0AE1344975}" destId="{C6C57DE4-F30B-4AC8-9548-94B5EE2B1C9F}" srcOrd="0" destOrd="0" presId="urn:microsoft.com/office/officeart/2005/8/layout/vList2"/>
    <dgm:cxn modelId="{6533FEF1-691F-49FE-A297-C7DB7F2CBC35}" srcId="{8FBD1920-A1E2-4D45-816C-D4F31AF07FA8}" destId="{8C9FC54A-F2EE-41DA-8B07-5CCFBFCF2866}" srcOrd="4" destOrd="0" parTransId="{7CFDFCB5-6578-4752-937D-6C56B3EF9C79}" sibTransId="{77FFB5F0-CF1F-42A5-AA8E-6E3C088BDA0B}"/>
    <dgm:cxn modelId="{2CD7630D-666E-4C7F-A09E-B4A8E2725114}" type="presParOf" srcId="{67372658-9D82-41B4-9F14-A9567AE498D4}" destId="{058AF88B-A185-455E-A5CA-F92A2D560D19}" srcOrd="0" destOrd="0" presId="urn:microsoft.com/office/officeart/2005/8/layout/vList2"/>
    <dgm:cxn modelId="{1B2FC967-8186-4FB6-9A3A-1F58F3FA4406}" type="presParOf" srcId="{67372658-9D82-41B4-9F14-A9567AE498D4}" destId="{55C7F367-89CC-4E9B-9987-C0288C879B07}" srcOrd="1" destOrd="0" presId="urn:microsoft.com/office/officeart/2005/8/layout/vList2"/>
    <dgm:cxn modelId="{80283DE0-CE66-4117-83EF-D7388BAAC034}" type="presParOf" srcId="{67372658-9D82-41B4-9F14-A9567AE498D4}" destId="{C6C57DE4-F30B-4AC8-9548-94B5EE2B1C9F}" srcOrd="2" destOrd="0" presId="urn:microsoft.com/office/officeart/2005/8/layout/vList2"/>
    <dgm:cxn modelId="{0CE9B5F0-5CDB-4305-B98E-60FD01EF33EF}" type="presParOf" srcId="{67372658-9D82-41B4-9F14-A9567AE498D4}" destId="{71B5D4BB-9883-4072-A346-5894A458B38E}" srcOrd="3" destOrd="0" presId="urn:microsoft.com/office/officeart/2005/8/layout/vList2"/>
    <dgm:cxn modelId="{788E6BF5-7086-4C30-AD88-9F010BCD08F0}" type="presParOf" srcId="{67372658-9D82-41B4-9F14-A9567AE498D4}" destId="{6A659509-A92B-47C1-979B-4A5D6209DA65}" srcOrd="4" destOrd="0" presId="urn:microsoft.com/office/officeart/2005/8/layout/vList2"/>
    <dgm:cxn modelId="{8D47FDB5-4F88-4B81-8C4E-8FEA92B1AB1A}" type="presParOf" srcId="{67372658-9D82-41B4-9F14-A9567AE498D4}" destId="{B08C7D6F-2354-4EC7-8E7E-8D6970E8A792}" srcOrd="5" destOrd="0" presId="urn:microsoft.com/office/officeart/2005/8/layout/vList2"/>
    <dgm:cxn modelId="{D8327980-FC55-480C-96BC-F55A6E2027A8}" type="presParOf" srcId="{67372658-9D82-41B4-9F14-A9567AE498D4}" destId="{B9AE7B23-2697-46DB-9F93-EB8882B6DE0F}" srcOrd="6" destOrd="0" presId="urn:microsoft.com/office/officeart/2005/8/layout/vList2"/>
    <dgm:cxn modelId="{D54CF002-0527-4A2A-B9B0-EF49C2AEE1E1}" type="presParOf" srcId="{67372658-9D82-41B4-9F14-A9567AE498D4}" destId="{244E8477-0EF8-461C-B582-D419A9CB9B1F}" srcOrd="7" destOrd="0" presId="urn:microsoft.com/office/officeart/2005/8/layout/vList2"/>
    <dgm:cxn modelId="{963F72BE-0CAB-45D8-AF02-D537E9CD9881}" type="presParOf" srcId="{67372658-9D82-41B4-9F14-A9567AE498D4}" destId="{526ABAC1-158E-4F27-A4AD-0254D6827B35}"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FE53A-6E88-4873-BFE1-4685091DEAE4}">
      <dsp:nvSpPr>
        <dsp:cNvPr id="0" name=""/>
        <dsp:cNvSpPr/>
      </dsp:nvSpPr>
      <dsp:spPr>
        <a:xfrm rot="5400000">
          <a:off x="-195738" y="199517"/>
          <a:ext cx="1304924" cy="913447"/>
        </a:xfrm>
        <a:prstGeom prst="chevron">
          <a:avLst/>
        </a:prstGeom>
        <a:solidFill>
          <a:schemeClr val="accent1">
            <a:hueOff val="0"/>
            <a:satOff val="0"/>
            <a:lumOff val="0"/>
            <a:alphaOff val="0"/>
          </a:schemeClr>
        </a:solidFill>
        <a:ln w="2222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2024-2025</a:t>
          </a:r>
        </a:p>
      </dsp:txBody>
      <dsp:txXfrm rot="-5400000">
        <a:off x="1" y="460503"/>
        <a:ext cx="913447" cy="391477"/>
      </dsp:txXfrm>
    </dsp:sp>
    <dsp:sp modelId="{1DA352EB-73AD-4547-B5FB-B5BA892F5985}">
      <dsp:nvSpPr>
        <dsp:cNvPr id="0" name=""/>
        <dsp:cNvSpPr/>
      </dsp:nvSpPr>
      <dsp:spPr>
        <a:xfrm rot="5400000">
          <a:off x="2940923" y="-2023697"/>
          <a:ext cx="848200" cy="4903152"/>
        </a:xfrm>
        <a:prstGeom prst="round2SameRect">
          <a:avLst/>
        </a:prstGeom>
        <a:solidFill>
          <a:schemeClr val="lt1">
            <a:alpha val="90000"/>
            <a:hueOff val="0"/>
            <a:satOff val="0"/>
            <a:lumOff val="0"/>
            <a:alphaOff val="0"/>
          </a:schemeClr>
        </a:solidFill>
        <a:ln w="2222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2024" tIns="17145" rIns="17145" bIns="17145" numCol="1" spcCol="1270" anchor="ctr" anchorCtr="0">
          <a:noAutofit/>
        </a:bodyPr>
        <a:lstStyle/>
        <a:p>
          <a:pPr marL="228600" lvl="1" indent="-228600" algn="l" defTabSz="1200150">
            <a:lnSpc>
              <a:spcPct val="90000"/>
            </a:lnSpc>
            <a:spcBef>
              <a:spcPct val="0"/>
            </a:spcBef>
            <a:spcAft>
              <a:spcPct val="15000"/>
            </a:spcAft>
            <a:buChar char="•"/>
          </a:pPr>
          <a:r>
            <a:rPr lang="en-US" sz="2700" b="1" kern="1200" dirty="0"/>
            <a:t>CMOS Image Sensor MQP</a:t>
          </a:r>
          <a:endParaRPr lang="en-US" sz="2700" kern="1200" dirty="0"/>
        </a:p>
      </dsp:txBody>
      <dsp:txXfrm rot="-5400000">
        <a:off x="913447" y="45185"/>
        <a:ext cx="4861746" cy="765388"/>
      </dsp:txXfrm>
    </dsp:sp>
    <dsp:sp modelId="{3B03DFA1-7868-4EA3-9FEC-5305BFD5F9CC}">
      <dsp:nvSpPr>
        <dsp:cNvPr id="0" name=""/>
        <dsp:cNvSpPr/>
      </dsp:nvSpPr>
      <dsp:spPr>
        <a:xfrm rot="5400000">
          <a:off x="-195738" y="1358490"/>
          <a:ext cx="1304924" cy="913447"/>
        </a:xfrm>
        <a:prstGeom prst="chevron">
          <a:avLst/>
        </a:prstGeom>
        <a:solidFill>
          <a:schemeClr val="accent1">
            <a:hueOff val="0"/>
            <a:satOff val="0"/>
            <a:lumOff val="0"/>
            <a:alphaOff val="0"/>
          </a:schemeClr>
        </a:solidFill>
        <a:ln w="2222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May, 2025</a:t>
          </a:r>
        </a:p>
      </dsp:txBody>
      <dsp:txXfrm rot="-5400000">
        <a:off x="1" y="1619476"/>
        <a:ext cx="913447" cy="391477"/>
      </dsp:txXfrm>
    </dsp:sp>
    <dsp:sp modelId="{02CB300F-C680-4D7A-A84A-B424A179B9C4}">
      <dsp:nvSpPr>
        <dsp:cNvPr id="0" name=""/>
        <dsp:cNvSpPr/>
      </dsp:nvSpPr>
      <dsp:spPr>
        <a:xfrm rot="5400000">
          <a:off x="2940923" y="-864724"/>
          <a:ext cx="848200" cy="4903152"/>
        </a:xfrm>
        <a:prstGeom prst="round2SameRect">
          <a:avLst/>
        </a:prstGeom>
        <a:solidFill>
          <a:schemeClr val="lt1">
            <a:alpha val="90000"/>
            <a:hueOff val="0"/>
            <a:satOff val="0"/>
            <a:lumOff val="0"/>
            <a:alphaOff val="0"/>
          </a:schemeClr>
        </a:solidFill>
        <a:ln w="2222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1111250">
            <a:lnSpc>
              <a:spcPct val="90000"/>
            </a:lnSpc>
            <a:spcBef>
              <a:spcPct val="0"/>
            </a:spcBef>
            <a:spcAft>
              <a:spcPct val="15000"/>
            </a:spcAft>
            <a:buChar char="•"/>
          </a:pPr>
          <a:r>
            <a:rPr lang="en-US" sz="2500" b="1" kern="1200" dirty="0"/>
            <a:t>B.S. @ WPI</a:t>
          </a:r>
        </a:p>
        <a:p>
          <a:pPr marL="457200" lvl="2" indent="-228600" algn="l" defTabSz="889000">
            <a:lnSpc>
              <a:spcPct val="90000"/>
            </a:lnSpc>
            <a:spcBef>
              <a:spcPct val="0"/>
            </a:spcBef>
            <a:spcAft>
              <a:spcPct val="15000"/>
            </a:spcAft>
            <a:buChar char="•"/>
          </a:pPr>
          <a:r>
            <a:rPr lang="en-US" sz="2000" b="1" kern="1200" dirty="0"/>
            <a:t>ECE &amp; Data Science</a:t>
          </a:r>
          <a:endParaRPr lang="en-US" sz="2500" b="1" kern="1200" dirty="0"/>
        </a:p>
      </dsp:txBody>
      <dsp:txXfrm rot="-5400000">
        <a:off x="913447" y="1204158"/>
        <a:ext cx="4861746" cy="765388"/>
      </dsp:txXfrm>
    </dsp:sp>
    <dsp:sp modelId="{30F66A09-65F5-483C-9B64-67608A95F9AF}">
      <dsp:nvSpPr>
        <dsp:cNvPr id="0" name=""/>
        <dsp:cNvSpPr/>
      </dsp:nvSpPr>
      <dsp:spPr>
        <a:xfrm rot="5400000">
          <a:off x="-195738" y="2517462"/>
          <a:ext cx="1304924" cy="913447"/>
        </a:xfrm>
        <a:prstGeom prst="chevron">
          <a:avLst/>
        </a:prstGeom>
        <a:solidFill>
          <a:schemeClr val="accent1">
            <a:hueOff val="0"/>
            <a:satOff val="0"/>
            <a:lumOff val="0"/>
            <a:alphaOff val="0"/>
          </a:schemeClr>
        </a:solidFill>
        <a:ln w="2222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Summer 2025</a:t>
          </a:r>
        </a:p>
      </dsp:txBody>
      <dsp:txXfrm rot="-5400000">
        <a:off x="1" y="2778448"/>
        <a:ext cx="913447" cy="391477"/>
      </dsp:txXfrm>
    </dsp:sp>
    <dsp:sp modelId="{4F95ACD0-5BE7-44B0-8B75-94974B9D7276}">
      <dsp:nvSpPr>
        <dsp:cNvPr id="0" name=""/>
        <dsp:cNvSpPr/>
      </dsp:nvSpPr>
      <dsp:spPr>
        <a:xfrm rot="5400000">
          <a:off x="2940923" y="294248"/>
          <a:ext cx="848200" cy="4903152"/>
        </a:xfrm>
        <a:prstGeom prst="round2SameRect">
          <a:avLst/>
        </a:prstGeom>
        <a:solidFill>
          <a:schemeClr val="lt1">
            <a:alpha val="90000"/>
            <a:hueOff val="0"/>
            <a:satOff val="0"/>
            <a:lumOff val="0"/>
            <a:alphaOff val="0"/>
          </a:schemeClr>
        </a:solidFill>
        <a:ln w="2222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2024" tIns="17145" rIns="17145" bIns="17145" numCol="1" spcCol="1270" anchor="ctr" anchorCtr="0">
          <a:noAutofit/>
        </a:bodyPr>
        <a:lstStyle/>
        <a:p>
          <a:pPr marL="228600" lvl="1" indent="-228600" algn="l" defTabSz="1200150">
            <a:lnSpc>
              <a:spcPct val="90000"/>
            </a:lnSpc>
            <a:spcBef>
              <a:spcPct val="0"/>
            </a:spcBef>
            <a:spcAft>
              <a:spcPct val="15000"/>
            </a:spcAft>
            <a:buChar char="•"/>
          </a:pPr>
          <a:r>
            <a:rPr lang="en-US" sz="2700" b="1" kern="1200" dirty="0"/>
            <a:t>ADC Characterization Independent Study</a:t>
          </a:r>
        </a:p>
      </dsp:txBody>
      <dsp:txXfrm rot="-5400000">
        <a:off x="913447" y="2363130"/>
        <a:ext cx="4861746" cy="765388"/>
      </dsp:txXfrm>
    </dsp:sp>
    <dsp:sp modelId="{7FED8E40-D258-42F8-964C-30C2C70A8D57}">
      <dsp:nvSpPr>
        <dsp:cNvPr id="0" name=""/>
        <dsp:cNvSpPr/>
      </dsp:nvSpPr>
      <dsp:spPr>
        <a:xfrm rot="5400000">
          <a:off x="-195738" y="3676435"/>
          <a:ext cx="1304924" cy="913447"/>
        </a:xfrm>
        <a:prstGeom prst="chevron">
          <a:avLst/>
        </a:prstGeom>
        <a:solidFill>
          <a:schemeClr val="accent1">
            <a:hueOff val="0"/>
            <a:satOff val="0"/>
            <a:lumOff val="0"/>
            <a:alphaOff val="0"/>
          </a:schemeClr>
        </a:solidFill>
        <a:ln w="2222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2026</a:t>
          </a:r>
        </a:p>
      </dsp:txBody>
      <dsp:txXfrm rot="-5400000">
        <a:off x="1" y="3937421"/>
        <a:ext cx="913447" cy="391477"/>
      </dsp:txXfrm>
    </dsp:sp>
    <dsp:sp modelId="{E4930DA7-3910-4D27-99EA-D008AFFB7123}">
      <dsp:nvSpPr>
        <dsp:cNvPr id="0" name=""/>
        <dsp:cNvSpPr/>
      </dsp:nvSpPr>
      <dsp:spPr>
        <a:xfrm rot="5400000">
          <a:off x="2940923" y="1453220"/>
          <a:ext cx="848200" cy="4903152"/>
        </a:xfrm>
        <a:prstGeom prst="round2SameRect">
          <a:avLst/>
        </a:prstGeom>
        <a:solidFill>
          <a:schemeClr val="lt1">
            <a:alpha val="90000"/>
            <a:hueOff val="0"/>
            <a:satOff val="0"/>
            <a:lumOff val="0"/>
            <a:alphaOff val="0"/>
          </a:schemeClr>
        </a:solidFill>
        <a:ln w="2222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2024" tIns="17145" rIns="17145" bIns="17145" numCol="1" spcCol="1270" anchor="ctr" anchorCtr="0">
          <a:noAutofit/>
        </a:bodyPr>
        <a:lstStyle/>
        <a:p>
          <a:pPr marL="228600" lvl="1" indent="-228600" algn="l" defTabSz="1200150">
            <a:lnSpc>
              <a:spcPct val="90000"/>
            </a:lnSpc>
            <a:spcBef>
              <a:spcPct val="0"/>
            </a:spcBef>
            <a:spcAft>
              <a:spcPct val="15000"/>
            </a:spcAft>
            <a:buChar char="•"/>
          </a:pPr>
          <a:r>
            <a:rPr lang="en-US" sz="2700" b="1" kern="1200" dirty="0" err="1"/>
            <a:t>GlobTek</a:t>
          </a:r>
          <a:r>
            <a:rPr lang="en-US" sz="2700" b="1" kern="1200" dirty="0"/>
            <a:t> Inc. Design Engineer, Northvale NJ</a:t>
          </a:r>
        </a:p>
      </dsp:txBody>
      <dsp:txXfrm rot="-5400000">
        <a:off x="913447" y="3522102"/>
        <a:ext cx="4861746" cy="7653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8AF88B-A185-455E-A5CA-F92A2D560D19}">
      <dsp:nvSpPr>
        <dsp:cNvPr id="0" name=""/>
        <dsp:cNvSpPr/>
      </dsp:nvSpPr>
      <dsp:spPr>
        <a:xfrm>
          <a:off x="0" y="99915"/>
          <a:ext cx="5283200" cy="810809"/>
        </a:xfrm>
        <a:prstGeom prst="roundRect">
          <a:avLst/>
        </a:prstGeom>
        <a:solidFill>
          <a:schemeClr val="accent1">
            <a:hueOff val="0"/>
            <a:satOff val="0"/>
            <a:lumOff val="0"/>
            <a:alphaOff val="0"/>
          </a:schemeClr>
        </a:solidFill>
        <a:ln w="222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dirty="0"/>
            <a:t>Parallel ADC calibration to remove thermal or jitter noise from FFT</a:t>
          </a:r>
        </a:p>
      </dsp:txBody>
      <dsp:txXfrm>
        <a:off x="39580" y="139495"/>
        <a:ext cx="5204040" cy="731649"/>
      </dsp:txXfrm>
    </dsp:sp>
    <dsp:sp modelId="{C6C57DE4-F30B-4AC8-9548-94B5EE2B1C9F}">
      <dsp:nvSpPr>
        <dsp:cNvPr id="0" name=""/>
        <dsp:cNvSpPr/>
      </dsp:nvSpPr>
      <dsp:spPr>
        <a:xfrm>
          <a:off x="0" y="971205"/>
          <a:ext cx="5283200" cy="810809"/>
        </a:xfrm>
        <a:prstGeom prst="roundRect">
          <a:avLst/>
        </a:prstGeom>
        <a:solidFill>
          <a:schemeClr val="accent1">
            <a:hueOff val="0"/>
            <a:satOff val="0"/>
            <a:lumOff val="0"/>
            <a:alphaOff val="0"/>
          </a:schemeClr>
        </a:solidFill>
        <a:ln w="222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dirty="0"/>
            <a:t>Characterize image sensor</a:t>
          </a:r>
        </a:p>
      </dsp:txBody>
      <dsp:txXfrm>
        <a:off x="39580" y="1010785"/>
        <a:ext cx="5204040" cy="731649"/>
      </dsp:txXfrm>
    </dsp:sp>
    <dsp:sp modelId="{6A659509-A92B-47C1-979B-4A5D6209DA65}">
      <dsp:nvSpPr>
        <dsp:cNvPr id="0" name=""/>
        <dsp:cNvSpPr/>
      </dsp:nvSpPr>
      <dsp:spPr>
        <a:xfrm>
          <a:off x="0" y="1842495"/>
          <a:ext cx="5283200" cy="810809"/>
        </a:xfrm>
        <a:prstGeom prst="roundRect">
          <a:avLst/>
        </a:prstGeom>
        <a:solidFill>
          <a:schemeClr val="accent1">
            <a:hueOff val="0"/>
            <a:satOff val="0"/>
            <a:lumOff val="0"/>
            <a:alphaOff val="0"/>
          </a:schemeClr>
        </a:solidFill>
        <a:ln w="222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dirty="0"/>
            <a:t>Associate researcher in WPI CHIPS Design Studio</a:t>
          </a:r>
        </a:p>
      </dsp:txBody>
      <dsp:txXfrm>
        <a:off x="39580" y="1882075"/>
        <a:ext cx="5204040" cy="731649"/>
      </dsp:txXfrm>
    </dsp:sp>
    <dsp:sp modelId="{B9AE7B23-2697-46DB-9F93-EB8882B6DE0F}">
      <dsp:nvSpPr>
        <dsp:cNvPr id="0" name=""/>
        <dsp:cNvSpPr/>
      </dsp:nvSpPr>
      <dsp:spPr>
        <a:xfrm>
          <a:off x="0" y="2713785"/>
          <a:ext cx="5283200" cy="810809"/>
        </a:xfrm>
        <a:prstGeom prst="roundRect">
          <a:avLst/>
        </a:prstGeom>
        <a:solidFill>
          <a:schemeClr val="accent1">
            <a:hueOff val="0"/>
            <a:satOff val="0"/>
            <a:lumOff val="0"/>
            <a:alphaOff val="0"/>
          </a:schemeClr>
        </a:solidFill>
        <a:ln w="222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dirty="0"/>
            <a:t>New classes at WPI!</a:t>
          </a:r>
        </a:p>
      </dsp:txBody>
      <dsp:txXfrm>
        <a:off x="39580" y="2753365"/>
        <a:ext cx="5204040" cy="731649"/>
      </dsp:txXfrm>
    </dsp:sp>
    <dsp:sp modelId="{526ABAC1-158E-4F27-A4AD-0254D6827B35}">
      <dsp:nvSpPr>
        <dsp:cNvPr id="0" name=""/>
        <dsp:cNvSpPr/>
      </dsp:nvSpPr>
      <dsp:spPr>
        <a:xfrm>
          <a:off x="0" y="3585075"/>
          <a:ext cx="5283200" cy="810809"/>
        </a:xfrm>
        <a:prstGeom prst="roundRect">
          <a:avLst/>
        </a:prstGeom>
        <a:solidFill>
          <a:schemeClr val="accent1">
            <a:hueOff val="0"/>
            <a:satOff val="0"/>
            <a:lumOff val="0"/>
            <a:alphaOff val="0"/>
          </a:schemeClr>
        </a:solidFill>
        <a:ln w="222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dirty="0"/>
            <a:t>Moving to Boston!</a:t>
          </a:r>
        </a:p>
      </dsp:txBody>
      <dsp:txXfrm>
        <a:off x="39580" y="3624655"/>
        <a:ext cx="5204040" cy="731649"/>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550449CD-19C8-44C0-A36B-1667EDB1312B}" type="datetimeFigureOut">
              <a:rPr lang="en-US" smtClean="0"/>
              <a:t>4/19/2026</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B5C7A2D6-6A74-4789-8A27-67CDFFE8E463}" type="slidenum">
              <a:rPr lang="en-US" smtClean="0"/>
              <a:t>‹#›</a:t>
            </a:fld>
            <a:endParaRPr lang="en-US"/>
          </a:p>
        </p:txBody>
      </p:sp>
    </p:spTree>
    <p:extLst>
      <p:ext uri="{BB962C8B-B14F-4D97-AF65-F5344CB8AC3E}">
        <p14:creationId xmlns:p14="http://schemas.microsoft.com/office/powerpoint/2010/main" val="29090795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914C511E-AA3B-43E3-B946-406AB5E4C4BB}" type="datetimeFigureOut">
              <a:rPr lang="en-US" smtClean="0"/>
              <a:pPr/>
              <a:t>4/19/2026</a:t>
            </a:fld>
            <a:endParaRPr lang="en-US"/>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78E4A049-8685-4352-9DC2-828F08FD542B}" type="slidenum">
              <a:rPr lang="en-US" smtClean="0"/>
              <a:pPr/>
              <a:t>‹#›</a:t>
            </a:fld>
            <a:endParaRPr lang="en-US"/>
          </a:p>
        </p:txBody>
      </p:sp>
    </p:spTree>
    <p:extLst>
      <p:ext uri="{BB962C8B-B14F-4D97-AF65-F5344CB8AC3E}">
        <p14:creationId xmlns:p14="http://schemas.microsoft.com/office/powerpoint/2010/main" val="544259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www.analog.com/media/en/technical-documentation/data-sheets/ad9057.pdf" TargetMode="External"/><Relationship Id="rId2" Type="http://schemas.openxmlformats.org/officeDocument/2006/relationships/slide" Target="../slides/slide35.xml"/><Relationship Id="rId1" Type="http://schemas.openxmlformats.org/officeDocument/2006/relationships/notesMaster" Target="../notesMasters/notesMaster1.xml"/><Relationship Id="rId5" Type="http://schemas.openxmlformats.org/officeDocument/2006/relationships/hyperlink" Target="https://www.analog.com/media/en/technical-documentation/data-sheets/MAX153.pdf" TargetMode="External"/><Relationship Id="rId4" Type="http://schemas.openxmlformats.org/officeDocument/2006/relationships/hyperlink" Target="https://datasheet4u.com/pdf/109881/CA3318.pdf" TargetMode="Externa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www.analog.com/media/en/technical-documentation/data-sheets/ad9057.pdf" TargetMode="External"/><Relationship Id="rId2" Type="http://schemas.openxmlformats.org/officeDocument/2006/relationships/slide" Target="../slides/slide36.xml"/><Relationship Id="rId1" Type="http://schemas.openxmlformats.org/officeDocument/2006/relationships/notesMaster" Target="../notesMasters/notesMaster1.xml"/><Relationship Id="rId5" Type="http://schemas.openxmlformats.org/officeDocument/2006/relationships/hyperlink" Target="https://www.analog.com/media/en/technical-documentation/data-sheets/MAX153.pdf" TargetMode="External"/><Relationship Id="rId4" Type="http://schemas.openxmlformats.org/officeDocument/2006/relationships/hyperlink" Target="https://datasheet4u.com/pdf/109881/CA3318.pdf" TargetMode="Externa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www.analog.com/media/en/technical-documentation/data-sheets/ad9057.pdf" TargetMode="External"/><Relationship Id="rId2" Type="http://schemas.openxmlformats.org/officeDocument/2006/relationships/slide" Target="../slides/slide38.xml"/><Relationship Id="rId1" Type="http://schemas.openxmlformats.org/officeDocument/2006/relationships/notesMaster" Target="../notesMasters/notesMaster1.xml"/><Relationship Id="rId5" Type="http://schemas.openxmlformats.org/officeDocument/2006/relationships/hyperlink" Target="https://www.analog.com/media/en/technical-documentation/data-sheets/MAX153.pdf" TargetMode="External"/><Relationship Id="rId4" Type="http://schemas.openxmlformats.org/officeDocument/2006/relationships/hyperlink" Target="https://datasheet4u.com/pdf/109881/CA3318.pdf" TargetMode="Externa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www.analog.com/media/en/technical-documentation/data-sheets/ad9057.pdf" TargetMode="External"/><Relationship Id="rId2" Type="http://schemas.openxmlformats.org/officeDocument/2006/relationships/slide" Target="../slides/slide40.xml"/><Relationship Id="rId1" Type="http://schemas.openxmlformats.org/officeDocument/2006/relationships/notesMaster" Target="../notesMasters/notesMaster1.xml"/><Relationship Id="rId5" Type="http://schemas.openxmlformats.org/officeDocument/2006/relationships/hyperlink" Target="https://www.analog.com/media/en/technical-documentation/data-sheets/MAX153.pdf" TargetMode="External"/><Relationship Id="rId4" Type="http://schemas.openxmlformats.org/officeDocument/2006/relationships/hyperlink" Target="https://datasheet4u.com/pdf/109881/CA3318.pdf" TargetMode="Externa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github.com/bmurmann"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a:t>
            </a:r>
          </a:p>
          <a:p>
            <a:r>
              <a:rPr lang="en-US" dirty="0"/>
              <a:t>Are you going to sell the chip?</a:t>
            </a:r>
          </a:p>
          <a:p>
            <a:endParaRPr lang="en-US" dirty="0"/>
          </a:p>
          <a:p>
            <a:endParaRPr lang="en-US" dirty="0"/>
          </a:p>
          <a:p>
            <a:endParaRPr lang="en-US" dirty="0"/>
          </a:p>
          <a:p>
            <a:r>
              <a:rPr lang="en-US" dirty="0"/>
              <a:t>35 slides</a:t>
            </a:r>
          </a:p>
          <a:p>
            <a:r>
              <a:rPr lang="en-US" dirty="0"/>
              <a:t>Don’t explain basic stuff</a:t>
            </a:r>
          </a:p>
          <a:p>
            <a:r>
              <a:rPr lang="en-US" dirty="0"/>
              <a:t>Explain my approach</a:t>
            </a:r>
          </a:p>
          <a:p>
            <a:r>
              <a:rPr lang="en-US" dirty="0" err="1"/>
              <a:t>Adc</a:t>
            </a:r>
            <a:r>
              <a:rPr lang="en-US" dirty="0"/>
              <a:t> testing techniques</a:t>
            </a:r>
          </a:p>
          <a:p>
            <a:r>
              <a:rPr lang="en-US" dirty="0"/>
              <a:t>Why are they important</a:t>
            </a:r>
          </a:p>
          <a:p>
            <a:endParaRPr lang="en-US" dirty="0"/>
          </a:p>
          <a:p>
            <a:r>
              <a:rPr lang="en-US" dirty="0"/>
              <a:t>Design and Characterization of 8-Bit Flash ADC for CMOS Image Sensor</a:t>
            </a:r>
          </a:p>
          <a:p>
            <a:endParaRPr lang="en-US" dirty="0"/>
          </a:p>
          <a:p>
            <a:r>
              <a:rPr lang="en-US" dirty="0" err="1"/>
              <a:t>Scanchain</a:t>
            </a:r>
            <a:endParaRPr lang="en-US" dirty="0"/>
          </a:p>
          <a:p>
            <a:r>
              <a:rPr lang="en-US" dirty="0"/>
              <a:t>Power consumption</a:t>
            </a:r>
          </a:p>
          <a:p>
            <a:r>
              <a:rPr lang="en-US" dirty="0"/>
              <a:t>Compare to other </a:t>
            </a:r>
            <a:r>
              <a:rPr lang="en-US" dirty="0" err="1"/>
              <a:t>adc</a:t>
            </a:r>
            <a:endParaRPr lang="en-US" dirty="0"/>
          </a:p>
          <a:p>
            <a:endParaRPr lang="en-US" dirty="0"/>
          </a:p>
          <a:p>
            <a:endParaRPr lang="en-US" dirty="0"/>
          </a:p>
          <a:p>
            <a:r>
              <a:rPr lang="en-US" dirty="0"/>
              <a:t>ENOB plot</a:t>
            </a:r>
          </a:p>
          <a:p>
            <a:r>
              <a:rPr lang="en-US" dirty="0"/>
              <a:t>Power plot</a:t>
            </a:r>
          </a:p>
          <a:p>
            <a:r>
              <a:rPr lang="en-US" dirty="0"/>
              <a:t>Figure of merit</a:t>
            </a:r>
          </a:p>
          <a:p>
            <a:endParaRPr lang="en-US" dirty="0"/>
          </a:p>
          <a:p>
            <a:r>
              <a:rPr lang="en-US" dirty="0"/>
              <a:t>Sallen key filter for low frequency </a:t>
            </a:r>
          </a:p>
          <a:p>
            <a:endParaRPr lang="en-US" dirty="0"/>
          </a:p>
          <a:p>
            <a:endParaRPr lang="en-US" dirty="0"/>
          </a:p>
          <a:p>
            <a:r>
              <a:rPr lang="en-US" dirty="0"/>
              <a:t>For sampling frequency and power consumption plot, keep input frequency the same (10khz)</a:t>
            </a:r>
          </a:p>
          <a:p>
            <a:r>
              <a:rPr lang="en-US" dirty="0"/>
              <a:t>Can try different number of samples to see if ENOB changes</a:t>
            </a:r>
          </a:p>
          <a:p>
            <a:endParaRPr lang="en-US" dirty="0"/>
          </a:p>
          <a:p>
            <a:r>
              <a:rPr lang="en-US" dirty="0"/>
              <a:t>180nm Flash ADC Design for CMOS Image Sensor</a:t>
            </a:r>
          </a:p>
          <a:p>
            <a:endParaRPr lang="en-US" dirty="0"/>
          </a:p>
          <a:p>
            <a:endParaRPr lang="en-US" dirty="0"/>
          </a:p>
        </p:txBody>
      </p:sp>
      <p:sp>
        <p:nvSpPr>
          <p:cNvPr id="4" name="Slide Number Placeholder 3"/>
          <p:cNvSpPr>
            <a:spLocks noGrp="1"/>
          </p:cNvSpPr>
          <p:nvPr>
            <p:ph type="sldNum" sz="quarter" idx="5"/>
          </p:nvPr>
        </p:nvSpPr>
        <p:spPr/>
        <p:txBody>
          <a:bodyPr/>
          <a:lstStyle/>
          <a:p>
            <a:fld id="{78E4A049-8685-4352-9DC2-828F08FD542B}" type="slidenum">
              <a:rPr lang="en-US" smtClean="0"/>
              <a:pPr/>
              <a:t>1</a:t>
            </a:fld>
            <a:endParaRPr lang="en-US"/>
          </a:p>
        </p:txBody>
      </p:sp>
    </p:spTree>
    <p:extLst>
      <p:ext uri="{BB962C8B-B14F-4D97-AF65-F5344CB8AC3E}">
        <p14:creationId xmlns:p14="http://schemas.microsoft.com/office/powerpoint/2010/main" val="15362994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lgn="l">
              <a:buNone/>
            </a:pPr>
            <a:r>
              <a:rPr lang="en-US" sz="1200" b="1" dirty="0">
                <a:solidFill>
                  <a:schemeClr val="tx1"/>
                </a:solidFill>
              </a:rPr>
              <a:t>FOR MQP, </a:t>
            </a:r>
            <a:r>
              <a:rPr lang="en-US" sz="1200" b="1" dirty="0" err="1">
                <a:solidFill>
                  <a:schemeClr val="tx1"/>
                </a:solidFill>
              </a:rPr>
              <a:t>CEMiD</a:t>
            </a:r>
            <a:endParaRPr lang="en-US" sz="4400" b="1" dirty="0"/>
          </a:p>
          <a:p>
            <a:pPr lvl="0"/>
            <a:r>
              <a:rPr lang="en-US" sz="1200" b="1" dirty="0">
                <a:solidFill>
                  <a:schemeClr val="tx1"/>
                </a:solidFill>
              </a:rPr>
              <a:t>Suat Ay, Arsalan Ay, Ibrahim </a:t>
            </a:r>
            <a:r>
              <a:rPr lang="en-US" sz="1200" b="1" dirty="0" err="1">
                <a:solidFill>
                  <a:schemeClr val="tx1"/>
                </a:solidFill>
              </a:rPr>
              <a:t>Bozyel</a:t>
            </a:r>
            <a:r>
              <a:rPr lang="en-US" sz="1200" b="1" dirty="0">
                <a:solidFill>
                  <a:schemeClr val="tx1"/>
                </a:solidFill>
              </a:rPr>
              <a:t>, </a:t>
            </a:r>
            <a:r>
              <a:rPr lang="en-US" sz="1200" b="1" dirty="0" err="1">
                <a:solidFill>
                  <a:schemeClr val="tx1"/>
                </a:solidFill>
              </a:rPr>
              <a:t>Ulkulan</a:t>
            </a:r>
            <a:r>
              <a:rPr lang="en-US" sz="1200" b="1" dirty="0">
                <a:solidFill>
                  <a:schemeClr val="tx1"/>
                </a:solidFill>
              </a:rPr>
              <a:t> Guler</a:t>
            </a:r>
            <a:endParaRPr lang="en-US" b="1" dirty="0"/>
          </a:p>
        </p:txBody>
      </p:sp>
      <p:sp>
        <p:nvSpPr>
          <p:cNvPr id="4" name="Slide Number Placeholder 3"/>
          <p:cNvSpPr>
            <a:spLocks noGrp="1"/>
          </p:cNvSpPr>
          <p:nvPr>
            <p:ph type="sldNum" sz="quarter" idx="5"/>
          </p:nvPr>
        </p:nvSpPr>
        <p:spPr/>
        <p:txBody>
          <a:bodyPr/>
          <a:lstStyle/>
          <a:p>
            <a:fld id="{78E4A049-8685-4352-9DC2-828F08FD542B}" type="slidenum">
              <a:rPr lang="en-US" smtClean="0"/>
              <a:pPr/>
              <a:t>2</a:t>
            </a:fld>
            <a:endParaRPr lang="en-US"/>
          </a:p>
        </p:txBody>
      </p:sp>
    </p:spTree>
    <p:extLst>
      <p:ext uri="{BB962C8B-B14F-4D97-AF65-F5344CB8AC3E}">
        <p14:creationId xmlns:p14="http://schemas.microsoft.com/office/powerpoint/2010/main" val="15230332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5F262-7200-C469-5C4B-0954F8E3AA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B09FB3-31BD-C49C-107B-0543EEE31C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0CF9AA-791A-0B70-65F6-08CC040ED123}"/>
              </a:ext>
            </a:extLst>
          </p:cNvPr>
          <p:cNvSpPr>
            <a:spLocks noGrp="1"/>
          </p:cNvSpPr>
          <p:nvPr>
            <p:ph type="body" idx="1"/>
          </p:nvPr>
        </p:nvSpPr>
        <p:spPr/>
        <p:txBody>
          <a:bodyPr/>
          <a:lstStyle/>
          <a:p>
            <a:pPr algn="l"/>
            <a:r>
              <a:rPr lang="en-US" sz="1200" dirty="0">
                <a:solidFill>
                  <a:srgbClr val="FF0000"/>
                </a:solidFill>
                <a:latin typeface="Times New Roman" panose="02020603050405020304" pitchFamily="18" charset="0"/>
                <a:cs typeface="Times New Roman" panose="02020603050405020304" pitchFamily="18" charset="0"/>
              </a:rPr>
              <a:t>General spec table  from the main design doc here…</a:t>
            </a:r>
          </a:p>
          <a:p>
            <a:pPr algn="l"/>
            <a:r>
              <a:rPr lang="en-US" sz="1200" dirty="0">
                <a:solidFill>
                  <a:srgbClr val="FF0000"/>
                </a:solidFill>
                <a:latin typeface="Times New Roman" panose="02020603050405020304" pitchFamily="18" charset="0"/>
                <a:cs typeface="Times New Roman" panose="02020603050405020304" pitchFamily="18" charset="0"/>
              </a:rPr>
              <a:t>TSMC 180nm 1P6M 3v3/1.8V CMOS process</a:t>
            </a:r>
          </a:p>
          <a:p>
            <a:pPr algn="l"/>
            <a:r>
              <a:rPr lang="en-US" sz="1200" dirty="0">
                <a:solidFill>
                  <a:srgbClr val="FF0000"/>
                </a:solidFill>
                <a:latin typeface="Times New Roman" panose="02020603050405020304" pitchFamily="18" charset="0"/>
                <a:cs typeface="Times New Roman" panose="02020603050405020304" pitchFamily="18" charset="0"/>
              </a:rPr>
              <a:t>420 x 256 CMOS active pixel sensor (APS) imager</a:t>
            </a:r>
          </a:p>
          <a:p>
            <a:pPr algn="l"/>
            <a:r>
              <a:rPr lang="en-US" sz="1200" dirty="0">
                <a:solidFill>
                  <a:srgbClr val="FF0000"/>
                </a:solidFill>
                <a:latin typeface="Times New Roman" panose="02020603050405020304" pitchFamily="18" charset="0"/>
                <a:cs typeface="Times New Roman" panose="02020603050405020304" pitchFamily="18" charset="0"/>
              </a:rPr>
              <a:t>Supply, power, speed chip size, etc.</a:t>
            </a:r>
          </a:p>
          <a:p>
            <a:pPr algn="l"/>
            <a:endParaRPr lang="en-US" dirty="0">
              <a:cs typeface="Calibri"/>
            </a:endParaRPr>
          </a:p>
        </p:txBody>
      </p:sp>
      <p:sp>
        <p:nvSpPr>
          <p:cNvPr id="4" name="Slide Number Placeholder 3">
            <a:extLst>
              <a:ext uri="{FF2B5EF4-FFF2-40B4-BE49-F238E27FC236}">
                <a16:creationId xmlns:a16="http://schemas.microsoft.com/office/drawing/2014/main" id="{74213D2B-AB1B-4C78-D6B9-8B33B71F7D7F}"/>
              </a:ext>
            </a:extLst>
          </p:cNvPr>
          <p:cNvSpPr>
            <a:spLocks noGrp="1"/>
          </p:cNvSpPr>
          <p:nvPr>
            <p:ph type="sldNum" sz="quarter" idx="5"/>
          </p:nvPr>
        </p:nvSpPr>
        <p:spPr/>
        <p:txBody>
          <a:bodyPr/>
          <a:lstStyle/>
          <a:p>
            <a:fld id="{78E4A049-8685-4352-9DC2-828F08FD542B}" type="slidenum">
              <a:rPr lang="en-US" smtClean="0"/>
              <a:pPr/>
              <a:t>5</a:t>
            </a:fld>
            <a:endParaRPr lang="en-US"/>
          </a:p>
        </p:txBody>
      </p:sp>
    </p:spTree>
    <p:extLst>
      <p:ext uri="{BB962C8B-B14F-4D97-AF65-F5344CB8AC3E}">
        <p14:creationId xmlns:p14="http://schemas.microsoft.com/office/powerpoint/2010/main" val="26458877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ADEB8-CC1B-E9FD-60B8-AC6A892A2C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8CF726-BEAB-7510-02EA-46C0228921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49B5E2-861E-56D9-3718-73F2C7F30580}"/>
              </a:ext>
            </a:extLst>
          </p:cNvPr>
          <p:cNvSpPr>
            <a:spLocks noGrp="1"/>
          </p:cNvSpPr>
          <p:nvPr>
            <p:ph type="body" idx="1"/>
          </p:nvPr>
        </p:nvSpPr>
        <p:spPr/>
        <p:txBody>
          <a:bodyPr/>
          <a:lstStyle/>
          <a:p>
            <a:endParaRPr lang="en-US" dirty="0">
              <a:cs typeface="Calibri"/>
            </a:endParaRPr>
          </a:p>
        </p:txBody>
      </p:sp>
      <p:sp>
        <p:nvSpPr>
          <p:cNvPr id="4" name="Slide Number Placeholder 3">
            <a:extLst>
              <a:ext uri="{FF2B5EF4-FFF2-40B4-BE49-F238E27FC236}">
                <a16:creationId xmlns:a16="http://schemas.microsoft.com/office/drawing/2014/main" id="{648D9A83-721B-B093-816C-B0907B9330E4}"/>
              </a:ext>
            </a:extLst>
          </p:cNvPr>
          <p:cNvSpPr>
            <a:spLocks noGrp="1"/>
          </p:cNvSpPr>
          <p:nvPr>
            <p:ph type="sldNum" sz="quarter" idx="5"/>
          </p:nvPr>
        </p:nvSpPr>
        <p:spPr/>
        <p:txBody>
          <a:bodyPr/>
          <a:lstStyle/>
          <a:p>
            <a:fld id="{78E4A049-8685-4352-9DC2-828F08FD542B}" type="slidenum">
              <a:rPr lang="en-US" smtClean="0"/>
              <a:pPr/>
              <a:t>6</a:t>
            </a:fld>
            <a:endParaRPr lang="en-US"/>
          </a:p>
        </p:txBody>
      </p:sp>
    </p:spTree>
    <p:extLst>
      <p:ext uri="{BB962C8B-B14F-4D97-AF65-F5344CB8AC3E}">
        <p14:creationId xmlns:p14="http://schemas.microsoft.com/office/powerpoint/2010/main" val="12732851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E09A4-A008-BDA0-BB92-DBDD3CEDA6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E4B226-C8E0-BF61-100B-9F903DC524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0C1847-20A5-B10E-C3B1-2AAF78AA3E41}"/>
              </a:ext>
            </a:extLst>
          </p:cNvPr>
          <p:cNvSpPr>
            <a:spLocks noGrp="1"/>
          </p:cNvSpPr>
          <p:nvPr>
            <p:ph type="body" idx="1"/>
          </p:nvPr>
        </p:nvSpPr>
        <p:spPr/>
        <p:txBody>
          <a:bodyPr/>
          <a:lstStyle/>
          <a:p>
            <a:endParaRPr lang="en-US" dirty="0">
              <a:cs typeface="Calibri"/>
            </a:endParaRPr>
          </a:p>
        </p:txBody>
      </p:sp>
      <p:sp>
        <p:nvSpPr>
          <p:cNvPr id="4" name="Slide Number Placeholder 3">
            <a:extLst>
              <a:ext uri="{FF2B5EF4-FFF2-40B4-BE49-F238E27FC236}">
                <a16:creationId xmlns:a16="http://schemas.microsoft.com/office/drawing/2014/main" id="{3C93FC7B-1124-23F7-974B-51ED5C71EEE1}"/>
              </a:ext>
            </a:extLst>
          </p:cNvPr>
          <p:cNvSpPr>
            <a:spLocks noGrp="1"/>
          </p:cNvSpPr>
          <p:nvPr>
            <p:ph type="sldNum" sz="quarter" idx="5"/>
          </p:nvPr>
        </p:nvSpPr>
        <p:spPr/>
        <p:txBody>
          <a:bodyPr/>
          <a:lstStyle/>
          <a:p>
            <a:fld id="{78E4A049-8685-4352-9DC2-828F08FD542B}" type="slidenum">
              <a:rPr lang="en-US" smtClean="0"/>
              <a:pPr/>
              <a:t>7</a:t>
            </a:fld>
            <a:endParaRPr lang="en-US"/>
          </a:p>
        </p:txBody>
      </p:sp>
    </p:spTree>
    <p:extLst>
      <p:ext uri="{BB962C8B-B14F-4D97-AF65-F5344CB8AC3E}">
        <p14:creationId xmlns:p14="http://schemas.microsoft.com/office/powerpoint/2010/main" val="24292981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AF411-D990-CDB8-93E7-26F41369CC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733CAA-FD83-93AD-3E6E-E1EBB126CF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238DDA-7D74-7839-BB54-0B7E119A00FD}"/>
              </a:ext>
            </a:extLst>
          </p:cNvPr>
          <p:cNvSpPr>
            <a:spLocks noGrp="1"/>
          </p:cNvSpPr>
          <p:nvPr>
            <p:ph type="body" idx="1"/>
          </p:nvPr>
        </p:nvSpPr>
        <p:spPr/>
        <p:txBody>
          <a:bodyPr/>
          <a:lstStyle/>
          <a:p>
            <a:endParaRPr lang="en-US" dirty="0">
              <a:cs typeface="Calibri"/>
            </a:endParaRPr>
          </a:p>
        </p:txBody>
      </p:sp>
      <p:sp>
        <p:nvSpPr>
          <p:cNvPr id="4" name="Slide Number Placeholder 3">
            <a:extLst>
              <a:ext uri="{FF2B5EF4-FFF2-40B4-BE49-F238E27FC236}">
                <a16:creationId xmlns:a16="http://schemas.microsoft.com/office/drawing/2014/main" id="{C0B2BCF1-65F8-6F83-F1C0-B493E72BA081}"/>
              </a:ext>
            </a:extLst>
          </p:cNvPr>
          <p:cNvSpPr>
            <a:spLocks noGrp="1"/>
          </p:cNvSpPr>
          <p:nvPr>
            <p:ph type="sldNum" sz="quarter" idx="5"/>
          </p:nvPr>
        </p:nvSpPr>
        <p:spPr/>
        <p:txBody>
          <a:bodyPr/>
          <a:lstStyle/>
          <a:p>
            <a:fld id="{78E4A049-8685-4352-9DC2-828F08FD542B}" type="slidenum">
              <a:rPr lang="en-US" smtClean="0"/>
              <a:pPr/>
              <a:t>8</a:t>
            </a:fld>
            <a:endParaRPr lang="en-US"/>
          </a:p>
        </p:txBody>
      </p:sp>
    </p:spTree>
    <p:extLst>
      <p:ext uri="{BB962C8B-B14F-4D97-AF65-F5344CB8AC3E}">
        <p14:creationId xmlns:p14="http://schemas.microsoft.com/office/powerpoint/2010/main" val="32825837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7D42E-83E2-C764-B99E-351679EBC2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B97654-9521-E2C8-E2A3-CDD75967D6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C462A6-EB4E-9798-C5A4-9650FA2AD9E3}"/>
              </a:ext>
            </a:extLst>
          </p:cNvPr>
          <p:cNvSpPr>
            <a:spLocks noGrp="1"/>
          </p:cNvSpPr>
          <p:nvPr>
            <p:ph type="body" idx="1"/>
          </p:nvPr>
        </p:nvSpPr>
        <p:spPr/>
        <p:txBody>
          <a:bodyPr/>
          <a:lstStyle/>
          <a:p>
            <a:endParaRPr lang="en-US" dirty="0">
              <a:cs typeface="Calibri"/>
            </a:endParaRPr>
          </a:p>
        </p:txBody>
      </p:sp>
      <p:sp>
        <p:nvSpPr>
          <p:cNvPr id="4" name="Slide Number Placeholder 3">
            <a:extLst>
              <a:ext uri="{FF2B5EF4-FFF2-40B4-BE49-F238E27FC236}">
                <a16:creationId xmlns:a16="http://schemas.microsoft.com/office/drawing/2014/main" id="{58D343B0-071F-13B8-6691-741F0B20B07A}"/>
              </a:ext>
            </a:extLst>
          </p:cNvPr>
          <p:cNvSpPr>
            <a:spLocks noGrp="1"/>
          </p:cNvSpPr>
          <p:nvPr>
            <p:ph type="sldNum" sz="quarter" idx="5"/>
          </p:nvPr>
        </p:nvSpPr>
        <p:spPr/>
        <p:txBody>
          <a:bodyPr/>
          <a:lstStyle/>
          <a:p>
            <a:fld id="{78E4A049-8685-4352-9DC2-828F08FD542B}" type="slidenum">
              <a:rPr lang="en-US" smtClean="0"/>
              <a:pPr/>
              <a:t>9</a:t>
            </a:fld>
            <a:endParaRPr lang="en-US"/>
          </a:p>
        </p:txBody>
      </p:sp>
    </p:spTree>
    <p:extLst>
      <p:ext uri="{BB962C8B-B14F-4D97-AF65-F5344CB8AC3E}">
        <p14:creationId xmlns:p14="http://schemas.microsoft.com/office/powerpoint/2010/main" val="9368501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A113B-1C70-CA5F-30EB-544F8F2070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FCD2A3-C5A9-060F-791D-042213E88E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B5E45B-3B8E-2E32-6672-C1EF177B0B86}"/>
              </a:ext>
            </a:extLst>
          </p:cNvPr>
          <p:cNvSpPr>
            <a:spLocks noGrp="1"/>
          </p:cNvSpPr>
          <p:nvPr>
            <p:ph type="body" idx="1"/>
          </p:nvPr>
        </p:nvSpPr>
        <p:spPr/>
        <p:txBody>
          <a:bodyPr/>
          <a:lstStyle/>
          <a:p>
            <a:endParaRPr lang="en-US" dirty="0">
              <a:cs typeface="Calibri"/>
            </a:endParaRPr>
          </a:p>
        </p:txBody>
      </p:sp>
      <p:sp>
        <p:nvSpPr>
          <p:cNvPr id="4" name="Slide Number Placeholder 3">
            <a:extLst>
              <a:ext uri="{FF2B5EF4-FFF2-40B4-BE49-F238E27FC236}">
                <a16:creationId xmlns:a16="http://schemas.microsoft.com/office/drawing/2014/main" id="{B20E8404-B821-7A59-70FC-1C1C263C9F14}"/>
              </a:ext>
            </a:extLst>
          </p:cNvPr>
          <p:cNvSpPr>
            <a:spLocks noGrp="1"/>
          </p:cNvSpPr>
          <p:nvPr>
            <p:ph type="sldNum" sz="quarter" idx="5"/>
          </p:nvPr>
        </p:nvSpPr>
        <p:spPr/>
        <p:txBody>
          <a:bodyPr/>
          <a:lstStyle/>
          <a:p>
            <a:fld id="{78E4A049-8685-4352-9DC2-828F08FD542B}" type="slidenum">
              <a:rPr lang="en-US" smtClean="0"/>
              <a:pPr/>
              <a:t>10</a:t>
            </a:fld>
            <a:endParaRPr lang="en-US"/>
          </a:p>
        </p:txBody>
      </p:sp>
    </p:spTree>
    <p:extLst>
      <p:ext uri="{BB962C8B-B14F-4D97-AF65-F5344CB8AC3E}">
        <p14:creationId xmlns:p14="http://schemas.microsoft.com/office/powerpoint/2010/main" val="29244993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7AF18-5708-D373-4029-28E3A6A8A7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ADADBC-36A6-3E08-C58E-93D33EF3C9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A687E4-4A45-10A4-9800-810835028E12}"/>
              </a:ext>
            </a:extLst>
          </p:cNvPr>
          <p:cNvSpPr>
            <a:spLocks noGrp="1"/>
          </p:cNvSpPr>
          <p:nvPr>
            <p:ph type="body" idx="1"/>
          </p:nvPr>
        </p:nvSpPr>
        <p:spPr/>
        <p:txBody>
          <a:bodyPr/>
          <a:lstStyle/>
          <a:p>
            <a:r>
              <a:rPr lang="en-US" dirty="0">
                <a:cs typeface="Calibri"/>
              </a:rPr>
              <a:t>Kickback – cause disturbance</a:t>
            </a:r>
          </a:p>
          <a:p>
            <a:r>
              <a:rPr lang="en-US" dirty="0">
                <a:cs typeface="Calibri"/>
              </a:rPr>
              <a:t> </a:t>
            </a:r>
            <a:r>
              <a:rPr lang="en-US" dirty="0" err="1">
                <a:cs typeface="Calibri"/>
              </a:rPr>
              <a:t>Cgd</a:t>
            </a:r>
            <a:r>
              <a:rPr lang="en-US" dirty="0">
                <a:cs typeface="Calibri"/>
              </a:rPr>
              <a:t> has </a:t>
            </a:r>
            <a:r>
              <a:rPr lang="en-US" dirty="0" err="1">
                <a:cs typeface="Calibri"/>
              </a:rPr>
              <a:t>couping</a:t>
            </a:r>
            <a:r>
              <a:rPr lang="en-US" dirty="0">
                <a:cs typeface="Calibri"/>
              </a:rPr>
              <a:t> to input </a:t>
            </a:r>
          </a:p>
          <a:p>
            <a:r>
              <a:rPr lang="en-US" dirty="0">
                <a:cs typeface="Calibri"/>
              </a:rPr>
              <a:t>	resistor ladder dissipates it</a:t>
            </a:r>
          </a:p>
          <a:p>
            <a:endParaRPr lang="en-US" dirty="0">
              <a:cs typeface="Calibri"/>
            </a:endParaRPr>
          </a:p>
          <a:p>
            <a:r>
              <a:rPr lang="en-US" dirty="0">
                <a:cs typeface="Calibri"/>
              </a:rPr>
              <a:t>Comparator offset, difference in input offset in each com[</a:t>
            </a:r>
            <a:r>
              <a:rPr lang="en-US" dirty="0" err="1">
                <a:cs typeface="Calibri"/>
              </a:rPr>
              <a:t>arator</a:t>
            </a:r>
            <a:r>
              <a:rPr lang="en-US" dirty="0">
                <a:cs typeface="Calibri"/>
              </a:rPr>
              <a:t> - +/- 10 mv</a:t>
            </a:r>
          </a:p>
        </p:txBody>
      </p:sp>
      <p:sp>
        <p:nvSpPr>
          <p:cNvPr id="4" name="Slide Number Placeholder 3">
            <a:extLst>
              <a:ext uri="{FF2B5EF4-FFF2-40B4-BE49-F238E27FC236}">
                <a16:creationId xmlns:a16="http://schemas.microsoft.com/office/drawing/2014/main" id="{9AE7DF68-5809-A1CA-F5A3-AD550F9AB990}"/>
              </a:ext>
            </a:extLst>
          </p:cNvPr>
          <p:cNvSpPr>
            <a:spLocks noGrp="1"/>
          </p:cNvSpPr>
          <p:nvPr>
            <p:ph type="sldNum" sz="quarter" idx="5"/>
          </p:nvPr>
        </p:nvSpPr>
        <p:spPr/>
        <p:txBody>
          <a:bodyPr/>
          <a:lstStyle/>
          <a:p>
            <a:fld id="{78E4A049-8685-4352-9DC2-828F08FD542B}" type="slidenum">
              <a:rPr lang="en-US" smtClean="0"/>
              <a:pPr/>
              <a:t>11</a:t>
            </a:fld>
            <a:endParaRPr lang="en-US"/>
          </a:p>
        </p:txBody>
      </p:sp>
    </p:spTree>
    <p:extLst>
      <p:ext uri="{BB962C8B-B14F-4D97-AF65-F5344CB8AC3E}">
        <p14:creationId xmlns:p14="http://schemas.microsoft.com/office/powerpoint/2010/main" val="39310973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778A8-D841-BD1F-3421-FE5984540E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680A71-D6D8-63F8-97BE-53A1840BCA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D15904-98DE-7BCB-9A56-C1C6EE186ED2}"/>
              </a:ext>
            </a:extLst>
          </p:cNvPr>
          <p:cNvSpPr>
            <a:spLocks noGrp="1"/>
          </p:cNvSpPr>
          <p:nvPr>
            <p:ph type="body" idx="1"/>
          </p:nvPr>
        </p:nvSpPr>
        <p:spPr/>
        <p:txBody>
          <a:bodyPr/>
          <a:lstStyle/>
          <a:p>
            <a:r>
              <a:rPr lang="en-US" dirty="0">
                <a:cs typeface="Calibri"/>
              </a:rPr>
              <a:t>SS or FF chip</a:t>
            </a:r>
          </a:p>
          <a:p>
            <a:r>
              <a:rPr lang="en-US" dirty="0">
                <a:cs typeface="Calibri"/>
              </a:rPr>
              <a:t>Don’t know..</a:t>
            </a:r>
          </a:p>
          <a:p>
            <a:endParaRPr lang="en-US" dirty="0">
              <a:cs typeface="Calibri"/>
            </a:endParaRPr>
          </a:p>
        </p:txBody>
      </p:sp>
      <p:sp>
        <p:nvSpPr>
          <p:cNvPr id="4" name="Slide Number Placeholder 3">
            <a:extLst>
              <a:ext uri="{FF2B5EF4-FFF2-40B4-BE49-F238E27FC236}">
                <a16:creationId xmlns:a16="http://schemas.microsoft.com/office/drawing/2014/main" id="{17EA2925-B657-1918-8DC0-0516CF3EE8F8}"/>
              </a:ext>
            </a:extLst>
          </p:cNvPr>
          <p:cNvSpPr>
            <a:spLocks noGrp="1"/>
          </p:cNvSpPr>
          <p:nvPr>
            <p:ph type="sldNum" sz="quarter" idx="5"/>
          </p:nvPr>
        </p:nvSpPr>
        <p:spPr/>
        <p:txBody>
          <a:bodyPr/>
          <a:lstStyle/>
          <a:p>
            <a:fld id="{78E4A049-8685-4352-9DC2-828F08FD542B}" type="slidenum">
              <a:rPr lang="en-US" smtClean="0"/>
              <a:pPr/>
              <a:t>12</a:t>
            </a:fld>
            <a:endParaRPr lang="en-US"/>
          </a:p>
        </p:txBody>
      </p:sp>
    </p:spTree>
    <p:extLst>
      <p:ext uri="{BB962C8B-B14F-4D97-AF65-F5344CB8AC3E}">
        <p14:creationId xmlns:p14="http://schemas.microsoft.com/office/powerpoint/2010/main" val="31648426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A70B8-792D-DE9F-4239-16379226A5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BB86F9-00E9-F482-C8BC-FCF7F17E40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808781-27F6-25BC-E169-B81BE690F312}"/>
              </a:ext>
            </a:extLst>
          </p:cNvPr>
          <p:cNvSpPr>
            <a:spLocks noGrp="1"/>
          </p:cNvSpPr>
          <p:nvPr>
            <p:ph type="body" idx="1"/>
          </p:nvPr>
        </p:nvSpPr>
        <p:spPr/>
        <p:txBody>
          <a:bodyPr/>
          <a:lstStyle/>
          <a:p>
            <a:endParaRPr lang="en-US" dirty="0">
              <a:cs typeface="Calibri"/>
            </a:endParaRPr>
          </a:p>
        </p:txBody>
      </p:sp>
      <p:sp>
        <p:nvSpPr>
          <p:cNvPr id="4" name="Slide Number Placeholder 3">
            <a:extLst>
              <a:ext uri="{FF2B5EF4-FFF2-40B4-BE49-F238E27FC236}">
                <a16:creationId xmlns:a16="http://schemas.microsoft.com/office/drawing/2014/main" id="{C11369A0-7252-56AD-A1DB-70CBAD1A5805}"/>
              </a:ext>
            </a:extLst>
          </p:cNvPr>
          <p:cNvSpPr>
            <a:spLocks noGrp="1"/>
          </p:cNvSpPr>
          <p:nvPr>
            <p:ph type="sldNum" sz="quarter" idx="5"/>
          </p:nvPr>
        </p:nvSpPr>
        <p:spPr/>
        <p:txBody>
          <a:bodyPr/>
          <a:lstStyle/>
          <a:p>
            <a:fld id="{78E4A049-8685-4352-9DC2-828F08FD542B}" type="slidenum">
              <a:rPr lang="en-US" smtClean="0"/>
              <a:pPr/>
              <a:t>13</a:t>
            </a:fld>
            <a:endParaRPr lang="en-US"/>
          </a:p>
        </p:txBody>
      </p:sp>
    </p:spTree>
    <p:extLst>
      <p:ext uri="{BB962C8B-B14F-4D97-AF65-F5344CB8AC3E}">
        <p14:creationId xmlns:p14="http://schemas.microsoft.com/office/powerpoint/2010/main" val="38127455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35F9E-D92F-F164-C9ED-43D72E139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8233CB-B6B6-8873-F36A-AF202F2FBB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A33478-A16A-E47F-2912-BBC2D1A1D17A}"/>
              </a:ext>
            </a:extLst>
          </p:cNvPr>
          <p:cNvSpPr>
            <a:spLocks noGrp="1"/>
          </p:cNvSpPr>
          <p:nvPr>
            <p:ph type="body" idx="1"/>
          </p:nvPr>
        </p:nvSpPr>
        <p:spPr/>
        <p:txBody>
          <a:bodyPr/>
          <a:lstStyle/>
          <a:p>
            <a:endParaRPr lang="en-US" dirty="0">
              <a:cs typeface="Calibri"/>
            </a:endParaRPr>
          </a:p>
        </p:txBody>
      </p:sp>
      <p:sp>
        <p:nvSpPr>
          <p:cNvPr id="4" name="Slide Number Placeholder 3">
            <a:extLst>
              <a:ext uri="{FF2B5EF4-FFF2-40B4-BE49-F238E27FC236}">
                <a16:creationId xmlns:a16="http://schemas.microsoft.com/office/drawing/2014/main" id="{7C2F3701-795D-A3AA-6240-AD1C1A32BA0F}"/>
              </a:ext>
            </a:extLst>
          </p:cNvPr>
          <p:cNvSpPr>
            <a:spLocks noGrp="1"/>
          </p:cNvSpPr>
          <p:nvPr>
            <p:ph type="sldNum" sz="quarter" idx="5"/>
          </p:nvPr>
        </p:nvSpPr>
        <p:spPr/>
        <p:txBody>
          <a:bodyPr/>
          <a:lstStyle/>
          <a:p>
            <a:fld id="{78E4A049-8685-4352-9DC2-828F08FD542B}" type="slidenum">
              <a:rPr lang="en-US" smtClean="0"/>
              <a:pPr/>
              <a:t>14</a:t>
            </a:fld>
            <a:endParaRPr lang="en-US"/>
          </a:p>
        </p:txBody>
      </p:sp>
    </p:spTree>
    <p:extLst>
      <p:ext uri="{BB962C8B-B14F-4D97-AF65-F5344CB8AC3E}">
        <p14:creationId xmlns:p14="http://schemas.microsoft.com/office/powerpoint/2010/main" val="4298080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47974-E774-FC66-C6C5-CDF3B58AB0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D3D199-3BD3-0400-D10B-25A5447179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F3A012-85AA-5E84-F972-3A0AFB235E1B}"/>
              </a:ext>
            </a:extLst>
          </p:cNvPr>
          <p:cNvSpPr>
            <a:spLocks noGrp="1"/>
          </p:cNvSpPr>
          <p:nvPr>
            <p:ph type="body" idx="1"/>
          </p:nvPr>
        </p:nvSpPr>
        <p:spPr/>
        <p:txBody>
          <a:bodyPr/>
          <a:lstStyle/>
          <a:p>
            <a:endParaRPr lang="en-US" dirty="0">
              <a:cs typeface="Calibri"/>
            </a:endParaRPr>
          </a:p>
        </p:txBody>
      </p:sp>
      <p:sp>
        <p:nvSpPr>
          <p:cNvPr id="4" name="Slide Number Placeholder 3">
            <a:extLst>
              <a:ext uri="{FF2B5EF4-FFF2-40B4-BE49-F238E27FC236}">
                <a16:creationId xmlns:a16="http://schemas.microsoft.com/office/drawing/2014/main" id="{34D60727-9CED-9F30-726C-2FF6D7723EBE}"/>
              </a:ext>
            </a:extLst>
          </p:cNvPr>
          <p:cNvSpPr>
            <a:spLocks noGrp="1"/>
          </p:cNvSpPr>
          <p:nvPr>
            <p:ph type="sldNum" sz="quarter" idx="5"/>
          </p:nvPr>
        </p:nvSpPr>
        <p:spPr/>
        <p:txBody>
          <a:bodyPr/>
          <a:lstStyle/>
          <a:p>
            <a:fld id="{78E4A049-8685-4352-9DC2-828F08FD542B}" type="slidenum">
              <a:rPr lang="en-US" smtClean="0"/>
              <a:pPr/>
              <a:t>15</a:t>
            </a:fld>
            <a:endParaRPr lang="en-US"/>
          </a:p>
        </p:txBody>
      </p:sp>
    </p:spTree>
    <p:extLst>
      <p:ext uri="{BB962C8B-B14F-4D97-AF65-F5344CB8AC3E}">
        <p14:creationId xmlns:p14="http://schemas.microsoft.com/office/powerpoint/2010/main" val="35791760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rPr>
              <a:t>You may include digital background error correction method Ibrahim suggested/used to improve ENOB in this section also, or if it is not consistently used, keep it as backup and bring it up when people asked why 4.6bit ENOB, and saying no correction was made for 4.6enob, but if you had time you would use the digital background correction you/Ibrahim talked about, and 4.6enob can be improved to 7.4bit </a:t>
            </a:r>
            <a:r>
              <a:rPr lang="en-US" sz="1200" dirty="0" err="1">
                <a:solidFill>
                  <a:srgbClr val="FF0000"/>
                </a:solidFill>
              </a:rPr>
              <a:t>enob</a:t>
            </a:r>
            <a:r>
              <a:rPr lang="en-US" sz="1200" dirty="0">
                <a:solidFill>
                  <a:srgbClr val="FF0000"/>
                </a:solidFill>
              </a:rPr>
              <a:t>, etc. and here is the result …etc.</a:t>
            </a:r>
          </a:p>
          <a:p>
            <a:endParaRPr lang="en-US" dirty="0"/>
          </a:p>
        </p:txBody>
      </p:sp>
      <p:sp>
        <p:nvSpPr>
          <p:cNvPr id="4" name="Slide Number Placeholder 3"/>
          <p:cNvSpPr>
            <a:spLocks noGrp="1"/>
          </p:cNvSpPr>
          <p:nvPr>
            <p:ph type="sldNum" sz="quarter" idx="5"/>
          </p:nvPr>
        </p:nvSpPr>
        <p:spPr/>
        <p:txBody>
          <a:bodyPr/>
          <a:lstStyle/>
          <a:p>
            <a:fld id="{78E4A049-8685-4352-9DC2-828F08FD542B}" type="slidenum">
              <a:rPr lang="en-US" smtClean="0"/>
              <a:pPr/>
              <a:t>16</a:t>
            </a:fld>
            <a:endParaRPr lang="en-US"/>
          </a:p>
        </p:txBody>
      </p:sp>
    </p:spTree>
    <p:extLst>
      <p:ext uri="{BB962C8B-B14F-4D97-AF65-F5344CB8AC3E}">
        <p14:creationId xmlns:p14="http://schemas.microsoft.com/office/powerpoint/2010/main" val="14974641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47067-0EF6-855D-9EB0-87B8D42680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DDED0A-7BE1-64BB-7E74-9BC48C09F0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217B48-4695-0101-CB44-2901B54FEAF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rPr>
              <a:t>Make diagram smaller but increase font sizes, and make picture larger. User USB3 (</a:t>
            </a:r>
            <a:r>
              <a:rPr lang="en-US" sz="1200" dirty="0" err="1">
                <a:solidFill>
                  <a:srgbClr val="FF0000"/>
                </a:solidFill>
              </a:rPr>
              <a:t>uart</a:t>
            </a:r>
            <a:r>
              <a:rPr lang="en-US" sz="1200" dirty="0">
                <a:solidFill>
                  <a:srgbClr val="FF0000"/>
                </a:solidFill>
              </a:rPr>
              <a:t> mode) and box you ADC and label that as DUT which stands for design under test, and mark your Dev </a:t>
            </a:r>
            <a:r>
              <a:rPr lang="en-US" sz="1200" dirty="0" err="1">
                <a:solidFill>
                  <a:srgbClr val="FF0000"/>
                </a:solidFill>
              </a:rPr>
              <a:t>bosrd</a:t>
            </a:r>
            <a:r>
              <a:rPr lang="en-US" sz="1200" dirty="0">
                <a:solidFill>
                  <a:srgbClr val="FF0000"/>
                </a:solidFill>
              </a:rPr>
              <a:t>. While talking explain which instrument was used for what, i.e. 4050 and 1ohm power line  shunt was used to measure power consumption. Only one out of two on-chip ADC was turned on and tested, etc.</a:t>
            </a:r>
          </a:p>
          <a:p>
            <a:endParaRPr lang="en-US" dirty="0">
              <a:cs typeface="Calibri"/>
            </a:endParaRPr>
          </a:p>
        </p:txBody>
      </p:sp>
      <p:sp>
        <p:nvSpPr>
          <p:cNvPr id="4" name="Slide Number Placeholder 3">
            <a:extLst>
              <a:ext uri="{FF2B5EF4-FFF2-40B4-BE49-F238E27FC236}">
                <a16:creationId xmlns:a16="http://schemas.microsoft.com/office/drawing/2014/main" id="{E86270E5-F98D-618B-FDD2-43CEFEDAC37C}"/>
              </a:ext>
            </a:extLst>
          </p:cNvPr>
          <p:cNvSpPr>
            <a:spLocks noGrp="1"/>
          </p:cNvSpPr>
          <p:nvPr>
            <p:ph type="sldNum" sz="quarter" idx="5"/>
          </p:nvPr>
        </p:nvSpPr>
        <p:spPr/>
        <p:txBody>
          <a:bodyPr/>
          <a:lstStyle/>
          <a:p>
            <a:fld id="{78E4A049-8685-4352-9DC2-828F08FD542B}" type="slidenum">
              <a:rPr lang="en-US" smtClean="0"/>
              <a:pPr/>
              <a:t>17</a:t>
            </a:fld>
            <a:endParaRPr lang="en-US"/>
          </a:p>
        </p:txBody>
      </p:sp>
    </p:spTree>
    <p:extLst>
      <p:ext uri="{BB962C8B-B14F-4D97-AF65-F5344CB8AC3E}">
        <p14:creationId xmlns:p14="http://schemas.microsoft.com/office/powerpoint/2010/main" val="6559629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444B2-CBCE-4AA6-F6B0-AF9555AC46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748923-A385-C601-4F25-4E29D0EA65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59DAEB-C86F-039B-160A-014B3BC9C6E8}"/>
              </a:ext>
            </a:extLst>
          </p:cNvPr>
          <p:cNvSpPr>
            <a:spLocks noGrp="1"/>
          </p:cNvSpPr>
          <p:nvPr>
            <p:ph type="body" idx="1"/>
          </p:nvPr>
        </p:nvSpPr>
        <p:spPr/>
        <p:txBody>
          <a:bodyPr/>
          <a:lstStyle/>
          <a:p>
            <a:r>
              <a:rPr lang="en-US" dirty="0">
                <a:cs typeface="Calibri"/>
              </a:rPr>
              <a:t>https://ieeexplore.ieee.org/stamp/stamp.jsp?tp=&amp;arnumber=10269815</a:t>
            </a:r>
          </a:p>
          <a:p>
            <a:r>
              <a:rPr lang="en-US" dirty="0">
                <a:cs typeface="Calibri"/>
              </a:rPr>
              <a:t>Page 25</a:t>
            </a:r>
          </a:p>
        </p:txBody>
      </p:sp>
      <p:sp>
        <p:nvSpPr>
          <p:cNvPr id="4" name="Slide Number Placeholder 3">
            <a:extLst>
              <a:ext uri="{FF2B5EF4-FFF2-40B4-BE49-F238E27FC236}">
                <a16:creationId xmlns:a16="http://schemas.microsoft.com/office/drawing/2014/main" id="{B2FC6594-1E2E-283B-251D-BD5D9320AFC7}"/>
              </a:ext>
            </a:extLst>
          </p:cNvPr>
          <p:cNvSpPr>
            <a:spLocks noGrp="1"/>
          </p:cNvSpPr>
          <p:nvPr>
            <p:ph type="sldNum" sz="quarter" idx="5"/>
          </p:nvPr>
        </p:nvSpPr>
        <p:spPr/>
        <p:txBody>
          <a:bodyPr/>
          <a:lstStyle/>
          <a:p>
            <a:fld id="{78E4A049-8685-4352-9DC2-828F08FD542B}" type="slidenum">
              <a:rPr lang="en-US" smtClean="0"/>
              <a:pPr/>
              <a:t>18</a:t>
            </a:fld>
            <a:endParaRPr lang="en-US"/>
          </a:p>
        </p:txBody>
      </p:sp>
    </p:spTree>
    <p:extLst>
      <p:ext uri="{BB962C8B-B14F-4D97-AF65-F5344CB8AC3E}">
        <p14:creationId xmlns:p14="http://schemas.microsoft.com/office/powerpoint/2010/main" val="39804019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7BB70-E575-0BEF-EDBC-75456CE37D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4583E7-C5F3-5C5C-75EA-E1A0740441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AEC7FC-1970-B138-692A-8A4F96138A20}"/>
              </a:ext>
            </a:extLst>
          </p:cNvPr>
          <p:cNvSpPr>
            <a:spLocks noGrp="1"/>
          </p:cNvSpPr>
          <p:nvPr>
            <p:ph type="body" idx="1"/>
          </p:nvPr>
        </p:nvSpPr>
        <p:spPr/>
        <p:txBody>
          <a:bodyPr/>
          <a:lstStyle/>
          <a:p>
            <a:r>
              <a:rPr lang="en-US" dirty="0">
                <a:cs typeface="Calibri"/>
              </a:rPr>
              <a:t>https://ieeexplore.ieee.org/stamp/stamp.jsp?tp=&amp;arnumber=10269815</a:t>
            </a:r>
          </a:p>
          <a:p>
            <a:r>
              <a:rPr lang="en-US" dirty="0">
                <a:cs typeface="Calibri"/>
              </a:rPr>
              <a:t>Page 25</a:t>
            </a:r>
          </a:p>
        </p:txBody>
      </p:sp>
      <p:sp>
        <p:nvSpPr>
          <p:cNvPr id="4" name="Slide Number Placeholder 3">
            <a:extLst>
              <a:ext uri="{FF2B5EF4-FFF2-40B4-BE49-F238E27FC236}">
                <a16:creationId xmlns:a16="http://schemas.microsoft.com/office/drawing/2014/main" id="{5BD7E699-A93A-E296-8409-9BB6053C639B}"/>
              </a:ext>
            </a:extLst>
          </p:cNvPr>
          <p:cNvSpPr>
            <a:spLocks noGrp="1"/>
          </p:cNvSpPr>
          <p:nvPr>
            <p:ph type="sldNum" sz="quarter" idx="5"/>
          </p:nvPr>
        </p:nvSpPr>
        <p:spPr/>
        <p:txBody>
          <a:bodyPr/>
          <a:lstStyle/>
          <a:p>
            <a:fld id="{78E4A049-8685-4352-9DC2-828F08FD542B}" type="slidenum">
              <a:rPr lang="en-US" smtClean="0"/>
              <a:pPr/>
              <a:t>19</a:t>
            </a:fld>
            <a:endParaRPr lang="en-US"/>
          </a:p>
        </p:txBody>
      </p:sp>
    </p:spTree>
    <p:extLst>
      <p:ext uri="{BB962C8B-B14F-4D97-AF65-F5344CB8AC3E}">
        <p14:creationId xmlns:p14="http://schemas.microsoft.com/office/powerpoint/2010/main" val="4368326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92304-D0AB-76F9-A31C-6F424ECF2B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11DA07-CE9E-7529-9428-9169604744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C2A5FC-E4C5-6278-3AC9-742ABAAFDEA3}"/>
              </a:ext>
            </a:extLst>
          </p:cNvPr>
          <p:cNvSpPr>
            <a:spLocks noGrp="1"/>
          </p:cNvSpPr>
          <p:nvPr>
            <p:ph type="body" idx="1"/>
          </p:nvPr>
        </p:nvSpPr>
        <p:spPr/>
        <p:txBody>
          <a:bodyPr/>
          <a:lstStyle/>
          <a:p>
            <a:r>
              <a:rPr lang="en-US" dirty="0">
                <a:cs typeface="Calibri"/>
              </a:rPr>
              <a:t>https://ieeexplore.ieee.org/stamp/stamp.jsp?tp=&amp;arnumber=10269815</a:t>
            </a:r>
          </a:p>
          <a:p>
            <a:r>
              <a:rPr lang="en-US" dirty="0">
                <a:cs typeface="Calibri"/>
              </a:rPr>
              <a:t>Page 25</a:t>
            </a:r>
          </a:p>
        </p:txBody>
      </p:sp>
      <p:sp>
        <p:nvSpPr>
          <p:cNvPr id="4" name="Slide Number Placeholder 3">
            <a:extLst>
              <a:ext uri="{FF2B5EF4-FFF2-40B4-BE49-F238E27FC236}">
                <a16:creationId xmlns:a16="http://schemas.microsoft.com/office/drawing/2014/main" id="{6895B09E-4FAE-BD7E-A237-DADEBE36B817}"/>
              </a:ext>
            </a:extLst>
          </p:cNvPr>
          <p:cNvSpPr>
            <a:spLocks noGrp="1"/>
          </p:cNvSpPr>
          <p:nvPr>
            <p:ph type="sldNum" sz="quarter" idx="5"/>
          </p:nvPr>
        </p:nvSpPr>
        <p:spPr/>
        <p:txBody>
          <a:bodyPr/>
          <a:lstStyle/>
          <a:p>
            <a:fld id="{78E4A049-8685-4352-9DC2-828F08FD542B}" type="slidenum">
              <a:rPr lang="en-US" smtClean="0"/>
              <a:pPr/>
              <a:t>20</a:t>
            </a:fld>
            <a:endParaRPr lang="en-US"/>
          </a:p>
        </p:txBody>
      </p:sp>
    </p:spTree>
    <p:extLst>
      <p:ext uri="{BB962C8B-B14F-4D97-AF65-F5344CB8AC3E}">
        <p14:creationId xmlns:p14="http://schemas.microsoft.com/office/powerpoint/2010/main" val="9509397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690C9-AEB4-97F4-B6A8-0CD1EB72C2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0D4487-1A1D-C53E-63F2-33A91FD2A4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4C8A41-470F-AE46-E67D-11F6CA917472}"/>
              </a:ext>
            </a:extLst>
          </p:cNvPr>
          <p:cNvSpPr>
            <a:spLocks noGrp="1"/>
          </p:cNvSpPr>
          <p:nvPr>
            <p:ph type="body" idx="1"/>
          </p:nvPr>
        </p:nvSpPr>
        <p:spPr/>
        <p:txBody>
          <a:bodyPr/>
          <a:lstStyle/>
          <a:p>
            <a:r>
              <a:rPr lang="en-US" dirty="0">
                <a:cs typeface="Calibri"/>
              </a:rPr>
              <a:t>https://ieeexplore.ieee.org/stamp/stamp.jsp?tp=&amp;arnumber=10269815</a:t>
            </a:r>
          </a:p>
          <a:p>
            <a:r>
              <a:rPr lang="en-US" dirty="0">
                <a:cs typeface="Calibri"/>
              </a:rPr>
              <a:t>Page 25</a:t>
            </a:r>
          </a:p>
          <a:p>
            <a:endParaRPr lang="en-US" dirty="0">
              <a:cs typeface="Calibri"/>
            </a:endParaRPr>
          </a:p>
          <a:p>
            <a:endParaRPr lang="en-US" dirty="0">
              <a:cs typeface="Calibri"/>
            </a:endParaRPr>
          </a:p>
        </p:txBody>
      </p:sp>
      <p:sp>
        <p:nvSpPr>
          <p:cNvPr id="4" name="Slide Number Placeholder 3">
            <a:extLst>
              <a:ext uri="{FF2B5EF4-FFF2-40B4-BE49-F238E27FC236}">
                <a16:creationId xmlns:a16="http://schemas.microsoft.com/office/drawing/2014/main" id="{F043C6F9-D86B-89B1-9ED0-69EA0AFB6A7F}"/>
              </a:ext>
            </a:extLst>
          </p:cNvPr>
          <p:cNvSpPr>
            <a:spLocks noGrp="1"/>
          </p:cNvSpPr>
          <p:nvPr>
            <p:ph type="sldNum" sz="quarter" idx="5"/>
          </p:nvPr>
        </p:nvSpPr>
        <p:spPr/>
        <p:txBody>
          <a:bodyPr/>
          <a:lstStyle/>
          <a:p>
            <a:fld id="{78E4A049-8685-4352-9DC2-828F08FD542B}" type="slidenum">
              <a:rPr lang="en-US" smtClean="0"/>
              <a:pPr/>
              <a:t>21</a:t>
            </a:fld>
            <a:endParaRPr lang="en-US"/>
          </a:p>
        </p:txBody>
      </p:sp>
    </p:spTree>
    <p:extLst>
      <p:ext uri="{BB962C8B-B14F-4D97-AF65-F5344CB8AC3E}">
        <p14:creationId xmlns:p14="http://schemas.microsoft.com/office/powerpoint/2010/main" val="23315555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522AF-C484-4625-12E3-82D1EFD7DA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5B14A7-8E53-98EA-3F12-E6EC8554B3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065035-6AE7-33F6-04EB-337A65AF786D}"/>
              </a:ext>
            </a:extLst>
          </p:cNvPr>
          <p:cNvSpPr>
            <a:spLocks noGrp="1"/>
          </p:cNvSpPr>
          <p:nvPr>
            <p:ph type="body" idx="1"/>
          </p:nvPr>
        </p:nvSpPr>
        <p:spPr/>
        <p:txBody>
          <a:bodyPr/>
          <a:lstStyle/>
          <a:p>
            <a:pPr marL="171450" indent="-171450">
              <a:buFont typeface="Arial" panose="020B0604020202020204" pitchFamily="34" charset="0"/>
              <a:buChar char="•"/>
            </a:pPr>
            <a:r>
              <a:rPr lang="en-US" dirty="0">
                <a:cs typeface="Calibri"/>
              </a:rPr>
              <a:t>Caused by multiple samples at slightly different phases being averaged together</a:t>
            </a:r>
          </a:p>
          <a:p>
            <a:pPr marL="171450" indent="-171450">
              <a:buFont typeface="Arial" panose="020B0604020202020204" pitchFamily="34" charset="0"/>
              <a:buChar char="•"/>
            </a:pPr>
            <a:endParaRPr lang="en-US" dirty="0">
              <a:cs typeface="Calibri"/>
            </a:endParaRPr>
          </a:p>
        </p:txBody>
      </p:sp>
      <p:sp>
        <p:nvSpPr>
          <p:cNvPr id="4" name="Slide Number Placeholder 3">
            <a:extLst>
              <a:ext uri="{FF2B5EF4-FFF2-40B4-BE49-F238E27FC236}">
                <a16:creationId xmlns:a16="http://schemas.microsoft.com/office/drawing/2014/main" id="{3E0C631B-5861-6FF5-9610-2A15A94992DD}"/>
              </a:ext>
            </a:extLst>
          </p:cNvPr>
          <p:cNvSpPr>
            <a:spLocks noGrp="1"/>
          </p:cNvSpPr>
          <p:nvPr>
            <p:ph type="sldNum" sz="quarter" idx="5"/>
          </p:nvPr>
        </p:nvSpPr>
        <p:spPr/>
        <p:txBody>
          <a:bodyPr/>
          <a:lstStyle/>
          <a:p>
            <a:fld id="{78E4A049-8685-4352-9DC2-828F08FD542B}" type="slidenum">
              <a:rPr lang="en-US" smtClean="0"/>
              <a:pPr/>
              <a:t>23</a:t>
            </a:fld>
            <a:endParaRPr lang="en-US"/>
          </a:p>
        </p:txBody>
      </p:sp>
    </p:spTree>
    <p:extLst>
      <p:ext uri="{BB962C8B-B14F-4D97-AF65-F5344CB8AC3E}">
        <p14:creationId xmlns:p14="http://schemas.microsoft.com/office/powerpoint/2010/main" val="20359556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59E2E-BDDE-0A7F-3E9A-EFEA53CB46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E20759-98AA-01E5-31E9-3A5DF338F0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23E348-1425-C62D-B709-ECD32A243E2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rPr>
              <a:t>Be clearer; is this measured output of the ADC or is this the signal goes in as input to the ADC? If this is not measured by you, are you pointing out a problem in this kind of measurements? </a:t>
            </a:r>
          </a:p>
          <a:p>
            <a:endParaRPr lang="en-US" dirty="0">
              <a:cs typeface="Calibri"/>
            </a:endParaRPr>
          </a:p>
        </p:txBody>
      </p:sp>
      <p:sp>
        <p:nvSpPr>
          <p:cNvPr id="4" name="Slide Number Placeholder 3">
            <a:extLst>
              <a:ext uri="{FF2B5EF4-FFF2-40B4-BE49-F238E27FC236}">
                <a16:creationId xmlns:a16="http://schemas.microsoft.com/office/drawing/2014/main" id="{7158AEC9-BBC7-D055-EEBD-BCC3011E818C}"/>
              </a:ext>
            </a:extLst>
          </p:cNvPr>
          <p:cNvSpPr>
            <a:spLocks noGrp="1"/>
          </p:cNvSpPr>
          <p:nvPr>
            <p:ph type="sldNum" sz="quarter" idx="5"/>
          </p:nvPr>
        </p:nvSpPr>
        <p:spPr/>
        <p:txBody>
          <a:bodyPr/>
          <a:lstStyle/>
          <a:p>
            <a:fld id="{78E4A049-8685-4352-9DC2-828F08FD542B}" type="slidenum">
              <a:rPr lang="en-US" smtClean="0"/>
              <a:pPr/>
              <a:t>24</a:t>
            </a:fld>
            <a:endParaRPr lang="en-US"/>
          </a:p>
        </p:txBody>
      </p:sp>
    </p:spTree>
    <p:extLst>
      <p:ext uri="{BB962C8B-B14F-4D97-AF65-F5344CB8AC3E}">
        <p14:creationId xmlns:p14="http://schemas.microsoft.com/office/powerpoint/2010/main" val="31131317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C27FA-C309-2C03-A5EF-2E19935DB3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F59883-63F4-C5DF-9994-9042EE791D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C1493F-00ED-4D41-5C93-153D4D20F212}"/>
              </a:ext>
            </a:extLst>
          </p:cNvPr>
          <p:cNvSpPr>
            <a:spLocks noGrp="1"/>
          </p:cNvSpPr>
          <p:nvPr>
            <p:ph type="body" idx="1"/>
          </p:nvPr>
        </p:nvSpPr>
        <p:spPr/>
        <p:txBody>
          <a:bodyPr/>
          <a:lstStyle/>
          <a:p>
            <a:r>
              <a:rPr lang="en-US" dirty="0">
                <a:cs typeface="Calibri"/>
              </a:rPr>
              <a:t>https://www3.advantest.com/documents/11348/f641a733-fcbe-43e8-b020-7799cd4c82bc</a:t>
            </a:r>
          </a:p>
          <a:p>
            <a:r>
              <a:rPr lang="en-US" dirty="0">
                <a:cs typeface="Calibri"/>
              </a:rPr>
              <a:t>Page 8</a:t>
            </a:r>
          </a:p>
          <a:p>
            <a:endParaRPr lang="en-US" dirty="0">
              <a:cs typeface="Calibri"/>
            </a:endParaRPr>
          </a:p>
          <a:p>
            <a:endParaRPr lang="en-US" dirty="0">
              <a:cs typeface="Calibri"/>
            </a:endParaRPr>
          </a:p>
        </p:txBody>
      </p:sp>
      <p:sp>
        <p:nvSpPr>
          <p:cNvPr id="4" name="Slide Number Placeholder 3">
            <a:extLst>
              <a:ext uri="{FF2B5EF4-FFF2-40B4-BE49-F238E27FC236}">
                <a16:creationId xmlns:a16="http://schemas.microsoft.com/office/drawing/2014/main" id="{D85B4C83-4944-5C21-0CF4-268578484BAA}"/>
              </a:ext>
            </a:extLst>
          </p:cNvPr>
          <p:cNvSpPr>
            <a:spLocks noGrp="1"/>
          </p:cNvSpPr>
          <p:nvPr>
            <p:ph type="sldNum" sz="quarter" idx="5"/>
          </p:nvPr>
        </p:nvSpPr>
        <p:spPr/>
        <p:txBody>
          <a:bodyPr/>
          <a:lstStyle/>
          <a:p>
            <a:fld id="{78E4A049-8685-4352-9DC2-828F08FD542B}" type="slidenum">
              <a:rPr lang="en-US" smtClean="0"/>
              <a:pPr/>
              <a:t>25</a:t>
            </a:fld>
            <a:endParaRPr lang="en-US"/>
          </a:p>
        </p:txBody>
      </p:sp>
    </p:spTree>
    <p:extLst>
      <p:ext uri="{BB962C8B-B14F-4D97-AF65-F5344CB8AC3E}">
        <p14:creationId xmlns:p14="http://schemas.microsoft.com/office/powerpoint/2010/main" val="3871646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3B2F5-B2CE-E3D6-60A1-5CD99714F8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B751B8-71D5-AAA1-B006-C020BFF8B7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FD489F-BD27-A4BD-5D33-1F335EB6A49F}"/>
              </a:ext>
            </a:extLst>
          </p:cNvPr>
          <p:cNvSpPr>
            <a:spLocks noGrp="1"/>
          </p:cNvSpPr>
          <p:nvPr>
            <p:ph type="body" idx="1"/>
          </p:nvPr>
        </p:nvSpPr>
        <p:spPr/>
        <p:txBody>
          <a:bodyPr/>
          <a:lstStyle/>
          <a:p>
            <a:r>
              <a:rPr lang="en-US" dirty="0">
                <a:cs typeface="Calibri"/>
              </a:rPr>
              <a:t>https://www3.advantest.com/documents/11348/f641a733-fcbe-43e8-b020-7799cd4c82bc</a:t>
            </a:r>
          </a:p>
          <a:p>
            <a:r>
              <a:rPr lang="en-US" dirty="0">
                <a:cs typeface="Calibri"/>
              </a:rPr>
              <a:t>Page 7</a:t>
            </a:r>
          </a:p>
        </p:txBody>
      </p:sp>
      <p:sp>
        <p:nvSpPr>
          <p:cNvPr id="4" name="Slide Number Placeholder 3">
            <a:extLst>
              <a:ext uri="{FF2B5EF4-FFF2-40B4-BE49-F238E27FC236}">
                <a16:creationId xmlns:a16="http://schemas.microsoft.com/office/drawing/2014/main" id="{276ACBF2-871F-A001-3FDF-ABC4A5614F14}"/>
              </a:ext>
            </a:extLst>
          </p:cNvPr>
          <p:cNvSpPr>
            <a:spLocks noGrp="1"/>
          </p:cNvSpPr>
          <p:nvPr>
            <p:ph type="sldNum" sz="quarter" idx="5"/>
          </p:nvPr>
        </p:nvSpPr>
        <p:spPr/>
        <p:txBody>
          <a:bodyPr/>
          <a:lstStyle/>
          <a:p>
            <a:fld id="{78E4A049-8685-4352-9DC2-828F08FD542B}" type="slidenum">
              <a:rPr lang="en-US" smtClean="0"/>
              <a:pPr/>
              <a:t>26</a:t>
            </a:fld>
            <a:endParaRPr lang="en-US"/>
          </a:p>
        </p:txBody>
      </p:sp>
    </p:spTree>
    <p:extLst>
      <p:ext uri="{BB962C8B-B14F-4D97-AF65-F5344CB8AC3E}">
        <p14:creationId xmlns:p14="http://schemas.microsoft.com/office/powerpoint/2010/main" val="22029157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E6A46-2D42-DDA5-2095-AE425B5A32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4246ED-5484-F112-2549-A0B49FE5BE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1E6A4D-EC6B-C15F-D101-07071203AF0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rPr>
              <a:t>Mention these are raw characterization, without digital error correction</a:t>
            </a:r>
          </a:p>
          <a:p>
            <a:endParaRPr lang="en-US" dirty="0">
              <a:cs typeface="Calibri"/>
            </a:endParaRPr>
          </a:p>
        </p:txBody>
      </p:sp>
      <p:sp>
        <p:nvSpPr>
          <p:cNvPr id="4" name="Slide Number Placeholder 3">
            <a:extLst>
              <a:ext uri="{FF2B5EF4-FFF2-40B4-BE49-F238E27FC236}">
                <a16:creationId xmlns:a16="http://schemas.microsoft.com/office/drawing/2014/main" id="{04EC38B8-1F8B-910F-6DF5-52C53D010D88}"/>
              </a:ext>
            </a:extLst>
          </p:cNvPr>
          <p:cNvSpPr>
            <a:spLocks noGrp="1"/>
          </p:cNvSpPr>
          <p:nvPr>
            <p:ph type="sldNum" sz="quarter" idx="5"/>
          </p:nvPr>
        </p:nvSpPr>
        <p:spPr/>
        <p:txBody>
          <a:bodyPr/>
          <a:lstStyle/>
          <a:p>
            <a:fld id="{78E4A049-8685-4352-9DC2-828F08FD542B}" type="slidenum">
              <a:rPr lang="en-US" smtClean="0"/>
              <a:pPr/>
              <a:t>27</a:t>
            </a:fld>
            <a:endParaRPr lang="en-US"/>
          </a:p>
        </p:txBody>
      </p:sp>
    </p:spTree>
    <p:extLst>
      <p:ext uri="{BB962C8B-B14F-4D97-AF65-F5344CB8AC3E}">
        <p14:creationId xmlns:p14="http://schemas.microsoft.com/office/powerpoint/2010/main" val="36724779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5B784-5BE7-E1BA-A022-25341820F7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C75F3E-728F-8F25-5109-56673E7DC5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10B007-A4C2-B225-434E-36D9F131F2AD}"/>
              </a:ext>
            </a:extLst>
          </p:cNvPr>
          <p:cNvSpPr>
            <a:spLocks noGrp="1"/>
          </p:cNvSpPr>
          <p:nvPr>
            <p:ph type="body" idx="1"/>
          </p:nvPr>
        </p:nvSpPr>
        <p:spPr/>
        <p:txBody>
          <a:bodyPr/>
          <a:lstStyle/>
          <a:p>
            <a:endParaRPr lang="en-US" dirty="0">
              <a:cs typeface="Calibri"/>
            </a:endParaRPr>
          </a:p>
        </p:txBody>
      </p:sp>
      <p:sp>
        <p:nvSpPr>
          <p:cNvPr id="4" name="Slide Number Placeholder 3">
            <a:extLst>
              <a:ext uri="{FF2B5EF4-FFF2-40B4-BE49-F238E27FC236}">
                <a16:creationId xmlns:a16="http://schemas.microsoft.com/office/drawing/2014/main" id="{A17CEBB6-7AED-1636-024F-272B2E5667FD}"/>
              </a:ext>
            </a:extLst>
          </p:cNvPr>
          <p:cNvSpPr>
            <a:spLocks noGrp="1"/>
          </p:cNvSpPr>
          <p:nvPr>
            <p:ph type="sldNum" sz="quarter" idx="5"/>
          </p:nvPr>
        </p:nvSpPr>
        <p:spPr/>
        <p:txBody>
          <a:bodyPr/>
          <a:lstStyle/>
          <a:p>
            <a:fld id="{78E4A049-8685-4352-9DC2-828F08FD542B}" type="slidenum">
              <a:rPr lang="en-US" smtClean="0"/>
              <a:pPr/>
              <a:t>29</a:t>
            </a:fld>
            <a:endParaRPr lang="en-US"/>
          </a:p>
        </p:txBody>
      </p:sp>
    </p:spTree>
    <p:extLst>
      <p:ext uri="{BB962C8B-B14F-4D97-AF65-F5344CB8AC3E}">
        <p14:creationId xmlns:p14="http://schemas.microsoft.com/office/powerpoint/2010/main" val="40859981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1DB56-7D5B-9AA6-7810-7802AAFB96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3A9C52-F043-4678-F8BB-6242118923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FF9F93-7EF0-CDD0-BDA6-37D698FB5ED2}"/>
              </a:ext>
            </a:extLst>
          </p:cNvPr>
          <p:cNvSpPr>
            <a:spLocks noGrp="1"/>
          </p:cNvSpPr>
          <p:nvPr>
            <p:ph type="body" idx="1"/>
          </p:nvPr>
        </p:nvSpPr>
        <p:spPr/>
        <p:txBody>
          <a:bodyPr/>
          <a:lstStyle/>
          <a:p>
            <a:endParaRPr lang="en-US" dirty="0">
              <a:cs typeface="Calibri"/>
            </a:endParaRPr>
          </a:p>
        </p:txBody>
      </p:sp>
      <p:sp>
        <p:nvSpPr>
          <p:cNvPr id="4" name="Slide Number Placeholder 3">
            <a:extLst>
              <a:ext uri="{FF2B5EF4-FFF2-40B4-BE49-F238E27FC236}">
                <a16:creationId xmlns:a16="http://schemas.microsoft.com/office/drawing/2014/main" id="{3F438C89-3ABE-594F-566C-158A1F271129}"/>
              </a:ext>
            </a:extLst>
          </p:cNvPr>
          <p:cNvSpPr>
            <a:spLocks noGrp="1"/>
          </p:cNvSpPr>
          <p:nvPr>
            <p:ph type="sldNum" sz="quarter" idx="5"/>
          </p:nvPr>
        </p:nvSpPr>
        <p:spPr/>
        <p:txBody>
          <a:bodyPr/>
          <a:lstStyle/>
          <a:p>
            <a:fld id="{78E4A049-8685-4352-9DC2-828F08FD542B}" type="slidenum">
              <a:rPr lang="en-US" smtClean="0"/>
              <a:pPr/>
              <a:t>30</a:t>
            </a:fld>
            <a:endParaRPr lang="en-US"/>
          </a:p>
        </p:txBody>
      </p:sp>
    </p:spTree>
    <p:extLst>
      <p:ext uri="{BB962C8B-B14F-4D97-AF65-F5344CB8AC3E}">
        <p14:creationId xmlns:p14="http://schemas.microsoft.com/office/powerpoint/2010/main" val="7848950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5763B-DF30-8EDA-6F32-E5E8856F64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1CCC58-F484-198F-9709-F17E580039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9AB7CF-8A75-1902-926B-17A1791F5FAD}"/>
              </a:ext>
            </a:extLst>
          </p:cNvPr>
          <p:cNvSpPr>
            <a:spLocks noGrp="1"/>
          </p:cNvSpPr>
          <p:nvPr>
            <p:ph type="body" idx="1"/>
          </p:nvPr>
        </p:nvSpPr>
        <p:spPr/>
        <p:txBody>
          <a:bodyPr/>
          <a:lstStyle/>
          <a:p>
            <a:endParaRPr lang="en-US" dirty="0">
              <a:cs typeface="Calibri"/>
            </a:endParaRPr>
          </a:p>
        </p:txBody>
      </p:sp>
      <p:sp>
        <p:nvSpPr>
          <p:cNvPr id="4" name="Slide Number Placeholder 3">
            <a:extLst>
              <a:ext uri="{FF2B5EF4-FFF2-40B4-BE49-F238E27FC236}">
                <a16:creationId xmlns:a16="http://schemas.microsoft.com/office/drawing/2014/main" id="{6B7827BC-7622-6C62-C82E-525D83F00818}"/>
              </a:ext>
            </a:extLst>
          </p:cNvPr>
          <p:cNvSpPr>
            <a:spLocks noGrp="1"/>
          </p:cNvSpPr>
          <p:nvPr>
            <p:ph type="sldNum" sz="quarter" idx="5"/>
          </p:nvPr>
        </p:nvSpPr>
        <p:spPr/>
        <p:txBody>
          <a:bodyPr/>
          <a:lstStyle/>
          <a:p>
            <a:fld id="{78E4A049-8685-4352-9DC2-828F08FD542B}" type="slidenum">
              <a:rPr lang="en-US" smtClean="0"/>
              <a:pPr/>
              <a:t>31</a:t>
            </a:fld>
            <a:endParaRPr lang="en-US"/>
          </a:p>
        </p:txBody>
      </p:sp>
    </p:spTree>
    <p:extLst>
      <p:ext uri="{BB962C8B-B14F-4D97-AF65-F5344CB8AC3E}">
        <p14:creationId xmlns:p14="http://schemas.microsoft.com/office/powerpoint/2010/main" val="24769381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6DBA9-A8BC-418B-C955-A0CE99AEEA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4F950F-B58D-E18C-E97B-84B33C88A2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D59B9F-31DD-EA63-385E-6EDB8EA1EB68}"/>
              </a:ext>
            </a:extLst>
          </p:cNvPr>
          <p:cNvSpPr>
            <a:spLocks noGrp="1"/>
          </p:cNvSpPr>
          <p:nvPr>
            <p:ph type="body" idx="1"/>
          </p:nvPr>
        </p:nvSpPr>
        <p:spPr/>
        <p:txBody>
          <a:bodyPr/>
          <a:lstStyle/>
          <a:p>
            <a:endParaRPr lang="en-US" dirty="0">
              <a:cs typeface="Calibri"/>
            </a:endParaRPr>
          </a:p>
        </p:txBody>
      </p:sp>
      <p:sp>
        <p:nvSpPr>
          <p:cNvPr id="4" name="Slide Number Placeholder 3">
            <a:extLst>
              <a:ext uri="{FF2B5EF4-FFF2-40B4-BE49-F238E27FC236}">
                <a16:creationId xmlns:a16="http://schemas.microsoft.com/office/drawing/2014/main" id="{F2F72D10-004C-B7AF-0E67-8D6833726382}"/>
              </a:ext>
            </a:extLst>
          </p:cNvPr>
          <p:cNvSpPr>
            <a:spLocks noGrp="1"/>
          </p:cNvSpPr>
          <p:nvPr>
            <p:ph type="sldNum" sz="quarter" idx="5"/>
          </p:nvPr>
        </p:nvSpPr>
        <p:spPr/>
        <p:txBody>
          <a:bodyPr/>
          <a:lstStyle/>
          <a:p>
            <a:fld id="{78E4A049-8685-4352-9DC2-828F08FD542B}" type="slidenum">
              <a:rPr lang="en-US" smtClean="0"/>
              <a:pPr/>
              <a:t>32</a:t>
            </a:fld>
            <a:endParaRPr lang="en-US"/>
          </a:p>
        </p:txBody>
      </p:sp>
    </p:spTree>
    <p:extLst>
      <p:ext uri="{BB962C8B-B14F-4D97-AF65-F5344CB8AC3E}">
        <p14:creationId xmlns:p14="http://schemas.microsoft.com/office/powerpoint/2010/main" val="14064067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07EC0-2522-F24E-05E0-1DF52DCF7D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367322-E96B-05FC-A9CE-03FE3C0226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06FC66-6AD6-DF4D-CB86-50524F332331}"/>
              </a:ext>
            </a:extLst>
          </p:cNvPr>
          <p:cNvSpPr>
            <a:spLocks noGrp="1"/>
          </p:cNvSpPr>
          <p:nvPr>
            <p:ph type="body" idx="1"/>
          </p:nvPr>
        </p:nvSpPr>
        <p:spPr/>
        <p:txBody>
          <a:bodyPr/>
          <a:lstStyle/>
          <a:p>
            <a:endParaRPr lang="en-US" dirty="0">
              <a:cs typeface="Calibri"/>
            </a:endParaRPr>
          </a:p>
        </p:txBody>
      </p:sp>
      <p:sp>
        <p:nvSpPr>
          <p:cNvPr id="4" name="Slide Number Placeholder 3">
            <a:extLst>
              <a:ext uri="{FF2B5EF4-FFF2-40B4-BE49-F238E27FC236}">
                <a16:creationId xmlns:a16="http://schemas.microsoft.com/office/drawing/2014/main" id="{CECA9C08-DA30-50F1-943B-7C228EB9A6DD}"/>
              </a:ext>
            </a:extLst>
          </p:cNvPr>
          <p:cNvSpPr>
            <a:spLocks noGrp="1"/>
          </p:cNvSpPr>
          <p:nvPr>
            <p:ph type="sldNum" sz="quarter" idx="5"/>
          </p:nvPr>
        </p:nvSpPr>
        <p:spPr/>
        <p:txBody>
          <a:bodyPr/>
          <a:lstStyle/>
          <a:p>
            <a:fld id="{78E4A049-8685-4352-9DC2-828F08FD542B}" type="slidenum">
              <a:rPr lang="en-US" smtClean="0"/>
              <a:pPr/>
              <a:t>33</a:t>
            </a:fld>
            <a:endParaRPr lang="en-US"/>
          </a:p>
        </p:txBody>
      </p:sp>
    </p:spTree>
    <p:extLst>
      <p:ext uri="{BB962C8B-B14F-4D97-AF65-F5344CB8AC3E}">
        <p14:creationId xmlns:p14="http://schemas.microsoft.com/office/powerpoint/2010/main" val="8788032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A17B0-E7B0-0971-FD99-9380E754D0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A74AA6-CC19-AEA2-BF4C-9141A3E24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4A8DF2-095E-4669-E8D7-A2E580CCEAE0}"/>
              </a:ext>
            </a:extLst>
          </p:cNvPr>
          <p:cNvSpPr>
            <a:spLocks noGrp="1"/>
          </p:cNvSpPr>
          <p:nvPr>
            <p:ph type="body" idx="1"/>
          </p:nvPr>
        </p:nvSpPr>
        <p:spPr/>
        <p:txBody>
          <a:bodyPr/>
          <a:lstStyle/>
          <a:p>
            <a:r>
              <a:rPr lang="en-US" dirty="0">
                <a:hlinkClick r:id="rId3"/>
              </a:rPr>
              <a:t>AD9057</a:t>
            </a:r>
            <a:r>
              <a:rPr lang="en-US" dirty="0"/>
              <a:t> – 2003, uses </a:t>
            </a:r>
            <a:r>
              <a:rPr lang="en-US" dirty="0" err="1"/>
              <a:t>BiCMOS</a:t>
            </a:r>
            <a:r>
              <a:rPr lang="en-US" dirty="0"/>
              <a:t> Process, 40MSPS, 8-bit Flash</a:t>
            </a:r>
          </a:p>
          <a:p>
            <a:r>
              <a:rPr lang="en-US" dirty="0">
                <a:hlinkClick r:id="rId4"/>
              </a:rPr>
              <a:t>CA3318</a:t>
            </a:r>
            <a:r>
              <a:rPr lang="en-US" dirty="0"/>
              <a:t> – 1997, almost even comparison. Shows the level of what this ADC is capable of</a:t>
            </a:r>
          </a:p>
          <a:p>
            <a:r>
              <a:rPr lang="en-US" dirty="0">
                <a:hlinkClick r:id="rId5"/>
              </a:rPr>
              <a:t>MAX153</a:t>
            </a:r>
            <a:r>
              <a:rPr lang="en-US" dirty="0"/>
              <a:t> – 1992-2012, </a:t>
            </a:r>
          </a:p>
          <a:p>
            <a:endParaRPr lang="en-US" dirty="0"/>
          </a:p>
          <a:p>
            <a:pPr algn="l"/>
            <a:r>
              <a:rPr lang="en-US" sz="1200" dirty="0">
                <a:solidFill>
                  <a:srgbClr val="FF0000"/>
                </a:solidFill>
              </a:rPr>
              <a:t>Mention these are raw characterization, without digital error correction</a:t>
            </a:r>
          </a:p>
          <a:p>
            <a:pPr algn="l"/>
            <a:r>
              <a:rPr lang="en-US" sz="1200" dirty="0">
                <a:solidFill>
                  <a:srgbClr val="FF0000"/>
                </a:solidFill>
              </a:rPr>
              <a:t>Also include digital error corrected performance (if possible)</a:t>
            </a:r>
          </a:p>
          <a:p>
            <a:endParaRPr lang="en-US" dirty="0"/>
          </a:p>
          <a:p>
            <a:endParaRPr lang="en-US" dirty="0">
              <a:cs typeface="Calibri"/>
            </a:endParaRPr>
          </a:p>
        </p:txBody>
      </p:sp>
      <p:sp>
        <p:nvSpPr>
          <p:cNvPr id="4" name="Slide Number Placeholder 3">
            <a:extLst>
              <a:ext uri="{FF2B5EF4-FFF2-40B4-BE49-F238E27FC236}">
                <a16:creationId xmlns:a16="http://schemas.microsoft.com/office/drawing/2014/main" id="{5E16E672-9FA9-A8C2-7645-D716FE1A7215}"/>
              </a:ext>
            </a:extLst>
          </p:cNvPr>
          <p:cNvSpPr>
            <a:spLocks noGrp="1"/>
          </p:cNvSpPr>
          <p:nvPr>
            <p:ph type="sldNum" sz="quarter" idx="5"/>
          </p:nvPr>
        </p:nvSpPr>
        <p:spPr/>
        <p:txBody>
          <a:bodyPr/>
          <a:lstStyle/>
          <a:p>
            <a:fld id="{78E4A049-8685-4352-9DC2-828F08FD542B}" type="slidenum">
              <a:rPr lang="en-US" smtClean="0"/>
              <a:pPr/>
              <a:t>35</a:t>
            </a:fld>
            <a:endParaRPr lang="en-US"/>
          </a:p>
        </p:txBody>
      </p:sp>
    </p:spTree>
    <p:extLst>
      <p:ext uri="{BB962C8B-B14F-4D97-AF65-F5344CB8AC3E}">
        <p14:creationId xmlns:p14="http://schemas.microsoft.com/office/powerpoint/2010/main" val="25215600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BD4CF-AA78-F94A-6E65-2A7947BDC3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C5F5E5-FB57-732A-E2A5-3E1C7A7BB6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647EA4-F0AA-4E06-69C2-A8E0803059F2}"/>
              </a:ext>
            </a:extLst>
          </p:cNvPr>
          <p:cNvSpPr>
            <a:spLocks noGrp="1"/>
          </p:cNvSpPr>
          <p:nvPr>
            <p:ph type="body" idx="1"/>
          </p:nvPr>
        </p:nvSpPr>
        <p:spPr/>
        <p:txBody>
          <a:bodyPr/>
          <a:lstStyle/>
          <a:p>
            <a:r>
              <a:rPr lang="en-US" dirty="0">
                <a:hlinkClick r:id="rId3"/>
              </a:rPr>
              <a:t>AD9057</a:t>
            </a:r>
            <a:r>
              <a:rPr lang="en-US" dirty="0"/>
              <a:t> – 2003, uses </a:t>
            </a:r>
            <a:r>
              <a:rPr lang="en-US" dirty="0" err="1"/>
              <a:t>BiCMOS</a:t>
            </a:r>
            <a:r>
              <a:rPr lang="en-US" dirty="0"/>
              <a:t> Process, 40MSPS, 8-bit Flash</a:t>
            </a:r>
          </a:p>
          <a:p>
            <a:r>
              <a:rPr lang="en-US" dirty="0">
                <a:hlinkClick r:id="rId4"/>
              </a:rPr>
              <a:t>CA3318</a:t>
            </a:r>
            <a:r>
              <a:rPr lang="en-US" dirty="0"/>
              <a:t> – 1997, almost even comparison. Shows the level of what this ADC is capable of</a:t>
            </a:r>
          </a:p>
          <a:p>
            <a:r>
              <a:rPr lang="en-US" dirty="0">
                <a:hlinkClick r:id="rId5"/>
              </a:rPr>
              <a:t>MAX153</a:t>
            </a:r>
            <a:r>
              <a:rPr lang="en-US" dirty="0"/>
              <a:t> – 1992-2012, </a:t>
            </a:r>
          </a:p>
          <a:p>
            <a:endParaRPr lang="en-US" dirty="0"/>
          </a:p>
          <a:p>
            <a:endParaRPr lang="en-US" dirty="0">
              <a:cs typeface="Calibri"/>
            </a:endParaRPr>
          </a:p>
        </p:txBody>
      </p:sp>
      <p:sp>
        <p:nvSpPr>
          <p:cNvPr id="4" name="Slide Number Placeholder 3">
            <a:extLst>
              <a:ext uri="{FF2B5EF4-FFF2-40B4-BE49-F238E27FC236}">
                <a16:creationId xmlns:a16="http://schemas.microsoft.com/office/drawing/2014/main" id="{787B206E-BB97-99A2-6B8A-B4B41219790F}"/>
              </a:ext>
            </a:extLst>
          </p:cNvPr>
          <p:cNvSpPr>
            <a:spLocks noGrp="1"/>
          </p:cNvSpPr>
          <p:nvPr>
            <p:ph type="sldNum" sz="quarter" idx="5"/>
          </p:nvPr>
        </p:nvSpPr>
        <p:spPr/>
        <p:txBody>
          <a:bodyPr/>
          <a:lstStyle/>
          <a:p>
            <a:fld id="{78E4A049-8685-4352-9DC2-828F08FD542B}" type="slidenum">
              <a:rPr lang="en-US" smtClean="0"/>
              <a:pPr/>
              <a:t>36</a:t>
            </a:fld>
            <a:endParaRPr lang="en-US"/>
          </a:p>
        </p:txBody>
      </p:sp>
    </p:spTree>
    <p:extLst>
      <p:ext uri="{BB962C8B-B14F-4D97-AF65-F5344CB8AC3E}">
        <p14:creationId xmlns:p14="http://schemas.microsoft.com/office/powerpoint/2010/main" val="11496383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76395-96C8-0A14-6A91-F1C5AC4296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AE22A5-888F-4723-CB35-5D0F86C3C2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7CC875-8D0F-1B84-5FA0-777F69E19A2E}"/>
              </a:ext>
            </a:extLst>
          </p:cNvPr>
          <p:cNvSpPr>
            <a:spLocks noGrp="1"/>
          </p:cNvSpPr>
          <p:nvPr>
            <p:ph type="body" idx="1"/>
          </p:nvPr>
        </p:nvSpPr>
        <p:spPr/>
        <p:txBody>
          <a:bodyPr/>
          <a:lstStyle/>
          <a:p>
            <a:r>
              <a:rPr lang="en-US" dirty="0">
                <a:cs typeface="Calibri"/>
              </a:rPr>
              <a:t>https://www.youtube.com/watch?v=dlD0Jz3d594&amp;t=331s</a:t>
            </a:r>
          </a:p>
        </p:txBody>
      </p:sp>
      <p:sp>
        <p:nvSpPr>
          <p:cNvPr id="4" name="Slide Number Placeholder 3">
            <a:extLst>
              <a:ext uri="{FF2B5EF4-FFF2-40B4-BE49-F238E27FC236}">
                <a16:creationId xmlns:a16="http://schemas.microsoft.com/office/drawing/2014/main" id="{427D7F68-4D1F-5B24-54A3-0F5D351A7FB4}"/>
              </a:ext>
            </a:extLst>
          </p:cNvPr>
          <p:cNvSpPr>
            <a:spLocks noGrp="1"/>
          </p:cNvSpPr>
          <p:nvPr>
            <p:ph type="sldNum" sz="quarter" idx="5"/>
          </p:nvPr>
        </p:nvSpPr>
        <p:spPr/>
        <p:txBody>
          <a:bodyPr/>
          <a:lstStyle/>
          <a:p>
            <a:fld id="{78E4A049-8685-4352-9DC2-828F08FD542B}" type="slidenum">
              <a:rPr lang="en-US" smtClean="0"/>
              <a:pPr/>
              <a:t>37</a:t>
            </a:fld>
            <a:endParaRPr lang="en-US"/>
          </a:p>
        </p:txBody>
      </p:sp>
    </p:spTree>
    <p:extLst>
      <p:ext uri="{BB962C8B-B14F-4D97-AF65-F5344CB8AC3E}">
        <p14:creationId xmlns:p14="http://schemas.microsoft.com/office/powerpoint/2010/main" val="2726815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598DF-D21D-2F14-18D8-F12ED4C426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A66D35-28A2-EBF1-5D6A-566A71A629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D3857D-BB6A-03FA-B645-CC68FCA03FA2}"/>
              </a:ext>
            </a:extLst>
          </p:cNvPr>
          <p:cNvSpPr>
            <a:spLocks noGrp="1"/>
          </p:cNvSpPr>
          <p:nvPr>
            <p:ph type="body" idx="1"/>
          </p:nvPr>
        </p:nvSpPr>
        <p:spPr/>
        <p:txBody>
          <a:bodyPr/>
          <a:lstStyle/>
          <a:p>
            <a:r>
              <a:rPr lang="en-US" dirty="0">
                <a:hlinkClick r:id="rId3"/>
              </a:rPr>
              <a:t>AD9057</a:t>
            </a:r>
            <a:r>
              <a:rPr lang="en-US" dirty="0"/>
              <a:t> – 2003, uses </a:t>
            </a:r>
            <a:r>
              <a:rPr lang="en-US" dirty="0" err="1"/>
              <a:t>BiCMOS</a:t>
            </a:r>
            <a:r>
              <a:rPr lang="en-US" dirty="0"/>
              <a:t> Process, 40MSPS, 8-bit Flash</a:t>
            </a:r>
          </a:p>
          <a:p>
            <a:r>
              <a:rPr lang="en-US" dirty="0">
                <a:hlinkClick r:id="rId4"/>
              </a:rPr>
              <a:t>CA3318</a:t>
            </a:r>
            <a:r>
              <a:rPr lang="en-US" dirty="0"/>
              <a:t> – 1997, almost even comparison. Shows the level of what this ADC is capable of</a:t>
            </a:r>
          </a:p>
          <a:p>
            <a:r>
              <a:rPr lang="en-US" dirty="0">
                <a:hlinkClick r:id="rId5"/>
              </a:rPr>
              <a:t>MAX153</a:t>
            </a:r>
            <a:r>
              <a:rPr lang="en-US" dirty="0"/>
              <a:t> – 1992-2012, </a:t>
            </a:r>
          </a:p>
          <a:p>
            <a:endParaRPr lang="en-US" dirty="0"/>
          </a:p>
          <a:p>
            <a:r>
              <a:rPr lang="en-US" dirty="0"/>
              <a:t>https://ieeexplore.ieee.org/stamp/stamp.jsp?tp=&amp;arnumber=10289098</a:t>
            </a:r>
          </a:p>
          <a:p>
            <a:endParaRPr lang="en-US" dirty="0"/>
          </a:p>
          <a:p>
            <a:endParaRPr lang="en-US" dirty="0">
              <a:cs typeface="Calibri"/>
            </a:endParaRPr>
          </a:p>
        </p:txBody>
      </p:sp>
      <p:sp>
        <p:nvSpPr>
          <p:cNvPr id="4" name="Slide Number Placeholder 3">
            <a:extLst>
              <a:ext uri="{FF2B5EF4-FFF2-40B4-BE49-F238E27FC236}">
                <a16:creationId xmlns:a16="http://schemas.microsoft.com/office/drawing/2014/main" id="{576A6517-80AF-B32D-F7EA-7E8DFD95BB34}"/>
              </a:ext>
            </a:extLst>
          </p:cNvPr>
          <p:cNvSpPr>
            <a:spLocks noGrp="1"/>
          </p:cNvSpPr>
          <p:nvPr>
            <p:ph type="sldNum" sz="quarter" idx="5"/>
          </p:nvPr>
        </p:nvSpPr>
        <p:spPr/>
        <p:txBody>
          <a:bodyPr/>
          <a:lstStyle/>
          <a:p>
            <a:fld id="{78E4A049-8685-4352-9DC2-828F08FD542B}" type="slidenum">
              <a:rPr lang="en-US" smtClean="0"/>
              <a:pPr/>
              <a:t>38</a:t>
            </a:fld>
            <a:endParaRPr lang="en-US"/>
          </a:p>
        </p:txBody>
      </p:sp>
    </p:spTree>
    <p:extLst>
      <p:ext uri="{BB962C8B-B14F-4D97-AF65-F5344CB8AC3E}">
        <p14:creationId xmlns:p14="http://schemas.microsoft.com/office/powerpoint/2010/main" val="42509718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6CD16-7995-3146-1F50-DE7CC8789E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888837-BE68-40D4-F427-53C07DD4E0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6C88D-9073-A262-46AC-C7F7ECACF28B}"/>
              </a:ext>
            </a:extLst>
          </p:cNvPr>
          <p:cNvSpPr>
            <a:spLocks noGrp="1"/>
          </p:cNvSpPr>
          <p:nvPr>
            <p:ph type="body" idx="1"/>
          </p:nvPr>
        </p:nvSpPr>
        <p:spPr/>
        <p:txBody>
          <a:bodyPr/>
          <a:lstStyle/>
          <a:p>
            <a:r>
              <a:rPr lang="en-US" dirty="0">
                <a:cs typeface="Calibri"/>
              </a:rPr>
              <a:t>https://www.youtube.com/watch?v=dlD0Jz3d594&amp;t=331s</a:t>
            </a:r>
          </a:p>
        </p:txBody>
      </p:sp>
      <p:sp>
        <p:nvSpPr>
          <p:cNvPr id="4" name="Slide Number Placeholder 3">
            <a:extLst>
              <a:ext uri="{FF2B5EF4-FFF2-40B4-BE49-F238E27FC236}">
                <a16:creationId xmlns:a16="http://schemas.microsoft.com/office/drawing/2014/main" id="{C3ABDB5E-5B89-2A8C-8919-50C17499D040}"/>
              </a:ext>
            </a:extLst>
          </p:cNvPr>
          <p:cNvSpPr>
            <a:spLocks noGrp="1"/>
          </p:cNvSpPr>
          <p:nvPr>
            <p:ph type="sldNum" sz="quarter" idx="5"/>
          </p:nvPr>
        </p:nvSpPr>
        <p:spPr/>
        <p:txBody>
          <a:bodyPr/>
          <a:lstStyle/>
          <a:p>
            <a:fld id="{78E4A049-8685-4352-9DC2-828F08FD542B}" type="slidenum">
              <a:rPr lang="en-US" smtClean="0"/>
              <a:pPr/>
              <a:t>39</a:t>
            </a:fld>
            <a:endParaRPr lang="en-US"/>
          </a:p>
        </p:txBody>
      </p:sp>
    </p:spTree>
    <p:extLst>
      <p:ext uri="{BB962C8B-B14F-4D97-AF65-F5344CB8AC3E}">
        <p14:creationId xmlns:p14="http://schemas.microsoft.com/office/powerpoint/2010/main" val="1147727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40756-04DC-5436-9170-D9F5C1EF20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9EBC29-3C3F-A20A-39FD-F2F390EE87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92B0A4-4914-CF59-23AB-572B7B5795BB}"/>
              </a:ext>
            </a:extLst>
          </p:cNvPr>
          <p:cNvSpPr>
            <a:spLocks noGrp="1"/>
          </p:cNvSpPr>
          <p:nvPr>
            <p:ph type="body" idx="1"/>
          </p:nvPr>
        </p:nvSpPr>
        <p:spPr/>
        <p:txBody>
          <a:bodyPr/>
          <a:lstStyle/>
          <a:p>
            <a:r>
              <a:rPr lang="en-US" dirty="0">
                <a:hlinkClick r:id="rId3"/>
              </a:rPr>
              <a:t>AD9057</a:t>
            </a:r>
            <a:r>
              <a:rPr lang="en-US" dirty="0"/>
              <a:t> – 2003, uses </a:t>
            </a:r>
            <a:r>
              <a:rPr lang="en-US" dirty="0" err="1"/>
              <a:t>BiCMOS</a:t>
            </a:r>
            <a:r>
              <a:rPr lang="en-US" dirty="0"/>
              <a:t> Process, 40MSPS, 8-bit Flash</a:t>
            </a:r>
          </a:p>
          <a:p>
            <a:r>
              <a:rPr lang="en-US" dirty="0">
                <a:hlinkClick r:id="rId4"/>
              </a:rPr>
              <a:t>CA3318</a:t>
            </a:r>
            <a:r>
              <a:rPr lang="en-US" dirty="0"/>
              <a:t> – 1997, almost even comparison. Shows the level of what this ADC is capable of</a:t>
            </a:r>
          </a:p>
          <a:p>
            <a:r>
              <a:rPr lang="en-US" dirty="0">
                <a:hlinkClick r:id="rId5"/>
              </a:rPr>
              <a:t>MAX153</a:t>
            </a:r>
            <a:r>
              <a:rPr lang="en-US" dirty="0"/>
              <a:t> – 1992-2012, </a:t>
            </a:r>
          </a:p>
          <a:p>
            <a:endParaRPr lang="en-US" dirty="0"/>
          </a:p>
          <a:p>
            <a:r>
              <a:rPr lang="en-US" dirty="0"/>
              <a:t>https://ieeexplore.ieee.org/stamp/stamp.jsp?tp=&amp;arnumber=10289098</a:t>
            </a:r>
          </a:p>
          <a:p>
            <a:endParaRPr lang="en-US" dirty="0"/>
          </a:p>
          <a:p>
            <a:endParaRPr lang="en-US" dirty="0">
              <a:cs typeface="Calibri"/>
            </a:endParaRPr>
          </a:p>
        </p:txBody>
      </p:sp>
      <p:sp>
        <p:nvSpPr>
          <p:cNvPr id="4" name="Slide Number Placeholder 3">
            <a:extLst>
              <a:ext uri="{FF2B5EF4-FFF2-40B4-BE49-F238E27FC236}">
                <a16:creationId xmlns:a16="http://schemas.microsoft.com/office/drawing/2014/main" id="{64B0DC25-3F6B-A74F-423E-D9CCABC300A1}"/>
              </a:ext>
            </a:extLst>
          </p:cNvPr>
          <p:cNvSpPr>
            <a:spLocks noGrp="1"/>
          </p:cNvSpPr>
          <p:nvPr>
            <p:ph type="sldNum" sz="quarter" idx="5"/>
          </p:nvPr>
        </p:nvSpPr>
        <p:spPr/>
        <p:txBody>
          <a:bodyPr/>
          <a:lstStyle/>
          <a:p>
            <a:fld id="{78E4A049-8685-4352-9DC2-828F08FD542B}" type="slidenum">
              <a:rPr lang="en-US" smtClean="0"/>
              <a:pPr/>
              <a:t>40</a:t>
            </a:fld>
            <a:endParaRPr lang="en-US"/>
          </a:p>
        </p:txBody>
      </p:sp>
    </p:spTree>
    <p:extLst>
      <p:ext uri="{BB962C8B-B14F-4D97-AF65-F5344CB8AC3E}">
        <p14:creationId xmlns:p14="http://schemas.microsoft.com/office/powerpoint/2010/main" val="34554002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C693E-D5C8-CF71-FAD2-9835D8F4D5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200979-C889-B93B-A7A8-4A3A20237D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11F876-4AAF-5414-922B-43597C1DBCEF}"/>
              </a:ext>
            </a:extLst>
          </p:cNvPr>
          <p:cNvSpPr>
            <a:spLocks noGrp="1"/>
          </p:cNvSpPr>
          <p:nvPr>
            <p:ph type="body" idx="1"/>
          </p:nvPr>
        </p:nvSpPr>
        <p:spPr/>
        <p:txBody>
          <a:bodyPr/>
          <a:lstStyle/>
          <a:p>
            <a:r>
              <a:rPr lang="en-US" dirty="0">
                <a:cs typeface="Calibri"/>
              </a:rPr>
              <a:t>https://www.youtube.com/watch?v=dlD0Jz3d594&amp;t=331s</a:t>
            </a:r>
          </a:p>
          <a:p>
            <a:r>
              <a:rPr lang="en-US" dirty="0">
                <a:cs typeface="Calibri"/>
              </a:rPr>
              <a:t>https://github.com/bmurmann/ADC-survey/tree/main/plots</a:t>
            </a:r>
          </a:p>
          <a:p>
            <a:endParaRPr lang="en-US" dirty="0">
              <a:cs typeface="Calibri"/>
            </a:endParaRPr>
          </a:p>
          <a:p>
            <a:r>
              <a:rPr lang="en-US" sz="1200" b="0" i="0" u="none" strike="noStrike" kern="1200" dirty="0">
                <a:solidFill>
                  <a:schemeClr val="tx1"/>
                </a:solidFill>
                <a:effectLst/>
                <a:latin typeface="+mn-lt"/>
                <a:ea typeface="+mn-ea"/>
                <a:cs typeface="+mn-cs"/>
                <a:hlinkClick r:id="rId3"/>
              </a:rPr>
              <a:t>Boris Murmann</a:t>
            </a:r>
            <a:endParaRPr lang="en-US" dirty="0">
              <a:cs typeface="Calibri"/>
            </a:endParaRPr>
          </a:p>
        </p:txBody>
      </p:sp>
      <p:sp>
        <p:nvSpPr>
          <p:cNvPr id="4" name="Slide Number Placeholder 3">
            <a:extLst>
              <a:ext uri="{FF2B5EF4-FFF2-40B4-BE49-F238E27FC236}">
                <a16:creationId xmlns:a16="http://schemas.microsoft.com/office/drawing/2014/main" id="{87E31895-FDE8-ED9B-5BF3-52C8EB633AF5}"/>
              </a:ext>
            </a:extLst>
          </p:cNvPr>
          <p:cNvSpPr>
            <a:spLocks noGrp="1"/>
          </p:cNvSpPr>
          <p:nvPr>
            <p:ph type="sldNum" sz="quarter" idx="5"/>
          </p:nvPr>
        </p:nvSpPr>
        <p:spPr/>
        <p:txBody>
          <a:bodyPr/>
          <a:lstStyle/>
          <a:p>
            <a:fld id="{78E4A049-8685-4352-9DC2-828F08FD542B}" type="slidenum">
              <a:rPr lang="en-US" smtClean="0"/>
              <a:pPr/>
              <a:t>41</a:t>
            </a:fld>
            <a:endParaRPr lang="en-US"/>
          </a:p>
        </p:txBody>
      </p:sp>
    </p:spTree>
    <p:extLst>
      <p:ext uri="{BB962C8B-B14F-4D97-AF65-F5344CB8AC3E}">
        <p14:creationId xmlns:p14="http://schemas.microsoft.com/office/powerpoint/2010/main" val="41187716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37A24-24A2-8863-A63C-DB667320F3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DF8055-67F1-6FDB-DACD-4FCE7465A0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F6678C-9BB1-52DF-E6A6-DDBFDC36130F}"/>
              </a:ext>
            </a:extLst>
          </p:cNvPr>
          <p:cNvSpPr>
            <a:spLocks noGrp="1"/>
          </p:cNvSpPr>
          <p:nvPr>
            <p:ph type="body" idx="1"/>
          </p:nvPr>
        </p:nvSpPr>
        <p:spPr/>
        <p:txBody>
          <a:bodyPr/>
          <a:lstStyle/>
          <a:p>
            <a:r>
              <a:rPr lang="en-US" sz="1700" dirty="0"/>
              <a:t>Why was the resolution and speed so bad, but the power so good?</a:t>
            </a:r>
          </a:p>
          <a:p>
            <a:pPr lvl="1"/>
            <a:r>
              <a:rPr lang="en-US" sz="1700" dirty="0"/>
              <a:t>Resistor ladder has somewhat high impedance</a:t>
            </a:r>
          </a:p>
          <a:p>
            <a:pPr lvl="2"/>
            <a:r>
              <a:rPr lang="en-US" sz="1700" dirty="0"/>
              <a:t>MAX153 has a 800Ohm ladder resistance whereas the WCIS ADC has about 10kOhm</a:t>
            </a:r>
          </a:p>
          <a:p>
            <a:pPr lvl="3"/>
            <a:r>
              <a:rPr lang="en-US" sz="1700" dirty="0"/>
              <a:t>10 times more current</a:t>
            </a:r>
          </a:p>
          <a:p>
            <a:pPr lvl="1"/>
            <a:r>
              <a:rPr lang="en-US" sz="1700" dirty="0"/>
              <a:t>Comparator offset</a:t>
            </a:r>
          </a:p>
          <a:p>
            <a:pPr lvl="1"/>
            <a:r>
              <a:rPr lang="en-US" sz="1700" dirty="0"/>
              <a:t>Resistor mismatch</a:t>
            </a:r>
          </a:p>
          <a:p>
            <a:pPr lvl="2"/>
            <a:r>
              <a:rPr lang="en-US" sz="1700" dirty="0"/>
              <a:t>Measured resistance of 12.2kOhm per ladder</a:t>
            </a:r>
          </a:p>
          <a:p>
            <a:pPr lvl="3"/>
            <a:r>
              <a:rPr lang="en-US" sz="1700" dirty="0"/>
              <a:t>20% error per resistor</a:t>
            </a:r>
          </a:p>
          <a:p>
            <a:pPr lvl="3"/>
            <a:endParaRPr lang="en-US" sz="1700" dirty="0"/>
          </a:p>
          <a:p>
            <a:pPr lvl="2"/>
            <a:endParaRPr lang="en-US" sz="1700" dirty="0"/>
          </a:p>
          <a:p>
            <a:endParaRPr lang="en-US" dirty="0">
              <a:cs typeface="Calibri"/>
            </a:endParaRPr>
          </a:p>
        </p:txBody>
      </p:sp>
      <p:sp>
        <p:nvSpPr>
          <p:cNvPr id="4" name="Slide Number Placeholder 3">
            <a:extLst>
              <a:ext uri="{FF2B5EF4-FFF2-40B4-BE49-F238E27FC236}">
                <a16:creationId xmlns:a16="http://schemas.microsoft.com/office/drawing/2014/main" id="{0293AC7B-C471-14F2-6DFF-EAA115602C56}"/>
              </a:ext>
            </a:extLst>
          </p:cNvPr>
          <p:cNvSpPr>
            <a:spLocks noGrp="1"/>
          </p:cNvSpPr>
          <p:nvPr>
            <p:ph type="sldNum" sz="quarter" idx="5"/>
          </p:nvPr>
        </p:nvSpPr>
        <p:spPr/>
        <p:txBody>
          <a:bodyPr/>
          <a:lstStyle/>
          <a:p>
            <a:fld id="{78E4A049-8685-4352-9DC2-828F08FD542B}" type="slidenum">
              <a:rPr lang="en-US" smtClean="0"/>
              <a:pPr/>
              <a:t>43</a:t>
            </a:fld>
            <a:endParaRPr lang="en-US"/>
          </a:p>
        </p:txBody>
      </p:sp>
    </p:spTree>
    <p:extLst>
      <p:ext uri="{BB962C8B-B14F-4D97-AF65-F5344CB8AC3E}">
        <p14:creationId xmlns:p14="http://schemas.microsoft.com/office/powerpoint/2010/main" val="12148386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5884C-0DF8-19BC-E683-BE174E86E7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BC101F-92ED-4117-61D0-66147477F4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E5CF72-BE72-F722-1913-D03D48C93A0F}"/>
              </a:ext>
            </a:extLst>
          </p:cNvPr>
          <p:cNvSpPr>
            <a:spLocks noGrp="1"/>
          </p:cNvSpPr>
          <p:nvPr>
            <p:ph type="body" idx="1"/>
          </p:nvPr>
        </p:nvSpPr>
        <p:spPr/>
        <p:txBody>
          <a:bodyPr/>
          <a:lstStyle/>
          <a:p>
            <a:pPr lvl="1"/>
            <a:r>
              <a:rPr lang="en-US" dirty="0"/>
              <a:t>Input signal filter</a:t>
            </a:r>
          </a:p>
          <a:p>
            <a:pPr lvl="2"/>
            <a:endParaRPr lang="en-US" dirty="0"/>
          </a:p>
          <a:p>
            <a:pPr lvl="1"/>
            <a:r>
              <a:rPr lang="en-US" dirty="0"/>
              <a:t>FPGA clock speed</a:t>
            </a:r>
          </a:p>
          <a:p>
            <a:pPr lvl="2"/>
            <a:r>
              <a:rPr lang="en-US" dirty="0"/>
              <a:t>AXI4 interface with clocking generator</a:t>
            </a:r>
          </a:p>
          <a:p>
            <a:pPr lvl="1"/>
            <a:r>
              <a:rPr lang="en-US" dirty="0"/>
              <a:t>DNL Calibration</a:t>
            </a:r>
          </a:p>
          <a:p>
            <a:pPr lvl="1"/>
            <a:r>
              <a:rPr lang="en-US" dirty="0"/>
              <a:t>Skipped codes caused by resistor ladder</a:t>
            </a:r>
          </a:p>
          <a:p>
            <a:pPr lvl="1"/>
            <a:endParaRPr lang="en-US" dirty="0"/>
          </a:p>
          <a:p>
            <a:endParaRPr lang="en-US" dirty="0">
              <a:cs typeface="Calibri"/>
            </a:endParaRPr>
          </a:p>
        </p:txBody>
      </p:sp>
      <p:sp>
        <p:nvSpPr>
          <p:cNvPr id="4" name="Slide Number Placeholder 3">
            <a:extLst>
              <a:ext uri="{FF2B5EF4-FFF2-40B4-BE49-F238E27FC236}">
                <a16:creationId xmlns:a16="http://schemas.microsoft.com/office/drawing/2014/main" id="{FD6B7BE9-F9E8-6F07-09C7-18711BAECE8E}"/>
              </a:ext>
            </a:extLst>
          </p:cNvPr>
          <p:cNvSpPr>
            <a:spLocks noGrp="1"/>
          </p:cNvSpPr>
          <p:nvPr>
            <p:ph type="sldNum" sz="quarter" idx="5"/>
          </p:nvPr>
        </p:nvSpPr>
        <p:spPr/>
        <p:txBody>
          <a:bodyPr/>
          <a:lstStyle/>
          <a:p>
            <a:fld id="{78E4A049-8685-4352-9DC2-828F08FD542B}" type="slidenum">
              <a:rPr lang="en-US" smtClean="0"/>
              <a:pPr/>
              <a:t>44</a:t>
            </a:fld>
            <a:endParaRPr lang="en-US"/>
          </a:p>
        </p:txBody>
      </p:sp>
    </p:spTree>
    <p:extLst>
      <p:ext uri="{BB962C8B-B14F-4D97-AF65-F5344CB8AC3E}">
        <p14:creationId xmlns:p14="http://schemas.microsoft.com/office/powerpoint/2010/main" val="383782906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25D7A-F879-9EC4-23A7-2E3BAB3D44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B719B7-4593-72EB-A7ED-D32EBFC9F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309F18-AA24-2BB7-8AD1-0F71C7BFCCDA}"/>
              </a:ext>
            </a:extLst>
          </p:cNvPr>
          <p:cNvSpPr>
            <a:spLocks noGrp="1"/>
          </p:cNvSpPr>
          <p:nvPr>
            <p:ph type="body" idx="1"/>
          </p:nvPr>
        </p:nvSpPr>
        <p:spPr/>
        <p:txBody>
          <a:bodyPr/>
          <a:lstStyle/>
          <a:p>
            <a:endParaRPr lang="en-US" dirty="0">
              <a:cs typeface="Calibri"/>
            </a:endParaRPr>
          </a:p>
        </p:txBody>
      </p:sp>
      <p:sp>
        <p:nvSpPr>
          <p:cNvPr id="4" name="Slide Number Placeholder 3">
            <a:extLst>
              <a:ext uri="{FF2B5EF4-FFF2-40B4-BE49-F238E27FC236}">
                <a16:creationId xmlns:a16="http://schemas.microsoft.com/office/drawing/2014/main" id="{810C2B5D-690E-1BA9-88FE-D29CC937C94B}"/>
              </a:ext>
            </a:extLst>
          </p:cNvPr>
          <p:cNvSpPr>
            <a:spLocks noGrp="1"/>
          </p:cNvSpPr>
          <p:nvPr>
            <p:ph type="sldNum" sz="quarter" idx="5"/>
          </p:nvPr>
        </p:nvSpPr>
        <p:spPr/>
        <p:txBody>
          <a:bodyPr/>
          <a:lstStyle/>
          <a:p>
            <a:fld id="{78E4A049-8685-4352-9DC2-828F08FD542B}" type="slidenum">
              <a:rPr lang="en-US" smtClean="0"/>
              <a:pPr/>
              <a:t>45</a:t>
            </a:fld>
            <a:endParaRPr lang="en-US"/>
          </a:p>
        </p:txBody>
      </p:sp>
    </p:spTree>
    <p:extLst>
      <p:ext uri="{BB962C8B-B14F-4D97-AF65-F5344CB8AC3E}">
        <p14:creationId xmlns:p14="http://schemas.microsoft.com/office/powerpoint/2010/main" val="15615771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2038E-C8E3-417C-38EE-69401AA9B6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8D2E83-BC1D-679B-0E61-4FB8AFFEB8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41D9B0-A97D-5A70-E724-B04E8E3D4E46}"/>
              </a:ext>
            </a:extLst>
          </p:cNvPr>
          <p:cNvSpPr>
            <a:spLocks noGrp="1"/>
          </p:cNvSpPr>
          <p:nvPr>
            <p:ph type="body" idx="1"/>
          </p:nvPr>
        </p:nvSpPr>
        <p:spPr/>
        <p:txBody>
          <a:bodyPr/>
          <a:lstStyle/>
          <a:p>
            <a:endParaRPr lang="en-US" dirty="0">
              <a:cs typeface="Calibri"/>
            </a:endParaRPr>
          </a:p>
        </p:txBody>
      </p:sp>
      <p:sp>
        <p:nvSpPr>
          <p:cNvPr id="4" name="Slide Number Placeholder 3">
            <a:extLst>
              <a:ext uri="{FF2B5EF4-FFF2-40B4-BE49-F238E27FC236}">
                <a16:creationId xmlns:a16="http://schemas.microsoft.com/office/drawing/2014/main" id="{3224C2D1-391B-B4E3-160A-1F2D6AA58E60}"/>
              </a:ext>
            </a:extLst>
          </p:cNvPr>
          <p:cNvSpPr>
            <a:spLocks noGrp="1"/>
          </p:cNvSpPr>
          <p:nvPr>
            <p:ph type="sldNum" sz="quarter" idx="5"/>
          </p:nvPr>
        </p:nvSpPr>
        <p:spPr/>
        <p:txBody>
          <a:bodyPr/>
          <a:lstStyle/>
          <a:p>
            <a:fld id="{78E4A049-8685-4352-9DC2-828F08FD542B}" type="slidenum">
              <a:rPr lang="en-US" smtClean="0"/>
              <a:pPr/>
              <a:t>48</a:t>
            </a:fld>
            <a:endParaRPr lang="en-US"/>
          </a:p>
        </p:txBody>
      </p:sp>
    </p:spTree>
    <p:extLst>
      <p:ext uri="{BB962C8B-B14F-4D97-AF65-F5344CB8AC3E}">
        <p14:creationId xmlns:p14="http://schemas.microsoft.com/office/powerpoint/2010/main" val="18900254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97C39-BA18-1E8E-B509-B4AD3D5CC6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2B36BF-5221-79BA-FA20-D71B181C7E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521C71-5DC7-42B7-6050-A205BDC8CC50}"/>
              </a:ext>
            </a:extLst>
          </p:cNvPr>
          <p:cNvSpPr>
            <a:spLocks noGrp="1"/>
          </p:cNvSpPr>
          <p:nvPr>
            <p:ph type="body" idx="1"/>
          </p:nvPr>
        </p:nvSpPr>
        <p:spPr/>
        <p:txBody>
          <a:bodyPr/>
          <a:lstStyle/>
          <a:p>
            <a:endParaRPr lang="en-US" dirty="0">
              <a:cs typeface="Calibri"/>
            </a:endParaRPr>
          </a:p>
        </p:txBody>
      </p:sp>
      <p:sp>
        <p:nvSpPr>
          <p:cNvPr id="4" name="Slide Number Placeholder 3">
            <a:extLst>
              <a:ext uri="{FF2B5EF4-FFF2-40B4-BE49-F238E27FC236}">
                <a16:creationId xmlns:a16="http://schemas.microsoft.com/office/drawing/2014/main" id="{C4E59DCA-C243-9DA8-A18F-CB96F4F4E9C1}"/>
              </a:ext>
            </a:extLst>
          </p:cNvPr>
          <p:cNvSpPr>
            <a:spLocks noGrp="1"/>
          </p:cNvSpPr>
          <p:nvPr>
            <p:ph type="sldNum" sz="quarter" idx="5"/>
          </p:nvPr>
        </p:nvSpPr>
        <p:spPr/>
        <p:txBody>
          <a:bodyPr/>
          <a:lstStyle/>
          <a:p>
            <a:fld id="{78E4A049-8685-4352-9DC2-828F08FD542B}" type="slidenum">
              <a:rPr lang="en-US" smtClean="0"/>
              <a:pPr/>
              <a:t>49</a:t>
            </a:fld>
            <a:endParaRPr lang="en-US"/>
          </a:p>
        </p:txBody>
      </p:sp>
    </p:spTree>
    <p:extLst>
      <p:ext uri="{BB962C8B-B14F-4D97-AF65-F5344CB8AC3E}">
        <p14:creationId xmlns:p14="http://schemas.microsoft.com/office/powerpoint/2010/main" val="256948216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F5C39-8C2C-CD3D-1E1C-8B78E9E5A1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5B3CD7-6F07-75E7-E080-755ACEDD77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EA4675-D9AD-0642-8CD2-02D7CA0DC456}"/>
              </a:ext>
            </a:extLst>
          </p:cNvPr>
          <p:cNvSpPr>
            <a:spLocks noGrp="1"/>
          </p:cNvSpPr>
          <p:nvPr>
            <p:ph type="body" idx="1"/>
          </p:nvPr>
        </p:nvSpPr>
        <p:spPr/>
        <p:txBody>
          <a:bodyPr/>
          <a:lstStyle/>
          <a:p>
            <a:r>
              <a:rPr lang="en-US" dirty="0">
                <a:cs typeface="Calibri"/>
              </a:rPr>
              <a:t>https://ieeexplore.ieee.org/stamp/stamp.jsp?tp=&amp;arnumber=10269815</a:t>
            </a:r>
          </a:p>
          <a:p>
            <a:r>
              <a:rPr lang="en-US" dirty="0">
                <a:cs typeface="Calibri"/>
              </a:rPr>
              <a:t>Page 25</a:t>
            </a:r>
          </a:p>
        </p:txBody>
      </p:sp>
      <p:sp>
        <p:nvSpPr>
          <p:cNvPr id="4" name="Slide Number Placeholder 3">
            <a:extLst>
              <a:ext uri="{FF2B5EF4-FFF2-40B4-BE49-F238E27FC236}">
                <a16:creationId xmlns:a16="http://schemas.microsoft.com/office/drawing/2014/main" id="{8383223B-6CBB-C114-95F2-44FECC8D4B17}"/>
              </a:ext>
            </a:extLst>
          </p:cNvPr>
          <p:cNvSpPr>
            <a:spLocks noGrp="1"/>
          </p:cNvSpPr>
          <p:nvPr>
            <p:ph type="sldNum" sz="quarter" idx="5"/>
          </p:nvPr>
        </p:nvSpPr>
        <p:spPr/>
        <p:txBody>
          <a:bodyPr/>
          <a:lstStyle/>
          <a:p>
            <a:fld id="{78E4A049-8685-4352-9DC2-828F08FD542B}" type="slidenum">
              <a:rPr lang="en-US" smtClean="0"/>
              <a:pPr/>
              <a:t>50</a:t>
            </a:fld>
            <a:endParaRPr lang="en-US"/>
          </a:p>
        </p:txBody>
      </p:sp>
    </p:spTree>
    <p:extLst>
      <p:ext uri="{BB962C8B-B14F-4D97-AF65-F5344CB8AC3E}">
        <p14:creationId xmlns:p14="http://schemas.microsoft.com/office/powerpoint/2010/main" val="116436902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9FC52-F04B-AA66-2F82-7DC648C87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155EDB-73AB-1671-A980-A73D483865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47F2C4-DA65-1244-1E00-C85BD0FA9E3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0A4905BA-290A-4993-F8CB-DE9FD2F19BF3}"/>
              </a:ext>
            </a:extLst>
          </p:cNvPr>
          <p:cNvSpPr>
            <a:spLocks noGrp="1"/>
          </p:cNvSpPr>
          <p:nvPr>
            <p:ph type="sldNum" sz="quarter" idx="5"/>
          </p:nvPr>
        </p:nvSpPr>
        <p:spPr/>
        <p:txBody>
          <a:bodyPr/>
          <a:lstStyle/>
          <a:p>
            <a:fld id="{78E4A049-8685-4352-9DC2-828F08FD542B}" type="slidenum">
              <a:rPr lang="en-US" smtClean="0"/>
              <a:pPr/>
              <a:t>51</a:t>
            </a:fld>
            <a:endParaRPr lang="en-US"/>
          </a:p>
        </p:txBody>
      </p:sp>
    </p:spTree>
    <p:extLst>
      <p:ext uri="{BB962C8B-B14F-4D97-AF65-F5344CB8AC3E}">
        <p14:creationId xmlns:p14="http://schemas.microsoft.com/office/powerpoint/2010/main" val="389383758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E8D05-B759-F2DF-0B32-92C3D208A7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68A40A-F23B-4280-AA2D-E8AC47971F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13285F-985B-7D4F-5BD6-017E9A951DFE}"/>
              </a:ext>
            </a:extLst>
          </p:cNvPr>
          <p:cNvSpPr>
            <a:spLocks noGrp="1"/>
          </p:cNvSpPr>
          <p:nvPr>
            <p:ph type="body" idx="1"/>
          </p:nvPr>
        </p:nvSpPr>
        <p:spPr/>
        <p:txBody>
          <a:bodyPr/>
          <a:lstStyle/>
          <a:p>
            <a:endParaRPr lang="en-US" dirty="0">
              <a:cs typeface="Calibri"/>
            </a:endParaRPr>
          </a:p>
        </p:txBody>
      </p:sp>
      <p:sp>
        <p:nvSpPr>
          <p:cNvPr id="4" name="Slide Number Placeholder 3">
            <a:extLst>
              <a:ext uri="{FF2B5EF4-FFF2-40B4-BE49-F238E27FC236}">
                <a16:creationId xmlns:a16="http://schemas.microsoft.com/office/drawing/2014/main" id="{1450EEDA-5312-193B-A6F2-DD12D78D6014}"/>
              </a:ext>
            </a:extLst>
          </p:cNvPr>
          <p:cNvSpPr>
            <a:spLocks noGrp="1"/>
          </p:cNvSpPr>
          <p:nvPr>
            <p:ph type="sldNum" sz="quarter" idx="5"/>
          </p:nvPr>
        </p:nvSpPr>
        <p:spPr/>
        <p:txBody>
          <a:bodyPr/>
          <a:lstStyle/>
          <a:p>
            <a:fld id="{78E4A049-8685-4352-9DC2-828F08FD542B}" type="slidenum">
              <a:rPr lang="en-US" smtClean="0"/>
              <a:pPr/>
              <a:t>52</a:t>
            </a:fld>
            <a:endParaRPr lang="en-US"/>
          </a:p>
        </p:txBody>
      </p:sp>
    </p:spTree>
    <p:extLst>
      <p:ext uri="{BB962C8B-B14F-4D97-AF65-F5344CB8AC3E}">
        <p14:creationId xmlns:p14="http://schemas.microsoft.com/office/powerpoint/2010/main" val="11669045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6CCB6-6BE4-EEF0-9DEE-259BFFC859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D9153-915D-A844-0ABE-E7BF4D8821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B86666-4E48-0319-2219-F734778E3501}"/>
              </a:ext>
            </a:extLst>
          </p:cNvPr>
          <p:cNvSpPr>
            <a:spLocks noGrp="1"/>
          </p:cNvSpPr>
          <p:nvPr>
            <p:ph type="body" idx="1"/>
          </p:nvPr>
        </p:nvSpPr>
        <p:spPr/>
        <p:txBody>
          <a:bodyPr/>
          <a:lstStyle/>
          <a:p>
            <a:endParaRPr lang="en-US" dirty="0">
              <a:cs typeface="Calibri"/>
            </a:endParaRPr>
          </a:p>
        </p:txBody>
      </p:sp>
      <p:sp>
        <p:nvSpPr>
          <p:cNvPr id="4" name="Slide Number Placeholder 3">
            <a:extLst>
              <a:ext uri="{FF2B5EF4-FFF2-40B4-BE49-F238E27FC236}">
                <a16:creationId xmlns:a16="http://schemas.microsoft.com/office/drawing/2014/main" id="{215D676A-A861-FC38-AFD4-AA9BE52F46FC}"/>
              </a:ext>
            </a:extLst>
          </p:cNvPr>
          <p:cNvSpPr>
            <a:spLocks noGrp="1"/>
          </p:cNvSpPr>
          <p:nvPr>
            <p:ph type="sldNum" sz="quarter" idx="5"/>
          </p:nvPr>
        </p:nvSpPr>
        <p:spPr/>
        <p:txBody>
          <a:bodyPr/>
          <a:lstStyle/>
          <a:p>
            <a:fld id="{78E4A049-8685-4352-9DC2-828F08FD542B}" type="slidenum">
              <a:rPr lang="en-US" smtClean="0"/>
              <a:pPr/>
              <a:t>53</a:t>
            </a:fld>
            <a:endParaRPr lang="en-US"/>
          </a:p>
        </p:txBody>
      </p:sp>
    </p:spTree>
    <p:extLst>
      <p:ext uri="{BB962C8B-B14F-4D97-AF65-F5344CB8AC3E}">
        <p14:creationId xmlns:p14="http://schemas.microsoft.com/office/powerpoint/2010/main" val="426299527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101B3-7DBA-DADA-98B2-9CB749125A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1C3EBF-2418-57DA-33F3-7B0C3CD5A9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B3730E-57EA-F5C2-EFAC-C52D564D5A7A}"/>
              </a:ext>
            </a:extLst>
          </p:cNvPr>
          <p:cNvSpPr>
            <a:spLocks noGrp="1"/>
          </p:cNvSpPr>
          <p:nvPr>
            <p:ph type="body" idx="1"/>
          </p:nvPr>
        </p:nvSpPr>
        <p:spPr/>
        <p:txBody>
          <a:bodyPr/>
          <a:lstStyle/>
          <a:p>
            <a:endParaRPr lang="en-US" dirty="0">
              <a:cs typeface="Calibri"/>
            </a:endParaRPr>
          </a:p>
        </p:txBody>
      </p:sp>
      <p:sp>
        <p:nvSpPr>
          <p:cNvPr id="4" name="Slide Number Placeholder 3">
            <a:extLst>
              <a:ext uri="{FF2B5EF4-FFF2-40B4-BE49-F238E27FC236}">
                <a16:creationId xmlns:a16="http://schemas.microsoft.com/office/drawing/2014/main" id="{FCBEF29E-06CD-BF47-E29E-9DAE028A8BB6}"/>
              </a:ext>
            </a:extLst>
          </p:cNvPr>
          <p:cNvSpPr>
            <a:spLocks noGrp="1"/>
          </p:cNvSpPr>
          <p:nvPr>
            <p:ph type="sldNum" sz="quarter" idx="5"/>
          </p:nvPr>
        </p:nvSpPr>
        <p:spPr/>
        <p:txBody>
          <a:bodyPr/>
          <a:lstStyle/>
          <a:p>
            <a:fld id="{78E4A049-8685-4352-9DC2-828F08FD542B}" type="slidenum">
              <a:rPr lang="en-US" smtClean="0"/>
              <a:pPr/>
              <a:t>54</a:t>
            </a:fld>
            <a:endParaRPr lang="en-US"/>
          </a:p>
        </p:txBody>
      </p:sp>
    </p:spTree>
    <p:extLst>
      <p:ext uri="{BB962C8B-B14F-4D97-AF65-F5344CB8AC3E}">
        <p14:creationId xmlns:p14="http://schemas.microsoft.com/office/powerpoint/2010/main" val="369940854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98F60-BEB4-4DED-E9AB-CE51F8D43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E20C23-9C9E-CEA8-A499-0477732B07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FA2BD6-F296-0E98-B4C7-422BEFA5208B}"/>
              </a:ext>
            </a:extLst>
          </p:cNvPr>
          <p:cNvSpPr>
            <a:spLocks noGrp="1"/>
          </p:cNvSpPr>
          <p:nvPr>
            <p:ph type="body" idx="1"/>
          </p:nvPr>
        </p:nvSpPr>
        <p:spPr/>
        <p:txBody>
          <a:bodyPr/>
          <a:lstStyle/>
          <a:p>
            <a:endParaRPr lang="en-US" dirty="0">
              <a:cs typeface="Calibri"/>
            </a:endParaRPr>
          </a:p>
        </p:txBody>
      </p:sp>
      <p:sp>
        <p:nvSpPr>
          <p:cNvPr id="4" name="Slide Number Placeholder 3">
            <a:extLst>
              <a:ext uri="{FF2B5EF4-FFF2-40B4-BE49-F238E27FC236}">
                <a16:creationId xmlns:a16="http://schemas.microsoft.com/office/drawing/2014/main" id="{E78EE84B-95C3-5F35-DB97-AEA19940DF47}"/>
              </a:ext>
            </a:extLst>
          </p:cNvPr>
          <p:cNvSpPr>
            <a:spLocks noGrp="1"/>
          </p:cNvSpPr>
          <p:nvPr>
            <p:ph type="sldNum" sz="quarter" idx="5"/>
          </p:nvPr>
        </p:nvSpPr>
        <p:spPr/>
        <p:txBody>
          <a:bodyPr/>
          <a:lstStyle/>
          <a:p>
            <a:fld id="{78E4A049-8685-4352-9DC2-828F08FD542B}" type="slidenum">
              <a:rPr lang="en-US" smtClean="0"/>
              <a:pPr/>
              <a:t>55</a:t>
            </a:fld>
            <a:endParaRPr lang="en-US"/>
          </a:p>
        </p:txBody>
      </p:sp>
    </p:spTree>
    <p:extLst>
      <p:ext uri="{BB962C8B-B14F-4D97-AF65-F5344CB8AC3E}">
        <p14:creationId xmlns:p14="http://schemas.microsoft.com/office/powerpoint/2010/main" val="275586475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2B3C9-CC08-33B2-E676-458AD184F4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DF023A-D3F9-EF2D-1F6F-EC38EA6DFB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284949-28D8-12B2-DD95-7D30A81A5C12}"/>
              </a:ext>
            </a:extLst>
          </p:cNvPr>
          <p:cNvSpPr>
            <a:spLocks noGrp="1"/>
          </p:cNvSpPr>
          <p:nvPr>
            <p:ph type="body" idx="1"/>
          </p:nvPr>
        </p:nvSpPr>
        <p:spPr/>
        <p:txBody>
          <a:bodyPr/>
          <a:lstStyle/>
          <a:p>
            <a:endParaRPr lang="en-US" dirty="0">
              <a:cs typeface="Calibri"/>
            </a:endParaRPr>
          </a:p>
        </p:txBody>
      </p:sp>
      <p:sp>
        <p:nvSpPr>
          <p:cNvPr id="4" name="Slide Number Placeholder 3">
            <a:extLst>
              <a:ext uri="{FF2B5EF4-FFF2-40B4-BE49-F238E27FC236}">
                <a16:creationId xmlns:a16="http://schemas.microsoft.com/office/drawing/2014/main" id="{659BB6BB-B928-A37A-458C-BA4139F6681D}"/>
              </a:ext>
            </a:extLst>
          </p:cNvPr>
          <p:cNvSpPr>
            <a:spLocks noGrp="1"/>
          </p:cNvSpPr>
          <p:nvPr>
            <p:ph type="sldNum" sz="quarter" idx="5"/>
          </p:nvPr>
        </p:nvSpPr>
        <p:spPr/>
        <p:txBody>
          <a:bodyPr/>
          <a:lstStyle/>
          <a:p>
            <a:fld id="{78E4A049-8685-4352-9DC2-828F08FD542B}" type="slidenum">
              <a:rPr lang="en-US" smtClean="0"/>
              <a:pPr/>
              <a:t>56</a:t>
            </a:fld>
            <a:endParaRPr lang="en-US"/>
          </a:p>
        </p:txBody>
      </p:sp>
    </p:spTree>
    <p:extLst>
      <p:ext uri="{BB962C8B-B14F-4D97-AF65-F5344CB8AC3E}">
        <p14:creationId xmlns:p14="http://schemas.microsoft.com/office/powerpoint/2010/main" val="179493181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78E4A049-8685-4352-9DC2-828F08FD542B}" type="slidenum">
              <a:rPr lang="en-US" smtClean="0"/>
              <a:pPr/>
              <a:t>58</a:t>
            </a:fld>
            <a:endParaRPr lang="en-US"/>
          </a:p>
        </p:txBody>
      </p:sp>
    </p:spTree>
    <p:extLst>
      <p:ext uri="{BB962C8B-B14F-4D97-AF65-F5344CB8AC3E}">
        <p14:creationId xmlns:p14="http://schemas.microsoft.com/office/powerpoint/2010/main" val="93021970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of Slide</a:t>
            </a:r>
          </a:p>
        </p:txBody>
      </p:sp>
      <p:sp>
        <p:nvSpPr>
          <p:cNvPr id="4" name="Slide Number Placeholder 3"/>
          <p:cNvSpPr>
            <a:spLocks noGrp="1"/>
          </p:cNvSpPr>
          <p:nvPr>
            <p:ph type="sldNum" sz="quarter" idx="5"/>
          </p:nvPr>
        </p:nvSpPr>
        <p:spPr/>
        <p:txBody>
          <a:bodyPr/>
          <a:lstStyle/>
          <a:p>
            <a:fld id="{78E4A049-8685-4352-9DC2-828F08FD542B}" type="slidenum">
              <a:rPr lang="en-US" smtClean="0"/>
              <a:pPr/>
              <a:t>60</a:t>
            </a:fld>
            <a:endParaRPr lang="en-US"/>
          </a:p>
        </p:txBody>
      </p:sp>
    </p:spTree>
    <p:extLst>
      <p:ext uri="{BB962C8B-B14F-4D97-AF65-F5344CB8AC3E}">
        <p14:creationId xmlns:p14="http://schemas.microsoft.com/office/powerpoint/2010/main" val="85586340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E4A049-8685-4352-9DC2-828F08FD542B}" type="slidenum">
              <a:rPr lang="en-US" smtClean="0"/>
              <a:pPr/>
              <a:t>61</a:t>
            </a:fld>
            <a:endParaRPr lang="en-US"/>
          </a:p>
        </p:txBody>
      </p:sp>
    </p:spTree>
    <p:extLst>
      <p:ext uri="{BB962C8B-B14F-4D97-AF65-F5344CB8AC3E}">
        <p14:creationId xmlns:p14="http://schemas.microsoft.com/office/powerpoint/2010/main" val="136535780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strike="noStrike" dirty="0">
              <a:solidFill>
                <a:srgbClr val="212121"/>
              </a:solidFill>
              <a:effectLst/>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78E4A049-8685-4352-9DC2-828F08FD542B}" type="slidenum">
              <a:rPr lang="en-US" smtClean="0"/>
              <a:pPr/>
              <a:t>62</a:t>
            </a:fld>
            <a:endParaRPr lang="en-US"/>
          </a:p>
        </p:txBody>
      </p:sp>
    </p:spTree>
    <p:extLst>
      <p:ext uri="{BB962C8B-B14F-4D97-AF65-F5344CB8AC3E}">
        <p14:creationId xmlns:p14="http://schemas.microsoft.com/office/powerpoint/2010/main" val="108938383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E4A049-8685-4352-9DC2-828F08FD542B}" type="slidenum">
              <a:rPr lang="en-US" smtClean="0"/>
              <a:pPr/>
              <a:t>63</a:t>
            </a:fld>
            <a:endParaRPr lang="en-US"/>
          </a:p>
        </p:txBody>
      </p:sp>
    </p:spTree>
    <p:extLst>
      <p:ext uri="{BB962C8B-B14F-4D97-AF65-F5344CB8AC3E}">
        <p14:creationId xmlns:p14="http://schemas.microsoft.com/office/powerpoint/2010/main" val="122654516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E4A049-8685-4352-9DC2-828F08FD542B}" type="slidenum">
              <a:rPr lang="en-US" smtClean="0"/>
              <a:pPr/>
              <a:t>64</a:t>
            </a:fld>
            <a:endParaRPr lang="en-US"/>
          </a:p>
        </p:txBody>
      </p:sp>
    </p:spTree>
    <p:extLst>
      <p:ext uri="{BB962C8B-B14F-4D97-AF65-F5344CB8AC3E}">
        <p14:creationId xmlns:p14="http://schemas.microsoft.com/office/powerpoint/2010/main" val="294856237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8E4A049-8685-4352-9DC2-828F08FD542B}" type="slidenum">
              <a:rPr lang="en-US" smtClean="0"/>
              <a:pPr/>
              <a:t>65</a:t>
            </a:fld>
            <a:endParaRPr lang="en-US"/>
          </a:p>
        </p:txBody>
      </p:sp>
    </p:spTree>
    <p:extLst>
      <p:ext uri="{BB962C8B-B14F-4D97-AF65-F5344CB8AC3E}">
        <p14:creationId xmlns:p14="http://schemas.microsoft.com/office/powerpoint/2010/main" val="201558584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8E4A049-8685-4352-9DC2-828F08FD542B}" type="slidenum">
              <a:rPr lang="en-US" smtClean="0"/>
              <a:pPr/>
              <a:t>66</a:t>
            </a:fld>
            <a:endParaRPr lang="en-US"/>
          </a:p>
        </p:txBody>
      </p:sp>
    </p:spTree>
    <p:extLst>
      <p:ext uri="{BB962C8B-B14F-4D97-AF65-F5344CB8AC3E}">
        <p14:creationId xmlns:p14="http://schemas.microsoft.com/office/powerpoint/2010/main" val="187470313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8E4A049-8685-4352-9DC2-828F08FD542B}" type="slidenum">
              <a:rPr lang="en-US" smtClean="0"/>
              <a:pPr/>
              <a:t>67</a:t>
            </a:fld>
            <a:endParaRPr lang="en-US"/>
          </a:p>
        </p:txBody>
      </p:sp>
    </p:spTree>
    <p:extLst>
      <p:ext uri="{BB962C8B-B14F-4D97-AF65-F5344CB8AC3E}">
        <p14:creationId xmlns:p14="http://schemas.microsoft.com/office/powerpoint/2010/main" val="119743367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8E4A049-8685-4352-9DC2-828F08FD542B}" type="slidenum">
              <a:rPr lang="en-US" smtClean="0"/>
              <a:pPr/>
              <a:t>68</a:t>
            </a:fld>
            <a:endParaRPr lang="en-US"/>
          </a:p>
        </p:txBody>
      </p:sp>
    </p:spTree>
    <p:extLst>
      <p:ext uri="{BB962C8B-B14F-4D97-AF65-F5344CB8AC3E}">
        <p14:creationId xmlns:p14="http://schemas.microsoft.com/office/powerpoint/2010/main" val="24486973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DA09BFF-9304-4EE8-967B-56F816FBB8C1}" type="slidenum">
              <a:rPr lang="en-US" smtClean="0"/>
              <a:pPr/>
              <a:t>69</a:t>
            </a:fld>
            <a:endParaRPr lang="en-US"/>
          </a:p>
        </p:txBody>
      </p:sp>
    </p:spTree>
    <p:extLst>
      <p:ext uri="{BB962C8B-B14F-4D97-AF65-F5344CB8AC3E}">
        <p14:creationId xmlns:p14="http://schemas.microsoft.com/office/powerpoint/2010/main" val="396800726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eaLnBrk="1" hangingPunct="1">
              <a:buFontTx/>
              <a:buNone/>
            </a:pPr>
            <a:r>
              <a:rPr lang="en-US" b="1" dirty="0"/>
              <a:t>BEST PRACTICES: </a:t>
            </a:r>
          </a:p>
          <a:p>
            <a:pPr eaLnBrk="1" hangingPunct="1">
              <a:buFont typeface="Arial" pitchFamily="34" charset="0"/>
              <a:buChar char="•"/>
            </a:pPr>
            <a:r>
              <a:rPr lang="en-US" b="0" dirty="0"/>
              <a:t> Open</a:t>
            </a:r>
            <a:r>
              <a:rPr lang="en-US" b="0" baseline="0" dirty="0"/>
              <a:t> Excel 2007 before creating charts in PowerPoint</a:t>
            </a:r>
          </a:p>
          <a:p>
            <a:pPr eaLnBrk="1" hangingPunct="1">
              <a:buFont typeface="Arial" pitchFamily="34" charset="0"/>
              <a:buChar char="•"/>
            </a:pPr>
            <a:r>
              <a:rPr lang="en-US" b="0" baseline="0" dirty="0"/>
              <a:t> Duplicate this slide and edit data</a:t>
            </a:r>
          </a:p>
        </p:txBody>
      </p:sp>
      <p:sp>
        <p:nvSpPr>
          <p:cNvPr id="4" name="Slide Number Placeholder 3"/>
          <p:cNvSpPr>
            <a:spLocks noGrp="1"/>
          </p:cNvSpPr>
          <p:nvPr>
            <p:ph type="sldNum" sz="quarter" idx="10"/>
          </p:nvPr>
        </p:nvSpPr>
        <p:spPr/>
        <p:txBody>
          <a:bodyPr/>
          <a:lstStyle/>
          <a:p>
            <a:fld id="{E7FE677A-78C3-4723-ABCD-0025B1878800}" type="slidenum">
              <a:rPr lang="en-US" smtClean="0"/>
              <a:pPr/>
              <a:t>70</a:t>
            </a:fld>
            <a:endParaRPr lang="en-US"/>
          </a:p>
        </p:txBody>
      </p:sp>
    </p:spTree>
    <p:extLst>
      <p:ext uri="{BB962C8B-B14F-4D97-AF65-F5344CB8AC3E}">
        <p14:creationId xmlns:p14="http://schemas.microsoft.com/office/powerpoint/2010/main" val="389637424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eaLnBrk="1" hangingPunct="1">
              <a:buFontTx/>
              <a:buNone/>
            </a:pPr>
            <a:r>
              <a:rPr lang="en-US" b="1" dirty="0"/>
              <a:t>BEST PRACTICES: </a:t>
            </a:r>
          </a:p>
          <a:p>
            <a:pPr eaLnBrk="1" hangingPunct="1">
              <a:buFont typeface="Arial" pitchFamily="34" charset="0"/>
              <a:buChar char="•"/>
            </a:pPr>
            <a:r>
              <a:rPr lang="en-US" b="0" dirty="0"/>
              <a:t> Open</a:t>
            </a:r>
            <a:r>
              <a:rPr lang="en-US" b="0" baseline="0" dirty="0"/>
              <a:t> Excel 2007 before creating charts in PowerPoint</a:t>
            </a:r>
          </a:p>
          <a:p>
            <a:pPr eaLnBrk="1" hangingPunct="1">
              <a:buFont typeface="Arial" pitchFamily="34" charset="0"/>
              <a:buChar char="•"/>
            </a:pPr>
            <a:r>
              <a:rPr lang="en-US" b="0" baseline="0" dirty="0"/>
              <a:t> Duplicate this slide and edit data</a:t>
            </a:r>
          </a:p>
        </p:txBody>
      </p:sp>
      <p:sp>
        <p:nvSpPr>
          <p:cNvPr id="4" name="Slide Number Placeholder 3"/>
          <p:cNvSpPr>
            <a:spLocks noGrp="1"/>
          </p:cNvSpPr>
          <p:nvPr>
            <p:ph type="sldNum" sz="quarter" idx="10"/>
          </p:nvPr>
        </p:nvSpPr>
        <p:spPr/>
        <p:txBody>
          <a:bodyPr/>
          <a:lstStyle/>
          <a:p>
            <a:fld id="{E7FE677A-78C3-4723-ABCD-0025B1878800}" type="slidenum">
              <a:rPr lang="en-US" smtClean="0"/>
              <a:pPr/>
              <a:t>71</a:t>
            </a:fld>
            <a:endParaRPr lang="en-US"/>
          </a:p>
        </p:txBody>
      </p:sp>
    </p:spTree>
    <p:extLst>
      <p:ext uri="{BB962C8B-B14F-4D97-AF65-F5344CB8AC3E}">
        <p14:creationId xmlns:p14="http://schemas.microsoft.com/office/powerpoint/2010/main" val="278827802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2190F28-0818-4B04-AB54-DE148D58546F}" type="slidenum">
              <a:rPr lang="en-US"/>
              <a:pPr/>
              <a:t>72</a:t>
            </a:fld>
            <a:endParaRPr lang="en-US"/>
          </a:p>
        </p:txBody>
      </p:sp>
      <p:sp>
        <p:nvSpPr>
          <p:cNvPr id="615426" name="Rectangle 2"/>
          <p:cNvSpPr>
            <a:spLocks noGrp="1" noRot="1" noChangeAspect="1" noChangeArrowheads="1" noTextEdit="1"/>
          </p:cNvSpPr>
          <p:nvPr>
            <p:ph type="sldImg"/>
          </p:nvPr>
        </p:nvSpPr>
        <p:spPr>
          <a:xfrm>
            <a:off x="381000" y="685800"/>
            <a:ext cx="6096000" cy="3429000"/>
          </a:xfrm>
          <a:ln/>
        </p:spPr>
      </p:sp>
      <p:sp>
        <p:nvSpPr>
          <p:cNvPr id="615427" name="Rectangle 3"/>
          <p:cNvSpPr>
            <a:spLocks noGrp="1" noChangeArrowheads="1"/>
          </p:cNvSpPr>
          <p:nvPr>
            <p:ph type="body" idx="1"/>
          </p:nvPr>
        </p:nvSpPr>
        <p:spPr/>
        <p:txBody>
          <a:bodyPr/>
          <a:lstStyle/>
          <a:p>
            <a:pPr eaLnBrk="1" hangingPunct="1">
              <a:buFontTx/>
              <a:buNone/>
            </a:pPr>
            <a:r>
              <a:rPr lang="en-US" b="1" dirty="0"/>
              <a:t>BEST PRACTICES: </a:t>
            </a:r>
          </a:p>
          <a:p>
            <a:pPr eaLnBrk="1" hangingPunct="1">
              <a:buFont typeface="Arial" pitchFamily="34" charset="0"/>
              <a:buChar char="•"/>
            </a:pPr>
            <a:r>
              <a:rPr lang="en-US" b="0" dirty="0"/>
              <a:t> Open</a:t>
            </a:r>
            <a:r>
              <a:rPr lang="en-US" b="0" baseline="0" dirty="0"/>
              <a:t> Excel 2007 before creating charts in PowerPoint</a:t>
            </a:r>
          </a:p>
          <a:p>
            <a:pPr eaLnBrk="1" hangingPunct="1">
              <a:buFont typeface="Arial" pitchFamily="34" charset="0"/>
              <a:buChar char="•"/>
            </a:pPr>
            <a:r>
              <a:rPr lang="en-US" b="0" baseline="0" dirty="0"/>
              <a:t> Duplicate this slide and edit data</a:t>
            </a:r>
          </a:p>
        </p:txBody>
      </p:sp>
    </p:spTree>
    <p:extLst>
      <p:ext uri="{BB962C8B-B14F-4D97-AF65-F5344CB8AC3E}">
        <p14:creationId xmlns:p14="http://schemas.microsoft.com/office/powerpoint/2010/main" val="34416588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8E4A049-8685-4352-9DC2-828F08FD542B}" type="slidenum">
              <a:rPr lang="en-US" smtClean="0"/>
              <a:pPr/>
              <a:t>73</a:t>
            </a:fld>
            <a:endParaRPr lang="en-US"/>
          </a:p>
        </p:txBody>
      </p:sp>
    </p:spTree>
    <p:extLst>
      <p:ext uri="{BB962C8B-B14F-4D97-AF65-F5344CB8AC3E}">
        <p14:creationId xmlns:p14="http://schemas.microsoft.com/office/powerpoint/2010/main" val="263766208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8E4A049-8685-4352-9DC2-828F08FD542B}" type="slidenum">
              <a:rPr lang="en-US" smtClean="0"/>
              <a:pPr/>
              <a:t>74</a:t>
            </a:fld>
            <a:endParaRPr lang="en-US"/>
          </a:p>
        </p:txBody>
      </p:sp>
    </p:spTree>
    <p:extLst>
      <p:ext uri="{BB962C8B-B14F-4D97-AF65-F5344CB8AC3E}">
        <p14:creationId xmlns:p14="http://schemas.microsoft.com/office/powerpoint/2010/main" val="112036865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8E4A049-8685-4352-9DC2-828F08FD542B}" type="slidenum">
              <a:rPr lang="en-US" smtClean="0"/>
              <a:pPr/>
              <a:t>75</a:t>
            </a:fld>
            <a:endParaRPr lang="en-US"/>
          </a:p>
        </p:txBody>
      </p:sp>
    </p:spTree>
    <p:extLst>
      <p:ext uri="{BB962C8B-B14F-4D97-AF65-F5344CB8AC3E}">
        <p14:creationId xmlns:p14="http://schemas.microsoft.com/office/powerpoint/2010/main" val="98218551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8E4A049-8685-4352-9DC2-828F08FD542B}" type="slidenum">
              <a:rPr lang="en-US" smtClean="0"/>
              <a:pPr/>
              <a:t>76</a:t>
            </a:fld>
            <a:endParaRPr lang="en-US"/>
          </a:p>
        </p:txBody>
      </p:sp>
    </p:spTree>
    <p:extLst>
      <p:ext uri="{BB962C8B-B14F-4D97-AF65-F5344CB8AC3E}">
        <p14:creationId xmlns:p14="http://schemas.microsoft.com/office/powerpoint/2010/main" val="155754390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52741-F99E-27A9-B7D5-7A647AD110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4B6D3C-4F6E-83D7-E76B-B2EC1FDF4A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1B1148-39FE-8F68-370A-B6A8B035C4B5}"/>
              </a:ext>
            </a:extLst>
          </p:cNvPr>
          <p:cNvSpPr>
            <a:spLocks noGrp="1"/>
          </p:cNvSpPr>
          <p:nvPr>
            <p:ph type="body" idx="1"/>
          </p:nvPr>
        </p:nvSpPr>
        <p:spPr/>
        <p:txBody>
          <a:bodyPr/>
          <a:lstStyle/>
          <a:p>
            <a:endParaRPr lang="en-US" dirty="0">
              <a:cs typeface="Calibri"/>
            </a:endParaRPr>
          </a:p>
        </p:txBody>
      </p:sp>
      <p:sp>
        <p:nvSpPr>
          <p:cNvPr id="4" name="Slide Number Placeholder 3">
            <a:extLst>
              <a:ext uri="{FF2B5EF4-FFF2-40B4-BE49-F238E27FC236}">
                <a16:creationId xmlns:a16="http://schemas.microsoft.com/office/drawing/2014/main" id="{02515686-DA6B-7F71-4C18-422726118590}"/>
              </a:ext>
            </a:extLst>
          </p:cNvPr>
          <p:cNvSpPr>
            <a:spLocks noGrp="1"/>
          </p:cNvSpPr>
          <p:nvPr>
            <p:ph type="sldNum" sz="quarter" idx="5"/>
          </p:nvPr>
        </p:nvSpPr>
        <p:spPr/>
        <p:txBody>
          <a:bodyPr/>
          <a:lstStyle/>
          <a:p>
            <a:fld id="{78E4A049-8685-4352-9DC2-828F08FD542B}" type="slidenum">
              <a:rPr lang="en-US" smtClean="0"/>
              <a:pPr/>
              <a:t>78</a:t>
            </a:fld>
            <a:endParaRPr lang="en-US"/>
          </a:p>
        </p:txBody>
      </p:sp>
    </p:spTree>
    <p:extLst>
      <p:ext uri="{BB962C8B-B14F-4D97-AF65-F5344CB8AC3E}">
        <p14:creationId xmlns:p14="http://schemas.microsoft.com/office/powerpoint/2010/main" val="362959479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05C27-B597-A3C4-9590-C0F4FA97C9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675C9D-6CEF-D009-8C0A-FF627E8810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3D06BA-45A8-59B0-2C81-2FBAF75B9A41}"/>
              </a:ext>
            </a:extLst>
          </p:cNvPr>
          <p:cNvSpPr>
            <a:spLocks noGrp="1"/>
          </p:cNvSpPr>
          <p:nvPr>
            <p:ph type="body" idx="1"/>
          </p:nvPr>
        </p:nvSpPr>
        <p:spPr/>
        <p:txBody>
          <a:bodyPr/>
          <a:lstStyle/>
          <a:p>
            <a:endParaRPr lang="en-US" dirty="0">
              <a:cs typeface="Calibri"/>
            </a:endParaRPr>
          </a:p>
        </p:txBody>
      </p:sp>
      <p:sp>
        <p:nvSpPr>
          <p:cNvPr id="4" name="Slide Number Placeholder 3">
            <a:extLst>
              <a:ext uri="{FF2B5EF4-FFF2-40B4-BE49-F238E27FC236}">
                <a16:creationId xmlns:a16="http://schemas.microsoft.com/office/drawing/2014/main" id="{48ACB7BB-5266-870C-FA35-C216259F9560}"/>
              </a:ext>
            </a:extLst>
          </p:cNvPr>
          <p:cNvSpPr>
            <a:spLocks noGrp="1"/>
          </p:cNvSpPr>
          <p:nvPr>
            <p:ph type="sldNum" sz="quarter" idx="5"/>
          </p:nvPr>
        </p:nvSpPr>
        <p:spPr/>
        <p:txBody>
          <a:bodyPr/>
          <a:lstStyle/>
          <a:p>
            <a:fld id="{78E4A049-8685-4352-9DC2-828F08FD542B}" type="slidenum">
              <a:rPr lang="en-US" smtClean="0"/>
              <a:pPr/>
              <a:t>79</a:t>
            </a:fld>
            <a:endParaRPr lang="en-US"/>
          </a:p>
        </p:txBody>
      </p:sp>
    </p:spTree>
    <p:extLst>
      <p:ext uri="{BB962C8B-B14F-4D97-AF65-F5344CB8AC3E}">
        <p14:creationId xmlns:p14="http://schemas.microsoft.com/office/powerpoint/2010/main" val="268805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C2D0595-5770-C96B-A9D1-4F753B181841}"/>
              </a:ext>
            </a:extLst>
          </p:cNvPr>
          <p:cNvSpPr>
            <a:spLocks noGrp="1"/>
          </p:cNvSpPr>
          <p:nvPr>
            <p:ph type="ctrTitle" hasCustomPrompt="1"/>
          </p:nvPr>
        </p:nvSpPr>
        <p:spPr>
          <a:xfrm>
            <a:off x="609600" y="2836309"/>
            <a:ext cx="9144000" cy="1524001"/>
          </a:xfrm>
        </p:spPr>
        <p:txBody>
          <a:bodyPr>
            <a:noAutofit/>
          </a:bodyPr>
          <a:lstStyle>
            <a:lvl1pPr>
              <a:lnSpc>
                <a:spcPts val="4200"/>
              </a:lnSpc>
              <a:defRPr sz="4000" b="1"/>
            </a:lvl1pPr>
          </a:lstStyle>
          <a:p>
            <a:r>
              <a:rPr lang="en-US" dirty="0"/>
              <a:t>Click to edit</a:t>
            </a:r>
            <a:br>
              <a:rPr lang="en-US" dirty="0"/>
            </a:br>
            <a:r>
              <a:rPr lang="en-US" dirty="0"/>
              <a:t>Master title style</a:t>
            </a:r>
          </a:p>
        </p:txBody>
      </p:sp>
      <p:sp>
        <p:nvSpPr>
          <p:cNvPr id="9" name="Subtitle 2">
            <a:extLst>
              <a:ext uri="{FF2B5EF4-FFF2-40B4-BE49-F238E27FC236}">
                <a16:creationId xmlns:a16="http://schemas.microsoft.com/office/drawing/2014/main" id="{CE14D3FB-B92A-0140-6727-1A2CFC21BC24}"/>
              </a:ext>
            </a:extLst>
          </p:cNvPr>
          <p:cNvSpPr>
            <a:spLocks noGrp="1"/>
          </p:cNvSpPr>
          <p:nvPr>
            <p:ph type="subTitle" idx="1"/>
          </p:nvPr>
        </p:nvSpPr>
        <p:spPr>
          <a:xfrm>
            <a:off x="609600" y="4591957"/>
            <a:ext cx="9144000" cy="990600"/>
          </a:xfrm>
        </p:spPr>
        <p:txBody>
          <a:bodyPr anchor="t" anchorCtr="0">
            <a:normAutofit/>
          </a:bodyPr>
          <a:lstStyle>
            <a:lvl1pPr marL="0" indent="0" algn="l">
              <a:buNone/>
              <a:defRPr sz="2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11" name="Picture 10" descr="A red letter w on a black background&#10;&#10;Description automatically generated">
            <a:extLst>
              <a:ext uri="{FF2B5EF4-FFF2-40B4-BE49-F238E27FC236}">
                <a16:creationId xmlns:a16="http://schemas.microsoft.com/office/drawing/2014/main" id="{16AFF59A-392A-B90D-90C3-40ADAD4A64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2078" y="990600"/>
            <a:ext cx="3393650" cy="1097280"/>
          </a:xfrm>
          <a:prstGeom prst="rect">
            <a:avLst/>
          </a:prstGeom>
        </p:spPr>
      </p:pic>
      <p:pic>
        <p:nvPicPr>
          <p:cNvPr id="12" name="Picture 11" descr="A grey logo with text&#10;&#10;Description automatically generated">
            <a:extLst>
              <a:ext uri="{FF2B5EF4-FFF2-40B4-BE49-F238E27FC236}">
                <a16:creationId xmlns:a16="http://schemas.microsoft.com/office/drawing/2014/main" id="{4C1E441D-3FAC-DA36-0F0B-FE18196D7950}"/>
              </a:ext>
            </a:extLst>
          </p:cNvPr>
          <p:cNvPicPr>
            <a:picLocks noChangeAspect="1"/>
          </p:cNvPicPr>
          <p:nvPr userDrawn="1"/>
        </p:nvPicPr>
        <p:blipFill rotWithShape="1">
          <a:blip r:embed="rId3" cstate="print">
            <a:alphaModFix amt="20000"/>
            <a:extLst>
              <a:ext uri="{28A0092B-C50C-407E-A947-70E740481C1C}">
                <a14:useLocalDpi xmlns:a14="http://schemas.microsoft.com/office/drawing/2010/main" val="0"/>
              </a:ext>
            </a:extLst>
          </a:blip>
          <a:srcRect r="10769" b="12037"/>
          <a:stretch/>
        </p:blipFill>
        <p:spPr>
          <a:xfrm>
            <a:off x="8112370" y="2836309"/>
            <a:ext cx="4079630" cy="4021691"/>
          </a:xfrm>
          <a:prstGeom prst="rect">
            <a:avLst/>
          </a:prstGeom>
        </p:spPr>
      </p:pic>
    </p:spTree>
  </p:cSld>
  <p:clrMapOvr>
    <a:masterClrMapping/>
  </p:clrMapOvr>
  <p:extLst>
    <p:ext uri="{DCECCB84-F9BA-43D5-87BE-67443E8EF086}">
      <p15:sldGuideLst xmlns:p15="http://schemas.microsoft.com/office/powerpoint/2012/main">
        <p15:guide id="1" pos="45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FE98F50-F8E9-DD5D-F0F3-B177E05FE517}"/>
              </a:ext>
            </a:extLst>
          </p:cNvPr>
          <p:cNvSpPr/>
          <p:nvPr userDrawn="1"/>
        </p:nvSpPr>
        <p:spPr bwMode="auto">
          <a:xfrm>
            <a:off x="0" y="0"/>
            <a:ext cx="12192000" cy="1143000"/>
          </a:xfrm>
          <a:prstGeom prst="rect">
            <a:avLst/>
          </a:prstGeom>
          <a:solidFill>
            <a:srgbClr val="AB162B"/>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15" name="Subtitle 2">
            <a:extLst>
              <a:ext uri="{FF2B5EF4-FFF2-40B4-BE49-F238E27FC236}">
                <a16:creationId xmlns:a16="http://schemas.microsoft.com/office/drawing/2014/main" id="{5CB2D455-4055-7480-CBDA-FD85C71EBDFE}"/>
              </a:ext>
            </a:extLst>
          </p:cNvPr>
          <p:cNvSpPr>
            <a:spLocks noGrp="1"/>
          </p:cNvSpPr>
          <p:nvPr>
            <p:ph type="subTitle" idx="1"/>
          </p:nvPr>
        </p:nvSpPr>
        <p:spPr>
          <a:xfrm>
            <a:off x="609600" y="4024064"/>
            <a:ext cx="9144000" cy="990600"/>
          </a:xfrm>
        </p:spPr>
        <p:txBody>
          <a:bodyPr anchor="t" anchorCtr="0">
            <a:normAutofit/>
          </a:bodyPr>
          <a:lstStyle>
            <a:lvl1pPr marL="0" indent="0" algn="l">
              <a:buNone/>
              <a:defRPr sz="2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6" name="Title 1">
            <a:extLst>
              <a:ext uri="{FF2B5EF4-FFF2-40B4-BE49-F238E27FC236}">
                <a16:creationId xmlns:a16="http://schemas.microsoft.com/office/drawing/2014/main" id="{B1045F49-C082-20D9-8199-F2BED577C03E}"/>
              </a:ext>
            </a:extLst>
          </p:cNvPr>
          <p:cNvSpPr>
            <a:spLocks noGrp="1"/>
          </p:cNvSpPr>
          <p:nvPr>
            <p:ph type="ctrTitle"/>
          </p:nvPr>
        </p:nvSpPr>
        <p:spPr>
          <a:xfrm>
            <a:off x="609600" y="2268416"/>
            <a:ext cx="9144000" cy="1524001"/>
          </a:xfrm>
        </p:spPr>
        <p:txBody>
          <a:bodyPr>
            <a:noAutofit/>
          </a:bodyPr>
          <a:lstStyle>
            <a:lvl1pPr>
              <a:lnSpc>
                <a:spcPts val="4200"/>
              </a:lnSpc>
              <a:defRPr sz="4000" b="1"/>
            </a:lvl1pPr>
          </a:lstStyle>
          <a:p>
            <a:r>
              <a:rPr lang="en-US" dirty="0"/>
              <a:t>Click to edit Master title style</a:t>
            </a:r>
          </a:p>
        </p:txBody>
      </p:sp>
      <p:sp>
        <p:nvSpPr>
          <p:cNvPr id="17" name="TextBox 16">
            <a:extLst>
              <a:ext uri="{FF2B5EF4-FFF2-40B4-BE49-F238E27FC236}">
                <a16:creationId xmlns:a16="http://schemas.microsoft.com/office/drawing/2014/main" id="{04792277-BE88-7783-1DD4-5085D63F96DC}"/>
              </a:ext>
            </a:extLst>
          </p:cNvPr>
          <p:cNvSpPr txBox="1"/>
          <p:nvPr userDrawn="1"/>
        </p:nvSpPr>
        <p:spPr>
          <a:xfrm>
            <a:off x="-433137" y="4360244"/>
            <a:ext cx="0" cy="0"/>
          </a:xfrm>
          <a:prstGeom prst="rect">
            <a:avLst/>
          </a:prstGeom>
          <a:noFill/>
        </p:spPr>
        <p:txBody>
          <a:bodyPr wrap="none" rtlCol="0">
            <a:noAutofit/>
          </a:bodyPr>
          <a:lstStyle/>
          <a:p>
            <a:pPr algn="ctr"/>
            <a:endParaRPr lang="en-US" sz="1600" dirty="0" err="1"/>
          </a:p>
        </p:txBody>
      </p:sp>
      <p:pic>
        <p:nvPicPr>
          <p:cNvPr id="18" name="Picture 17" descr="A grey logo with text&#10;&#10;Description automatically generated">
            <a:extLst>
              <a:ext uri="{FF2B5EF4-FFF2-40B4-BE49-F238E27FC236}">
                <a16:creationId xmlns:a16="http://schemas.microsoft.com/office/drawing/2014/main" id="{5376143C-E399-5AFE-BF3E-718BB884008D}"/>
              </a:ext>
            </a:extLst>
          </p:cNvPr>
          <p:cNvPicPr>
            <a:picLocks noChangeAspect="1"/>
          </p:cNvPicPr>
          <p:nvPr userDrawn="1"/>
        </p:nvPicPr>
        <p:blipFill rotWithShape="1">
          <a:blip r:embed="rId2" cstate="print">
            <a:alphaModFix amt="20000"/>
            <a:extLst>
              <a:ext uri="{28A0092B-C50C-407E-A947-70E740481C1C}">
                <a14:useLocalDpi xmlns:a14="http://schemas.microsoft.com/office/drawing/2010/main" val="0"/>
              </a:ext>
            </a:extLst>
          </a:blip>
          <a:srcRect r="10769" b="12037"/>
          <a:stretch/>
        </p:blipFill>
        <p:spPr>
          <a:xfrm>
            <a:off x="8112370" y="2836309"/>
            <a:ext cx="4079630" cy="4021691"/>
          </a:xfrm>
          <a:prstGeom prst="rect">
            <a:avLst/>
          </a:prstGeom>
        </p:spPr>
      </p:pic>
    </p:spTree>
    <p:extLst>
      <p:ext uri="{BB962C8B-B14F-4D97-AF65-F5344CB8AC3E}">
        <p14:creationId xmlns:p14="http://schemas.microsoft.com/office/powerpoint/2010/main" val="2237983437"/>
      </p:ext>
    </p:extLst>
  </p:cSld>
  <p:clrMapOvr>
    <a:masterClrMapping/>
  </p:clrMapOvr>
  <p:extLst>
    <p:ext uri="{DCECCB84-F9BA-43D5-87BE-67443E8EF086}">
      <p15:sldGuideLst xmlns:p15="http://schemas.microsoft.com/office/powerpoint/2012/main">
        <p15:guide id="1" pos="45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13" name="Rectangle 13"/>
          <p:cNvSpPr>
            <a:spLocks noGrp="1"/>
          </p:cNvSpPr>
          <p:nvPr>
            <p:ph type="title"/>
          </p:nvPr>
        </p:nvSpPr>
        <p:spPr/>
        <p:txBody>
          <a:bodyPr anchor="b" anchorCtr="0"/>
          <a:lstStyle/>
          <a:p>
            <a:r>
              <a:rPr lang="en-US" noProof="1"/>
              <a:t>Click to edit Master title style</a:t>
            </a:r>
            <a:endParaRPr lang="en-US"/>
          </a:p>
        </p:txBody>
      </p:sp>
      <p:sp>
        <p:nvSpPr>
          <p:cNvPr id="14" name="Rectangle 6"/>
          <p:cNvSpPr>
            <a:spLocks noGrp="1"/>
          </p:cNvSpPr>
          <p:nvPr>
            <p:ph idx="1"/>
          </p:nvPr>
        </p:nvSpPr>
        <p:spPr>
          <a:xfrm>
            <a:off x="609600" y="1524000"/>
            <a:ext cx="10972800" cy="4648200"/>
          </a:xfrm>
        </p:spPr>
        <p:txBody>
          <a:bodyPr/>
          <a:lstStyle>
            <a:lvl1pPr>
              <a:buClr>
                <a:srgbClr val="C4122F"/>
              </a:buClr>
              <a:defRPr/>
            </a:lvl1pPr>
            <a:lvl2pPr>
              <a:buClr>
                <a:srgbClr val="C4122F"/>
              </a:buClr>
              <a:defRPr/>
            </a:lvl2pPr>
            <a:lvl3pPr>
              <a:buClr>
                <a:srgbClr val="C4122F"/>
              </a:buClr>
              <a:defRPr/>
            </a:lvl3pPr>
            <a:lvl4pPr>
              <a:buClr>
                <a:srgbClr val="C4122F"/>
              </a:buClr>
              <a:defRPr/>
            </a:lvl4pPr>
            <a:lvl5pPr>
              <a:buClr>
                <a:srgbClr val="C4122F"/>
              </a:buClr>
              <a:defRPr/>
            </a:lvl5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dirty="0"/>
          </a:p>
        </p:txBody>
      </p:sp>
    </p:spTree>
    <p:extLst>
      <p:ext uri="{BB962C8B-B14F-4D97-AF65-F5344CB8AC3E}">
        <p14:creationId xmlns:p14="http://schemas.microsoft.com/office/powerpoint/2010/main" val="4115709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3" name="Rectangle 13"/>
          <p:cNvSpPr>
            <a:spLocks noGrp="1"/>
          </p:cNvSpPr>
          <p:nvPr>
            <p:ph type="title"/>
          </p:nvPr>
        </p:nvSpPr>
        <p:spPr/>
        <p:txBody>
          <a:bodyPr anchor="b" anchorCtr="0"/>
          <a:lstStyle/>
          <a:p>
            <a:r>
              <a:rPr lang="en-US" noProof="1"/>
              <a:t>Click to edit Master title style</a:t>
            </a:r>
            <a:endParaRPr lang="en-US"/>
          </a:p>
        </p:txBody>
      </p:sp>
      <p:sp>
        <p:nvSpPr>
          <p:cNvPr id="14" name="Rectangle 6"/>
          <p:cNvSpPr>
            <a:spLocks noGrp="1"/>
          </p:cNvSpPr>
          <p:nvPr>
            <p:ph idx="1"/>
          </p:nvPr>
        </p:nvSpPr>
        <p:spPr>
          <a:xfrm>
            <a:off x="609600" y="1795464"/>
            <a:ext cx="3491097" cy="4189412"/>
          </a:xfrm>
        </p:spPr>
        <p:txBody>
          <a:bodyPr anchor="ctr" anchorCtr="0"/>
          <a:lstStyle>
            <a:lvl1pPr>
              <a:buClr>
                <a:srgbClr val="C4122F"/>
              </a:buClr>
              <a:defRPr/>
            </a:lvl1pPr>
            <a:lvl2pPr>
              <a:buClr>
                <a:srgbClr val="C4122F"/>
              </a:buClr>
              <a:defRPr/>
            </a:lvl2pPr>
            <a:lvl3pPr>
              <a:buClr>
                <a:srgbClr val="C4122F"/>
              </a:buClr>
              <a:defRPr/>
            </a:lvl3pPr>
            <a:lvl4pPr>
              <a:buClr>
                <a:srgbClr val="C4122F"/>
              </a:buClr>
              <a:defRPr/>
            </a:lvl4pPr>
            <a:lvl5pPr>
              <a:buClr>
                <a:srgbClr val="C4122F"/>
              </a:buClr>
              <a:defRPr/>
            </a:lvl5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dirty="0"/>
          </a:p>
        </p:txBody>
      </p:sp>
      <p:sp>
        <p:nvSpPr>
          <p:cNvPr id="19" name="Picture Placeholder 11">
            <a:extLst>
              <a:ext uri="{FF2B5EF4-FFF2-40B4-BE49-F238E27FC236}">
                <a16:creationId xmlns:a16="http://schemas.microsoft.com/office/drawing/2014/main" id="{951C2A1F-7537-C4F1-6B37-08D509AD72E4}"/>
              </a:ext>
            </a:extLst>
          </p:cNvPr>
          <p:cNvSpPr>
            <a:spLocks noGrp="1"/>
          </p:cNvSpPr>
          <p:nvPr>
            <p:ph type="pic" sz="quarter" idx="10"/>
          </p:nvPr>
        </p:nvSpPr>
        <p:spPr>
          <a:xfrm>
            <a:off x="4263325" y="1799550"/>
            <a:ext cx="3578225" cy="2012950"/>
          </a:xfrm>
        </p:spPr>
        <p:txBody>
          <a:bodyPr/>
          <a:lstStyle/>
          <a:p>
            <a:endParaRPr lang="en-US"/>
          </a:p>
        </p:txBody>
      </p:sp>
      <p:sp>
        <p:nvSpPr>
          <p:cNvPr id="20" name="Picture Placeholder 11">
            <a:extLst>
              <a:ext uri="{FF2B5EF4-FFF2-40B4-BE49-F238E27FC236}">
                <a16:creationId xmlns:a16="http://schemas.microsoft.com/office/drawing/2014/main" id="{92441D67-6FBE-E495-29AB-89B669EEECE6}"/>
              </a:ext>
            </a:extLst>
          </p:cNvPr>
          <p:cNvSpPr>
            <a:spLocks noGrp="1"/>
          </p:cNvSpPr>
          <p:nvPr>
            <p:ph type="pic" sz="quarter" idx="11"/>
          </p:nvPr>
        </p:nvSpPr>
        <p:spPr>
          <a:xfrm>
            <a:off x="4263322" y="3975484"/>
            <a:ext cx="3578225" cy="2012950"/>
          </a:xfrm>
        </p:spPr>
        <p:txBody>
          <a:bodyPr/>
          <a:lstStyle/>
          <a:p>
            <a:endParaRPr lang="en-US"/>
          </a:p>
        </p:txBody>
      </p:sp>
      <p:sp>
        <p:nvSpPr>
          <p:cNvPr id="21" name="Picture Placeholder 11">
            <a:extLst>
              <a:ext uri="{FF2B5EF4-FFF2-40B4-BE49-F238E27FC236}">
                <a16:creationId xmlns:a16="http://schemas.microsoft.com/office/drawing/2014/main" id="{EF4467BA-E9BA-5857-EAD9-76EDE888A9BB}"/>
              </a:ext>
            </a:extLst>
          </p:cNvPr>
          <p:cNvSpPr>
            <a:spLocks noGrp="1"/>
          </p:cNvSpPr>
          <p:nvPr>
            <p:ph type="pic" sz="quarter" idx="12"/>
          </p:nvPr>
        </p:nvSpPr>
        <p:spPr>
          <a:xfrm>
            <a:off x="8004175" y="1795464"/>
            <a:ext cx="3578225" cy="2012950"/>
          </a:xfrm>
        </p:spPr>
        <p:txBody>
          <a:bodyPr/>
          <a:lstStyle/>
          <a:p>
            <a:endParaRPr lang="en-US"/>
          </a:p>
        </p:txBody>
      </p:sp>
      <p:sp>
        <p:nvSpPr>
          <p:cNvPr id="22" name="Picture Placeholder 11">
            <a:extLst>
              <a:ext uri="{FF2B5EF4-FFF2-40B4-BE49-F238E27FC236}">
                <a16:creationId xmlns:a16="http://schemas.microsoft.com/office/drawing/2014/main" id="{EEE304F3-E1CB-FB4B-9A38-A4949DB383CE}"/>
              </a:ext>
            </a:extLst>
          </p:cNvPr>
          <p:cNvSpPr>
            <a:spLocks noGrp="1"/>
          </p:cNvSpPr>
          <p:nvPr>
            <p:ph type="pic" sz="quarter" idx="13"/>
          </p:nvPr>
        </p:nvSpPr>
        <p:spPr>
          <a:xfrm>
            <a:off x="8004172" y="3971398"/>
            <a:ext cx="3578225" cy="2012950"/>
          </a:xfrm>
        </p:spPr>
        <p:txBody>
          <a:bodyPr/>
          <a:lstStyle/>
          <a:p>
            <a:endParaRPr lang="en-US"/>
          </a:p>
        </p:txBody>
      </p:sp>
    </p:spTree>
    <p:extLst>
      <p:ext uri="{BB962C8B-B14F-4D97-AF65-F5344CB8AC3E}">
        <p14:creationId xmlns:p14="http://schemas.microsoft.com/office/powerpoint/2010/main" val="4205145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13" name="Rectangle 13"/>
          <p:cNvSpPr>
            <a:spLocks noGrp="1"/>
          </p:cNvSpPr>
          <p:nvPr>
            <p:ph type="title"/>
          </p:nvPr>
        </p:nvSpPr>
        <p:spPr>
          <a:xfrm>
            <a:off x="609600" y="351367"/>
            <a:ext cx="10972800" cy="800100"/>
          </a:xfrm>
        </p:spPr>
        <p:txBody>
          <a:bodyPr anchor="b" anchorCtr="0"/>
          <a:lstStyle/>
          <a:p>
            <a:r>
              <a:rPr lang="en-US" noProof="1"/>
              <a:t>Click to edit Master title style</a:t>
            </a:r>
            <a:endParaRPr lang="en-US"/>
          </a:p>
        </p:txBody>
      </p:sp>
      <p:sp>
        <p:nvSpPr>
          <p:cNvPr id="14" name="Rectangle 6"/>
          <p:cNvSpPr>
            <a:spLocks noGrp="1"/>
          </p:cNvSpPr>
          <p:nvPr>
            <p:ph idx="1"/>
          </p:nvPr>
        </p:nvSpPr>
        <p:spPr>
          <a:xfrm>
            <a:off x="8091303" y="1795464"/>
            <a:ext cx="3491097" cy="4189412"/>
          </a:xfrm>
        </p:spPr>
        <p:txBody>
          <a:bodyPr anchor="ctr" anchorCtr="0"/>
          <a:lstStyle>
            <a:lvl1pPr>
              <a:buClr>
                <a:srgbClr val="C4122F"/>
              </a:buClr>
              <a:defRPr/>
            </a:lvl1pPr>
            <a:lvl2pPr>
              <a:buClr>
                <a:srgbClr val="C4122F"/>
              </a:buClr>
              <a:defRPr/>
            </a:lvl2pPr>
            <a:lvl3pPr>
              <a:buClr>
                <a:srgbClr val="C4122F"/>
              </a:buClr>
              <a:defRPr/>
            </a:lvl3pPr>
            <a:lvl4pPr>
              <a:buClr>
                <a:srgbClr val="C4122F"/>
              </a:buClr>
              <a:defRPr/>
            </a:lvl4pPr>
            <a:lvl5pPr>
              <a:buClr>
                <a:srgbClr val="C4122F"/>
              </a:buClr>
              <a:defRPr/>
            </a:lvl5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dirty="0"/>
          </a:p>
        </p:txBody>
      </p:sp>
      <p:sp>
        <p:nvSpPr>
          <p:cNvPr id="19" name="Picture Placeholder 11">
            <a:extLst>
              <a:ext uri="{FF2B5EF4-FFF2-40B4-BE49-F238E27FC236}">
                <a16:creationId xmlns:a16="http://schemas.microsoft.com/office/drawing/2014/main" id="{951C2A1F-7537-C4F1-6B37-08D509AD72E4}"/>
              </a:ext>
            </a:extLst>
          </p:cNvPr>
          <p:cNvSpPr>
            <a:spLocks noGrp="1"/>
          </p:cNvSpPr>
          <p:nvPr>
            <p:ph type="pic" sz="quarter" idx="10"/>
          </p:nvPr>
        </p:nvSpPr>
        <p:spPr>
          <a:xfrm>
            <a:off x="609603" y="1799550"/>
            <a:ext cx="3578225" cy="2012950"/>
          </a:xfrm>
        </p:spPr>
        <p:txBody>
          <a:bodyPr/>
          <a:lstStyle/>
          <a:p>
            <a:endParaRPr lang="en-US"/>
          </a:p>
        </p:txBody>
      </p:sp>
      <p:sp>
        <p:nvSpPr>
          <p:cNvPr id="20" name="Picture Placeholder 11">
            <a:extLst>
              <a:ext uri="{FF2B5EF4-FFF2-40B4-BE49-F238E27FC236}">
                <a16:creationId xmlns:a16="http://schemas.microsoft.com/office/drawing/2014/main" id="{92441D67-6FBE-E495-29AB-89B669EEECE6}"/>
              </a:ext>
            </a:extLst>
          </p:cNvPr>
          <p:cNvSpPr>
            <a:spLocks noGrp="1"/>
          </p:cNvSpPr>
          <p:nvPr>
            <p:ph type="pic" sz="quarter" idx="11"/>
          </p:nvPr>
        </p:nvSpPr>
        <p:spPr>
          <a:xfrm>
            <a:off x="609600" y="3975484"/>
            <a:ext cx="3578225" cy="2012950"/>
          </a:xfrm>
        </p:spPr>
        <p:txBody>
          <a:bodyPr/>
          <a:lstStyle/>
          <a:p>
            <a:endParaRPr lang="en-US"/>
          </a:p>
        </p:txBody>
      </p:sp>
      <p:sp>
        <p:nvSpPr>
          <p:cNvPr id="21" name="Picture Placeholder 11">
            <a:extLst>
              <a:ext uri="{FF2B5EF4-FFF2-40B4-BE49-F238E27FC236}">
                <a16:creationId xmlns:a16="http://schemas.microsoft.com/office/drawing/2014/main" id="{EF4467BA-E9BA-5857-EAD9-76EDE888A9BB}"/>
              </a:ext>
            </a:extLst>
          </p:cNvPr>
          <p:cNvSpPr>
            <a:spLocks noGrp="1"/>
          </p:cNvSpPr>
          <p:nvPr>
            <p:ph type="pic" sz="quarter" idx="12"/>
          </p:nvPr>
        </p:nvSpPr>
        <p:spPr>
          <a:xfrm>
            <a:off x="4350453" y="1795464"/>
            <a:ext cx="3578225" cy="2012950"/>
          </a:xfrm>
        </p:spPr>
        <p:txBody>
          <a:bodyPr/>
          <a:lstStyle/>
          <a:p>
            <a:endParaRPr lang="en-US"/>
          </a:p>
        </p:txBody>
      </p:sp>
      <p:sp>
        <p:nvSpPr>
          <p:cNvPr id="22" name="Picture Placeholder 11">
            <a:extLst>
              <a:ext uri="{FF2B5EF4-FFF2-40B4-BE49-F238E27FC236}">
                <a16:creationId xmlns:a16="http://schemas.microsoft.com/office/drawing/2014/main" id="{EEE304F3-E1CB-FB4B-9A38-A4949DB383CE}"/>
              </a:ext>
            </a:extLst>
          </p:cNvPr>
          <p:cNvSpPr>
            <a:spLocks noGrp="1"/>
          </p:cNvSpPr>
          <p:nvPr>
            <p:ph type="pic" sz="quarter" idx="13"/>
          </p:nvPr>
        </p:nvSpPr>
        <p:spPr>
          <a:xfrm>
            <a:off x="4350450" y="3971398"/>
            <a:ext cx="3578225" cy="2012950"/>
          </a:xfrm>
        </p:spPr>
        <p:txBody>
          <a:bodyPr/>
          <a:lstStyle/>
          <a:p>
            <a:endParaRPr lang="en-US"/>
          </a:p>
        </p:txBody>
      </p:sp>
    </p:spTree>
    <p:extLst>
      <p:ext uri="{BB962C8B-B14F-4D97-AF65-F5344CB8AC3E}">
        <p14:creationId xmlns:p14="http://schemas.microsoft.com/office/powerpoint/2010/main" val="4076799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13" name="Rectangle 13"/>
          <p:cNvSpPr>
            <a:spLocks noGrp="1"/>
          </p:cNvSpPr>
          <p:nvPr>
            <p:ph type="title"/>
          </p:nvPr>
        </p:nvSpPr>
        <p:spPr/>
        <p:txBody>
          <a:bodyPr anchor="b" anchorCtr="0"/>
          <a:lstStyle/>
          <a:p>
            <a:r>
              <a:rPr lang="en-US" noProof="1"/>
              <a:t>Click to edit Master title style</a:t>
            </a:r>
            <a:endParaRPr lang="en-US"/>
          </a:p>
        </p:txBody>
      </p:sp>
      <p:sp>
        <p:nvSpPr>
          <p:cNvPr id="14" name="Rectangle 6"/>
          <p:cNvSpPr>
            <a:spLocks noGrp="1"/>
          </p:cNvSpPr>
          <p:nvPr>
            <p:ph idx="1"/>
          </p:nvPr>
        </p:nvSpPr>
        <p:spPr>
          <a:xfrm>
            <a:off x="609600" y="1795464"/>
            <a:ext cx="4141304" cy="4189412"/>
          </a:xfrm>
        </p:spPr>
        <p:txBody>
          <a:bodyPr anchor="ctr" anchorCtr="0"/>
          <a:lstStyle>
            <a:lvl1pPr>
              <a:buClr>
                <a:srgbClr val="C4122F"/>
              </a:buClr>
              <a:defRPr/>
            </a:lvl1pPr>
            <a:lvl2pPr>
              <a:buClr>
                <a:srgbClr val="C4122F"/>
              </a:buClr>
              <a:defRPr/>
            </a:lvl2pPr>
            <a:lvl3pPr>
              <a:buClr>
                <a:srgbClr val="C4122F"/>
              </a:buClr>
              <a:defRPr/>
            </a:lvl3pPr>
            <a:lvl4pPr>
              <a:buClr>
                <a:srgbClr val="C4122F"/>
              </a:buClr>
              <a:defRPr/>
            </a:lvl4pPr>
            <a:lvl5pPr>
              <a:buClr>
                <a:srgbClr val="C4122F"/>
              </a:buClr>
              <a:defRPr/>
            </a:lvl5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dirty="0"/>
          </a:p>
        </p:txBody>
      </p:sp>
      <p:sp>
        <p:nvSpPr>
          <p:cNvPr id="6" name="Picture Placeholder 4">
            <a:extLst>
              <a:ext uri="{FF2B5EF4-FFF2-40B4-BE49-F238E27FC236}">
                <a16:creationId xmlns:a16="http://schemas.microsoft.com/office/drawing/2014/main" id="{47B081FF-3E29-3D08-F3F2-FAADD0528EAA}"/>
              </a:ext>
            </a:extLst>
          </p:cNvPr>
          <p:cNvSpPr>
            <a:spLocks noGrp="1"/>
          </p:cNvSpPr>
          <p:nvPr>
            <p:ph type="pic" sz="quarter" idx="10"/>
          </p:nvPr>
        </p:nvSpPr>
        <p:spPr>
          <a:xfrm>
            <a:off x="5119688" y="1795463"/>
            <a:ext cx="6462712" cy="4189412"/>
          </a:xfrm>
        </p:spPr>
        <p:txBody>
          <a:bodyPr/>
          <a:lstStyle/>
          <a:p>
            <a:endParaRPr lang="en-US"/>
          </a:p>
        </p:txBody>
      </p:sp>
    </p:spTree>
    <p:extLst>
      <p:ext uri="{BB962C8B-B14F-4D97-AF65-F5344CB8AC3E}">
        <p14:creationId xmlns:p14="http://schemas.microsoft.com/office/powerpoint/2010/main" val="3940525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13" name="Rectangle 13"/>
          <p:cNvSpPr>
            <a:spLocks noGrp="1"/>
          </p:cNvSpPr>
          <p:nvPr>
            <p:ph type="title"/>
          </p:nvPr>
        </p:nvSpPr>
        <p:spPr/>
        <p:txBody>
          <a:bodyPr anchor="b" anchorCtr="0"/>
          <a:lstStyle/>
          <a:p>
            <a:r>
              <a:rPr lang="en-US" noProof="1"/>
              <a:t>Click to edit Master title style</a:t>
            </a:r>
            <a:endParaRPr lang="en-US"/>
          </a:p>
        </p:txBody>
      </p:sp>
      <p:sp>
        <p:nvSpPr>
          <p:cNvPr id="14" name="Rectangle 6"/>
          <p:cNvSpPr>
            <a:spLocks noGrp="1"/>
          </p:cNvSpPr>
          <p:nvPr>
            <p:ph idx="1"/>
          </p:nvPr>
        </p:nvSpPr>
        <p:spPr>
          <a:xfrm>
            <a:off x="609600" y="1795464"/>
            <a:ext cx="4141304" cy="4189412"/>
          </a:xfrm>
        </p:spPr>
        <p:txBody>
          <a:bodyPr anchor="ctr" anchorCtr="0"/>
          <a:lstStyle>
            <a:lvl1pPr>
              <a:buClr>
                <a:srgbClr val="C4122F"/>
              </a:buClr>
              <a:defRPr/>
            </a:lvl1pPr>
            <a:lvl2pPr>
              <a:buClr>
                <a:srgbClr val="C4122F"/>
              </a:buClr>
              <a:defRPr/>
            </a:lvl2pPr>
            <a:lvl3pPr>
              <a:buClr>
                <a:srgbClr val="C4122F"/>
              </a:buClr>
              <a:defRPr/>
            </a:lvl3pPr>
            <a:lvl4pPr>
              <a:buClr>
                <a:srgbClr val="C4122F"/>
              </a:buClr>
              <a:defRPr/>
            </a:lvl4pPr>
            <a:lvl5pPr>
              <a:buClr>
                <a:srgbClr val="C4122F"/>
              </a:buClr>
              <a:defRPr/>
            </a:lvl5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dirty="0"/>
          </a:p>
        </p:txBody>
      </p:sp>
      <p:sp>
        <p:nvSpPr>
          <p:cNvPr id="4" name="Chart Placeholder 2">
            <a:extLst>
              <a:ext uri="{FF2B5EF4-FFF2-40B4-BE49-F238E27FC236}">
                <a16:creationId xmlns:a16="http://schemas.microsoft.com/office/drawing/2014/main" id="{6A0E3AFB-EF36-B596-ECF7-DB02E81A9E3B}"/>
              </a:ext>
            </a:extLst>
          </p:cNvPr>
          <p:cNvSpPr>
            <a:spLocks noGrp="1"/>
          </p:cNvSpPr>
          <p:nvPr>
            <p:ph type="chart" sz="quarter" idx="11"/>
          </p:nvPr>
        </p:nvSpPr>
        <p:spPr>
          <a:xfrm>
            <a:off x="5119688" y="1795463"/>
            <a:ext cx="6462712" cy="4189412"/>
          </a:xfrm>
        </p:spPr>
        <p:txBody>
          <a:bodyPr/>
          <a:lstStyle/>
          <a:p>
            <a:endParaRPr lang="en-US"/>
          </a:p>
        </p:txBody>
      </p:sp>
    </p:spTree>
    <p:extLst>
      <p:ext uri="{BB962C8B-B14F-4D97-AF65-F5344CB8AC3E}">
        <p14:creationId xmlns:p14="http://schemas.microsoft.com/office/powerpoint/2010/main" val="192888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3" name="Rectangle 13"/>
          <p:cNvSpPr>
            <a:spLocks noGrp="1"/>
          </p:cNvSpPr>
          <p:nvPr>
            <p:ph type="title"/>
          </p:nvPr>
        </p:nvSpPr>
        <p:spPr/>
        <p:txBody>
          <a:bodyPr anchor="b" anchorCtr="0"/>
          <a:lstStyle/>
          <a:p>
            <a:r>
              <a:rPr lang="en-US" noProof="1"/>
              <a:t>Click to edit Master title style</a:t>
            </a:r>
            <a:endParaRPr lang="en-US"/>
          </a:p>
        </p:txBody>
      </p:sp>
      <p:sp>
        <p:nvSpPr>
          <p:cNvPr id="14" name="Rectangle 6"/>
          <p:cNvSpPr>
            <a:spLocks noGrp="1"/>
          </p:cNvSpPr>
          <p:nvPr>
            <p:ph idx="1"/>
          </p:nvPr>
        </p:nvSpPr>
        <p:spPr>
          <a:xfrm>
            <a:off x="7441096" y="1795464"/>
            <a:ext cx="4141304" cy="4189412"/>
          </a:xfrm>
        </p:spPr>
        <p:txBody>
          <a:bodyPr anchor="ctr" anchorCtr="0"/>
          <a:lstStyle>
            <a:lvl1pPr>
              <a:buClr>
                <a:srgbClr val="C4122F"/>
              </a:buClr>
              <a:defRPr/>
            </a:lvl1pPr>
            <a:lvl2pPr>
              <a:buClr>
                <a:srgbClr val="C4122F"/>
              </a:buClr>
              <a:defRPr/>
            </a:lvl2pPr>
            <a:lvl3pPr>
              <a:buClr>
                <a:srgbClr val="C4122F"/>
              </a:buClr>
              <a:defRPr/>
            </a:lvl3pPr>
            <a:lvl4pPr>
              <a:buClr>
                <a:srgbClr val="C4122F"/>
              </a:buClr>
              <a:defRPr/>
            </a:lvl4pPr>
            <a:lvl5pPr>
              <a:buClr>
                <a:srgbClr val="C4122F"/>
              </a:buClr>
              <a:defRPr/>
            </a:lvl5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dirty="0"/>
          </a:p>
        </p:txBody>
      </p:sp>
      <p:sp>
        <p:nvSpPr>
          <p:cNvPr id="6" name="Picture Placeholder 4">
            <a:extLst>
              <a:ext uri="{FF2B5EF4-FFF2-40B4-BE49-F238E27FC236}">
                <a16:creationId xmlns:a16="http://schemas.microsoft.com/office/drawing/2014/main" id="{47B081FF-3E29-3D08-F3F2-FAADD0528EAA}"/>
              </a:ext>
            </a:extLst>
          </p:cNvPr>
          <p:cNvSpPr>
            <a:spLocks noGrp="1"/>
          </p:cNvSpPr>
          <p:nvPr>
            <p:ph type="pic" sz="quarter" idx="10"/>
          </p:nvPr>
        </p:nvSpPr>
        <p:spPr>
          <a:xfrm>
            <a:off x="609600" y="1795463"/>
            <a:ext cx="6462712" cy="4189412"/>
          </a:xfrm>
        </p:spPr>
        <p:txBody>
          <a:bodyPr/>
          <a:lstStyle/>
          <a:p>
            <a:endParaRPr lang="en-US"/>
          </a:p>
        </p:txBody>
      </p:sp>
    </p:spTree>
    <p:extLst>
      <p:ext uri="{BB962C8B-B14F-4D97-AF65-F5344CB8AC3E}">
        <p14:creationId xmlns:p14="http://schemas.microsoft.com/office/powerpoint/2010/main" val="3725992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527048"/>
            <a:ext cx="5283200" cy="4495800"/>
          </a:xfrm>
        </p:spPr>
        <p:txBody>
          <a:bodyPr>
            <a:normAutofit/>
          </a:bodyPr>
          <a:lstStyle>
            <a:lvl1pPr>
              <a:buClr>
                <a:srgbClr val="C4122F"/>
              </a:buClr>
              <a:defRPr sz="2400"/>
            </a:lvl1pPr>
            <a:lvl2pPr>
              <a:buClr>
                <a:srgbClr val="C4122F"/>
              </a:buClr>
              <a:defRPr sz="2000"/>
            </a:lvl2pPr>
            <a:lvl3pPr>
              <a:buClr>
                <a:srgbClr val="C4122F"/>
              </a:buClr>
              <a:defRPr sz="1800"/>
            </a:lvl3pPr>
            <a:lvl4pPr>
              <a:buClr>
                <a:srgbClr val="C4122F"/>
              </a:buClr>
              <a:defRPr sz="1600"/>
            </a:lvl4pPr>
            <a:lvl5pPr>
              <a:buClr>
                <a:srgbClr val="C4122F"/>
              </a:buCl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299202" y="1527048"/>
            <a:ext cx="5283200" cy="4495800"/>
          </a:xfrm>
        </p:spPr>
        <p:txBody>
          <a:bodyPr>
            <a:normAutofit/>
          </a:bodyPr>
          <a:lstStyle>
            <a:lvl1pPr>
              <a:buClr>
                <a:srgbClr val="C4122F"/>
              </a:buClr>
              <a:defRPr sz="2400"/>
            </a:lvl1pPr>
            <a:lvl2pPr>
              <a:buClr>
                <a:srgbClr val="C4122F"/>
              </a:buClr>
              <a:defRPr sz="2000"/>
            </a:lvl2pPr>
            <a:lvl3pPr>
              <a:buClr>
                <a:srgbClr val="C4122F"/>
              </a:buClr>
              <a:defRPr sz="1800"/>
            </a:lvl3pPr>
            <a:lvl4pPr>
              <a:buClr>
                <a:srgbClr val="C4122F"/>
              </a:buClr>
              <a:defRPr sz="1600"/>
            </a:lvl4pPr>
            <a:lvl5pPr>
              <a:buClr>
                <a:srgbClr val="C4122F"/>
              </a:buCl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lnSpc>
                <a:spcPts val="3800"/>
              </a:lnSpc>
              <a:defRPr/>
            </a:lvl1pPr>
          </a:lstStyle>
          <a:p>
            <a:r>
              <a:rPr lang="en-US" dirty="0"/>
              <a:t>Click to edit Master title style</a:t>
            </a:r>
            <a:br>
              <a:rPr lang="en-US" dirty="0"/>
            </a:br>
            <a:r>
              <a:rPr lang="en-US" dirty="0" err="1"/>
              <a:t>ghghghg</a:t>
            </a:r>
            <a:endParaRPr lang="en-US" dirty="0"/>
          </a:p>
        </p:txBody>
      </p:sp>
      <p:sp>
        <p:nvSpPr>
          <p:cNvPr id="36" name="Picture Placeholder 29">
            <a:extLst>
              <a:ext uri="{FF2B5EF4-FFF2-40B4-BE49-F238E27FC236}">
                <a16:creationId xmlns:a16="http://schemas.microsoft.com/office/drawing/2014/main" id="{5244BC53-C119-4F58-759C-4315A0FAAA39}"/>
              </a:ext>
            </a:extLst>
          </p:cNvPr>
          <p:cNvSpPr>
            <a:spLocks noGrp="1"/>
          </p:cNvSpPr>
          <p:nvPr>
            <p:ph type="pic" sz="quarter" idx="10"/>
          </p:nvPr>
        </p:nvSpPr>
        <p:spPr>
          <a:xfrm>
            <a:off x="609600" y="1798655"/>
            <a:ext cx="3560461" cy="2009669"/>
          </a:xfrm>
        </p:spPr>
        <p:txBody>
          <a:bodyPr/>
          <a:lstStyle/>
          <a:p>
            <a:endParaRPr lang="en-US"/>
          </a:p>
        </p:txBody>
      </p:sp>
      <p:sp>
        <p:nvSpPr>
          <p:cNvPr id="37" name="Picture Placeholder 29">
            <a:extLst>
              <a:ext uri="{FF2B5EF4-FFF2-40B4-BE49-F238E27FC236}">
                <a16:creationId xmlns:a16="http://schemas.microsoft.com/office/drawing/2014/main" id="{A49D9818-2411-344C-A56B-875F98535DE9}"/>
              </a:ext>
            </a:extLst>
          </p:cNvPr>
          <p:cNvSpPr>
            <a:spLocks noGrp="1"/>
          </p:cNvSpPr>
          <p:nvPr>
            <p:ph type="pic" sz="quarter" idx="11"/>
          </p:nvPr>
        </p:nvSpPr>
        <p:spPr>
          <a:xfrm>
            <a:off x="609599" y="3971259"/>
            <a:ext cx="3560461" cy="2009669"/>
          </a:xfrm>
        </p:spPr>
        <p:txBody>
          <a:bodyPr/>
          <a:lstStyle/>
          <a:p>
            <a:endParaRPr lang="en-US"/>
          </a:p>
        </p:txBody>
      </p:sp>
      <p:sp>
        <p:nvSpPr>
          <p:cNvPr id="38" name="Picture Placeholder 29">
            <a:extLst>
              <a:ext uri="{FF2B5EF4-FFF2-40B4-BE49-F238E27FC236}">
                <a16:creationId xmlns:a16="http://schemas.microsoft.com/office/drawing/2014/main" id="{29DEAC6C-0B95-082C-AE64-4DB58BBA1ACE}"/>
              </a:ext>
            </a:extLst>
          </p:cNvPr>
          <p:cNvSpPr>
            <a:spLocks noGrp="1"/>
          </p:cNvSpPr>
          <p:nvPr>
            <p:ph type="pic" sz="quarter" idx="12"/>
          </p:nvPr>
        </p:nvSpPr>
        <p:spPr>
          <a:xfrm>
            <a:off x="4315769" y="1798655"/>
            <a:ext cx="3560461" cy="2009669"/>
          </a:xfrm>
        </p:spPr>
        <p:txBody>
          <a:bodyPr/>
          <a:lstStyle/>
          <a:p>
            <a:endParaRPr lang="en-US"/>
          </a:p>
        </p:txBody>
      </p:sp>
      <p:sp>
        <p:nvSpPr>
          <p:cNvPr id="39" name="Picture Placeholder 29">
            <a:extLst>
              <a:ext uri="{FF2B5EF4-FFF2-40B4-BE49-F238E27FC236}">
                <a16:creationId xmlns:a16="http://schemas.microsoft.com/office/drawing/2014/main" id="{563B06A4-C363-484C-CF9B-67A85842D4C8}"/>
              </a:ext>
            </a:extLst>
          </p:cNvPr>
          <p:cNvSpPr>
            <a:spLocks noGrp="1"/>
          </p:cNvSpPr>
          <p:nvPr>
            <p:ph type="pic" sz="quarter" idx="13"/>
          </p:nvPr>
        </p:nvSpPr>
        <p:spPr>
          <a:xfrm>
            <a:off x="4315768" y="3971259"/>
            <a:ext cx="3560461" cy="2009669"/>
          </a:xfrm>
        </p:spPr>
        <p:txBody>
          <a:bodyPr/>
          <a:lstStyle/>
          <a:p>
            <a:endParaRPr lang="en-US"/>
          </a:p>
        </p:txBody>
      </p:sp>
      <p:sp>
        <p:nvSpPr>
          <p:cNvPr id="40" name="Picture Placeholder 29">
            <a:extLst>
              <a:ext uri="{FF2B5EF4-FFF2-40B4-BE49-F238E27FC236}">
                <a16:creationId xmlns:a16="http://schemas.microsoft.com/office/drawing/2014/main" id="{6A31F244-4234-8398-1A92-815E5A2CE893}"/>
              </a:ext>
            </a:extLst>
          </p:cNvPr>
          <p:cNvSpPr>
            <a:spLocks noGrp="1"/>
          </p:cNvSpPr>
          <p:nvPr>
            <p:ph type="pic" sz="quarter" idx="14"/>
          </p:nvPr>
        </p:nvSpPr>
        <p:spPr>
          <a:xfrm>
            <a:off x="8021940" y="1798655"/>
            <a:ext cx="3560461" cy="2009669"/>
          </a:xfrm>
        </p:spPr>
        <p:txBody>
          <a:bodyPr/>
          <a:lstStyle/>
          <a:p>
            <a:endParaRPr lang="en-US"/>
          </a:p>
        </p:txBody>
      </p:sp>
      <p:sp>
        <p:nvSpPr>
          <p:cNvPr id="41" name="Picture Placeholder 29">
            <a:extLst>
              <a:ext uri="{FF2B5EF4-FFF2-40B4-BE49-F238E27FC236}">
                <a16:creationId xmlns:a16="http://schemas.microsoft.com/office/drawing/2014/main" id="{A98A7173-01A5-7FE9-3F9D-EB7D34B47BE4}"/>
              </a:ext>
            </a:extLst>
          </p:cNvPr>
          <p:cNvSpPr>
            <a:spLocks noGrp="1"/>
          </p:cNvSpPr>
          <p:nvPr>
            <p:ph type="pic" sz="quarter" idx="15"/>
          </p:nvPr>
        </p:nvSpPr>
        <p:spPr>
          <a:xfrm>
            <a:off x="8021939" y="3971259"/>
            <a:ext cx="3560461" cy="2009669"/>
          </a:xfrm>
        </p:spPr>
        <p:txBody>
          <a:bodyPr/>
          <a:lstStyle/>
          <a:p>
            <a:endParaRPr lang="en-US"/>
          </a:p>
        </p:txBody>
      </p:sp>
    </p:spTree>
    <p:extLst>
      <p:ext uri="{BB962C8B-B14F-4D97-AF65-F5344CB8AC3E}">
        <p14:creationId xmlns:p14="http://schemas.microsoft.com/office/powerpoint/2010/main" val="519418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3">
            <a:extLst>
              <a:ext uri="{FF2B5EF4-FFF2-40B4-BE49-F238E27FC236}">
                <a16:creationId xmlns:a16="http://schemas.microsoft.com/office/drawing/2014/main" id="{F515B657-5011-7715-8F0C-0D7032BCB695}"/>
              </a:ext>
            </a:extLst>
          </p:cNvPr>
          <p:cNvSpPr>
            <a:spLocks noGrp="1"/>
          </p:cNvSpPr>
          <p:nvPr>
            <p:ph type="tbl" sz="quarter" idx="16"/>
          </p:nvPr>
        </p:nvSpPr>
        <p:spPr>
          <a:xfrm>
            <a:off x="609599" y="1798638"/>
            <a:ext cx="10972801" cy="4183062"/>
          </a:xfrm>
        </p:spPr>
        <p:txBody>
          <a:bodyPr/>
          <a:lstStyle/>
          <a:p>
            <a:endParaRPr lang="en-US"/>
          </a:p>
        </p:txBody>
      </p:sp>
    </p:spTree>
    <p:extLst>
      <p:ext uri="{BB962C8B-B14F-4D97-AF65-F5344CB8AC3E}">
        <p14:creationId xmlns:p14="http://schemas.microsoft.com/office/powerpoint/2010/main" val="104269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6" name="Picture Placeholder 29">
            <a:extLst>
              <a:ext uri="{FF2B5EF4-FFF2-40B4-BE49-F238E27FC236}">
                <a16:creationId xmlns:a16="http://schemas.microsoft.com/office/drawing/2014/main" id="{5244BC53-C119-4F58-759C-4315A0FAAA39}"/>
              </a:ext>
            </a:extLst>
          </p:cNvPr>
          <p:cNvSpPr>
            <a:spLocks noGrp="1"/>
          </p:cNvSpPr>
          <p:nvPr>
            <p:ph type="pic" sz="quarter" idx="10"/>
          </p:nvPr>
        </p:nvSpPr>
        <p:spPr>
          <a:xfrm>
            <a:off x="609600" y="1798654"/>
            <a:ext cx="3560461" cy="3558535"/>
          </a:xfrm>
        </p:spPr>
        <p:txBody>
          <a:bodyPr/>
          <a:lstStyle/>
          <a:p>
            <a:endParaRPr lang="en-US" dirty="0"/>
          </a:p>
        </p:txBody>
      </p:sp>
      <p:sp>
        <p:nvSpPr>
          <p:cNvPr id="38" name="Picture Placeholder 29">
            <a:extLst>
              <a:ext uri="{FF2B5EF4-FFF2-40B4-BE49-F238E27FC236}">
                <a16:creationId xmlns:a16="http://schemas.microsoft.com/office/drawing/2014/main" id="{29DEAC6C-0B95-082C-AE64-4DB58BBA1ACE}"/>
              </a:ext>
            </a:extLst>
          </p:cNvPr>
          <p:cNvSpPr>
            <a:spLocks noGrp="1"/>
          </p:cNvSpPr>
          <p:nvPr>
            <p:ph type="pic" sz="quarter" idx="12"/>
          </p:nvPr>
        </p:nvSpPr>
        <p:spPr>
          <a:xfrm>
            <a:off x="4315769" y="1798655"/>
            <a:ext cx="3560461" cy="3558536"/>
          </a:xfrm>
        </p:spPr>
        <p:txBody>
          <a:bodyPr/>
          <a:lstStyle/>
          <a:p>
            <a:endParaRPr lang="en-US"/>
          </a:p>
        </p:txBody>
      </p:sp>
      <p:sp>
        <p:nvSpPr>
          <p:cNvPr id="40" name="Picture Placeholder 29">
            <a:extLst>
              <a:ext uri="{FF2B5EF4-FFF2-40B4-BE49-F238E27FC236}">
                <a16:creationId xmlns:a16="http://schemas.microsoft.com/office/drawing/2014/main" id="{6A31F244-4234-8398-1A92-815E5A2CE893}"/>
              </a:ext>
            </a:extLst>
          </p:cNvPr>
          <p:cNvSpPr>
            <a:spLocks noGrp="1"/>
          </p:cNvSpPr>
          <p:nvPr>
            <p:ph type="pic" sz="quarter" idx="14"/>
          </p:nvPr>
        </p:nvSpPr>
        <p:spPr>
          <a:xfrm>
            <a:off x="8021940" y="1798655"/>
            <a:ext cx="3560461" cy="3558536"/>
          </a:xfrm>
        </p:spPr>
        <p:txBody>
          <a:bodyPr/>
          <a:lstStyle/>
          <a:p>
            <a:endParaRPr lang="en-US"/>
          </a:p>
        </p:txBody>
      </p:sp>
      <p:sp>
        <p:nvSpPr>
          <p:cNvPr id="4" name="Text Placeholder 3">
            <a:extLst>
              <a:ext uri="{FF2B5EF4-FFF2-40B4-BE49-F238E27FC236}">
                <a16:creationId xmlns:a16="http://schemas.microsoft.com/office/drawing/2014/main" id="{EFD57F27-E780-1D1A-2235-3359A9AD23EE}"/>
              </a:ext>
            </a:extLst>
          </p:cNvPr>
          <p:cNvSpPr>
            <a:spLocks noGrp="1"/>
          </p:cNvSpPr>
          <p:nvPr>
            <p:ph type="body" sz="quarter" idx="16"/>
          </p:nvPr>
        </p:nvSpPr>
        <p:spPr>
          <a:xfrm>
            <a:off x="609597" y="5396947"/>
            <a:ext cx="3560461" cy="693312"/>
          </a:xfrm>
        </p:spPr>
        <p:txBody>
          <a:bodyPr>
            <a:noAutofit/>
          </a:bodyPr>
          <a:lstStyle>
            <a:lvl1pPr marL="0" indent="0" algn="ctr">
              <a:buNone/>
              <a:defRPr sz="1600"/>
            </a:lvl1pPr>
            <a:lvl2pPr marL="320040" indent="0" algn="ctr">
              <a:buNone/>
              <a:defRPr sz="1400"/>
            </a:lvl2pPr>
            <a:lvl3pPr marL="640080" indent="0" algn="ctr">
              <a:buNone/>
              <a:defRPr sz="1400"/>
            </a:lvl3pPr>
            <a:lvl4pPr marL="914400" indent="0" algn="ctr">
              <a:buNone/>
              <a:defRPr sz="1400"/>
            </a:lvl4pPr>
            <a:lvl5pPr marL="1143000" indent="0" algn="ctr">
              <a:buNone/>
              <a:defRPr sz="1400"/>
            </a:lvl5pPr>
          </a:lstStyle>
          <a:p>
            <a:pPr lvl="0"/>
            <a:r>
              <a:rPr lang="en-US" dirty="0"/>
              <a:t>Click to edit Master text</a:t>
            </a:r>
          </a:p>
        </p:txBody>
      </p:sp>
      <p:sp>
        <p:nvSpPr>
          <p:cNvPr id="6" name="TextBox 5">
            <a:extLst>
              <a:ext uri="{FF2B5EF4-FFF2-40B4-BE49-F238E27FC236}">
                <a16:creationId xmlns:a16="http://schemas.microsoft.com/office/drawing/2014/main" id="{48C3F6AF-61A0-8B1C-2E91-A2C94FBCE73C}"/>
              </a:ext>
            </a:extLst>
          </p:cNvPr>
          <p:cNvSpPr txBox="1"/>
          <p:nvPr userDrawn="1"/>
        </p:nvSpPr>
        <p:spPr>
          <a:xfrm>
            <a:off x="5327374" y="5396947"/>
            <a:ext cx="0" cy="0"/>
          </a:xfrm>
          <a:prstGeom prst="rect">
            <a:avLst/>
          </a:prstGeom>
          <a:noFill/>
        </p:spPr>
        <p:txBody>
          <a:bodyPr wrap="none" rtlCol="0">
            <a:noAutofit/>
          </a:bodyPr>
          <a:lstStyle/>
          <a:p>
            <a:pPr algn="ctr"/>
            <a:endParaRPr lang="en-US" sz="1600" dirty="0" err="1"/>
          </a:p>
        </p:txBody>
      </p:sp>
      <p:sp>
        <p:nvSpPr>
          <p:cNvPr id="7" name="Text Placeholder 3">
            <a:extLst>
              <a:ext uri="{FF2B5EF4-FFF2-40B4-BE49-F238E27FC236}">
                <a16:creationId xmlns:a16="http://schemas.microsoft.com/office/drawing/2014/main" id="{A23D2F03-3057-A9E9-4126-7CC220620444}"/>
              </a:ext>
            </a:extLst>
          </p:cNvPr>
          <p:cNvSpPr>
            <a:spLocks noGrp="1"/>
          </p:cNvSpPr>
          <p:nvPr>
            <p:ph type="body" sz="quarter" idx="17"/>
          </p:nvPr>
        </p:nvSpPr>
        <p:spPr>
          <a:xfrm>
            <a:off x="4315769" y="5396947"/>
            <a:ext cx="3560461" cy="693312"/>
          </a:xfrm>
        </p:spPr>
        <p:txBody>
          <a:bodyPr>
            <a:noAutofit/>
          </a:bodyPr>
          <a:lstStyle>
            <a:lvl1pPr marL="0" indent="0" algn="ctr">
              <a:buNone/>
              <a:defRPr sz="1600"/>
            </a:lvl1pPr>
            <a:lvl2pPr marL="320040" indent="0" algn="ctr">
              <a:buNone/>
              <a:defRPr sz="1400"/>
            </a:lvl2pPr>
            <a:lvl3pPr marL="640080" indent="0" algn="ctr">
              <a:buNone/>
              <a:defRPr sz="1400"/>
            </a:lvl3pPr>
            <a:lvl4pPr marL="914400" indent="0" algn="ctr">
              <a:buNone/>
              <a:defRPr sz="1400"/>
            </a:lvl4pPr>
            <a:lvl5pPr marL="1143000" indent="0" algn="ctr">
              <a:buNone/>
              <a:defRPr sz="1400"/>
            </a:lvl5pPr>
          </a:lstStyle>
          <a:p>
            <a:pPr lvl="0"/>
            <a:r>
              <a:rPr lang="en-US" dirty="0"/>
              <a:t>Click to edit Master text</a:t>
            </a:r>
          </a:p>
        </p:txBody>
      </p:sp>
      <p:sp>
        <p:nvSpPr>
          <p:cNvPr id="8" name="Text Placeholder 3">
            <a:extLst>
              <a:ext uri="{FF2B5EF4-FFF2-40B4-BE49-F238E27FC236}">
                <a16:creationId xmlns:a16="http://schemas.microsoft.com/office/drawing/2014/main" id="{6A58090A-63C8-ADC3-23D8-A48EFF69A45F}"/>
              </a:ext>
            </a:extLst>
          </p:cNvPr>
          <p:cNvSpPr>
            <a:spLocks noGrp="1"/>
          </p:cNvSpPr>
          <p:nvPr>
            <p:ph type="body" sz="quarter" idx="18"/>
          </p:nvPr>
        </p:nvSpPr>
        <p:spPr>
          <a:xfrm>
            <a:off x="8021939" y="5396947"/>
            <a:ext cx="3560461" cy="693312"/>
          </a:xfrm>
        </p:spPr>
        <p:txBody>
          <a:bodyPr>
            <a:noAutofit/>
          </a:bodyPr>
          <a:lstStyle>
            <a:lvl1pPr marL="0" indent="0" algn="ctr">
              <a:buNone/>
              <a:defRPr sz="1600"/>
            </a:lvl1pPr>
            <a:lvl2pPr marL="320040" indent="0" algn="ctr">
              <a:buNone/>
              <a:defRPr sz="1400"/>
            </a:lvl2pPr>
            <a:lvl3pPr marL="640080" indent="0" algn="ctr">
              <a:buNone/>
              <a:defRPr sz="1400"/>
            </a:lvl3pPr>
            <a:lvl4pPr marL="914400" indent="0" algn="ctr">
              <a:buNone/>
              <a:defRPr sz="1400"/>
            </a:lvl4pPr>
            <a:lvl5pPr marL="1143000" indent="0" algn="ctr">
              <a:buNone/>
              <a:defRPr sz="1400"/>
            </a:lvl5pPr>
          </a:lstStyle>
          <a:p>
            <a:pPr lvl="0"/>
            <a:r>
              <a:rPr lang="en-US" dirty="0"/>
              <a:t>Click to edit Master text</a:t>
            </a:r>
          </a:p>
        </p:txBody>
      </p:sp>
    </p:spTree>
    <p:extLst>
      <p:ext uri="{BB962C8B-B14F-4D97-AF65-F5344CB8AC3E}">
        <p14:creationId xmlns:p14="http://schemas.microsoft.com/office/powerpoint/2010/main" val="15308541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EFD57F27-E780-1D1A-2235-3359A9AD23EE}"/>
              </a:ext>
            </a:extLst>
          </p:cNvPr>
          <p:cNvSpPr>
            <a:spLocks noGrp="1"/>
          </p:cNvSpPr>
          <p:nvPr>
            <p:ph type="body" sz="quarter" idx="16"/>
          </p:nvPr>
        </p:nvSpPr>
        <p:spPr>
          <a:xfrm>
            <a:off x="609597" y="5396947"/>
            <a:ext cx="3560461" cy="693312"/>
          </a:xfrm>
        </p:spPr>
        <p:txBody>
          <a:bodyPr>
            <a:noAutofit/>
          </a:bodyPr>
          <a:lstStyle>
            <a:lvl1pPr marL="0" indent="0" algn="ctr">
              <a:buNone/>
              <a:defRPr sz="1600"/>
            </a:lvl1pPr>
            <a:lvl2pPr marL="320040" indent="0" algn="ctr">
              <a:buNone/>
              <a:defRPr sz="1400"/>
            </a:lvl2pPr>
            <a:lvl3pPr marL="640080" indent="0" algn="ctr">
              <a:buNone/>
              <a:defRPr sz="1400"/>
            </a:lvl3pPr>
            <a:lvl4pPr marL="914400" indent="0" algn="ctr">
              <a:buNone/>
              <a:defRPr sz="1400"/>
            </a:lvl4pPr>
            <a:lvl5pPr marL="1143000" indent="0" algn="ctr">
              <a:buNone/>
              <a:defRPr sz="1400"/>
            </a:lvl5pPr>
          </a:lstStyle>
          <a:p>
            <a:pPr lvl="0"/>
            <a:r>
              <a:rPr lang="en-US" dirty="0"/>
              <a:t>Click to edit Master text</a:t>
            </a:r>
          </a:p>
        </p:txBody>
      </p:sp>
      <p:sp>
        <p:nvSpPr>
          <p:cNvPr id="7" name="Text Placeholder 3">
            <a:extLst>
              <a:ext uri="{FF2B5EF4-FFF2-40B4-BE49-F238E27FC236}">
                <a16:creationId xmlns:a16="http://schemas.microsoft.com/office/drawing/2014/main" id="{A23D2F03-3057-A9E9-4126-7CC220620444}"/>
              </a:ext>
            </a:extLst>
          </p:cNvPr>
          <p:cNvSpPr>
            <a:spLocks noGrp="1"/>
          </p:cNvSpPr>
          <p:nvPr>
            <p:ph type="body" sz="quarter" idx="17"/>
          </p:nvPr>
        </p:nvSpPr>
        <p:spPr>
          <a:xfrm>
            <a:off x="4315769" y="5396947"/>
            <a:ext cx="3560461" cy="693312"/>
          </a:xfrm>
        </p:spPr>
        <p:txBody>
          <a:bodyPr>
            <a:noAutofit/>
          </a:bodyPr>
          <a:lstStyle>
            <a:lvl1pPr marL="0" indent="0" algn="ctr">
              <a:buNone/>
              <a:defRPr sz="1600"/>
            </a:lvl1pPr>
            <a:lvl2pPr marL="320040" indent="0" algn="ctr">
              <a:buNone/>
              <a:defRPr sz="1400"/>
            </a:lvl2pPr>
            <a:lvl3pPr marL="640080" indent="0" algn="ctr">
              <a:buNone/>
              <a:defRPr sz="1400"/>
            </a:lvl3pPr>
            <a:lvl4pPr marL="914400" indent="0" algn="ctr">
              <a:buNone/>
              <a:defRPr sz="1400"/>
            </a:lvl4pPr>
            <a:lvl5pPr marL="1143000" indent="0" algn="ctr">
              <a:buNone/>
              <a:defRPr sz="1400"/>
            </a:lvl5pPr>
          </a:lstStyle>
          <a:p>
            <a:pPr lvl="0"/>
            <a:r>
              <a:rPr lang="en-US" dirty="0"/>
              <a:t>Click to edit Master text</a:t>
            </a:r>
          </a:p>
        </p:txBody>
      </p:sp>
      <p:sp>
        <p:nvSpPr>
          <p:cNvPr id="8" name="Text Placeholder 3">
            <a:extLst>
              <a:ext uri="{FF2B5EF4-FFF2-40B4-BE49-F238E27FC236}">
                <a16:creationId xmlns:a16="http://schemas.microsoft.com/office/drawing/2014/main" id="{6A58090A-63C8-ADC3-23D8-A48EFF69A45F}"/>
              </a:ext>
            </a:extLst>
          </p:cNvPr>
          <p:cNvSpPr>
            <a:spLocks noGrp="1"/>
          </p:cNvSpPr>
          <p:nvPr>
            <p:ph type="body" sz="quarter" idx="18"/>
          </p:nvPr>
        </p:nvSpPr>
        <p:spPr>
          <a:xfrm>
            <a:off x="8021939" y="5396947"/>
            <a:ext cx="3560461" cy="693312"/>
          </a:xfrm>
        </p:spPr>
        <p:txBody>
          <a:bodyPr>
            <a:noAutofit/>
          </a:bodyPr>
          <a:lstStyle>
            <a:lvl1pPr marL="0" indent="0" algn="ctr">
              <a:buNone/>
              <a:defRPr sz="1600"/>
            </a:lvl1pPr>
            <a:lvl2pPr marL="320040" indent="0" algn="ctr">
              <a:buNone/>
              <a:defRPr sz="1400"/>
            </a:lvl2pPr>
            <a:lvl3pPr marL="640080" indent="0" algn="ctr">
              <a:buNone/>
              <a:defRPr sz="1400"/>
            </a:lvl3pPr>
            <a:lvl4pPr marL="914400" indent="0" algn="ctr">
              <a:buNone/>
              <a:defRPr sz="1400"/>
            </a:lvl4pPr>
            <a:lvl5pPr marL="1143000" indent="0" algn="ctr">
              <a:buNone/>
              <a:defRPr sz="1400"/>
            </a:lvl5pPr>
          </a:lstStyle>
          <a:p>
            <a:pPr lvl="0"/>
            <a:r>
              <a:rPr lang="en-US" dirty="0"/>
              <a:t>Click to edit Master text</a:t>
            </a:r>
          </a:p>
        </p:txBody>
      </p:sp>
      <p:sp>
        <p:nvSpPr>
          <p:cNvPr id="11" name="Chart Placeholder 4">
            <a:extLst>
              <a:ext uri="{FF2B5EF4-FFF2-40B4-BE49-F238E27FC236}">
                <a16:creationId xmlns:a16="http://schemas.microsoft.com/office/drawing/2014/main" id="{3EF471E3-3169-E47C-1DF5-8E18891BD311}"/>
              </a:ext>
            </a:extLst>
          </p:cNvPr>
          <p:cNvSpPr>
            <a:spLocks noGrp="1"/>
          </p:cNvSpPr>
          <p:nvPr>
            <p:ph type="chart" sz="quarter" idx="19"/>
          </p:nvPr>
        </p:nvSpPr>
        <p:spPr>
          <a:xfrm>
            <a:off x="609600" y="1798638"/>
            <a:ext cx="3560763" cy="3559175"/>
          </a:xfrm>
        </p:spPr>
        <p:txBody>
          <a:bodyPr/>
          <a:lstStyle/>
          <a:p>
            <a:endParaRPr lang="en-US"/>
          </a:p>
        </p:txBody>
      </p:sp>
      <p:sp>
        <p:nvSpPr>
          <p:cNvPr id="12" name="Chart Placeholder 4">
            <a:extLst>
              <a:ext uri="{FF2B5EF4-FFF2-40B4-BE49-F238E27FC236}">
                <a16:creationId xmlns:a16="http://schemas.microsoft.com/office/drawing/2014/main" id="{AFF3D7C2-5A28-5CCC-774B-408975F809D4}"/>
              </a:ext>
            </a:extLst>
          </p:cNvPr>
          <p:cNvSpPr>
            <a:spLocks noGrp="1"/>
          </p:cNvSpPr>
          <p:nvPr>
            <p:ph type="chart" sz="quarter" idx="20"/>
          </p:nvPr>
        </p:nvSpPr>
        <p:spPr>
          <a:xfrm>
            <a:off x="4315617" y="1798014"/>
            <a:ext cx="3560763" cy="3559175"/>
          </a:xfrm>
        </p:spPr>
        <p:txBody>
          <a:bodyPr/>
          <a:lstStyle/>
          <a:p>
            <a:endParaRPr lang="en-US"/>
          </a:p>
        </p:txBody>
      </p:sp>
      <p:sp>
        <p:nvSpPr>
          <p:cNvPr id="13" name="Chart Placeholder 4">
            <a:extLst>
              <a:ext uri="{FF2B5EF4-FFF2-40B4-BE49-F238E27FC236}">
                <a16:creationId xmlns:a16="http://schemas.microsoft.com/office/drawing/2014/main" id="{F4526561-6D13-A8BC-DFED-3E9422B381E9}"/>
              </a:ext>
            </a:extLst>
          </p:cNvPr>
          <p:cNvSpPr>
            <a:spLocks noGrp="1"/>
          </p:cNvSpPr>
          <p:nvPr>
            <p:ph type="chart" sz="quarter" idx="21"/>
          </p:nvPr>
        </p:nvSpPr>
        <p:spPr>
          <a:xfrm>
            <a:off x="8021634" y="1798014"/>
            <a:ext cx="3560763" cy="3559175"/>
          </a:xfrm>
        </p:spPr>
        <p:txBody>
          <a:bodyPr/>
          <a:lstStyle/>
          <a:p>
            <a:endParaRPr lang="en-US"/>
          </a:p>
        </p:txBody>
      </p:sp>
    </p:spTree>
    <p:extLst>
      <p:ext uri="{BB962C8B-B14F-4D97-AF65-F5344CB8AC3E}">
        <p14:creationId xmlns:p14="http://schemas.microsoft.com/office/powerpoint/2010/main" val="40219522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9523D3-F72C-A737-D43A-E356A52D838C}"/>
              </a:ext>
            </a:extLst>
          </p:cNvPr>
          <p:cNvSpPr/>
          <p:nvPr userDrawn="1"/>
        </p:nvSpPr>
        <p:spPr bwMode="auto">
          <a:xfrm>
            <a:off x="0" y="0"/>
            <a:ext cx="12192000" cy="6858000"/>
          </a:xfrm>
          <a:prstGeom prst="rect">
            <a:avLst/>
          </a:prstGeom>
          <a:solidFill>
            <a:schemeClr val="bg1"/>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pic>
        <p:nvPicPr>
          <p:cNvPr id="6" name="Picture 5" descr="A grey logo with text&#10;&#10;Description automatically generated">
            <a:extLst>
              <a:ext uri="{FF2B5EF4-FFF2-40B4-BE49-F238E27FC236}">
                <a16:creationId xmlns:a16="http://schemas.microsoft.com/office/drawing/2014/main" id="{B1D05FE9-9C13-6D48-7303-93DC7F7D7A37}"/>
              </a:ext>
            </a:extLst>
          </p:cNvPr>
          <p:cNvPicPr>
            <a:picLocks noChangeAspect="1"/>
          </p:cNvPicPr>
          <p:nvPr userDrawn="1"/>
        </p:nvPicPr>
        <p:blipFill rotWithShape="1">
          <a:blip r:embed="rId2" cstate="print">
            <a:alphaModFix amt="20000"/>
            <a:extLst>
              <a:ext uri="{28A0092B-C50C-407E-A947-70E740481C1C}">
                <a14:useLocalDpi xmlns:a14="http://schemas.microsoft.com/office/drawing/2010/main" val="0"/>
              </a:ext>
            </a:extLst>
          </a:blip>
          <a:stretch/>
        </p:blipFill>
        <p:spPr>
          <a:xfrm>
            <a:off x="3810000" y="1143000"/>
            <a:ext cx="4572000" cy="457200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9523D3-F72C-A737-D43A-E356A52D838C}"/>
              </a:ext>
            </a:extLst>
          </p:cNvPr>
          <p:cNvSpPr/>
          <p:nvPr userDrawn="1"/>
        </p:nvSpPr>
        <p:spPr bwMode="auto">
          <a:xfrm>
            <a:off x="0" y="0"/>
            <a:ext cx="12192000" cy="6858000"/>
          </a:xfrm>
          <a:prstGeom prst="rect">
            <a:avLst/>
          </a:prstGeom>
          <a:solidFill>
            <a:schemeClr val="bg1"/>
          </a:solidFill>
          <a:ln w="12700" cap="sq" algn="ctr">
            <a:noFill/>
            <a:miter lim="800000"/>
            <a:headEnd/>
            <a:tailEnd/>
          </a:ln>
          <a:effectLst/>
        </p:spPr>
        <p:txBody>
          <a:bodyPr wrap="none" rtlCol="0" anchor="ctr"/>
          <a:lstStyle/>
          <a:p>
            <a:pPr algn="ctr"/>
            <a:endParaRPr lang="en-US" sz="1600">
              <a:solidFill>
                <a:schemeClr val="bg1"/>
              </a:solidFill>
              <a:latin typeface="+mn-lt"/>
            </a:endParaRPr>
          </a:p>
        </p:txBody>
      </p:sp>
    </p:spTree>
    <p:extLst>
      <p:ext uri="{BB962C8B-B14F-4D97-AF65-F5344CB8AC3E}">
        <p14:creationId xmlns:p14="http://schemas.microsoft.com/office/powerpoint/2010/main" val="3180747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363090"/>
            <a:ext cx="10972800" cy="800100"/>
          </a:xfrm>
          <a:prstGeom prst="rect">
            <a:avLst/>
          </a:prstGeom>
        </p:spPr>
        <p:txBody>
          <a:bodyPr vert="horz" lIns="0" tIns="45720" rIns="0" bIns="45720" rtlCol="0" anchor="b" anchorCtr="0">
            <a:noAutofit/>
          </a:bodyPr>
          <a:lstStyle/>
          <a:p>
            <a:r>
              <a:rPr lang="en-US" dirty="0"/>
              <a:t>Click to edit Master title style</a:t>
            </a:r>
          </a:p>
        </p:txBody>
      </p:sp>
      <p:sp>
        <p:nvSpPr>
          <p:cNvPr id="3" name="Text Placeholder 2"/>
          <p:cNvSpPr>
            <a:spLocks noGrp="1"/>
          </p:cNvSpPr>
          <p:nvPr>
            <p:ph type="body" idx="1"/>
          </p:nvPr>
        </p:nvSpPr>
        <p:spPr>
          <a:xfrm>
            <a:off x="609600" y="1524000"/>
            <a:ext cx="10972800" cy="4648200"/>
          </a:xfrm>
          <a:prstGeom prst="rect">
            <a:avLst/>
          </a:prstGeom>
        </p:spPr>
        <p:txBody>
          <a:bodyPr vert="horz" lIns="0" tIns="45720" rIns="0" bIns="45720" rtlCol="0" anchor="t" anchorCtr="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p:nvPr/>
        </p:nvSpPr>
        <p:spPr>
          <a:xfrm>
            <a:off x="609600" y="1234967"/>
            <a:ext cx="11582400" cy="45719"/>
          </a:xfrm>
          <a:prstGeom prst="rect">
            <a:avLst/>
          </a:prstGeom>
          <a:solidFill>
            <a:srgbClr val="AB16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5" name="Picture 4" descr="A red letter w on a black background&#10;&#10;Description automatically generated">
            <a:extLst>
              <a:ext uri="{FF2B5EF4-FFF2-40B4-BE49-F238E27FC236}">
                <a16:creationId xmlns:a16="http://schemas.microsoft.com/office/drawing/2014/main" id="{628F81A4-8449-2076-D026-43F034BC1E15}"/>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474628" y="6237513"/>
            <a:ext cx="1131217" cy="365760"/>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705" r:id="rId2"/>
    <p:sldLayoutId id="2147483695" r:id="rId3"/>
    <p:sldLayoutId id="2147483697" r:id="rId4"/>
    <p:sldLayoutId id="2147483700" r:id="rId5"/>
    <p:sldLayoutId id="2147483699" r:id="rId6"/>
    <p:sldLayoutId id="2147483703" r:id="rId7"/>
    <p:sldLayoutId id="2147483698" r:id="rId8"/>
    <p:sldLayoutId id="2147483664" r:id="rId9"/>
    <p:sldLayoutId id="2147483666" r:id="rId10"/>
    <p:sldLayoutId id="2147483696" r:id="rId11"/>
    <p:sldLayoutId id="2147483702" r:id="rId12"/>
    <p:sldLayoutId id="2147483701" r:id="rId13"/>
    <p:sldLayoutId id="2147483704" r:id="rId14"/>
    <p:sldLayoutId id="2147483667" r:id="rId15"/>
    <p:sldLayoutId id="2147483706" r:id="rId16"/>
  </p:sldLayoutIdLst>
  <p:hf hdr="0" ftr="0" dt="0"/>
  <p:txStyles>
    <p:titleStyle>
      <a:lvl1pPr algn="l" defTabSz="914400" rtl="0" eaLnBrk="1" latinLnBrk="0" hangingPunct="1">
        <a:lnSpc>
          <a:spcPts val="3800"/>
        </a:lnSpc>
        <a:spcBef>
          <a:spcPct val="0"/>
        </a:spcBef>
        <a:buNone/>
        <a:defRPr sz="3600" b="1" kern="1200">
          <a:solidFill>
            <a:srgbClr val="272626"/>
          </a:solidFill>
          <a:latin typeface="Arial" panose="020B0604020202020204" pitchFamily="34" charset="0"/>
          <a:ea typeface="Verdana" pitchFamily="34" charset="0"/>
          <a:cs typeface="Arial" panose="020B060402020202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lnSpc>
          <a:spcPct val="95000"/>
        </a:lnSpc>
        <a:spcBef>
          <a:spcPts val="1200"/>
        </a:spcBef>
        <a:buClr>
          <a:srgbClr val="AB162B"/>
        </a:buClr>
        <a:buFont typeface="Arial" pitchFamily="34" charset="0"/>
        <a:buChar char="•"/>
        <a:defRPr sz="2400" kern="1200">
          <a:solidFill>
            <a:srgbClr val="272626"/>
          </a:solidFill>
          <a:latin typeface="Arial" panose="020B0604020202020204" pitchFamily="34" charset="0"/>
          <a:ea typeface="Verdana" pitchFamily="34" charset="0"/>
          <a:cs typeface="Arial" panose="020B0604020202020204" pitchFamily="34" charset="0"/>
        </a:defRPr>
      </a:lvl1pPr>
      <a:lvl2pPr marL="594360" indent="-274320" algn="l" defTabSz="914400" rtl="0" eaLnBrk="1" latinLnBrk="0" hangingPunct="1">
        <a:lnSpc>
          <a:spcPct val="95000"/>
        </a:lnSpc>
        <a:spcBef>
          <a:spcPts val="600"/>
        </a:spcBef>
        <a:buClr>
          <a:srgbClr val="AB162B"/>
        </a:buClr>
        <a:buFont typeface="Verdana" pitchFamily="34" charset="0"/>
        <a:buChar char="─"/>
        <a:defRPr sz="2000" kern="1200">
          <a:solidFill>
            <a:srgbClr val="272626"/>
          </a:solidFill>
          <a:latin typeface="Arial" panose="020B0604020202020204" pitchFamily="34" charset="0"/>
          <a:ea typeface="Verdana" pitchFamily="34" charset="0"/>
          <a:cs typeface="Arial" panose="020B0604020202020204" pitchFamily="34" charset="0"/>
        </a:defRPr>
      </a:lvl2pPr>
      <a:lvl3pPr marL="868680" indent="-228600" algn="l" defTabSz="914400" rtl="0" eaLnBrk="1" latinLnBrk="0" hangingPunct="1">
        <a:lnSpc>
          <a:spcPct val="95000"/>
        </a:lnSpc>
        <a:spcBef>
          <a:spcPts val="600"/>
        </a:spcBef>
        <a:buClr>
          <a:srgbClr val="AB162B"/>
        </a:buClr>
        <a:buFont typeface="Wingdings" pitchFamily="2" charset="2"/>
        <a:buChar char="§"/>
        <a:defRPr sz="1800" kern="1200">
          <a:solidFill>
            <a:srgbClr val="272626"/>
          </a:solidFill>
          <a:latin typeface="Arial" panose="020B0604020202020204" pitchFamily="34" charset="0"/>
          <a:ea typeface="Verdana" pitchFamily="34" charset="0"/>
          <a:cs typeface="Arial" panose="020B0604020202020204" pitchFamily="34" charset="0"/>
        </a:defRPr>
      </a:lvl3pPr>
      <a:lvl4pPr marL="1143000" indent="-228600" algn="l" defTabSz="914400" rtl="0" eaLnBrk="1" latinLnBrk="0" hangingPunct="1">
        <a:lnSpc>
          <a:spcPct val="95000"/>
        </a:lnSpc>
        <a:spcBef>
          <a:spcPts val="600"/>
        </a:spcBef>
        <a:buClr>
          <a:srgbClr val="AB162B"/>
        </a:buClr>
        <a:buFont typeface="Courier New" pitchFamily="49" charset="0"/>
        <a:buChar char="o"/>
        <a:defRPr sz="1600" kern="1200">
          <a:solidFill>
            <a:srgbClr val="272626"/>
          </a:solidFill>
          <a:latin typeface="Arial" panose="020B0604020202020204" pitchFamily="34" charset="0"/>
          <a:ea typeface="Verdana" pitchFamily="34" charset="0"/>
          <a:cs typeface="Arial" panose="020B0604020202020204" pitchFamily="34" charset="0"/>
        </a:defRPr>
      </a:lvl4pPr>
      <a:lvl5pPr marL="1371600" indent="-228600" algn="l" defTabSz="914400" rtl="0" eaLnBrk="1" latinLnBrk="0" hangingPunct="1">
        <a:lnSpc>
          <a:spcPct val="95000"/>
        </a:lnSpc>
        <a:spcBef>
          <a:spcPts val="600"/>
        </a:spcBef>
        <a:buClr>
          <a:srgbClr val="AB162B"/>
        </a:buClr>
        <a:buFont typeface="Arial" pitchFamily="34" charset="0"/>
        <a:buChar char="•"/>
        <a:defRPr sz="1600" kern="1200" baseline="0">
          <a:solidFill>
            <a:srgbClr val="272626"/>
          </a:solidFill>
          <a:latin typeface="Arial" panose="020B0604020202020204" pitchFamily="34" charset="0"/>
          <a:ea typeface="Verdana" pitchFamily="34" charset="0"/>
          <a:cs typeface="Arial" panose="020B0604020202020204" pitchFamily="34" charset="0"/>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jfif"/><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0.svg"/></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1.svg"/></Relationships>
</file>

<file path=ppt/slides/_rels/slide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1.svg"/></Relationships>
</file>

<file path=ppt/slides/_rels/slide1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5.jpe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17.svg"/></Relationships>
</file>

<file path=ppt/slides/_rels/slide1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20.sv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220.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8" Type="http://schemas.openxmlformats.org/officeDocument/2006/relationships/hyperlink" Target="https://www3.advantest.com/documents/11348/f641a733-fcbe-43e8-b020-7799cd4c82bc" TargetMode="External"/><Relationship Id="rId3" Type="http://schemas.openxmlformats.org/officeDocument/2006/relationships/image" Target="../media/image23.png"/><Relationship Id="rId7" Type="http://schemas.openxmlformats.org/officeDocument/2006/relationships/image" Target="../media/image250.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251.png"/><Relationship Id="rId5" Type="http://schemas.openxmlformats.org/officeDocument/2006/relationships/image" Target="../media/image25.png"/><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4.xml"/><Relationship Id="rId1" Type="http://schemas.openxmlformats.org/officeDocument/2006/relationships/slideLayout" Target="../slideLayouts/slideLayout6.xml"/><Relationship Id="rId5" Type="http://schemas.openxmlformats.org/officeDocument/2006/relationships/chart" Target="../charts/chart2.xml"/><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8.xml"/><Relationship Id="rId5" Type="http://schemas.openxmlformats.org/officeDocument/2006/relationships/image" Target="../media/image37.png"/><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3.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notesSlide" Target="../notesSlides/notesSlide34.xml"/><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image" Target="../media/image370.png"/></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8.xml"/><Relationship Id="rId1" Type="http://schemas.openxmlformats.org/officeDocument/2006/relationships/slideLayout" Target="../slideLayouts/slideLayout4.xml"/><Relationship Id="rId5" Type="http://schemas.openxmlformats.org/officeDocument/2006/relationships/image" Target="../media/image46.png"/><Relationship Id="rId4" Type="http://schemas.openxmlformats.org/officeDocument/2006/relationships/image" Target="../media/image45.png"/></Relationships>
</file>

<file path=ppt/slides/_rels/slide45.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9.xml"/><Relationship Id="rId1" Type="http://schemas.openxmlformats.org/officeDocument/2006/relationships/slideLayout" Target="../slideLayouts/slideLayout9.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microsoft.com/office/2007/relationships/hdphoto" Target="../media/hdphoto1.wdp"/></Relationships>
</file>

<file path=ppt/slides/_rels/slide46.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52.png"/></Relationships>
</file>

<file path=ppt/slides/_rels/slide50.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7.xml"/><Relationship Id="rId1" Type="http://schemas.openxmlformats.org/officeDocument/2006/relationships/slideLayout" Target="../slideLayouts/slideLayout3.xml"/><Relationship Id="rId4" Type="http://schemas.openxmlformats.org/officeDocument/2006/relationships/image" Target="../media/image54.png"/></Relationships>
</file>

<file path=ppt/slides/_rels/slide5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8.xml"/><Relationship Id="rId1" Type="http://schemas.openxmlformats.org/officeDocument/2006/relationships/slideLayout" Target="../slideLayouts/slideLayout6.xml"/><Relationship Id="rId5" Type="http://schemas.openxmlformats.org/officeDocument/2006/relationships/image" Target="../media/image48.png"/><Relationship Id="rId4" Type="http://schemas.openxmlformats.org/officeDocument/2006/relationships/image" Target="../media/image47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2.xml"/><Relationship Id="rId1" Type="http://schemas.openxmlformats.org/officeDocument/2006/relationships/slideLayout" Target="../slideLayouts/slideLayout12.xml"/><Relationship Id="rId4" Type="http://schemas.openxmlformats.org/officeDocument/2006/relationships/chart" Target="../charts/char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D17E8-3E65-2E43-D2BE-48731D1046DE}"/>
              </a:ext>
            </a:extLst>
          </p:cNvPr>
          <p:cNvSpPr>
            <a:spLocks noGrp="1"/>
          </p:cNvSpPr>
          <p:nvPr>
            <p:ph type="ctrTitle"/>
          </p:nvPr>
        </p:nvSpPr>
        <p:spPr/>
        <p:txBody>
          <a:bodyPr/>
          <a:lstStyle/>
          <a:p>
            <a:r>
              <a:rPr lang="en-US" dirty="0"/>
              <a:t>Development and Characterization of 4 MS/s 8-bit Flash ADC</a:t>
            </a:r>
          </a:p>
        </p:txBody>
      </p:sp>
      <p:sp>
        <p:nvSpPr>
          <p:cNvPr id="3" name="Subtitle 2">
            <a:extLst>
              <a:ext uri="{FF2B5EF4-FFF2-40B4-BE49-F238E27FC236}">
                <a16:creationId xmlns:a16="http://schemas.microsoft.com/office/drawing/2014/main" id="{8193679C-7B81-3C65-E1C1-5FDEFB2EE145}"/>
              </a:ext>
            </a:extLst>
          </p:cNvPr>
          <p:cNvSpPr>
            <a:spLocks noGrp="1"/>
          </p:cNvSpPr>
          <p:nvPr>
            <p:ph type="subTitle" idx="1"/>
          </p:nvPr>
        </p:nvSpPr>
        <p:spPr>
          <a:xfrm>
            <a:off x="609600" y="4591957"/>
            <a:ext cx="9144000" cy="2018568"/>
          </a:xfrm>
        </p:spPr>
        <p:txBody>
          <a:bodyPr>
            <a:normAutofit/>
          </a:bodyPr>
          <a:lstStyle/>
          <a:p>
            <a:r>
              <a:rPr lang="en-US" dirty="0"/>
              <a:t>By: Frankie Marrocco</a:t>
            </a:r>
          </a:p>
          <a:p>
            <a:endParaRPr lang="en-US" dirty="0"/>
          </a:p>
          <a:p>
            <a:r>
              <a:rPr lang="en-US" sz="1400" b="1" dirty="0"/>
              <a:t>Advisors</a:t>
            </a:r>
            <a:r>
              <a:rPr lang="en-US" sz="1400" dirty="0"/>
              <a:t>: Suat Ay, Ibrahim </a:t>
            </a:r>
            <a:r>
              <a:rPr lang="en-US" sz="1400" dirty="0" err="1"/>
              <a:t>Bozyel</a:t>
            </a:r>
            <a:endParaRPr lang="en-US" sz="1400" dirty="0"/>
          </a:p>
          <a:p>
            <a:r>
              <a:rPr lang="en-US" sz="1400" b="1" dirty="0"/>
              <a:t>Committee</a:t>
            </a:r>
            <a:r>
              <a:rPr lang="en-US" sz="1400" dirty="0"/>
              <a:t>: </a:t>
            </a:r>
            <a:r>
              <a:rPr lang="en-US" sz="1400" dirty="0" err="1"/>
              <a:t>Ulkuhan</a:t>
            </a:r>
            <a:r>
              <a:rPr lang="en-US" sz="1400" dirty="0"/>
              <a:t> Guler, John McNeill</a:t>
            </a:r>
            <a:endParaRPr lang="en-US" dirty="0"/>
          </a:p>
        </p:txBody>
      </p:sp>
      <p:sp>
        <p:nvSpPr>
          <p:cNvPr id="4" name="TextBox 3">
            <a:extLst>
              <a:ext uri="{FF2B5EF4-FFF2-40B4-BE49-F238E27FC236}">
                <a16:creationId xmlns:a16="http://schemas.microsoft.com/office/drawing/2014/main" id="{6BC7616F-2A61-600D-8733-CD9238B895E6}"/>
              </a:ext>
            </a:extLst>
          </p:cNvPr>
          <p:cNvSpPr txBox="1"/>
          <p:nvPr/>
        </p:nvSpPr>
        <p:spPr>
          <a:xfrm>
            <a:off x="4348480" y="6065520"/>
            <a:ext cx="0" cy="0"/>
          </a:xfrm>
          <a:prstGeom prst="rect">
            <a:avLst/>
          </a:prstGeom>
          <a:noFill/>
        </p:spPr>
        <p:txBody>
          <a:bodyPr wrap="none" rtlCol="0">
            <a:noAutofit/>
          </a:bodyPr>
          <a:lstStyle/>
          <a:p>
            <a:pPr algn="ctr"/>
            <a:endParaRPr lang="en-US" sz="1600" dirty="0" err="1"/>
          </a:p>
        </p:txBody>
      </p:sp>
    </p:spTree>
    <p:extLst>
      <p:ext uri="{BB962C8B-B14F-4D97-AF65-F5344CB8AC3E}">
        <p14:creationId xmlns:p14="http://schemas.microsoft.com/office/powerpoint/2010/main" val="31983493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C2AEF-359F-DD68-B7D0-3E0F5F61C97F}"/>
              </a:ext>
            </a:extLst>
          </p:cNvPr>
          <p:cNvSpPr>
            <a:spLocks noGrp="1"/>
          </p:cNvSpPr>
          <p:nvPr>
            <p:ph type="title"/>
          </p:nvPr>
        </p:nvSpPr>
        <p:spPr/>
        <p:txBody>
          <a:bodyPr/>
          <a:lstStyle/>
          <a:p>
            <a:r>
              <a:rPr lang="en-US" dirty="0"/>
              <a:t>About Me</a:t>
            </a:r>
          </a:p>
        </p:txBody>
      </p:sp>
      <p:pic>
        <p:nvPicPr>
          <p:cNvPr id="7" name="Picture 6">
            <a:extLst>
              <a:ext uri="{FF2B5EF4-FFF2-40B4-BE49-F238E27FC236}">
                <a16:creationId xmlns:a16="http://schemas.microsoft.com/office/drawing/2014/main" id="{E9742505-0EF7-7018-1433-2794966A07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2400" y="2165350"/>
            <a:ext cx="3365500" cy="3365500"/>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8" name="TextBox 7">
            <a:extLst>
              <a:ext uri="{FF2B5EF4-FFF2-40B4-BE49-F238E27FC236}">
                <a16:creationId xmlns:a16="http://schemas.microsoft.com/office/drawing/2014/main" id="{AE326BFD-370A-1815-9DF9-0A76F664CD7D}"/>
              </a:ext>
            </a:extLst>
          </p:cNvPr>
          <p:cNvSpPr txBox="1"/>
          <p:nvPr/>
        </p:nvSpPr>
        <p:spPr>
          <a:xfrm>
            <a:off x="236306" y="6287784"/>
            <a:ext cx="544530" cy="380144"/>
          </a:xfrm>
          <a:prstGeom prst="rect">
            <a:avLst/>
          </a:prstGeom>
          <a:noFill/>
        </p:spPr>
        <p:txBody>
          <a:bodyPr wrap="square" rtlCol="0">
            <a:noAutofit/>
          </a:bodyPr>
          <a:lstStyle/>
          <a:p>
            <a:pPr algn="ctr"/>
            <a:r>
              <a:rPr lang="en-US" sz="1600" dirty="0"/>
              <a:t>1</a:t>
            </a:r>
          </a:p>
        </p:txBody>
      </p:sp>
      <p:graphicFrame>
        <p:nvGraphicFramePr>
          <p:cNvPr id="11" name="Diagram 10">
            <a:extLst>
              <a:ext uri="{FF2B5EF4-FFF2-40B4-BE49-F238E27FC236}">
                <a16:creationId xmlns:a16="http://schemas.microsoft.com/office/drawing/2014/main" id="{DB0449C8-E744-6A77-D61A-997622A6F5E9}"/>
              </a:ext>
            </a:extLst>
          </p:cNvPr>
          <p:cNvGraphicFramePr/>
          <p:nvPr>
            <p:extLst>
              <p:ext uri="{D42A27DB-BD31-4B8C-83A1-F6EECF244321}">
                <p14:modId xmlns:p14="http://schemas.microsoft.com/office/powerpoint/2010/main" val="3586752484"/>
              </p:ext>
            </p:extLst>
          </p:nvPr>
        </p:nvGraphicFramePr>
        <p:xfrm>
          <a:off x="876300" y="1705510"/>
          <a:ext cx="5816600" cy="47894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205440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B167CA0-F406-EADA-F18C-93CC08B04F97}"/>
              </a:ext>
            </a:extLst>
          </p:cNvPr>
          <p:cNvSpPr>
            <a:spLocks noGrp="1"/>
          </p:cNvSpPr>
          <p:nvPr>
            <p:ph type="title"/>
          </p:nvPr>
        </p:nvSpPr>
        <p:spPr/>
        <p:txBody>
          <a:bodyPr/>
          <a:lstStyle/>
          <a:p>
            <a:r>
              <a:rPr lang="en-US" dirty="0"/>
              <a:t>Table of Contents</a:t>
            </a:r>
          </a:p>
        </p:txBody>
      </p:sp>
      <p:sp>
        <p:nvSpPr>
          <p:cNvPr id="3" name="Content Placeholder 2">
            <a:extLst>
              <a:ext uri="{FF2B5EF4-FFF2-40B4-BE49-F238E27FC236}">
                <a16:creationId xmlns:a16="http://schemas.microsoft.com/office/drawing/2014/main" id="{322BAB32-BC71-9BC2-F50E-13B334297508}"/>
              </a:ext>
            </a:extLst>
          </p:cNvPr>
          <p:cNvSpPr>
            <a:spLocks noGrp="1"/>
          </p:cNvSpPr>
          <p:nvPr>
            <p:ph sz="half" idx="1"/>
          </p:nvPr>
        </p:nvSpPr>
        <p:spPr>
          <a:xfrm>
            <a:off x="609599" y="1527048"/>
            <a:ext cx="10972799" cy="4495800"/>
          </a:xfrm>
        </p:spPr>
        <p:txBody>
          <a:bodyPr numCol="2">
            <a:normAutofit/>
          </a:bodyPr>
          <a:lstStyle/>
          <a:p>
            <a:pPr marL="457200" indent="-457200">
              <a:buFont typeface="+mj-lt"/>
              <a:buAutoNum type="arabicPeriod"/>
            </a:pPr>
            <a:r>
              <a:rPr lang="en-US" b="1" dirty="0"/>
              <a:t>Background &amp; Architecture</a:t>
            </a:r>
          </a:p>
          <a:p>
            <a:pPr lvl="1"/>
            <a:r>
              <a:rPr lang="en-US" dirty="0"/>
              <a:t>WCIS</a:t>
            </a:r>
          </a:p>
          <a:p>
            <a:pPr lvl="1"/>
            <a:r>
              <a:rPr lang="en-US" dirty="0"/>
              <a:t>Flash ADC Design</a:t>
            </a:r>
          </a:p>
          <a:p>
            <a:pPr lvl="1"/>
            <a:r>
              <a:rPr lang="en-US" dirty="0"/>
              <a:t>ADC Operation</a:t>
            </a:r>
          </a:p>
          <a:p>
            <a:pPr marL="457200" indent="-457200">
              <a:buFont typeface="+mj-lt"/>
              <a:buAutoNum type="arabicPeriod"/>
            </a:pPr>
            <a:r>
              <a:rPr lang="en-US" b="1" dirty="0"/>
              <a:t>Test Methods</a:t>
            </a:r>
          </a:p>
          <a:p>
            <a:pPr lvl="1"/>
            <a:r>
              <a:rPr lang="en-US" dirty="0"/>
              <a:t>Test Setup</a:t>
            </a:r>
          </a:p>
          <a:p>
            <a:pPr lvl="1"/>
            <a:r>
              <a:rPr lang="en-US" dirty="0"/>
              <a:t>Coherent Sampling</a:t>
            </a:r>
          </a:p>
          <a:p>
            <a:pPr marL="457200" indent="-457200">
              <a:buFont typeface="+mj-lt"/>
              <a:buAutoNum type="arabicPeriod"/>
            </a:pPr>
            <a:r>
              <a:rPr lang="en-US" b="1" dirty="0"/>
              <a:t>FFT Spectrum Analysis</a:t>
            </a:r>
          </a:p>
          <a:p>
            <a:pPr lvl="1"/>
            <a:r>
              <a:rPr lang="en-US" dirty="0"/>
              <a:t>FFT Measurements</a:t>
            </a:r>
          </a:p>
          <a:p>
            <a:pPr lvl="1"/>
            <a:r>
              <a:rPr lang="en-US" dirty="0"/>
              <a:t>T&amp;U Method of Signal Estimation</a:t>
            </a:r>
          </a:p>
          <a:p>
            <a:pPr lvl="1"/>
            <a:r>
              <a:rPr lang="en-US" dirty="0"/>
              <a:t>Dynamic Characteristic Calculations</a:t>
            </a:r>
          </a:p>
          <a:p>
            <a:pPr marL="457200" indent="-457200">
              <a:buFont typeface="+mj-lt"/>
              <a:buAutoNum type="arabicPeriod"/>
            </a:pPr>
            <a:r>
              <a:rPr lang="en-US" b="1" dirty="0"/>
              <a:t>Static Characterization</a:t>
            </a:r>
          </a:p>
          <a:p>
            <a:pPr lvl="1"/>
            <a:r>
              <a:rPr lang="en-US" dirty="0"/>
              <a:t>Setup</a:t>
            </a:r>
          </a:p>
          <a:p>
            <a:pPr lvl="1"/>
            <a:r>
              <a:rPr lang="en-US" dirty="0"/>
              <a:t>DNL/INL</a:t>
            </a:r>
          </a:p>
          <a:p>
            <a:pPr marL="457200" indent="-457200">
              <a:buFont typeface="+mj-lt"/>
              <a:buAutoNum type="arabicPeriod"/>
            </a:pPr>
            <a:r>
              <a:rPr lang="en-US" b="1" dirty="0"/>
              <a:t>Results &amp; Comparison</a:t>
            </a:r>
          </a:p>
          <a:p>
            <a:pPr lvl="1"/>
            <a:r>
              <a:rPr lang="en-US" dirty="0"/>
              <a:t>Performance Comparison</a:t>
            </a:r>
          </a:p>
          <a:p>
            <a:pPr lvl="1"/>
            <a:r>
              <a:rPr lang="en-US" dirty="0"/>
              <a:t>Figure of Merit Comparison</a:t>
            </a:r>
          </a:p>
          <a:p>
            <a:pPr marL="457200" indent="-457200">
              <a:buFont typeface="+mj-lt"/>
              <a:buAutoNum type="arabicPeriod"/>
            </a:pPr>
            <a:r>
              <a:rPr lang="en-US" b="1" dirty="0"/>
              <a:t>Conclusions</a:t>
            </a:r>
          </a:p>
          <a:p>
            <a:pPr lvl="1"/>
            <a:r>
              <a:rPr lang="en-US" dirty="0"/>
              <a:t>Reflection on Results</a:t>
            </a:r>
          </a:p>
          <a:p>
            <a:pPr lvl="1"/>
            <a:r>
              <a:rPr lang="en-US" dirty="0"/>
              <a:t>Limitations &amp; Hindsight</a:t>
            </a:r>
          </a:p>
          <a:p>
            <a:pPr lvl="1"/>
            <a:r>
              <a:rPr lang="en-US" dirty="0"/>
              <a:t>Future Work</a:t>
            </a:r>
          </a:p>
        </p:txBody>
      </p:sp>
      <p:sp>
        <p:nvSpPr>
          <p:cNvPr id="2" name="TextBox 1">
            <a:extLst>
              <a:ext uri="{FF2B5EF4-FFF2-40B4-BE49-F238E27FC236}">
                <a16:creationId xmlns:a16="http://schemas.microsoft.com/office/drawing/2014/main" id="{9A82C63D-AB32-9B88-4A2E-E51F2A52A41B}"/>
              </a:ext>
            </a:extLst>
          </p:cNvPr>
          <p:cNvSpPr txBox="1"/>
          <p:nvPr/>
        </p:nvSpPr>
        <p:spPr>
          <a:xfrm>
            <a:off x="236306" y="6287784"/>
            <a:ext cx="544530" cy="380144"/>
          </a:xfrm>
          <a:prstGeom prst="rect">
            <a:avLst/>
          </a:prstGeom>
          <a:noFill/>
        </p:spPr>
        <p:txBody>
          <a:bodyPr wrap="square" rtlCol="0">
            <a:noAutofit/>
          </a:bodyPr>
          <a:lstStyle/>
          <a:p>
            <a:pPr algn="ctr"/>
            <a:r>
              <a:rPr lang="en-US" sz="1600" dirty="0"/>
              <a:t>2</a:t>
            </a:r>
          </a:p>
        </p:txBody>
      </p:sp>
    </p:spTree>
    <p:extLst>
      <p:ext uri="{BB962C8B-B14F-4D97-AF65-F5344CB8AC3E}">
        <p14:creationId xmlns:p14="http://schemas.microsoft.com/office/powerpoint/2010/main" val="1878127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BA2C6-66D0-B492-501F-A343F370A9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969CA4-3C14-818A-4876-9DA522541100}"/>
              </a:ext>
            </a:extLst>
          </p:cNvPr>
          <p:cNvSpPr>
            <a:spLocks noGrp="1"/>
          </p:cNvSpPr>
          <p:nvPr>
            <p:ph type="ctrTitle"/>
          </p:nvPr>
        </p:nvSpPr>
        <p:spPr/>
        <p:txBody>
          <a:bodyPr/>
          <a:lstStyle/>
          <a:p>
            <a:r>
              <a:rPr lang="en-US" dirty="0"/>
              <a:t>Background + Architecture</a:t>
            </a:r>
          </a:p>
        </p:txBody>
      </p:sp>
      <p:sp>
        <p:nvSpPr>
          <p:cNvPr id="6" name="TextBox 5">
            <a:extLst>
              <a:ext uri="{FF2B5EF4-FFF2-40B4-BE49-F238E27FC236}">
                <a16:creationId xmlns:a16="http://schemas.microsoft.com/office/drawing/2014/main" id="{9D315F6B-C3C8-5625-62E7-1E93158E87AA}"/>
              </a:ext>
            </a:extLst>
          </p:cNvPr>
          <p:cNvSpPr txBox="1"/>
          <p:nvPr/>
        </p:nvSpPr>
        <p:spPr>
          <a:xfrm>
            <a:off x="3901440" y="5953760"/>
            <a:ext cx="0" cy="0"/>
          </a:xfrm>
          <a:prstGeom prst="rect">
            <a:avLst/>
          </a:prstGeom>
          <a:noFill/>
        </p:spPr>
        <p:txBody>
          <a:bodyPr wrap="none" rtlCol="0">
            <a:noAutofit/>
          </a:bodyPr>
          <a:lstStyle/>
          <a:p>
            <a:pPr algn="ctr"/>
            <a:endParaRPr lang="en-US" sz="1600" dirty="0" err="1"/>
          </a:p>
        </p:txBody>
      </p:sp>
      <p:sp>
        <p:nvSpPr>
          <p:cNvPr id="5" name="Subtitle 4">
            <a:extLst>
              <a:ext uri="{FF2B5EF4-FFF2-40B4-BE49-F238E27FC236}">
                <a16:creationId xmlns:a16="http://schemas.microsoft.com/office/drawing/2014/main" id="{438E31C7-5FE4-0CB0-ED63-660807B183E4}"/>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013294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13606-5915-3190-8FAF-AD6A7F59F4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412A6D-BE0D-55FB-07FE-E4A54A260DC6}"/>
              </a:ext>
            </a:extLst>
          </p:cNvPr>
          <p:cNvSpPr>
            <a:spLocks noGrp="1"/>
          </p:cNvSpPr>
          <p:nvPr>
            <p:ph type="title"/>
          </p:nvPr>
        </p:nvSpPr>
        <p:spPr>
          <a:xfrm>
            <a:off x="609600" y="363090"/>
            <a:ext cx="10972800" cy="800100"/>
          </a:xfrm>
        </p:spPr>
        <p:txBody>
          <a:bodyPr anchor="b">
            <a:normAutofit/>
          </a:bodyPr>
          <a:lstStyle/>
          <a:p>
            <a:r>
              <a:rPr lang="en-US" u="sng" dirty="0"/>
              <a:t>W</a:t>
            </a:r>
            <a:r>
              <a:rPr lang="en-US" dirty="0"/>
              <a:t>orcester </a:t>
            </a:r>
            <a:r>
              <a:rPr lang="en-US" u="sng" dirty="0"/>
              <a:t>C</a:t>
            </a:r>
            <a:r>
              <a:rPr lang="en-US" dirty="0"/>
              <a:t>MOS </a:t>
            </a:r>
            <a:r>
              <a:rPr lang="en-US" u="sng" dirty="0"/>
              <a:t>I</a:t>
            </a:r>
            <a:r>
              <a:rPr lang="en-US" dirty="0"/>
              <a:t>mage </a:t>
            </a:r>
            <a:r>
              <a:rPr lang="en-US" u="sng" dirty="0"/>
              <a:t>S</a:t>
            </a:r>
            <a:r>
              <a:rPr lang="en-US" dirty="0"/>
              <a:t>ensor – WCIS MQP</a:t>
            </a:r>
          </a:p>
        </p:txBody>
      </p:sp>
      <p:pic>
        <p:nvPicPr>
          <p:cNvPr id="1026" name="Picture 2">
            <a:extLst>
              <a:ext uri="{FF2B5EF4-FFF2-40B4-BE49-F238E27FC236}">
                <a16:creationId xmlns:a16="http://schemas.microsoft.com/office/drawing/2014/main" id="{A6D26B7B-FA0D-3442-D815-A6B8CF89A2D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820" r="333" b="4"/>
          <a:stretch>
            <a:fillRect/>
          </a:stretch>
        </p:blipFill>
        <p:spPr bwMode="auto">
          <a:xfrm>
            <a:off x="1085850" y="1747839"/>
            <a:ext cx="4141304" cy="41894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1388C566-7566-AF2F-AE95-F25AFDD4488E}"/>
              </a:ext>
            </a:extLst>
          </p:cNvPr>
          <p:cNvPicPr>
            <a:picLocks noChangeAspect="1"/>
          </p:cNvPicPr>
          <p:nvPr/>
        </p:nvPicPr>
        <p:blipFill>
          <a:blip r:embed="rId4">
            <a:extLst>
              <a:ext uri="{28A0092B-C50C-407E-A947-70E740481C1C}">
                <a14:useLocalDpi xmlns:a14="http://schemas.microsoft.com/office/drawing/2010/main" val="0"/>
              </a:ext>
            </a:extLst>
          </a:blip>
          <a:srcRect l="2814" r="2" b="2"/>
          <a:stretch>
            <a:fillRect/>
          </a:stretch>
        </p:blipFill>
        <p:spPr>
          <a:xfrm>
            <a:off x="5614988" y="1334294"/>
            <a:ext cx="6462712" cy="4189412"/>
          </a:xfrm>
          <a:prstGeom prst="rect">
            <a:avLst/>
          </a:prstGeom>
          <a:noFill/>
        </p:spPr>
      </p:pic>
      <p:cxnSp>
        <p:nvCxnSpPr>
          <p:cNvPr id="4" name="Straight Arrow Connector 3">
            <a:extLst>
              <a:ext uri="{FF2B5EF4-FFF2-40B4-BE49-F238E27FC236}">
                <a16:creationId xmlns:a16="http://schemas.microsoft.com/office/drawing/2014/main" id="{5B8F0FC0-67A2-3485-98EB-A1DCF2406245}"/>
              </a:ext>
            </a:extLst>
          </p:cNvPr>
          <p:cNvCxnSpPr>
            <a:cxnSpLocks/>
          </p:cNvCxnSpPr>
          <p:nvPr/>
        </p:nvCxnSpPr>
        <p:spPr>
          <a:xfrm>
            <a:off x="918072" y="1747838"/>
            <a:ext cx="0" cy="4189412"/>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799E4D58-7A64-7623-D9FB-06BB1D8D37F6}"/>
              </a:ext>
            </a:extLst>
          </p:cNvPr>
          <p:cNvCxnSpPr>
            <a:cxnSpLocks/>
          </p:cNvCxnSpPr>
          <p:nvPr/>
        </p:nvCxnSpPr>
        <p:spPr>
          <a:xfrm flipH="1">
            <a:off x="1085850" y="6108700"/>
            <a:ext cx="4141304" cy="0"/>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F1035BEC-F60E-DD55-66E5-7C82EA4E027F}"/>
              </a:ext>
            </a:extLst>
          </p:cNvPr>
          <p:cNvSpPr>
            <a:spLocks noGrp="1"/>
          </p:cNvSpPr>
          <p:nvPr>
            <p:ph sz="half" idx="1"/>
          </p:nvPr>
        </p:nvSpPr>
        <p:spPr>
          <a:xfrm>
            <a:off x="5394931" y="5451475"/>
            <a:ext cx="6548434" cy="971550"/>
          </a:xfrm>
        </p:spPr>
        <p:txBody>
          <a:bodyPr>
            <a:normAutofit/>
          </a:bodyPr>
          <a:lstStyle/>
          <a:p>
            <a:pPr marL="0" indent="0" algn="ctr">
              <a:buNone/>
            </a:pPr>
            <a:r>
              <a:rPr lang="en-US" sz="2800" b="1" dirty="0">
                <a:solidFill>
                  <a:schemeClr val="bg2"/>
                </a:solidFill>
                <a:latin typeface="+mn-lt"/>
                <a:ea typeface="+mn-ea"/>
                <a:cs typeface="+mn-cs"/>
              </a:rPr>
              <a:t>TSMC 180nm 1P6M 3v3/1.8V CMOS</a:t>
            </a:r>
          </a:p>
        </p:txBody>
      </p:sp>
      <p:sp>
        <p:nvSpPr>
          <p:cNvPr id="12" name="TextBox 11">
            <a:extLst>
              <a:ext uri="{FF2B5EF4-FFF2-40B4-BE49-F238E27FC236}">
                <a16:creationId xmlns:a16="http://schemas.microsoft.com/office/drawing/2014/main" id="{B68518DB-0DC3-677C-CF57-4475F43D50F4}"/>
              </a:ext>
            </a:extLst>
          </p:cNvPr>
          <p:cNvSpPr txBox="1"/>
          <p:nvPr/>
        </p:nvSpPr>
        <p:spPr>
          <a:xfrm>
            <a:off x="53736" y="3642520"/>
            <a:ext cx="838197" cy="400047"/>
          </a:xfrm>
          <a:prstGeom prst="rect">
            <a:avLst/>
          </a:prstGeom>
          <a:noFill/>
        </p:spPr>
        <p:txBody>
          <a:bodyPr wrap="square" rtlCol="0">
            <a:noAutofit/>
          </a:bodyPr>
          <a:lstStyle/>
          <a:p>
            <a:pPr algn="ctr"/>
            <a:r>
              <a:rPr lang="en-US" sz="1600" b="1" dirty="0">
                <a:solidFill>
                  <a:schemeClr val="bg2"/>
                </a:solidFill>
              </a:rPr>
              <a:t>2mm</a:t>
            </a:r>
          </a:p>
        </p:txBody>
      </p:sp>
      <p:sp>
        <p:nvSpPr>
          <p:cNvPr id="13" name="TextBox 12">
            <a:extLst>
              <a:ext uri="{FF2B5EF4-FFF2-40B4-BE49-F238E27FC236}">
                <a16:creationId xmlns:a16="http://schemas.microsoft.com/office/drawing/2014/main" id="{F815E753-0D57-834F-07BE-CD28CCCB6841}"/>
              </a:ext>
            </a:extLst>
          </p:cNvPr>
          <p:cNvSpPr txBox="1"/>
          <p:nvPr/>
        </p:nvSpPr>
        <p:spPr>
          <a:xfrm>
            <a:off x="2737403" y="6246020"/>
            <a:ext cx="838197" cy="400047"/>
          </a:xfrm>
          <a:prstGeom prst="rect">
            <a:avLst/>
          </a:prstGeom>
          <a:noFill/>
        </p:spPr>
        <p:txBody>
          <a:bodyPr wrap="square" rtlCol="0">
            <a:noAutofit/>
          </a:bodyPr>
          <a:lstStyle/>
          <a:p>
            <a:pPr algn="ctr"/>
            <a:r>
              <a:rPr lang="en-US" sz="1600" b="1" dirty="0">
                <a:solidFill>
                  <a:schemeClr val="bg2"/>
                </a:solidFill>
              </a:rPr>
              <a:t>2mm</a:t>
            </a:r>
          </a:p>
        </p:txBody>
      </p:sp>
      <p:sp>
        <p:nvSpPr>
          <p:cNvPr id="14" name="TextBox 13">
            <a:extLst>
              <a:ext uri="{FF2B5EF4-FFF2-40B4-BE49-F238E27FC236}">
                <a16:creationId xmlns:a16="http://schemas.microsoft.com/office/drawing/2014/main" id="{7C24D9DE-EE89-F1EF-F9DE-2842AD613299}"/>
              </a:ext>
            </a:extLst>
          </p:cNvPr>
          <p:cNvSpPr txBox="1"/>
          <p:nvPr/>
        </p:nvSpPr>
        <p:spPr>
          <a:xfrm>
            <a:off x="236306" y="6287784"/>
            <a:ext cx="544530" cy="380144"/>
          </a:xfrm>
          <a:prstGeom prst="rect">
            <a:avLst/>
          </a:prstGeom>
          <a:noFill/>
        </p:spPr>
        <p:txBody>
          <a:bodyPr wrap="square" rtlCol="0">
            <a:noAutofit/>
          </a:bodyPr>
          <a:lstStyle/>
          <a:p>
            <a:pPr algn="ctr"/>
            <a:r>
              <a:rPr lang="en-US" sz="1600" dirty="0"/>
              <a:t>3</a:t>
            </a:r>
          </a:p>
        </p:txBody>
      </p:sp>
    </p:spTree>
    <p:extLst>
      <p:ext uri="{BB962C8B-B14F-4D97-AF65-F5344CB8AC3E}">
        <p14:creationId xmlns:p14="http://schemas.microsoft.com/office/powerpoint/2010/main" val="2850212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6FACF-9E9D-0EE7-4160-5FF1D473B6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C4A458-654A-3ED2-2566-5DDE6BBF855D}"/>
              </a:ext>
            </a:extLst>
          </p:cNvPr>
          <p:cNvSpPr>
            <a:spLocks noGrp="1"/>
          </p:cNvSpPr>
          <p:nvPr>
            <p:ph type="title"/>
          </p:nvPr>
        </p:nvSpPr>
        <p:spPr>
          <a:xfrm>
            <a:off x="609600" y="363090"/>
            <a:ext cx="10972800" cy="800100"/>
          </a:xfrm>
        </p:spPr>
        <p:txBody>
          <a:bodyPr anchor="b">
            <a:normAutofit/>
          </a:bodyPr>
          <a:lstStyle/>
          <a:p>
            <a:r>
              <a:rPr lang="en-US" dirty="0"/>
              <a:t>High Level Diagram</a:t>
            </a:r>
          </a:p>
        </p:txBody>
      </p:sp>
      <p:pic>
        <p:nvPicPr>
          <p:cNvPr id="9" name="Graphic 8">
            <a:extLst>
              <a:ext uri="{FF2B5EF4-FFF2-40B4-BE49-F238E27FC236}">
                <a16:creationId xmlns:a16="http://schemas.microsoft.com/office/drawing/2014/main" id="{12D5D054-FD55-5BD5-F039-8BA6BD1FA4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4175" y="1524000"/>
            <a:ext cx="8363650" cy="4648200"/>
          </a:xfrm>
          <a:prstGeom prst="rect">
            <a:avLst/>
          </a:prstGeom>
        </p:spPr>
      </p:pic>
      <p:sp>
        <p:nvSpPr>
          <p:cNvPr id="10" name="TextBox 9">
            <a:extLst>
              <a:ext uri="{FF2B5EF4-FFF2-40B4-BE49-F238E27FC236}">
                <a16:creationId xmlns:a16="http://schemas.microsoft.com/office/drawing/2014/main" id="{4560CF42-DC00-6B35-EADF-828C87542498}"/>
              </a:ext>
            </a:extLst>
          </p:cNvPr>
          <p:cNvSpPr txBox="1"/>
          <p:nvPr/>
        </p:nvSpPr>
        <p:spPr>
          <a:xfrm>
            <a:off x="236306" y="6287784"/>
            <a:ext cx="544530" cy="380144"/>
          </a:xfrm>
          <a:prstGeom prst="rect">
            <a:avLst/>
          </a:prstGeom>
          <a:noFill/>
        </p:spPr>
        <p:txBody>
          <a:bodyPr wrap="square" rtlCol="0">
            <a:noAutofit/>
          </a:bodyPr>
          <a:lstStyle/>
          <a:p>
            <a:pPr algn="ctr"/>
            <a:r>
              <a:rPr lang="en-US" sz="1600" dirty="0"/>
              <a:t>4</a:t>
            </a:r>
          </a:p>
        </p:txBody>
      </p:sp>
      <p:sp>
        <p:nvSpPr>
          <p:cNvPr id="4" name="TextBox 3">
            <a:extLst>
              <a:ext uri="{FF2B5EF4-FFF2-40B4-BE49-F238E27FC236}">
                <a16:creationId xmlns:a16="http://schemas.microsoft.com/office/drawing/2014/main" id="{4310730F-7AAF-B694-8E94-F5C44D265903}"/>
              </a:ext>
            </a:extLst>
          </p:cNvPr>
          <p:cNvSpPr txBox="1"/>
          <p:nvPr/>
        </p:nvSpPr>
        <p:spPr>
          <a:xfrm>
            <a:off x="3305430" y="3734664"/>
            <a:ext cx="1081150" cy="348792"/>
          </a:xfrm>
          <a:prstGeom prst="rect">
            <a:avLst/>
          </a:prstGeom>
          <a:noFill/>
        </p:spPr>
        <p:txBody>
          <a:bodyPr wrap="square" rtlCol="0">
            <a:noAutofit/>
          </a:bodyPr>
          <a:lstStyle/>
          <a:p>
            <a:pPr algn="ctr"/>
            <a:r>
              <a:rPr lang="en-US" sz="1600" b="1" dirty="0"/>
              <a:t>300 </a:t>
            </a:r>
            <a:r>
              <a:rPr lang="en-US" sz="1600" b="1" dirty="0" err="1"/>
              <a:t>fF</a:t>
            </a:r>
            <a:endParaRPr lang="en-US" sz="1600" b="1" dirty="0"/>
          </a:p>
        </p:txBody>
      </p:sp>
    </p:spTree>
    <p:extLst>
      <p:ext uri="{BB962C8B-B14F-4D97-AF65-F5344CB8AC3E}">
        <p14:creationId xmlns:p14="http://schemas.microsoft.com/office/powerpoint/2010/main" val="14361176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E8B6A-5E1D-AC07-F57E-A5E4E69785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EA8C9B-9A9B-7D61-E33B-5AB0239646F1}"/>
              </a:ext>
            </a:extLst>
          </p:cNvPr>
          <p:cNvSpPr>
            <a:spLocks noGrp="1"/>
          </p:cNvSpPr>
          <p:nvPr>
            <p:ph type="title"/>
          </p:nvPr>
        </p:nvSpPr>
        <p:spPr>
          <a:xfrm>
            <a:off x="609600" y="363090"/>
            <a:ext cx="10972800" cy="800100"/>
          </a:xfrm>
        </p:spPr>
        <p:txBody>
          <a:bodyPr anchor="b">
            <a:normAutofit/>
          </a:bodyPr>
          <a:lstStyle/>
          <a:p>
            <a:r>
              <a:rPr lang="en-US" dirty="0"/>
              <a:t>Flash ADC (FADC) Circuit Diagram</a:t>
            </a:r>
          </a:p>
        </p:txBody>
      </p:sp>
      <p:pic>
        <p:nvPicPr>
          <p:cNvPr id="20" name="Graphic 19">
            <a:extLst>
              <a:ext uri="{FF2B5EF4-FFF2-40B4-BE49-F238E27FC236}">
                <a16:creationId xmlns:a16="http://schemas.microsoft.com/office/drawing/2014/main" id="{D99D1FCE-09BD-D17F-6A4D-89F8B88D06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2837" y="1791124"/>
            <a:ext cx="10646326" cy="4648200"/>
          </a:xfrm>
          <a:prstGeom prst="rect">
            <a:avLst/>
          </a:prstGeom>
        </p:spPr>
      </p:pic>
      <p:sp>
        <p:nvSpPr>
          <p:cNvPr id="21" name="TextBox 20">
            <a:extLst>
              <a:ext uri="{FF2B5EF4-FFF2-40B4-BE49-F238E27FC236}">
                <a16:creationId xmlns:a16="http://schemas.microsoft.com/office/drawing/2014/main" id="{1379091F-A8E9-2310-DD3D-9AEDEB77011A}"/>
              </a:ext>
            </a:extLst>
          </p:cNvPr>
          <p:cNvSpPr txBox="1"/>
          <p:nvPr/>
        </p:nvSpPr>
        <p:spPr>
          <a:xfrm>
            <a:off x="236306" y="6287784"/>
            <a:ext cx="544530" cy="380144"/>
          </a:xfrm>
          <a:prstGeom prst="rect">
            <a:avLst/>
          </a:prstGeom>
          <a:noFill/>
        </p:spPr>
        <p:txBody>
          <a:bodyPr wrap="square" rtlCol="0">
            <a:noAutofit/>
          </a:bodyPr>
          <a:lstStyle/>
          <a:p>
            <a:pPr algn="ctr"/>
            <a:r>
              <a:rPr lang="en-US" sz="1600" dirty="0"/>
              <a:t>5</a:t>
            </a:r>
          </a:p>
        </p:txBody>
      </p:sp>
      <p:sp>
        <p:nvSpPr>
          <p:cNvPr id="22" name="Rectangle 21">
            <a:extLst>
              <a:ext uri="{FF2B5EF4-FFF2-40B4-BE49-F238E27FC236}">
                <a16:creationId xmlns:a16="http://schemas.microsoft.com/office/drawing/2014/main" id="{58C16781-6BD0-F1DD-24B9-92FCE8AB9A51}"/>
              </a:ext>
            </a:extLst>
          </p:cNvPr>
          <p:cNvSpPr/>
          <p:nvPr/>
        </p:nvSpPr>
        <p:spPr bwMode="auto">
          <a:xfrm>
            <a:off x="4643919" y="6061749"/>
            <a:ext cx="2198670" cy="700285"/>
          </a:xfrm>
          <a:prstGeom prst="rect">
            <a:avLst/>
          </a:prstGeom>
          <a:solidFill>
            <a:schemeClr val="bg1"/>
          </a:solidFill>
          <a:ln w="28575" cap="sq" algn="ctr">
            <a:solidFill>
              <a:schemeClr val="tx1"/>
            </a:solidFill>
            <a:miter lim="800000"/>
            <a:headEnd/>
            <a:tailEnd/>
          </a:ln>
          <a:effectLst/>
        </p:spPr>
        <p:txBody>
          <a:bodyPr wrap="none" rtlCol="0" anchor="ctr"/>
          <a:lstStyle/>
          <a:p>
            <a:pPr algn="ctr"/>
            <a:r>
              <a:rPr lang="en-US" sz="1600" b="1" dirty="0">
                <a:latin typeface="+mn-lt"/>
              </a:rPr>
              <a:t>Thermometer to </a:t>
            </a:r>
          </a:p>
          <a:p>
            <a:pPr algn="ctr"/>
            <a:r>
              <a:rPr lang="en-US" sz="1600" b="1" dirty="0">
                <a:latin typeface="+mn-lt"/>
              </a:rPr>
              <a:t>One-Hot Encoder</a:t>
            </a:r>
          </a:p>
        </p:txBody>
      </p:sp>
      <p:sp>
        <p:nvSpPr>
          <p:cNvPr id="23" name="Rectangle 22">
            <a:extLst>
              <a:ext uri="{FF2B5EF4-FFF2-40B4-BE49-F238E27FC236}">
                <a16:creationId xmlns:a16="http://schemas.microsoft.com/office/drawing/2014/main" id="{8653E40F-B634-AF58-DCFC-C041CD6BB4D7}"/>
              </a:ext>
            </a:extLst>
          </p:cNvPr>
          <p:cNvSpPr/>
          <p:nvPr/>
        </p:nvSpPr>
        <p:spPr bwMode="auto">
          <a:xfrm>
            <a:off x="3181696" y="1385864"/>
            <a:ext cx="2198670" cy="557268"/>
          </a:xfrm>
          <a:prstGeom prst="rect">
            <a:avLst/>
          </a:prstGeom>
          <a:solidFill>
            <a:schemeClr val="bg1"/>
          </a:solidFill>
          <a:ln w="28575" cap="sq" algn="ctr">
            <a:solidFill>
              <a:schemeClr val="tx1"/>
            </a:solidFill>
            <a:miter lim="800000"/>
            <a:headEnd/>
            <a:tailEnd/>
          </a:ln>
          <a:effectLst/>
        </p:spPr>
        <p:txBody>
          <a:bodyPr wrap="none" rtlCol="0" anchor="ctr"/>
          <a:lstStyle/>
          <a:p>
            <a:pPr algn="ctr"/>
            <a:r>
              <a:rPr lang="en-US" sz="1600" b="1" dirty="0">
                <a:latin typeface="+mn-lt"/>
              </a:rPr>
              <a:t>Resistor-Comparator</a:t>
            </a:r>
          </a:p>
          <a:p>
            <a:pPr algn="ctr"/>
            <a:r>
              <a:rPr lang="en-US" sz="1600" b="1" dirty="0"/>
              <a:t>Ladder</a:t>
            </a:r>
            <a:endParaRPr lang="en-US" sz="1600" b="1" dirty="0">
              <a:latin typeface="+mn-lt"/>
            </a:endParaRPr>
          </a:p>
        </p:txBody>
      </p:sp>
      <p:sp>
        <p:nvSpPr>
          <p:cNvPr id="24" name="Rectangle 23">
            <a:extLst>
              <a:ext uri="{FF2B5EF4-FFF2-40B4-BE49-F238E27FC236}">
                <a16:creationId xmlns:a16="http://schemas.microsoft.com/office/drawing/2014/main" id="{C2D60A0A-C512-296E-69FC-603A42290058}"/>
              </a:ext>
            </a:extLst>
          </p:cNvPr>
          <p:cNvSpPr/>
          <p:nvPr/>
        </p:nvSpPr>
        <p:spPr bwMode="auto">
          <a:xfrm>
            <a:off x="3625885" y="1959007"/>
            <a:ext cx="1018034" cy="88672"/>
          </a:xfrm>
          <a:prstGeom prst="rect">
            <a:avLst/>
          </a:prstGeom>
          <a:solidFill>
            <a:schemeClr val="bg1"/>
          </a:solidFill>
          <a:ln w="28575" cap="sq" algn="ctr">
            <a:noFill/>
            <a:miter lim="800000"/>
            <a:headEnd/>
            <a:tailEnd/>
          </a:ln>
          <a:effectLst/>
        </p:spPr>
        <p:txBody>
          <a:bodyPr wrap="none" rtlCol="0" anchor="ctr"/>
          <a:lstStyle/>
          <a:p>
            <a:pPr algn="ctr"/>
            <a:endParaRPr lang="en-US" sz="1600" b="1" dirty="0">
              <a:latin typeface="+mn-lt"/>
            </a:endParaRPr>
          </a:p>
        </p:txBody>
      </p:sp>
      <p:cxnSp>
        <p:nvCxnSpPr>
          <p:cNvPr id="26" name="Straight Connector 25">
            <a:extLst>
              <a:ext uri="{FF2B5EF4-FFF2-40B4-BE49-F238E27FC236}">
                <a16:creationId xmlns:a16="http://schemas.microsoft.com/office/drawing/2014/main" id="{FD12F09D-5D65-733A-AAC0-91E810DCE0DC}"/>
              </a:ext>
            </a:extLst>
          </p:cNvPr>
          <p:cNvCxnSpPr>
            <a:cxnSpLocks/>
            <a:stCxn id="23" idx="2"/>
          </p:cNvCxnSpPr>
          <p:nvPr/>
        </p:nvCxnSpPr>
        <p:spPr>
          <a:xfrm flipH="1">
            <a:off x="4233863" y="1943132"/>
            <a:ext cx="47168" cy="1499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6FA0DED8-63FD-E548-F5BA-363858A974F4}"/>
              </a:ext>
            </a:extLst>
          </p:cNvPr>
          <p:cNvSpPr/>
          <p:nvPr/>
        </p:nvSpPr>
        <p:spPr bwMode="auto">
          <a:xfrm>
            <a:off x="390418" y="1664498"/>
            <a:ext cx="2290203" cy="557268"/>
          </a:xfrm>
          <a:prstGeom prst="rect">
            <a:avLst/>
          </a:prstGeom>
          <a:solidFill>
            <a:schemeClr val="bg1"/>
          </a:solidFill>
          <a:ln w="28575" cap="sq" algn="ctr">
            <a:solidFill>
              <a:schemeClr val="tx1"/>
            </a:solidFill>
            <a:miter lim="800000"/>
            <a:headEnd/>
            <a:tailEnd/>
          </a:ln>
          <a:effectLst/>
        </p:spPr>
        <p:txBody>
          <a:bodyPr wrap="none" rtlCol="0" anchor="ctr"/>
          <a:lstStyle/>
          <a:p>
            <a:pPr algn="ctr"/>
            <a:r>
              <a:rPr lang="en-US" sz="1600" b="1" dirty="0">
                <a:latin typeface="+mn-lt"/>
              </a:rPr>
              <a:t>Sample &amp; Hold Circuit</a:t>
            </a:r>
          </a:p>
        </p:txBody>
      </p:sp>
      <p:sp>
        <p:nvSpPr>
          <p:cNvPr id="33" name="Rectangle 32">
            <a:extLst>
              <a:ext uri="{FF2B5EF4-FFF2-40B4-BE49-F238E27FC236}">
                <a16:creationId xmlns:a16="http://schemas.microsoft.com/office/drawing/2014/main" id="{23CAB570-0849-D12F-A23D-2768ECD3F41A}"/>
              </a:ext>
            </a:extLst>
          </p:cNvPr>
          <p:cNvSpPr/>
          <p:nvPr/>
        </p:nvSpPr>
        <p:spPr bwMode="auto">
          <a:xfrm>
            <a:off x="6298058" y="1468414"/>
            <a:ext cx="2198671" cy="433706"/>
          </a:xfrm>
          <a:prstGeom prst="rect">
            <a:avLst/>
          </a:prstGeom>
          <a:solidFill>
            <a:schemeClr val="bg1"/>
          </a:solidFill>
          <a:ln w="28575" cap="sq" algn="ctr">
            <a:solidFill>
              <a:schemeClr val="tx1"/>
            </a:solidFill>
            <a:miter lim="800000"/>
            <a:headEnd/>
            <a:tailEnd/>
          </a:ln>
          <a:effectLst/>
        </p:spPr>
        <p:txBody>
          <a:bodyPr wrap="none" rtlCol="0" anchor="ctr"/>
          <a:lstStyle/>
          <a:p>
            <a:pPr algn="ctr"/>
            <a:r>
              <a:rPr lang="en-US" sz="1600" b="1" dirty="0">
                <a:latin typeface="+mn-lt"/>
              </a:rPr>
              <a:t>ROM Encoder</a:t>
            </a:r>
          </a:p>
        </p:txBody>
      </p:sp>
      <p:sp>
        <p:nvSpPr>
          <p:cNvPr id="34" name="Rectangle 33">
            <a:extLst>
              <a:ext uri="{FF2B5EF4-FFF2-40B4-BE49-F238E27FC236}">
                <a16:creationId xmlns:a16="http://schemas.microsoft.com/office/drawing/2014/main" id="{BC85AEA3-0A28-F7EF-E9D2-DFE2856094C1}"/>
              </a:ext>
            </a:extLst>
          </p:cNvPr>
          <p:cNvSpPr/>
          <p:nvPr/>
        </p:nvSpPr>
        <p:spPr bwMode="auto">
          <a:xfrm>
            <a:off x="9850562" y="1876266"/>
            <a:ext cx="1485239" cy="433706"/>
          </a:xfrm>
          <a:prstGeom prst="rect">
            <a:avLst/>
          </a:prstGeom>
          <a:solidFill>
            <a:schemeClr val="bg1"/>
          </a:solidFill>
          <a:ln w="28575" cap="sq" algn="ctr">
            <a:solidFill>
              <a:schemeClr val="tx1"/>
            </a:solidFill>
            <a:miter lim="800000"/>
            <a:headEnd/>
            <a:tailEnd/>
          </a:ln>
          <a:effectLst/>
        </p:spPr>
        <p:txBody>
          <a:bodyPr wrap="none" rtlCol="0" anchor="ctr"/>
          <a:lstStyle/>
          <a:p>
            <a:pPr algn="ctr"/>
            <a:r>
              <a:rPr lang="en-US" sz="1600" b="1" dirty="0">
                <a:latin typeface="+mn-lt"/>
              </a:rPr>
              <a:t>Data Latches</a:t>
            </a:r>
          </a:p>
        </p:txBody>
      </p:sp>
    </p:spTree>
    <p:extLst>
      <p:ext uri="{BB962C8B-B14F-4D97-AF65-F5344CB8AC3E}">
        <p14:creationId xmlns:p14="http://schemas.microsoft.com/office/powerpoint/2010/main" val="34339651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D4900-2C41-2F9A-9768-F40AA75CC5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3C4C33-89E4-841C-2960-5849AA795468}"/>
              </a:ext>
            </a:extLst>
          </p:cNvPr>
          <p:cNvSpPr>
            <a:spLocks noGrp="1"/>
          </p:cNvSpPr>
          <p:nvPr>
            <p:ph type="title"/>
          </p:nvPr>
        </p:nvSpPr>
        <p:spPr>
          <a:xfrm>
            <a:off x="609600" y="363090"/>
            <a:ext cx="10972800" cy="800100"/>
          </a:xfrm>
        </p:spPr>
        <p:txBody>
          <a:bodyPr anchor="b">
            <a:normAutofit/>
          </a:bodyPr>
          <a:lstStyle/>
          <a:p>
            <a:r>
              <a:rPr lang="en-US" dirty="0"/>
              <a:t>Flash ADC (FADC) Circuit Diagram</a:t>
            </a:r>
          </a:p>
        </p:txBody>
      </p:sp>
      <p:pic>
        <p:nvPicPr>
          <p:cNvPr id="20" name="Graphic 19">
            <a:extLst>
              <a:ext uri="{FF2B5EF4-FFF2-40B4-BE49-F238E27FC236}">
                <a16:creationId xmlns:a16="http://schemas.microsoft.com/office/drawing/2014/main" id="{9CF4BDEC-9E83-430B-BD2C-40E2DFC9AA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2837" y="1791124"/>
            <a:ext cx="10646326" cy="4648200"/>
          </a:xfrm>
          <a:prstGeom prst="rect">
            <a:avLst/>
          </a:prstGeom>
        </p:spPr>
      </p:pic>
      <p:sp>
        <p:nvSpPr>
          <p:cNvPr id="21" name="TextBox 20">
            <a:extLst>
              <a:ext uri="{FF2B5EF4-FFF2-40B4-BE49-F238E27FC236}">
                <a16:creationId xmlns:a16="http://schemas.microsoft.com/office/drawing/2014/main" id="{6A8E1E96-29AA-EB55-16B9-301D17078DB7}"/>
              </a:ext>
            </a:extLst>
          </p:cNvPr>
          <p:cNvSpPr txBox="1"/>
          <p:nvPr/>
        </p:nvSpPr>
        <p:spPr>
          <a:xfrm>
            <a:off x="236306" y="6287784"/>
            <a:ext cx="544530" cy="380144"/>
          </a:xfrm>
          <a:prstGeom prst="rect">
            <a:avLst/>
          </a:prstGeom>
          <a:noFill/>
        </p:spPr>
        <p:txBody>
          <a:bodyPr wrap="square" rtlCol="0">
            <a:noAutofit/>
          </a:bodyPr>
          <a:lstStyle/>
          <a:p>
            <a:pPr algn="ctr"/>
            <a:r>
              <a:rPr lang="en-US" sz="1600" dirty="0"/>
              <a:t>6</a:t>
            </a:r>
          </a:p>
        </p:txBody>
      </p:sp>
      <p:sp>
        <p:nvSpPr>
          <p:cNvPr id="22" name="Rectangle 21">
            <a:extLst>
              <a:ext uri="{FF2B5EF4-FFF2-40B4-BE49-F238E27FC236}">
                <a16:creationId xmlns:a16="http://schemas.microsoft.com/office/drawing/2014/main" id="{31F6C5E1-8131-208F-BA48-36967B0AF511}"/>
              </a:ext>
            </a:extLst>
          </p:cNvPr>
          <p:cNvSpPr/>
          <p:nvPr/>
        </p:nvSpPr>
        <p:spPr bwMode="auto">
          <a:xfrm>
            <a:off x="4643919" y="6061749"/>
            <a:ext cx="2198670" cy="700285"/>
          </a:xfrm>
          <a:prstGeom prst="rect">
            <a:avLst/>
          </a:prstGeom>
          <a:solidFill>
            <a:schemeClr val="bg1"/>
          </a:solidFill>
          <a:ln w="28575" cap="sq" algn="ctr">
            <a:solidFill>
              <a:schemeClr val="tx1"/>
            </a:solidFill>
            <a:miter lim="800000"/>
            <a:headEnd/>
            <a:tailEnd/>
          </a:ln>
          <a:effectLst/>
        </p:spPr>
        <p:txBody>
          <a:bodyPr wrap="none" rtlCol="0" anchor="ctr"/>
          <a:lstStyle/>
          <a:p>
            <a:pPr algn="ctr"/>
            <a:r>
              <a:rPr lang="en-US" sz="1600" b="1" dirty="0">
                <a:latin typeface="+mn-lt"/>
              </a:rPr>
              <a:t>Thermometer to </a:t>
            </a:r>
          </a:p>
          <a:p>
            <a:pPr algn="ctr"/>
            <a:r>
              <a:rPr lang="en-US" sz="1600" b="1" dirty="0">
                <a:latin typeface="+mn-lt"/>
              </a:rPr>
              <a:t>One-Hot Encoder</a:t>
            </a:r>
          </a:p>
        </p:txBody>
      </p:sp>
      <p:sp>
        <p:nvSpPr>
          <p:cNvPr id="23" name="Rectangle 22">
            <a:extLst>
              <a:ext uri="{FF2B5EF4-FFF2-40B4-BE49-F238E27FC236}">
                <a16:creationId xmlns:a16="http://schemas.microsoft.com/office/drawing/2014/main" id="{69546976-83AA-50B4-4869-83369D4A5993}"/>
              </a:ext>
            </a:extLst>
          </p:cNvPr>
          <p:cNvSpPr/>
          <p:nvPr/>
        </p:nvSpPr>
        <p:spPr bwMode="auto">
          <a:xfrm>
            <a:off x="3181696" y="1385864"/>
            <a:ext cx="2198670" cy="557268"/>
          </a:xfrm>
          <a:prstGeom prst="rect">
            <a:avLst/>
          </a:prstGeom>
          <a:solidFill>
            <a:schemeClr val="bg1"/>
          </a:solidFill>
          <a:ln w="28575" cap="sq" algn="ctr">
            <a:solidFill>
              <a:schemeClr val="tx1"/>
            </a:solidFill>
            <a:miter lim="800000"/>
            <a:headEnd/>
            <a:tailEnd/>
          </a:ln>
          <a:effectLst/>
        </p:spPr>
        <p:txBody>
          <a:bodyPr wrap="none" rtlCol="0" anchor="ctr"/>
          <a:lstStyle/>
          <a:p>
            <a:pPr algn="ctr"/>
            <a:r>
              <a:rPr lang="en-US" sz="1600" b="1" dirty="0">
                <a:latin typeface="+mn-lt"/>
              </a:rPr>
              <a:t>Resistor-Comparator</a:t>
            </a:r>
          </a:p>
          <a:p>
            <a:pPr algn="ctr"/>
            <a:r>
              <a:rPr lang="en-US" sz="1600" b="1" dirty="0"/>
              <a:t>Ladder</a:t>
            </a:r>
            <a:endParaRPr lang="en-US" sz="1600" b="1" dirty="0">
              <a:latin typeface="+mn-lt"/>
            </a:endParaRPr>
          </a:p>
        </p:txBody>
      </p:sp>
      <p:sp>
        <p:nvSpPr>
          <p:cNvPr id="24" name="Rectangle 23">
            <a:extLst>
              <a:ext uri="{FF2B5EF4-FFF2-40B4-BE49-F238E27FC236}">
                <a16:creationId xmlns:a16="http://schemas.microsoft.com/office/drawing/2014/main" id="{7CA17FFE-FD26-109F-5415-1BE4C4E75F36}"/>
              </a:ext>
            </a:extLst>
          </p:cNvPr>
          <p:cNvSpPr/>
          <p:nvPr/>
        </p:nvSpPr>
        <p:spPr bwMode="auto">
          <a:xfrm>
            <a:off x="3625885" y="1959007"/>
            <a:ext cx="1018034" cy="88672"/>
          </a:xfrm>
          <a:prstGeom prst="rect">
            <a:avLst/>
          </a:prstGeom>
          <a:solidFill>
            <a:schemeClr val="bg1"/>
          </a:solidFill>
          <a:ln w="28575" cap="sq" algn="ctr">
            <a:noFill/>
            <a:miter lim="800000"/>
            <a:headEnd/>
            <a:tailEnd/>
          </a:ln>
          <a:effectLst/>
        </p:spPr>
        <p:txBody>
          <a:bodyPr wrap="none" rtlCol="0" anchor="ctr"/>
          <a:lstStyle/>
          <a:p>
            <a:pPr algn="ctr"/>
            <a:endParaRPr lang="en-US" sz="1600" b="1" dirty="0">
              <a:latin typeface="+mn-lt"/>
            </a:endParaRPr>
          </a:p>
        </p:txBody>
      </p:sp>
      <p:cxnSp>
        <p:nvCxnSpPr>
          <p:cNvPr id="26" name="Straight Connector 25">
            <a:extLst>
              <a:ext uri="{FF2B5EF4-FFF2-40B4-BE49-F238E27FC236}">
                <a16:creationId xmlns:a16="http://schemas.microsoft.com/office/drawing/2014/main" id="{428C3BBA-D5CD-7B40-9455-FF2675D61CEC}"/>
              </a:ext>
            </a:extLst>
          </p:cNvPr>
          <p:cNvCxnSpPr>
            <a:cxnSpLocks/>
            <a:stCxn id="23" idx="2"/>
          </p:cNvCxnSpPr>
          <p:nvPr/>
        </p:nvCxnSpPr>
        <p:spPr>
          <a:xfrm flipH="1">
            <a:off x="4233863" y="1943132"/>
            <a:ext cx="47168" cy="1499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869E1139-D274-8DC0-0882-8236D0FE87DC}"/>
              </a:ext>
            </a:extLst>
          </p:cNvPr>
          <p:cNvSpPr/>
          <p:nvPr/>
        </p:nvSpPr>
        <p:spPr bwMode="auto">
          <a:xfrm>
            <a:off x="390418" y="1664498"/>
            <a:ext cx="2290203" cy="557268"/>
          </a:xfrm>
          <a:prstGeom prst="rect">
            <a:avLst/>
          </a:prstGeom>
          <a:solidFill>
            <a:schemeClr val="bg1"/>
          </a:solidFill>
          <a:ln w="28575" cap="sq" algn="ctr">
            <a:solidFill>
              <a:schemeClr val="tx1"/>
            </a:solidFill>
            <a:miter lim="800000"/>
            <a:headEnd/>
            <a:tailEnd/>
          </a:ln>
          <a:effectLst/>
        </p:spPr>
        <p:txBody>
          <a:bodyPr wrap="none" rtlCol="0" anchor="ctr"/>
          <a:lstStyle/>
          <a:p>
            <a:pPr algn="ctr"/>
            <a:r>
              <a:rPr lang="en-US" sz="1600" b="1" dirty="0">
                <a:latin typeface="+mn-lt"/>
              </a:rPr>
              <a:t>Sample &amp; Hold Circuit</a:t>
            </a:r>
          </a:p>
        </p:txBody>
      </p:sp>
      <p:sp>
        <p:nvSpPr>
          <p:cNvPr id="33" name="Rectangle 32">
            <a:extLst>
              <a:ext uri="{FF2B5EF4-FFF2-40B4-BE49-F238E27FC236}">
                <a16:creationId xmlns:a16="http://schemas.microsoft.com/office/drawing/2014/main" id="{4D8B28CC-DB1A-012C-F42A-E29DDB34BCFE}"/>
              </a:ext>
            </a:extLst>
          </p:cNvPr>
          <p:cNvSpPr/>
          <p:nvPr/>
        </p:nvSpPr>
        <p:spPr bwMode="auto">
          <a:xfrm>
            <a:off x="6298058" y="1468414"/>
            <a:ext cx="2198671" cy="433706"/>
          </a:xfrm>
          <a:prstGeom prst="rect">
            <a:avLst/>
          </a:prstGeom>
          <a:solidFill>
            <a:schemeClr val="bg1"/>
          </a:solidFill>
          <a:ln w="28575" cap="sq" algn="ctr">
            <a:solidFill>
              <a:schemeClr val="tx1"/>
            </a:solidFill>
            <a:miter lim="800000"/>
            <a:headEnd/>
            <a:tailEnd/>
          </a:ln>
          <a:effectLst/>
        </p:spPr>
        <p:txBody>
          <a:bodyPr wrap="none" rtlCol="0" anchor="ctr"/>
          <a:lstStyle/>
          <a:p>
            <a:pPr algn="ctr"/>
            <a:r>
              <a:rPr lang="en-US" sz="1600" b="1" dirty="0">
                <a:latin typeface="+mn-lt"/>
              </a:rPr>
              <a:t>ROM Encoder</a:t>
            </a:r>
          </a:p>
        </p:txBody>
      </p:sp>
      <p:sp>
        <p:nvSpPr>
          <p:cNvPr id="34" name="Rectangle 33">
            <a:extLst>
              <a:ext uri="{FF2B5EF4-FFF2-40B4-BE49-F238E27FC236}">
                <a16:creationId xmlns:a16="http://schemas.microsoft.com/office/drawing/2014/main" id="{0CA66D4E-7620-1A09-82A5-3C753DE7413E}"/>
              </a:ext>
            </a:extLst>
          </p:cNvPr>
          <p:cNvSpPr/>
          <p:nvPr/>
        </p:nvSpPr>
        <p:spPr bwMode="auto">
          <a:xfrm>
            <a:off x="9850562" y="1876266"/>
            <a:ext cx="1485239" cy="433706"/>
          </a:xfrm>
          <a:prstGeom prst="rect">
            <a:avLst/>
          </a:prstGeom>
          <a:solidFill>
            <a:schemeClr val="bg1"/>
          </a:solidFill>
          <a:ln w="28575" cap="sq" algn="ctr">
            <a:solidFill>
              <a:schemeClr val="tx1"/>
            </a:solidFill>
            <a:miter lim="800000"/>
            <a:headEnd/>
            <a:tailEnd/>
          </a:ln>
          <a:effectLst/>
        </p:spPr>
        <p:txBody>
          <a:bodyPr wrap="none" rtlCol="0" anchor="ctr"/>
          <a:lstStyle/>
          <a:p>
            <a:pPr algn="ctr"/>
            <a:r>
              <a:rPr lang="en-US" sz="1600" b="1" dirty="0">
                <a:latin typeface="+mn-lt"/>
              </a:rPr>
              <a:t>Data Latches</a:t>
            </a:r>
          </a:p>
        </p:txBody>
      </p:sp>
      <p:sp>
        <p:nvSpPr>
          <p:cNvPr id="3" name="Rectangle 2">
            <a:extLst>
              <a:ext uri="{FF2B5EF4-FFF2-40B4-BE49-F238E27FC236}">
                <a16:creationId xmlns:a16="http://schemas.microsoft.com/office/drawing/2014/main" id="{69EC9751-AE48-33F5-C551-C7D9B7218D61}"/>
              </a:ext>
            </a:extLst>
          </p:cNvPr>
          <p:cNvSpPr/>
          <p:nvPr/>
        </p:nvSpPr>
        <p:spPr bwMode="auto">
          <a:xfrm flipH="1">
            <a:off x="2406650" y="2370389"/>
            <a:ext cx="775046" cy="252044"/>
          </a:xfrm>
          <a:prstGeom prst="rect">
            <a:avLst/>
          </a:prstGeom>
          <a:solidFill>
            <a:schemeClr val="bg1">
              <a:lumMod val="95000"/>
            </a:schemeClr>
          </a:solidFill>
          <a:ln>
            <a:headEnd/>
            <a:tailEnd/>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600" b="1" dirty="0">
                <a:solidFill>
                  <a:schemeClr val="tx1"/>
                </a:solidFill>
              </a:rPr>
              <a:t>1.992 </a:t>
            </a:r>
            <a:r>
              <a:rPr lang="en-US" sz="1600" b="1" dirty="0">
                <a:solidFill>
                  <a:schemeClr val="tx1"/>
                </a:solidFill>
                <a:latin typeface="+mn-lt"/>
              </a:rPr>
              <a:t>V</a:t>
            </a:r>
          </a:p>
        </p:txBody>
      </p:sp>
      <p:sp>
        <p:nvSpPr>
          <p:cNvPr id="5" name="Rectangle 4">
            <a:extLst>
              <a:ext uri="{FF2B5EF4-FFF2-40B4-BE49-F238E27FC236}">
                <a16:creationId xmlns:a16="http://schemas.microsoft.com/office/drawing/2014/main" id="{09036541-B5E5-DD24-56BA-C9B3582FE0FD}"/>
              </a:ext>
            </a:extLst>
          </p:cNvPr>
          <p:cNvSpPr/>
          <p:nvPr/>
        </p:nvSpPr>
        <p:spPr bwMode="auto">
          <a:xfrm>
            <a:off x="2401321" y="3262645"/>
            <a:ext cx="775046" cy="252044"/>
          </a:xfrm>
          <a:prstGeom prst="rect">
            <a:avLst/>
          </a:prstGeom>
          <a:solidFill>
            <a:schemeClr val="bg1">
              <a:lumMod val="95000"/>
            </a:schemeClr>
          </a:solidFill>
          <a:ln>
            <a:headEnd/>
            <a:tailEnd/>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600" b="1" dirty="0">
                <a:solidFill>
                  <a:schemeClr val="tx1"/>
                </a:solidFill>
              </a:rPr>
              <a:t>1.984 </a:t>
            </a:r>
            <a:r>
              <a:rPr lang="en-US" sz="1600" b="1" dirty="0">
                <a:solidFill>
                  <a:schemeClr val="tx1"/>
                </a:solidFill>
                <a:latin typeface="+mn-lt"/>
              </a:rPr>
              <a:t>V</a:t>
            </a:r>
          </a:p>
        </p:txBody>
      </p:sp>
      <p:sp>
        <p:nvSpPr>
          <p:cNvPr id="6" name="Rectangle 5">
            <a:extLst>
              <a:ext uri="{FF2B5EF4-FFF2-40B4-BE49-F238E27FC236}">
                <a16:creationId xmlns:a16="http://schemas.microsoft.com/office/drawing/2014/main" id="{7B52EA15-C60B-C840-A4E7-49CFE1EC827D}"/>
              </a:ext>
            </a:extLst>
          </p:cNvPr>
          <p:cNvSpPr/>
          <p:nvPr/>
        </p:nvSpPr>
        <p:spPr bwMode="auto">
          <a:xfrm>
            <a:off x="2401320" y="3860453"/>
            <a:ext cx="775046" cy="252044"/>
          </a:xfrm>
          <a:prstGeom prst="rect">
            <a:avLst/>
          </a:prstGeom>
          <a:solidFill>
            <a:schemeClr val="bg1">
              <a:lumMod val="95000"/>
            </a:schemeClr>
          </a:solidFill>
          <a:ln>
            <a:headEnd/>
            <a:tailEnd/>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600" b="1" dirty="0">
                <a:solidFill>
                  <a:schemeClr val="tx1"/>
                </a:solidFill>
              </a:rPr>
              <a:t>1.976 </a:t>
            </a:r>
            <a:r>
              <a:rPr lang="en-US" sz="1600" b="1" dirty="0">
                <a:solidFill>
                  <a:schemeClr val="tx1"/>
                </a:solidFill>
                <a:latin typeface="+mn-lt"/>
              </a:rPr>
              <a:t>V</a:t>
            </a:r>
          </a:p>
        </p:txBody>
      </p:sp>
      <p:sp>
        <p:nvSpPr>
          <p:cNvPr id="7" name="Oval 6">
            <a:extLst>
              <a:ext uri="{FF2B5EF4-FFF2-40B4-BE49-F238E27FC236}">
                <a16:creationId xmlns:a16="http://schemas.microsoft.com/office/drawing/2014/main" id="{05524A6C-1F98-7A0D-177C-3558B388D1E1}"/>
              </a:ext>
            </a:extLst>
          </p:cNvPr>
          <p:cNvSpPr/>
          <p:nvPr/>
        </p:nvSpPr>
        <p:spPr bwMode="auto">
          <a:xfrm>
            <a:off x="3251835" y="2801620"/>
            <a:ext cx="105410" cy="105410"/>
          </a:xfrm>
          <a:prstGeom prst="ellipse">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cxnSp>
        <p:nvCxnSpPr>
          <p:cNvPr id="9" name="Straight Connector 8">
            <a:extLst>
              <a:ext uri="{FF2B5EF4-FFF2-40B4-BE49-F238E27FC236}">
                <a16:creationId xmlns:a16="http://schemas.microsoft.com/office/drawing/2014/main" id="{67CEEBD6-EFCF-09B4-0F74-55FF39BC9574}"/>
              </a:ext>
            </a:extLst>
          </p:cNvPr>
          <p:cNvCxnSpPr>
            <a:cxnSpLocks/>
          </p:cNvCxnSpPr>
          <p:nvPr/>
        </p:nvCxnSpPr>
        <p:spPr>
          <a:xfrm>
            <a:off x="3114148" y="2622433"/>
            <a:ext cx="161487" cy="194624"/>
          </a:xfrm>
          <a:prstGeom prst="line">
            <a:avLst/>
          </a:prstGeom>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B4F3F3B8-DD54-BCF3-2752-EFDD88C02F09}"/>
              </a:ext>
            </a:extLst>
          </p:cNvPr>
          <p:cNvSpPr/>
          <p:nvPr/>
        </p:nvSpPr>
        <p:spPr bwMode="auto">
          <a:xfrm>
            <a:off x="3247995" y="3453245"/>
            <a:ext cx="105410" cy="105410"/>
          </a:xfrm>
          <a:prstGeom prst="ellipse">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cxnSp>
        <p:nvCxnSpPr>
          <p:cNvPr id="11" name="Straight Connector 10">
            <a:extLst>
              <a:ext uri="{FF2B5EF4-FFF2-40B4-BE49-F238E27FC236}">
                <a16:creationId xmlns:a16="http://schemas.microsoft.com/office/drawing/2014/main" id="{DB2BD86F-C14A-342A-1C8F-4D614DFB7ABC}"/>
              </a:ext>
            </a:extLst>
          </p:cNvPr>
          <p:cNvCxnSpPr>
            <a:cxnSpLocks/>
            <a:stCxn id="5" idx="3"/>
            <a:endCxn id="10" idx="1"/>
          </p:cNvCxnSpPr>
          <p:nvPr/>
        </p:nvCxnSpPr>
        <p:spPr>
          <a:xfrm>
            <a:off x="3176367" y="3388667"/>
            <a:ext cx="87065" cy="80015"/>
          </a:xfrm>
          <a:prstGeom prst="line">
            <a:avLst/>
          </a:prstGeom>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2B1883C5-1576-B514-9F40-944418063BB2}"/>
              </a:ext>
            </a:extLst>
          </p:cNvPr>
          <p:cNvSpPr/>
          <p:nvPr/>
        </p:nvSpPr>
        <p:spPr bwMode="auto">
          <a:xfrm>
            <a:off x="3250182" y="4116364"/>
            <a:ext cx="105410" cy="105410"/>
          </a:xfrm>
          <a:prstGeom prst="ellipse">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cxnSp>
        <p:nvCxnSpPr>
          <p:cNvPr id="13" name="Straight Connector 12">
            <a:extLst>
              <a:ext uri="{FF2B5EF4-FFF2-40B4-BE49-F238E27FC236}">
                <a16:creationId xmlns:a16="http://schemas.microsoft.com/office/drawing/2014/main" id="{D0139547-F360-CA4C-CEED-9595A9FAC7D6}"/>
              </a:ext>
            </a:extLst>
          </p:cNvPr>
          <p:cNvCxnSpPr>
            <a:cxnSpLocks/>
          </p:cNvCxnSpPr>
          <p:nvPr/>
        </p:nvCxnSpPr>
        <p:spPr>
          <a:xfrm>
            <a:off x="3157220" y="4112497"/>
            <a:ext cx="129882" cy="36375"/>
          </a:xfrm>
          <a:prstGeom prst="line">
            <a:avLst/>
          </a:prstGeom>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E3D644AC-B367-6828-3F25-B7AAF8B2D5BF}"/>
              </a:ext>
            </a:extLst>
          </p:cNvPr>
          <p:cNvPicPr>
            <a:picLocks noChangeAspect="1"/>
          </p:cNvPicPr>
          <p:nvPr/>
        </p:nvPicPr>
        <p:blipFill>
          <a:blip>
            <a:extLst>
              <a:ext uri="{96DAC541-7B7A-43D3-8B79-37D633B846F1}">
                <asvg:svgBlip xmlns:asvg="http://schemas.microsoft.com/office/drawing/2016/SVG/main" r:embed="rId4"/>
              </a:ext>
            </a:extLst>
          </a:blip>
          <a:srcRect l="1314" t="27077" r="97577" b="70306"/>
          <a:stretch>
            <a:fillRect/>
          </a:stretch>
        </p:blipFill>
        <p:spPr>
          <a:xfrm>
            <a:off x="177572" y="2381182"/>
            <a:ext cx="1063271" cy="1058285"/>
          </a:xfrm>
          <a:prstGeom prst="flowChartConnector">
            <a:avLst/>
          </a:prstGeom>
        </p:spPr>
      </p:pic>
      <p:sp>
        <p:nvSpPr>
          <p:cNvPr id="27" name="Rectangle 26">
            <a:extLst>
              <a:ext uri="{FF2B5EF4-FFF2-40B4-BE49-F238E27FC236}">
                <a16:creationId xmlns:a16="http://schemas.microsoft.com/office/drawing/2014/main" id="{0873D925-37E8-CE09-6589-08BABFF7CFF4}"/>
              </a:ext>
            </a:extLst>
          </p:cNvPr>
          <p:cNvSpPr/>
          <p:nvPr/>
        </p:nvSpPr>
        <p:spPr bwMode="auto">
          <a:xfrm>
            <a:off x="3324860" y="2832297"/>
            <a:ext cx="591820" cy="45719"/>
          </a:xfrm>
          <a:prstGeom prst="rect">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28" name="Rectangle 27">
            <a:extLst>
              <a:ext uri="{FF2B5EF4-FFF2-40B4-BE49-F238E27FC236}">
                <a16:creationId xmlns:a16="http://schemas.microsoft.com/office/drawing/2014/main" id="{FC3502DF-2848-C8DE-0E65-CBF87AE28206}"/>
              </a:ext>
            </a:extLst>
          </p:cNvPr>
          <p:cNvSpPr/>
          <p:nvPr/>
        </p:nvSpPr>
        <p:spPr bwMode="auto">
          <a:xfrm>
            <a:off x="3324860" y="3480968"/>
            <a:ext cx="591820" cy="45719"/>
          </a:xfrm>
          <a:prstGeom prst="rect">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29" name="Rectangle 28">
            <a:extLst>
              <a:ext uri="{FF2B5EF4-FFF2-40B4-BE49-F238E27FC236}">
                <a16:creationId xmlns:a16="http://schemas.microsoft.com/office/drawing/2014/main" id="{C2A0BAED-06EF-5D2E-345D-46AB0A1CD131}"/>
              </a:ext>
            </a:extLst>
          </p:cNvPr>
          <p:cNvSpPr/>
          <p:nvPr/>
        </p:nvSpPr>
        <p:spPr bwMode="auto">
          <a:xfrm>
            <a:off x="3324860" y="4146468"/>
            <a:ext cx="591820" cy="45719"/>
          </a:xfrm>
          <a:prstGeom prst="rect">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30" name="Rectangle 29">
            <a:extLst>
              <a:ext uri="{FF2B5EF4-FFF2-40B4-BE49-F238E27FC236}">
                <a16:creationId xmlns:a16="http://schemas.microsoft.com/office/drawing/2014/main" id="{B4F3B2C4-9775-A17A-1158-149CA9BE04F7}"/>
              </a:ext>
            </a:extLst>
          </p:cNvPr>
          <p:cNvSpPr/>
          <p:nvPr/>
        </p:nvSpPr>
        <p:spPr bwMode="auto">
          <a:xfrm>
            <a:off x="3324860" y="5449276"/>
            <a:ext cx="591820" cy="45719"/>
          </a:xfrm>
          <a:prstGeom prst="rect">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32" name="Rectangle 31">
            <a:extLst>
              <a:ext uri="{FF2B5EF4-FFF2-40B4-BE49-F238E27FC236}">
                <a16:creationId xmlns:a16="http://schemas.microsoft.com/office/drawing/2014/main" id="{2027756E-15E4-E276-2A61-DE54DDBA3889}"/>
              </a:ext>
            </a:extLst>
          </p:cNvPr>
          <p:cNvSpPr/>
          <p:nvPr/>
        </p:nvSpPr>
        <p:spPr bwMode="auto">
          <a:xfrm rot="5400000">
            <a:off x="2213678" y="4210077"/>
            <a:ext cx="2968387" cy="56704"/>
          </a:xfrm>
          <a:prstGeom prst="rect">
            <a:avLst/>
          </a:prstGeom>
          <a:solidFill>
            <a:schemeClr val="accent3"/>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35" name="Rectangle 34">
            <a:extLst>
              <a:ext uri="{FF2B5EF4-FFF2-40B4-BE49-F238E27FC236}">
                <a16:creationId xmlns:a16="http://schemas.microsoft.com/office/drawing/2014/main" id="{D719083E-631A-587F-7687-2AECEF341128}"/>
              </a:ext>
            </a:extLst>
          </p:cNvPr>
          <p:cNvSpPr/>
          <p:nvPr/>
        </p:nvSpPr>
        <p:spPr bwMode="auto">
          <a:xfrm>
            <a:off x="3708260" y="5674908"/>
            <a:ext cx="208420" cy="45719"/>
          </a:xfrm>
          <a:prstGeom prst="rect">
            <a:avLst/>
          </a:prstGeom>
          <a:solidFill>
            <a:schemeClr val="accent3"/>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36" name="Rectangle 35">
            <a:extLst>
              <a:ext uri="{FF2B5EF4-FFF2-40B4-BE49-F238E27FC236}">
                <a16:creationId xmlns:a16="http://schemas.microsoft.com/office/drawing/2014/main" id="{FFBE83CE-E157-8E04-822B-A5E0D4D8B530}"/>
              </a:ext>
            </a:extLst>
          </p:cNvPr>
          <p:cNvSpPr/>
          <p:nvPr/>
        </p:nvSpPr>
        <p:spPr bwMode="auto">
          <a:xfrm>
            <a:off x="3708260" y="4350758"/>
            <a:ext cx="208420" cy="45719"/>
          </a:xfrm>
          <a:prstGeom prst="rect">
            <a:avLst/>
          </a:prstGeom>
          <a:solidFill>
            <a:schemeClr val="accent3"/>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37" name="Rectangle 36">
            <a:extLst>
              <a:ext uri="{FF2B5EF4-FFF2-40B4-BE49-F238E27FC236}">
                <a16:creationId xmlns:a16="http://schemas.microsoft.com/office/drawing/2014/main" id="{9427A17C-4C5D-7278-B2CB-B6CA1326BDF0}"/>
              </a:ext>
            </a:extLst>
          </p:cNvPr>
          <p:cNvSpPr/>
          <p:nvPr/>
        </p:nvSpPr>
        <p:spPr bwMode="auto">
          <a:xfrm>
            <a:off x="3708260" y="3685258"/>
            <a:ext cx="208420" cy="45719"/>
          </a:xfrm>
          <a:prstGeom prst="rect">
            <a:avLst/>
          </a:prstGeom>
          <a:solidFill>
            <a:schemeClr val="accent3"/>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38" name="Rectangle 37">
            <a:extLst>
              <a:ext uri="{FF2B5EF4-FFF2-40B4-BE49-F238E27FC236}">
                <a16:creationId xmlns:a16="http://schemas.microsoft.com/office/drawing/2014/main" id="{0FF56E5D-5445-1588-F7D2-823C659CAA45}"/>
              </a:ext>
            </a:extLst>
          </p:cNvPr>
          <p:cNvSpPr/>
          <p:nvPr/>
        </p:nvSpPr>
        <p:spPr bwMode="auto">
          <a:xfrm>
            <a:off x="3708260" y="3040042"/>
            <a:ext cx="208420" cy="45719"/>
          </a:xfrm>
          <a:prstGeom prst="rect">
            <a:avLst/>
          </a:prstGeom>
          <a:solidFill>
            <a:schemeClr val="accent3"/>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40" name="Oval 39">
            <a:extLst>
              <a:ext uri="{FF2B5EF4-FFF2-40B4-BE49-F238E27FC236}">
                <a16:creationId xmlns:a16="http://schemas.microsoft.com/office/drawing/2014/main" id="{B375BD42-1115-36EF-AD58-4CE117E5A0D2}"/>
              </a:ext>
            </a:extLst>
          </p:cNvPr>
          <p:cNvSpPr/>
          <p:nvPr/>
        </p:nvSpPr>
        <p:spPr bwMode="auto">
          <a:xfrm>
            <a:off x="3251835" y="5419431"/>
            <a:ext cx="105410" cy="105410"/>
          </a:xfrm>
          <a:prstGeom prst="ellipse">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46" name="Rectangle 45">
            <a:extLst>
              <a:ext uri="{FF2B5EF4-FFF2-40B4-BE49-F238E27FC236}">
                <a16:creationId xmlns:a16="http://schemas.microsoft.com/office/drawing/2014/main" id="{EC24B41D-D23B-0DC8-0482-97769B843F93}"/>
              </a:ext>
            </a:extLst>
          </p:cNvPr>
          <p:cNvSpPr/>
          <p:nvPr/>
        </p:nvSpPr>
        <p:spPr bwMode="auto">
          <a:xfrm>
            <a:off x="2401320" y="5107369"/>
            <a:ext cx="775046" cy="252044"/>
          </a:xfrm>
          <a:prstGeom prst="rect">
            <a:avLst/>
          </a:prstGeom>
          <a:solidFill>
            <a:schemeClr val="bg1">
              <a:lumMod val="95000"/>
            </a:schemeClr>
          </a:solidFill>
          <a:ln>
            <a:headEnd/>
            <a:tailEnd/>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600" b="1" dirty="0">
                <a:solidFill>
                  <a:schemeClr val="tx1"/>
                </a:solidFill>
              </a:rPr>
              <a:t>8 m</a:t>
            </a:r>
            <a:r>
              <a:rPr lang="en-US" sz="1600" b="1" dirty="0">
                <a:solidFill>
                  <a:schemeClr val="tx1"/>
                </a:solidFill>
                <a:latin typeface="+mn-lt"/>
              </a:rPr>
              <a:t>V</a:t>
            </a:r>
          </a:p>
        </p:txBody>
      </p:sp>
      <p:cxnSp>
        <p:nvCxnSpPr>
          <p:cNvPr id="47" name="Straight Connector 46">
            <a:extLst>
              <a:ext uri="{FF2B5EF4-FFF2-40B4-BE49-F238E27FC236}">
                <a16:creationId xmlns:a16="http://schemas.microsoft.com/office/drawing/2014/main" id="{5732D516-874F-A9CC-3BD7-2715D7DB225F}"/>
              </a:ext>
            </a:extLst>
          </p:cNvPr>
          <p:cNvCxnSpPr>
            <a:cxnSpLocks/>
            <a:endCxn id="40" idx="1"/>
          </p:cNvCxnSpPr>
          <p:nvPr/>
        </p:nvCxnSpPr>
        <p:spPr>
          <a:xfrm>
            <a:off x="3131344" y="5367776"/>
            <a:ext cx="135928" cy="67092"/>
          </a:xfrm>
          <a:prstGeom prst="line">
            <a:avLst/>
          </a:prstGeom>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F4BC3AE0-D6D5-24D5-7C17-543184B48A6A}"/>
              </a:ext>
            </a:extLst>
          </p:cNvPr>
          <p:cNvSpPr/>
          <p:nvPr/>
        </p:nvSpPr>
        <p:spPr bwMode="auto">
          <a:xfrm>
            <a:off x="780836" y="2857062"/>
            <a:ext cx="1417534" cy="45719"/>
          </a:xfrm>
          <a:prstGeom prst="rect">
            <a:avLst/>
          </a:prstGeom>
          <a:solidFill>
            <a:schemeClr val="accent3"/>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51" name="Rectangle 50">
            <a:extLst>
              <a:ext uri="{FF2B5EF4-FFF2-40B4-BE49-F238E27FC236}">
                <a16:creationId xmlns:a16="http://schemas.microsoft.com/office/drawing/2014/main" id="{E702811E-4F59-6808-DBF7-00885AC13427}"/>
              </a:ext>
            </a:extLst>
          </p:cNvPr>
          <p:cNvSpPr/>
          <p:nvPr/>
        </p:nvSpPr>
        <p:spPr bwMode="auto">
          <a:xfrm>
            <a:off x="2511132" y="2754235"/>
            <a:ext cx="1215095" cy="45719"/>
          </a:xfrm>
          <a:prstGeom prst="rect">
            <a:avLst/>
          </a:prstGeom>
          <a:solidFill>
            <a:schemeClr val="accent3"/>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Tree>
    <p:extLst>
      <p:ext uri="{BB962C8B-B14F-4D97-AF65-F5344CB8AC3E}">
        <p14:creationId xmlns:p14="http://schemas.microsoft.com/office/powerpoint/2010/main" val="3015106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AB21E-D407-F6DC-87BD-B6CEFC2926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440CBB-63C8-187B-908C-49F0FA1983A4}"/>
              </a:ext>
            </a:extLst>
          </p:cNvPr>
          <p:cNvSpPr>
            <a:spLocks noGrp="1"/>
          </p:cNvSpPr>
          <p:nvPr>
            <p:ph type="title"/>
          </p:nvPr>
        </p:nvSpPr>
        <p:spPr>
          <a:xfrm>
            <a:off x="609600" y="363090"/>
            <a:ext cx="10972800" cy="800100"/>
          </a:xfrm>
        </p:spPr>
        <p:txBody>
          <a:bodyPr anchor="b">
            <a:normAutofit/>
          </a:bodyPr>
          <a:lstStyle/>
          <a:p>
            <a:r>
              <a:rPr lang="en-US" dirty="0"/>
              <a:t>Flash ADC (FADC) Circuit Diagram</a:t>
            </a:r>
          </a:p>
        </p:txBody>
      </p:sp>
      <p:pic>
        <p:nvPicPr>
          <p:cNvPr id="20" name="Graphic 19">
            <a:extLst>
              <a:ext uri="{FF2B5EF4-FFF2-40B4-BE49-F238E27FC236}">
                <a16:creationId xmlns:a16="http://schemas.microsoft.com/office/drawing/2014/main" id="{AEE805A6-4104-D113-378F-F12AEECD6F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2837" y="1791124"/>
            <a:ext cx="10646326" cy="4648200"/>
          </a:xfrm>
          <a:prstGeom prst="rect">
            <a:avLst/>
          </a:prstGeom>
        </p:spPr>
      </p:pic>
      <p:sp>
        <p:nvSpPr>
          <p:cNvPr id="21" name="TextBox 20">
            <a:extLst>
              <a:ext uri="{FF2B5EF4-FFF2-40B4-BE49-F238E27FC236}">
                <a16:creationId xmlns:a16="http://schemas.microsoft.com/office/drawing/2014/main" id="{03749B63-5242-BD6B-F74A-493120086E02}"/>
              </a:ext>
            </a:extLst>
          </p:cNvPr>
          <p:cNvSpPr txBox="1"/>
          <p:nvPr/>
        </p:nvSpPr>
        <p:spPr>
          <a:xfrm>
            <a:off x="236306" y="6287784"/>
            <a:ext cx="544530" cy="380144"/>
          </a:xfrm>
          <a:prstGeom prst="rect">
            <a:avLst/>
          </a:prstGeom>
          <a:noFill/>
        </p:spPr>
        <p:txBody>
          <a:bodyPr wrap="square" rtlCol="0">
            <a:noAutofit/>
          </a:bodyPr>
          <a:lstStyle/>
          <a:p>
            <a:pPr algn="ctr"/>
            <a:r>
              <a:rPr lang="en-US" sz="1600" dirty="0"/>
              <a:t>7</a:t>
            </a:r>
          </a:p>
        </p:txBody>
      </p:sp>
      <p:sp>
        <p:nvSpPr>
          <p:cNvPr id="22" name="Rectangle 21">
            <a:extLst>
              <a:ext uri="{FF2B5EF4-FFF2-40B4-BE49-F238E27FC236}">
                <a16:creationId xmlns:a16="http://schemas.microsoft.com/office/drawing/2014/main" id="{B3C6D86D-C093-90B1-3166-3A88A7BAA554}"/>
              </a:ext>
            </a:extLst>
          </p:cNvPr>
          <p:cNvSpPr/>
          <p:nvPr/>
        </p:nvSpPr>
        <p:spPr bwMode="auto">
          <a:xfrm>
            <a:off x="4643919" y="6061749"/>
            <a:ext cx="2198670" cy="700285"/>
          </a:xfrm>
          <a:prstGeom prst="rect">
            <a:avLst/>
          </a:prstGeom>
          <a:solidFill>
            <a:schemeClr val="bg1"/>
          </a:solidFill>
          <a:ln w="28575" cap="sq" algn="ctr">
            <a:solidFill>
              <a:schemeClr val="tx1"/>
            </a:solidFill>
            <a:miter lim="800000"/>
            <a:headEnd/>
            <a:tailEnd/>
          </a:ln>
          <a:effectLst/>
        </p:spPr>
        <p:txBody>
          <a:bodyPr wrap="none" rtlCol="0" anchor="ctr"/>
          <a:lstStyle/>
          <a:p>
            <a:pPr algn="ctr"/>
            <a:r>
              <a:rPr lang="en-US" sz="1600" b="1" dirty="0">
                <a:latin typeface="+mn-lt"/>
              </a:rPr>
              <a:t>Thermometer to </a:t>
            </a:r>
          </a:p>
          <a:p>
            <a:pPr algn="ctr"/>
            <a:r>
              <a:rPr lang="en-US" sz="1600" b="1" dirty="0">
                <a:latin typeface="+mn-lt"/>
              </a:rPr>
              <a:t>One-Hot Encoder</a:t>
            </a:r>
          </a:p>
        </p:txBody>
      </p:sp>
      <p:sp>
        <p:nvSpPr>
          <p:cNvPr id="23" name="Rectangle 22">
            <a:extLst>
              <a:ext uri="{FF2B5EF4-FFF2-40B4-BE49-F238E27FC236}">
                <a16:creationId xmlns:a16="http://schemas.microsoft.com/office/drawing/2014/main" id="{0B6B82CF-03EB-7ACD-A353-489F8B36DEB1}"/>
              </a:ext>
            </a:extLst>
          </p:cNvPr>
          <p:cNvSpPr/>
          <p:nvPr/>
        </p:nvSpPr>
        <p:spPr bwMode="auto">
          <a:xfrm>
            <a:off x="3181696" y="1385864"/>
            <a:ext cx="2198670" cy="557268"/>
          </a:xfrm>
          <a:prstGeom prst="rect">
            <a:avLst/>
          </a:prstGeom>
          <a:solidFill>
            <a:schemeClr val="bg1"/>
          </a:solidFill>
          <a:ln w="28575" cap="sq" algn="ctr">
            <a:solidFill>
              <a:schemeClr val="tx1"/>
            </a:solidFill>
            <a:miter lim="800000"/>
            <a:headEnd/>
            <a:tailEnd/>
          </a:ln>
          <a:effectLst/>
        </p:spPr>
        <p:txBody>
          <a:bodyPr wrap="none" rtlCol="0" anchor="ctr"/>
          <a:lstStyle/>
          <a:p>
            <a:pPr algn="ctr"/>
            <a:r>
              <a:rPr lang="en-US" sz="1600" b="1" dirty="0">
                <a:latin typeface="+mn-lt"/>
              </a:rPr>
              <a:t>Resistor-Comparator</a:t>
            </a:r>
          </a:p>
          <a:p>
            <a:pPr algn="ctr"/>
            <a:r>
              <a:rPr lang="en-US" sz="1600" b="1" dirty="0"/>
              <a:t>Ladder</a:t>
            </a:r>
            <a:endParaRPr lang="en-US" sz="1600" b="1" dirty="0">
              <a:latin typeface="+mn-lt"/>
            </a:endParaRPr>
          </a:p>
        </p:txBody>
      </p:sp>
      <p:sp>
        <p:nvSpPr>
          <p:cNvPr id="24" name="Rectangle 23">
            <a:extLst>
              <a:ext uri="{FF2B5EF4-FFF2-40B4-BE49-F238E27FC236}">
                <a16:creationId xmlns:a16="http://schemas.microsoft.com/office/drawing/2014/main" id="{AB0D4DC7-BABF-BA43-983C-0A755A981991}"/>
              </a:ext>
            </a:extLst>
          </p:cNvPr>
          <p:cNvSpPr/>
          <p:nvPr/>
        </p:nvSpPr>
        <p:spPr bwMode="auto">
          <a:xfrm>
            <a:off x="3625885" y="1959007"/>
            <a:ext cx="1018034" cy="88672"/>
          </a:xfrm>
          <a:prstGeom prst="rect">
            <a:avLst/>
          </a:prstGeom>
          <a:solidFill>
            <a:schemeClr val="bg1"/>
          </a:solidFill>
          <a:ln w="28575" cap="sq" algn="ctr">
            <a:noFill/>
            <a:miter lim="800000"/>
            <a:headEnd/>
            <a:tailEnd/>
          </a:ln>
          <a:effectLst/>
        </p:spPr>
        <p:txBody>
          <a:bodyPr wrap="none" rtlCol="0" anchor="ctr"/>
          <a:lstStyle/>
          <a:p>
            <a:pPr algn="ctr"/>
            <a:endParaRPr lang="en-US" sz="1600" b="1" dirty="0">
              <a:latin typeface="+mn-lt"/>
            </a:endParaRPr>
          </a:p>
        </p:txBody>
      </p:sp>
      <p:cxnSp>
        <p:nvCxnSpPr>
          <p:cNvPr id="26" name="Straight Connector 25">
            <a:extLst>
              <a:ext uri="{FF2B5EF4-FFF2-40B4-BE49-F238E27FC236}">
                <a16:creationId xmlns:a16="http://schemas.microsoft.com/office/drawing/2014/main" id="{8D756BBC-6EFE-BC66-156A-C091B77591BA}"/>
              </a:ext>
            </a:extLst>
          </p:cNvPr>
          <p:cNvCxnSpPr>
            <a:cxnSpLocks/>
            <a:stCxn id="23" idx="2"/>
          </p:cNvCxnSpPr>
          <p:nvPr/>
        </p:nvCxnSpPr>
        <p:spPr>
          <a:xfrm flipH="1">
            <a:off x="4233863" y="1943132"/>
            <a:ext cx="47168" cy="1499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44A72125-9A15-FADA-43DB-E4C7002B5A3F}"/>
              </a:ext>
            </a:extLst>
          </p:cNvPr>
          <p:cNvSpPr/>
          <p:nvPr/>
        </p:nvSpPr>
        <p:spPr bwMode="auto">
          <a:xfrm>
            <a:off x="390418" y="1664498"/>
            <a:ext cx="2290203" cy="557268"/>
          </a:xfrm>
          <a:prstGeom prst="rect">
            <a:avLst/>
          </a:prstGeom>
          <a:solidFill>
            <a:schemeClr val="bg1"/>
          </a:solidFill>
          <a:ln w="28575" cap="sq" algn="ctr">
            <a:solidFill>
              <a:schemeClr val="tx1"/>
            </a:solidFill>
            <a:miter lim="800000"/>
            <a:headEnd/>
            <a:tailEnd/>
          </a:ln>
          <a:effectLst/>
        </p:spPr>
        <p:txBody>
          <a:bodyPr wrap="none" rtlCol="0" anchor="ctr"/>
          <a:lstStyle/>
          <a:p>
            <a:pPr algn="ctr"/>
            <a:r>
              <a:rPr lang="en-US" sz="1600" b="1" dirty="0">
                <a:latin typeface="+mn-lt"/>
              </a:rPr>
              <a:t>Sample &amp; Hold Circuit</a:t>
            </a:r>
          </a:p>
        </p:txBody>
      </p:sp>
      <p:sp>
        <p:nvSpPr>
          <p:cNvPr id="33" name="Rectangle 32">
            <a:extLst>
              <a:ext uri="{FF2B5EF4-FFF2-40B4-BE49-F238E27FC236}">
                <a16:creationId xmlns:a16="http://schemas.microsoft.com/office/drawing/2014/main" id="{E99DB959-53B2-24E7-D30E-AAFB8B22E20D}"/>
              </a:ext>
            </a:extLst>
          </p:cNvPr>
          <p:cNvSpPr/>
          <p:nvPr/>
        </p:nvSpPr>
        <p:spPr bwMode="auto">
          <a:xfrm>
            <a:off x="6298058" y="1468414"/>
            <a:ext cx="2198671" cy="433706"/>
          </a:xfrm>
          <a:prstGeom prst="rect">
            <a:avLst/>
          </a:prstGeom>
          <a:solidFill>
            <a:schemeClr val="bg1"/>
          </a:solidFill>
          <a:ln w="28575" cap="sq" algn="ctr">
            <a:solidFill>
              <a:schemeClr val="tx1"/>
            </a:solidFill>
            <a:miter lim="800000"/>
            <a:headEnd/>
            <a:tailEnd/>
          </a:ln>
          <a:effectLst/>
        </p:spPr>
        <p:txBody>
          <a:bodyPr wrap="none" rtlCol="0" anchor="ctr"/>
          <a:lstStyle/>
          <a:p>
            <a:pPr algn="ctr"/>
            <a:r>
              <a:rPr lang="en-US" sz="1600" b="1" dirty="0">
                <a:latin typeface="+mn-lt"/>
              </a:rPr>
              <a:t>ROM Encoder</a:t>
            </a:r>
          </a:p>
        </p:txBody>
      </p:sp>
      <p:sp>
        <p:nvSpPr>
          <p:cNvPr id="34" name="Rectangle 33">
            <a:extLst>
              <a:ext uri="{FF2B5EF4-FFF2-40B4-BE49-F238E27FC236}">
                <a16:creationId xmlns:a16="http://schemas.microsoft.com/office/drawing/2014/main" id="{A83473CA-42CE-62BC-E957-56ADD97F3416}"/>
              </a:ext>
            </a:extLst>
          </p:cNvPr>
          <p:cNvSpPr/>
          <p:nvPr/>
        </p:nvSpPr>
        <p:spPr bwMode="auto">
          <a:xfrm>
            <a:off x="9850562" y="1876266"/>
            <a:ext cx="1485239" cy="433706"/>
          </a:xfrm>
          <a:prstGeom prst="rect">
            <a:avLst/>
          </a:prstGeom>
          <a:solidFill>
            <a:schemeClr val="bg1"/>
          </a:solidFill>
          <a:ln w="28575" cap="sq" algn="ctr">
            <a:solidFill>
              <a:schemeClr val="tx1"/>
            </a:solidFill>
            <a:miter lim="800000"/>
            <a:headEnd/>
            <a:tailEnd/>
          </a:ln>
          <a:effectLst/>
        </p:spPr>
        <p:txBody>
          <a:bodyPr wrap="none" rtlCol="0" anchor="ctr"/>
          <a:lstStyle/>
          <a:p>
            <a:pPr algn="ctr"/>
            <a:r>
              <a:rPr lang="en-US" sz="1600" b="1" dirty="0">
                <a:latin typeface="+mn-lt"/>
              </a:rPr>
              <a:t>Data Latches</a:t>
            </a:r>
          </a:p>
        </p:txBody>
      </p:sp>
      <p:sp>
        <p:nvSpPr>
          <p:cNvPr id="7" name="Oval 6">
            <a:extLst>
              <a:ext uri="{FF2B5EF4-FFF2-40B4-BE49-F238E27FC236}">
                <a16:creationId xmlns:a16="http://schemas.microsoft.com/office/drawing/2014/main" id="{6E66EC0B-865D-5320-39A3-8D0C411D5418}"/>
              </a:ext>
            </a:extLst>
          </p:cNvPr>
          <p:cNvSpPr/>
          <p:nvPr/>
        </p:nvSpPr>
        <p:spPr bwMode="auto">
          <a:xfrm>
            <a:off x="3251835" y="2801620"/>
            <a:ext cx="105410" cy="105410"/>
          </a:xfrm>
          <a:prstGeom prst="ellipse">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10" name="Oval 9">
            <a:extLst>
              <a:ext uri="{FF2B5EF4-FFF2-40B4-BE49-F238E27FC236}">
                <a16:creationId xmlns:a16="http://schemas.microsoft.com/office/drawing/2014/main" id="{B9B57279-F743-1F63-3490-425ECA04DFBE}"/>
              </a:ext>
            </a:extLst>
          </p:cNvPr>
          <p:cNvSpPr/>
          <p:nvPr/>
        </p:nvSpPr>
        <p:spPr bwMode="auto">
          <a:xfrm>
            <a:off x="3247995" y="3453245"/>
            <a:ext cx="105410" cy="105410"/>
          </a:xfrm>
          <a:prstGeom prst="ellipse">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12" name="Oval 11">
            <a:extLst>
              <a:ext uri="{FF2B5EF4-FFF2-40B4-BE49-F238E27FC236}">
                <a16:creationId xmlns:a16="http://schemas.microsoft.com/office/drawing/2014/main" id="{E294D548-85AE-5805-D6CE-5EC1B6084BD1}"/>
              </a:ext>
            </a:extLst>
          </p:cNvPr>
          <p:cNvSpPr/>
          <p:nvPr/>
        </p:nvSpPr>
        <p:spPr bwMode="auto">
          <a:xfrm>
            <a:off x="3250182" y="4116364"/>
            <a:ext cx="105410" cy="105410"/>
          </a:xfrm>
          <a:prstGeom prst="ellipse">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27" name="Rectangle 26">
            <a:extLst>
              <a:ext uri="{FF2B5EF4-FFF2-40B4-BE49-F238E27FC236}">
                <a16:creationId xmlns:a16="http://schemas.microsoft.com/office/drawing/2014/main" id="{285F987B-38B8-3437-67E5-1B1B8068C32B}"/>
              </a:ext>
            </a:extLst>
          </p:cNvPr>
          <p:cNvSpPr/>
          <p:nvPr/>
        </p:nvSpPr>
        <p:spPr bwMode="auto">
          <a:xfrm>
            <a:off x="3324860" y="2832297"/>
            <a:ext cx="591820" cy="45719"/>
          </a:xfrm>
          <a:prstGeom prst="rect">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28" name="Rectangle 27">
            <a:extLst>
              <a:ext uri="{FF2B5EF4-FFF2-40B4-BE49-F238E27FC236}">
                <a16:creationId xmlns:a16="http://schemas.microsoft.com/office/drawing/2014/main" id="{D0B19916-A8CD-8BCD-B823-D7C34B125355}"/>
              </a:ext>
            </a:extLst>
          </p:cNvPr>
          <p:cNvSpPr/>
          <p:nvPr/>
        </p:nvSpPr>
        <p:spPr bwMode="auto">
          <a:xfrm>
            <a:off x="3324860" y="3480968"/>
            <a:ext cx="591820" cy="45719"/>
          </a:xfrm>
          <a:prstGeom prst="rect">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29" name="Rectangle 28">
            <a:extLst>
              <a:ext uri="{FF2B5EF4-FFF2-40B4-BE49-F238E27FC236}">
                <a16:creationId xmlns:a16="http://schemas.microsoft.com/office/drawing/2014/main" id="{AD3F242E-C966-521A-6C17-B924137B9832}"/>
              </a:ext>
            </a:extLst>
          </p:cNvPr>
          <p:cNvSpPr/>
          <p:nvPr/>
        </p:nvSpPr>
        <p:spPr bwMode="auto">
          <a:xfrm>
            <a:off x="3324860" y="4146468"/>
            <a:ext cx="591820" cy="45719"/>
          </a:xfrm>
          <a:prstGeom prst="rect">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30" name="Rectangle 29">
            <a:extLst>
              <a:ext uri="{FF2B5EF4-FFF2-40B4-BE49-F238E27FC236}">
                <a16:creationId xmlns:a16="http://schemas.microsoft.com/office/drawing/2014/main" id="{8C999AC5-1770-2C1F-7356-49C76D07A118}"/>
              </a:ext>
            </a:extLst>
          </p:cNvPr>
          <p:cNvSpPr/>
          <p:nvPr/>
        </p:nvSpPr>
        <p:spPr bwMode="auto">
          <a:xfrm>
            <a:off x="3324860" y="5449276"/>
            <a:ext cx="591820" cy="45719"/>
          </a:xfrm>
          <a:prstGeom prst="rect">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35" name="Rectangle 34">
            <a:extLst>
              <a:ext uri="{FF2B5EF4-FFF2-40B4-BE49-F238E27FC236}">
                <a16:creationId xmlns:a16="http://schemas.microsoft.com/office/drawing/2014/main" id="{83F5D33D-6761-DF66-7C70-0DC3221785FE}"/>
              </a:ext>
            </a:extLst>
          </p:cNvPr>
          <p:cNvSpPr/>
          <p:nvPr/>
        </p:nvSpPr>
        <p:spPr bwMode="auto">
          <a:xfrm>
            <a:off x="3708260" y="5674908"/>
            <a:ext cx="208420" cy="45719"/>
          </a:xfrm>
          <a:prstGeom prst="rect">
            <a:avLst/>
          </a:prstGeom>
          <a:solidFill>
            <a:schemeClr val="accent3"/>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36" name="Rectangle 35">
            <a:extLst>
              <a:ext uri="{FF2B5EF4-FFF2-40B4-BE49-F238E27FC236}">
                <a16:creationId xmlns:a16="http://schemas.microsoft.com/office/drawing/2014/main" id="{9F7E876F-271A-1BFC-EEB6-F9D2F39EF315}"/>
              </a:ext>
            </a:extLst>
          </p:cNvPr>
          <p:cNvSpPr/>
          <p:nvPr/>
        </p:nvSpPr>
        <p:spPr bwMode="auto">
          <a:xfrm>
            <a:off x="3708260" y="4350758"/>
            <a:ext cx="208420" cy="45719"/>
          </a:xfrm>
          <a:prstGeom prst="rect">
            <a:avLst/>
          </a:prstGeom>
          <a:solidFill>
            <a:schemeClr val="accent3"/>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37" name="Rectangle 36">
            <a:extLst>
              <a:ext uri="{FF2B5EF4-FFF2-40B4-BE49-F238E27FC236}">
                <a16:creationId xmlns:a16="http://schemas.microsoft.com/office/drawing/2014/main" id="{2A503211-279D-E635-531B-D7A22C33FEB2}"/>
              </a:ext>
            </a:extLst>
          </p:cNvPr>
          <p:cNvSpPr/>
          <p:nvPr/>
        </p:nvSpPr>
        <p:spPr bwMode="auto">
          <a:xfrm>
            <a:off x="3708260" y="3685258"/>
            <a:ext cx="208420" cy="45719"/>
          </a:xfrm>
          <a:prstGeom prst="rect">
            <a:avLst/>
          </a:prstGeom>
          <a:solidFill>
            <a:schemeClr val="accent3"/>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38" name="Rectangle 37">
            <a:extLst>
              <a:ext uri="{FF2B5EF4-FFF2-40B4-BE49-F238E27FC236}">
                <a16:creationId xmlns:a16="http://schemas.microsoft.com/office/drawing/2014/main" id="{C1EA12CC-47E7-5AFC-E4E6-937D04F92BF0}"/>
              </a:ext>
            </a:extLst>
          </p:cNvPr>
          <p:cNvSpPr/>
          <p:nvPr/>
        </p:nvSpPr>
        <p:spPr bwMode="auto">
          <a:xfrm>
            <a:off x="3708260" y="3040042"/>
            <a:ext cx="208420" cy="45719"/>
          </a:xfrm>
          <a:prstGeom prst="rect">
            <a:avLst/>
          </a:prstGeom>
          <a:solidFill>
            <a:schemeClr val="accent3"/>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40" name="Oval 39">
            <a:extLst>
              <a:ext uri="{FF2B5EF4-FFF2-40B4-BE49-F238E27FC236}">
                <a16:creationId xmlns:a16="http://schemas.microsoft.com/office/drawing/2014/main" id="{502D0254-72B2-B8AF-5258-3A57E8118254}"/>
              </a:ext>
            </a:extLst>
          </p:cNvPr>
          <p:cNvSpPr/>
          <p:nvPr/>
        </p:nvSpPr>
        <p:spPr bwMode="auto">
          <a:xfrm>
            <a:off x="3251835" y="5419431"/>
            <a:ext cx="105410" cy="105410"/>
          </a:xfrm>
          <a:prstGeom prst="ellipse">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8" name="Flowchart: Connector 7">
            <a:extLst>
              <a:ext uri="{FF2B5EF4-FFF2-40B4-BE49-F238E27FC236}">
                <a16:creationId xmlns:a16="http://schemas.microsoft.com/office/drawing/2014/main" id="{1D5F061F-6A30-8B51-F655-47427FA7B2D2}"/>
              </a:ext>
            </a:extLst>
          </p:cNvPr>
          <p:cNvSpPr/>
          <p:nvPr/>
        </p:nvSpPr>
        <p:spPr bwMode="auto">
          <a:xfrm>
            <a:off x="4307748" y="3558655"/>
            <a:ext cx="115662" cy="115662"/>
          </a:xfrm>
          <a:prstGeom prst="flowChartConnector">
            <a:avLst/>
          </a:prstGeom>
          <a:solidFill>
            <a:schemeClr val="accent5"/>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14" name="Flowchart: Connector 13">
            <a:extLst>
              <a:ext uri="{FF2B5EF4-FFF2-40B4-BE49-F238E27FC236}">
                <a16:creationId xmlns:a16="http://schemas.microsoft.com/office/drawing/2014/main" id="{9BDA6D3D-A0F5-74E7-1D15-B47C857C5EB6}"/>
              </a:ext>
            </a:extLst>
          </p:cNvPr>
          <p:cNvSpPr/>
          <p:nvPr/>
        </p:nvSpPr>
        <p:spPr bwMode="auto">
          <a:xfrm>
            <a:off x="4307748" y="2907030"/>
            <a:ext cx="115662" cy="115662"/>
          </a:xfrm>
          <a:prstGeom prst="flowChartConnector">
            <a:avLst/>
          </a:prstGeom>
          <a:solidFill>
            <a:schemeClr val="accent5"/>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15" name="Flowchart: Connector 14">
            <a:extLst>
              <a:ext uri="{FF2B5EF4-FFF2-40B4-BE49-F238E27FC236}">
                <a16:creationId xmlns:a16="http://schemas.microsoft.com/office/drawing/2014/main" id="{F999F1C1-A7A9-A816-C843-2F456664F1E8}"/>
              </a:ext>
            </a:extLst>
          </p:cNvPr>
          <p:cNvSpPr/>
          <p:nvPr/>
        </p:nvSpPr>
        <p:spPr bwMode="auto">
          <a:xfrm>
            <a:off x="4307748" y="4210280"/>
            <a:ext cx="115662" cy="115662"/>
          </a:xfrm>
          <a:prstGeom prst="flowChartConnector">
            <a:avLst/>
          </a:prstGeom>
          <a:solidFill>
            <a:schemeClr val="accent5"/>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16" name="Flowchart: Connector 15">
            <a:extLst>
              <a:ext uri="{FF2B5EF4-FFF2-40B4-BE49-F238E27FC236}">
                <a16:creationId xmlns:a16="http://schemas.microsoft.com/office/drawing/2014/main" id="{39E15252-356B-435D-7E97-A34B22C121CC}"/>
              </a:ext>
            </a:extLst>
          </p:cNvPr>
          <p:cNvSpPr/>
          <p:nvPr/>
        </p:nvSpPr>
        <p:spPr bwMode="auto">
          <a:xfrm>
            <a:off x="4307748" y="5524841"/>
            <a:ext cx="115662" cy="115662"/>
          </a:xfrm>
          <a:prstGeom prst="flowChartConnector">
            <a:avLst/>
          </a:prstGeom>
          <a:solidFill>
            <a:schemeClr val="accent5"/>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17" name="Rectangle 16">
            <a:extLst>
              <a:ext uri="{FF2B5EF4-FFF2-40B4-BE49-F238E27FC236}">
                <a16:creationId xmlns:a16="http://schemas.microsoft.com/office/drawing/2014/main" id="{B017BAA7-E67E-388D-98E5-115E953D3389}"/>
              </a:ext>
            </a:extLst>
          </p:cNvPr>
          <p:cNvSpPr/>
          <p:nvPr/>
        </p:nvSpPr>
        <p:spPr bwMode="auto">
          <a:xfrm>
            <a:off x="4498201" y="2627525"/>
            <a:ext cx="195745" cy="279505"/>
          </a:xfrm>
          <a:prstGeom prst="rect">
            <a:avLst/>
          </a:prstGeom>
          <a:solidFill>
            <a:schemeClr val="bg1">
              <a:lumMod val="95000"/>
            </a:schemeClr>
          </a:solidFill>
          <a:ln w="57150" cap="sq" algn="ctr">
            <a:solidFill>
              <a:schemeClr val="accent5"/>
            </a:solidFill>
            <a:miter lim="800000"/>
            <a:headEnd/>
            <a:tailEnd/>
          </a:ln>
          <a:effectLst/>
        </p:spPr>
        <p:txBody>
          <a:bodyPr wrap="none" rtlCol="0" anchor="ctr"/>
          <a:lstStyle/>
          <a:p>
            <a:pPr algn="ctr"/>
            <a:r>
              <a:rPr lang="en-US" sz="1600" dirty="0"/>
              <a:t>0</a:t>
            </a:r>
            <a:endParaRPr lang="en-US" sz="1600" dirty="0">
              <a:latin typeface="+mn-lt"/>
            </a:endParaRPr>
          </a:p>
        </p:txBody>
      </p:sp>
      <p:sp>
        <p:nvSpPr>
          <p:cNvPr id="18" name="Rectangle 17">
            <a:extLst>
              <a:ext uri="{FF2B5EF4-FFF2-40B4-BE49-F238E27FC236}">
                <a16:creationId xmlns:a16="http://schemas.microsoft.com/office/drawing/2014/main" id="{08233FEC-2B8C-9192-04A4-044C7C32E3D7}"/>
              </a:ext>
            </a:extLst>
          </p:cNvPr>
          <p:cNvSpPr/>
          <p:nvPr/>
        </p:nvSpPr>
        <p:spPr bwMode="auto">
          <a:xfrm>
            <a:off x="4498201" y="3168349"/>
            <a:ext cx="195745" cy="279505"/>
          </a:xfrm>
          <a:prstGeom prst="rect">
            <a:avLst/>
          </a:prstGeom>
          <a:solidFill>
            <a:schemeClr val="bg1">
              <a:lumMod val="95000"/>
            </a:schemeClr>
          </a:solidFill>
          <a:ln w="57150" cap="sq" algn="ctr">
            <a:solidFill>
              <a:schemeClr val="accent5"/>
            </a:solidFill>
            <a:miter lim="800000"/>
            <a:headEnd/>
            <a:tailEnd/>
          </a:ln>
          <a:effectLst/>
        </p:spPr>
        <p:txBody>
          <a:bodyPr wrap="none" rtlCol="0" anchor="ctr"/>
          <a:lstStyle/>
          <a:p>
            <a:pPr algn="ctr"/>
            <a:r>
              <a:rPr lang="en-US" sz="1600" dirty="0"/>
              <a:t>0</a:t>
            </a:r>
            <a:endParaRPr lang="en-US" sz="1600" dirty="0">
              <a:latin typeface="+mn-lt"/>
            </a:endParaRPr>
          </a:p>
        </p:txBody>
      </p:sp>
      <p:sp>
        <p:nvSpPr>
          <p:cNvPr id="19" name="Rectangle 18">
            <a:extLst>
              <a:ext uri="{FF2B5EF4-FFF2-40B4-BE49-F238E27FC236}">
                <a16:creationId xmlns:a16="http://schemas.microsoft.com/office/drawing/2014/main" id="{CFD90A66-7F08-EF5D-B55C-4A9341B90E50}"/>
              </a:ext>
            </a:extLst>
          </p:cNvPr>
          <p:cNvSpPr/>
          <p:nvPr/>
        </p:nvSpPr>
        <p:spPr bwMode="auto">
          <a:xfrm>
            <a:off x="4498201" y="3889564"/>
            <a:ext cx="195745" cy="279505"/>
          </a:xfrm>
          <a:prstGeom prst="rect">
            <a:avLst/>
          </a:prstGeom>
          <a:solidFill>
            <a:schemeClr val="bg1">
              <a:lumMod val="95000"/>
            </a:schemeClr>
          </a:solidFill>
          <a:ln w="57150" cap="sq" algn="ctr">
            <a:solidFill>
              <a:schemeClr val="accent5"/>
            </a:solidFill>
            <a:miter lim="800000"/>
            <a:headEnd/>
            <a:tailEnd/>
          </a:ln>
          <a:effectLst/>
        </p:spPr>
        <p:txBody>
          <a:bodyPr wrap="none" rtlCol="0" anchor="ctr"/>
          <a:lstStyle/>
          <a:p>
            <a:pPr algn="ctr"/>
            <a:r>
              <a:rPr lang="en-US" sz="1600" b="1" dirty="0">
                <a:latin typeface="+mn-lt"/>
              </a:rPr>
              <a:t>1</a:t>
            </a:r>
          </a:p>
        </p:txBody>
      </p:sp>
      <p:sp>
        <p:nvSpPr>
          <p:cNvPr id="39" name="Rectangle 38">
            <a:extLst>
              <a:ext uri="{FF2B5EF4-FFF2-40B4-BE49-F238E27FC236}">
                <a16:creationId xmlns:a16="http://schemas.microsoft.com/office/drawing/2014/main" id="{1A6270BF-9D99-9009-C50C-A5D31EEA5476}"/>
              </a:ext>
            </a:extLst>
          </p:cNvPr>
          <p:cNvSpPr/>
          <p:nvPr/>
        </p:nvSpPr>
        <p:spPr bwMode="auto">
          <a:xfrm>
            <a:off x="4498201" y="5200781"/>
            <a:ext cx="195745" cy="279505"/>
          </a:xfrm>
          <a:prstGeom prst="rect">
            <a:avLst/>
          </a:prstGeom>
          <a:solidFill>
            <a:schemeClr val="bg1">
              <a:lumMod val="95000"/>
            </a:schemeClr>
          </a:solidFill>
          <a:ln w="57150" cap="sq" algn="ctr">
            <a:solidFill>
              <a:schemeClr val="accent5"/>
            </a:solidFill>
            <a:miter lim="800000"/>
            <a:headEnd/>
            <a:tailEnd/>
          </a:ln>
          <a:effectLst/>
        </p:spPr>
        <p:txBody>
          <a:bodyPr wrap="none" rtlCol="0" anchor="ctr"/>
          <a:lstStyle/>
          <a:p>
            <a:pPr algn="ctr"/>
            <a:r>
              <a:rPr lang="en-US" sz="1600" b="1" dirty="0">
                <a:latin typeface="+mn-lt"/>
              </a:rPr>
              <a:t>1</a:t>
            </a:r>
          </a:p>
        </p:txBody>
      </p:sp>
      <p:cxnSp>
        <p:nvCxnSpPr>
          <p:cNvPr id="41" name="Straight Connector 40">
            <a:extLst>
              <a:ext uri="{FF2B5EF4-FFF2-40B4-BE49-F238E27FC236}">
                <a16:creationId xmlns:a16="http://schemas.microsoft.com/office/drawing/2014/main" id="{8A80FF90-F1D4-1D28-957D-BC65168E59D9}"/>
              </a:ext>
            </a:extLst>
          </p:cNvPr>
          <p:cNvCxnSpPr>
            <a:cxnSpLocks/>
            <a:stCxn id="17" idx="1"/>
            <a:endCxn id="14" idx="7"/>
          </p:cNvCxnSpPr>
          <p:nvPr/>
        </p:nvCxnSpPr>
        <p:spPr>
          <a:xfrm flipH="1">
            <a:off x="4406472" y="2767278"/>
            <a:ext cx="91729" cy="1566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D7B6DF60-EF43-307D-BC9F-1ACDB42C7DA0}"/>
              </a:ext>
            </a:extLst>
          </p:cNvPr>
          <p:cNvCxnSpPr>
            <a:cxnSpLocks/>
          </p:cNvCxnSpPr>
          <p:nvPr/>
        </p:nvCxnSpPr>
        <p:spPr>
          <a:xfrm flipH="1">
            <a:off x="4377545" y="3464402"/>
            <a:ext cx="109264" cy="152084"/>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2AC9B52-96E4-B7B4-AA38-8B902889BF7E}"/>
              </a:ext>
            </a:extLst>
          </p:cNvPr>
          <p:cNvCxnSpPr>
            <a:cxnSpLocks/>
          </p:cNvCxnSpPr>
          <p:nvPr/>
        </p:nvCxnSpPr>
        <p:spPr>
          <a:xfrm flipH="1">
            <a:off x="4377545" y="4122867"/>
            <a:ext cx="109264" cy="152084"/>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5D677937-A87E-8A01-C189-A810B061A5BA}"/>
              </a:ext>
            </a:extLst>
          </p:cNvPr>
          <p:cNvCxnSpPr>
            <a:cxnSpLocks/>
          </p:cNvCxnSpPr>
          <p:nvPr/>
        </p:nvCxnSpPr>
        <p:spPr>
          <a:xfrm flipH="1">
            <a:off x="4377545" y="5439997"/>
            <a:ext cx="109264" cy="152084"/>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DB66706A-F499-E9C4-E413-841D6612C1C4}"/>
              </a:ext>
            </a:extLst>
          </p:cNvPr>
          <p:cNvSpPr/>
          <p:nvPr/>
        </p:nvSpPr>
        <p:spPr bwMode="auto">
          <a:xfrm flipH="1">
            <a:off x="2406650" y="2370389"/>
            <a:ext cx="775046" cy="252044"/>
          </a:xfrm>
          <a:prstGeom prst="rect">
            <a:avLst/>
          </a:prstGeom>
          <a:solidFill>
            <a:schemeClr val="bg1">
              <a:lumMod val="95000"/>
            </a:schemeClr>
          </a:solidFill>
          <a:ln>
            <a:headEnd/>
            <a:tailEnd/>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600" b="1" dirty="0">
                <a:solidFill>
                  <a:schemeClr val="tx1"/>
                </a:solidFill>
              </a:rPr>
              <a:t>1.992 </a:t>
            </a:r>
            <a:r>
              <a:rPr lang="en-US" sz="1600" b="1" dirty="0">
                <a:solidFill>
                  <a:schemeClr val="tx1"/>
                </a:solidFill>
                <a:latin typeface="+mn-lt"/>
              </a:rPr>
              <a:t>V</a:t>
            </a:r>
          </a:p>
        </p:txBody>
      </p:sp>
      <p:sp>
        <p:nvSpPr>
          <p:cNvPr id="54" name="Rectangle 53">
            <a:extLst>
              <a:ext uri="{FF2B5EF4-FFF2-40B4-BE49-F238E27FC236}">
                <a16:creationId xmlns:a16="http://schemas.microsoft.com/office/drawing/2014/main" id="{019C01E4-3D9E-7625-8863-8C3E998F9F7C}"/>
              </a:ext>
            </a:extLst>
          </p:cNvPr>
          <p:cNvSpPr/>
          <p:nvPr/>
        </p:nvSpPr>
        <p:spPr bwMode="auto">
          <a:xfrm>
            <a:off x="2401321" y="3262645"/>
            <a:ext cx="775046" cy="252044"/>
          </a:xfrm>
          <a:prstGeom prst="rect">
            <a:avLst/>
          </a:prstGeom>
          <a:solidFill>
            <a:schemeClr val="bg1">
              <a:lumMod val="95000"/>
            </a:schemeClr>
          </a:solidFill>
          <a:ln>
            <a:headEnd/>
            <a:tailEnd/>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600" b="1" dirty="0">
                <a:solidFill>
                  <a:schemeClr val="tx1"/>
                </a:solidFill>
              </a:rPr>
              <a:t>1.984 </a:t>
            </a:r>
            <a:r>
              <a:rPr lang="en-US" sz="1600" b="1" dirty="0">
                <a:solidFill>
                  <a:schemeClr val="tx1"/>
                </a:solidFill>
                <a:latin typeface="+mn-lt"/>
              </a:rPr>
              <a:t>V</a:t>
            </a:r>
          </a:p>
        </p:txBody>
      </p:sp>
      <p:sp>
        <p:nvSpPr>
          <p:cNvPr id="55" name="Rectangle 54">
            <a:extLst>
              <a:ext uri="{FF2B5EF4-FFF2-40B4-BE49-F238E27FC236}">
                <a16:creationId xmlns:a16="http://schemas.microsoft.com/office/drawing/2014/main" id="{1D0CDACF-A9B5-44D4-75BD-93E45B481BD6}"/>
              </a:ext>
            </a:extLst>
          </p:cNvPr>
          <p:cNvSpPr/>
          <p:nvPr/>
        </p:nvSpPr>
        <p:spPr bwMode="auto">
          <a:xfrm>
            <a:off x="2401320" y="3860453"/>
            <a:ext cx="775046" cy="252044"/>
          </a:xfrm>
          <a:prstGeom prst="rect">
            <a:avLst/>
          </a:prstGeom>
          <a:solidFill>
            <a:schemeClr val="bg1">
              <a:lumMod val="95000"/>
            </a:schemeClr>
          </a:solidFill>
          <a:ln>
            <a:headEnd/>
            <a:tailEnd/>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600" b="1" dirty="0">
                <a:solidFill>
                  <a:schemeClr val="tx1"/>
                </a:solidFill>
              </a:rPr>
              <a:t>1.976 </a:t>
            </a:r>
            <a:r>
              <a:rPr lang="en-US" sz="1600" b="1" dirty="0">
                <a:solidFill>
                  <a:schemeClr val="tx1"/>
                </a:solidFill>
                <a:latin typeface="+mn-lt"/>
              </a:rPr>
              <a:t>V</a:t>
            </a:r>
          </a:p>
        </p:txBody>
      </p:sp>
      <p:cxnSp>
        <p:nvCxnSpPr>
          <p:cNvPr id="56" name="Straight Connector 55">
            <a:extLst>
              <a:ext uri="{FF2B5EF4-FFF2-40B4-BE49-F238E27FC236}">
                <a16:creationId xmlns:a16="http://schemas.microsoft.com/office/drawing/2014/main" id="{2708E39A-6922-EC65-17C8-9B894DEF8F37}"/>
              </a:ext>
            </a:extLst>
          </p:cNvPr>
          <p:cNvCxnSpPr>
            <a:cxnSpLocks/>
          </p:cNvCxnSpPr>
          <p:nvPr/>
        </p:nvCxnSpPr>
        <p:spPr>
          <a:xfrm>
            <a:off x="3114148" y="2622433"/>
            <a:ext cx="161487" cy="194624"/>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09D1062-2016-FE0B-EADA-CB311E9C4B70}"/>
              </a:ext>
            </a:extLst>
          </p:cNvPr>
          <p:cNvCxnSpPr>
            <a:cxnSpLocks/>
            <a:stCxn id="54" idx="3"/>
          </p:cNvCxnSpPr>
          <p:nvPr/>
        </p:nvCxnSpPr>
        <p:spPr>
          <a:xfrm>
            <a:off x="3176367" y="3388667"/>
            <a:ext cx="87065" cy="80015"/>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635DB7EF-1554-F674-5245-17F1A65EE42D}"/>
              </a:ext>
            </a:extLst>
          </p:cNvPr>
          <p:cNvCxnSpPr>
            <a:cxnSpLocks/>
          </p:cNvCxnSpPr>
          <p:nvPr/>
        </p:nvCxnSpPr>
        <p:spPr>
          <a:xfrm>
            <a:off x="3157220" y="4112497"/>
            <a:ext cx="129882" cy="36375"/>
          </a:xfrm>
          <a:prstGeom prst="line">
            <a:avLst/>
          </a:prstGeom>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C7A25CCA-CB84-E5C7-B13E-7DD07FE510AE}"/>
              </a:ext>
            </a:extLst>
          </p:cNvPr>
          <p:cNvSpPr/>
          <p:nvPr/>
        </p:nvSpPr>
        <p:spPr bwMode="auto">
          <a:xfrm>
            <a:off x="2401320" y="5107369"/>
            <a:ext cx="775046" cy="252044"/>
          </a:xfrm>
          <a:prstGeom prst="rect">
            <a:avLst/>
          </a:prstGeom>
          <a:solidFill>
            <a:schemeClr val="bg1">
              <a:lumMod val="95000"/>
            </a:schemeClr>
          </a:solidFill>
          <a:ln>
            <a:headEnd/>
            <a:tailEnd/>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600" b="1" dirty="0">
                <a:solidFill>
                  <a:schemeClr val="tx1"/>
                </a:solidFill>
              </a:rPr>
              <a:t>8 m</a:t>
            </a:r>
            <a:r>
              <a:rPr lang="en-US" sz="1600" b="1" dirty="0">
                <a:solidFill>
                  <a:schemeClr val="tx1"/>
                </a:solidFill>
                <a:latin typeface="+mn-lt"/>
              </a:rPr>
              <a:t>V</a:t>
            </a:r>
          </a:p>
        </p:txBody>
      </p:sp>
      <p:cxnSp>
        <p:nvCxnSpPr>
          <p:cNvPr id="60" name="Straight Connector 59">
            <a:extLst>
              <a:ext uri="{FF2B5EF4-FFF2-40B4-BE49-F238E27FC236}">
                <a16:creationId xmlns:a16="http://schemas.microsoft.com/office/drawing/2014/main" id="{CA706840-22E3-FBBA-5443-2DC445F2BA8A}"/>
              </a:ext>
            </a:extLst>
          </p:cNvPr>
          <p:cNvCxnSpPr>
            <a:cxnSpLocks/>
          </p:cNvCxnSpPr>
          <p:nvPr/>
        </p:nvCxnSpPr>
        <p:spPr>
          <a:xfrm>
            <a:off x="3131344" y="5367776"/>
            <a:ext cx="135928" cy="67092"/>
          </a:xfrm>
          <a:prstGeom prst="line">
            <a:avLst/>
          </a:prstGeom>
        </p:spPr>
        <p:style>
          <a:lnRef idx="1">
            <a:schemeClr val="accent1"/>
          </a:lnRef>
          <a:fillRef idx="0">
            <a:schemeClr val="accent1"/>
          </a:fillRef>
          <a:effectRef idx="0">
            <a:schemeClr val="accent1"/>
          </a:effectRef>
          <a:fontRef idx="minor">
            <a:schemeClr val="tx1"/>
          </a:fontRef>
        </p:style>
      </p:cxnSp>
      <p:pic>
        <p:nvPicPr>
          <p:cNvPr id="61" name="Graphic 60">
            <a:extLst>
              <a:ext uri="{FF2B5EF4-FFF2-40B4-BE49-F238E27FC236}">
                <a16:creationId xmlns:a16="http://schemas.microsoft.com/office/drawing/2014/main" id="{49836848-3EB6-3908-3DD6-70B93DD7248B}"/>
              </a:ext>
            </a:extLst>
          </p:cNvPr>
          <p:cNvPicPr>
            <a:picLocks noChangeAspect="1"/>
          </p:cNvPicPr>
          <p:nvPr/>
        </p:nvPicPr>
        <p:blipFill>
          <a:blip>
            <a:extLst>
              <a:ext uri="{96DAC541-7B7A-43D3-8B79-37D633B846F1}">
                <asvg:svgBlip xmlns:asvg="http://schemas.microsoft.com/office/drawing/2016/SVG/main" r:embed="rId4"/>
              </a:ext>
            </a:extLst>
          </a:blip>
          <a:srcRect l="1314" t="27077" r="97577" b="70306"/>
          <a:stretch>
            <a:fillRect/>
          </a:stretch>
        </p:blipFill>
        <p:spPr>
          <a:xfrm>
            <a:off x="177572" y="2381182"/>
            <a:ext cx="1063271" cy="1058285"/>
          </a:xfrm>
          <a:prstGeom prst="flowChartConnector">
            <a:avLst/>
          </a:prstGeom>
        </p:spPr>
      </p:pic>
      <p:sp>
        <p:nvSpPr>
          <p:cNvPr id="62" name="Rectangle 61">
            <a:extLst>
              <a:ext uri="{FF2B5EF4-FFF2-40B4-BE49-F238E27FC236}">
                <a16:creationId xmlns:a16="http://schemas.microsoft.com/office/drawing/2014/main" id="{9167283F-F5EE-627A-542E-89BF897085FC}"/>
              </a:ext>
            </a:extLst>
          </p:cNvPr>
          <p:cNvSpPr/>
          <p:nvPr/>
        </p:nvSpPr>
        <p:spPr bwMode="auto">
          <a:xfrm rot="5400000">
            <a:off x="2213678" y="4210077"/>
            <a:ext cx="2968387" cy="56704"/>
          </a:xfrm>
          <a:prstGeom prst="rect">
            <a:avLst/>
          </a:prstGeom>
          <a:solidFill>
            <a:schemeClr val="accent3"/>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63" name="Rectangle 62">
            <a:extLst>
              <a:ext uri="{FF2B5EF4-FFF2-40B4-BE49-F238E27FC236}">
                <a16:creationId xmlns:a16="http://schemas.microsoft.com/office/drawing/2014/main" id="{FA8D4FDA-6205-6CCD-AB38-9ED1E0D9998E}"/>
              </a:ext>
            </a:extLst>
          </p:cNvPr>
          <p:cNvSpPr/>
          <p:nvPr/>
        </p:nvSpPr>
        <p:spPr bwMode="auto">
          <a:xfrm>
            <a:off x="780836" y="2857062"/>
            <a:ext cx="1417534" cy="45719"/>
          </a:xfrm>
          <a:prstGeom prst="rect">
            <a:avLst/>
          </a:prstGeom>
          <a:solidFill>
            <a:schemeClr val="accent3"/>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64" name="Rectangle 63">
            <a:extLst>
              <a:ext uri="{FF2B5EF4-FFF2-40B4-BE49-F238E27FC236}">
                <a16:creationId xmlns:a16="http://schemas.microsoft.com/office/drawing/2014/main" id="{96CFD4FA-91B2-BCB1-A804-9799D8FE3F5F}"/>
              </a:ext>
            </a:extLst>
          </p:cNvPr>
          <p:cNvSpPr/>
          <p:nvPr/>
        </p:nvSpPr>
        <p:spPr bwMode="auto">
          <a:xfrm>
            <a:off x="2511132" y="2754235"/>
            <a:ext cx="1215095" cy="45719"/>
          </a:xfrm>
          <a:prstGeom prst="rect">
            <a:avLst/>
          </a:prstGeom>
          <a:solidFill>
            <a:schemeClr val="accent3"/>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Tree>
    <p:extLst>
      <p:ext uri="{BB962C8B-B14F-4D97-AF65-F5344CB8AC3E}">
        <p14:creationId xmlns:p14="http://schemas.microsoft.com/office/powerpoint/2010/main" val="1184710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DB38B-D5D1-FFCB-4934-5058019CF8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5EE1D5-970B-F66E-504C-29D168F37A3A}"/>
              </a:ext>
            </a:extLst>
          </p:cNvPr>
          <p:cNvSpPr>
            <a:spLocks noGrp="1"/>
          </p:cNvSpPr>
          <p:nvPr>
            <p:ph type="title"/>
          </p:nvPr>
        </p:nvSpPr>
        <p:spPr>
          <a:xfrm>
            <a:off x="609600" y="363090"/>
            <a:ext cx="10972800" cy="800100"/>
          </a:xfrm>
        </p:spPr>
        <p:txBody>
          <a:bodyPr anchor="b">
            <a:normAutofit/>
          </a:bodyPr>
          <a:lstStyle/>
          <a:p>
            <a:r>
              <a:rPr lang="en-US" dirty="0"/>
              <a:t>Flash ADC (FADC) Circuit Diagram</a:t>
            </a:r>
          </a:p>
        </p:txBody>
      </p:sp>
      <p:pic>
        <p:nvPicPr>
          <p:cNvPr id="20" name="Graphic 19">
            <a:extLst>
              <a:ext uri="{FF2B5EF4-FFF2-40B4-BE49-F238E27FC236}">
                <a16:creationId xmlns:a16="http://schemas.microsoft.com/office/drawing/2014/main" id="{78465EEE-98F6-488B-C359-6FE8D467B8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2837" y="1791124"/>
            <a:ext cx="10646326" cy="4648200"/>
          </a:xfrm>
          <a:prstGeom prst="rect">
            <a:avLst/>
          </a:prstGeom>
        </p:spPr>
      </p:pic>
      <p:sp>
        <p:nvSpPr>
          <p:cNvPr id="21" name="TextBox 20">
            <a:extLst>
              <a:ext uri="{FF2B5EF4-FFF2-40B4-BE49-F238E27FC236}">
                <a16:creationId xmlns:a16="http://schemas.microsoft.com/office/drawing/2014/main" id="{89CE0336-4E7A-24D4-6143-E9856512264D}"/>
              </a:ext>
            </a:extLst>
          </p:cNvPr>
          <p:cNvSpPr txBox="1"/>
          <p:nvPr/>
        </p:nvSpPr>
        <p:spPr>
          <a:xfrm>
            <a:off x="236306" y="6287784"/>
            <a:ext cx="544530" cy="380144"/>
          </a:xfrm>
          <a:prstGeom prst="rect">
            <a:avLst/>
          </a:prstGeom>
          <a:noFill/>
        </p:spPr>
        <p:txBody>
          <a:bodyPr wrap="square" rtlCol="0">
            <a:noAutofit/>
          </a:bodyPr>
          <a:lstStyle/>
          <a:p>
            <a:pPr algn="ctr"/>
            <a:r>
              <a:rPr lang="en-US" sz="1600" dirty="0"/>
              <a:t>8</a:t>
            </a:r>
          </a:p>
        </p:txBody>
      </p:sp>
      <p:sp>
        <p:nvSpPr>
          <p:cNvPr id="22" name="Rectangle 21">
            <a:extLst>
              <a:ext uri="{FF2B5EF4-FFF2-40B4-BE49-F238E27FC236}">
                <a16:creationId xmlns:a16="http://schemas.microsoft.com/office/drawing/2014/main" id="{E23C4171-BEF8-55C6-C6FC-A7406892E1C2}"/>
              </a:ext>
            </a:extLst>
          </p:cNvPr>
          <p:cNvSpPr/>
          <p:nvPr/>
        </p:nvSpPr>
        <p:spPr bwMode="auto">
          <a:xfrm>
            <a:off x="4643919" y="6061749"/>
            <a:ext cx="2198670" cy="700285"/>
          </a:xfrm>
          <a:prstGeom prst="rect">
            <a:avLst/>
          </a:prstGeom>
          <a:solidFill>
            <a:schemeClr val="bg1"/>
          </a:solidFill>
          <a:ln w="28575" cap="sq" algn="ctr">
            <a:solidFill>
              <a:schemeClr val="tx1"/>
            </a:solidFill>
            <a:miter lim="800000"/>
            <a:headEnd/>
            <a:tailEnd/>
          </a:ln>
          <a:effectLst/>
        </p:spPr>
        <p:txBody>
          <a:bodyPr wrap="none" rtlCol="0" anchor="ctr"/>
          <a:lstStyle/>
          <a:p>
            <a:pPr algn="ctr"/>
            <a:r>
              <a:rPr lang="en-US" sz="1600" b="1" dirty="0">
                <a:latin typeface="+mn-lt"/>
              </a:rPr>
              <a:t>Thermometer to </a:t>
            </a:r>
          </a:p>
          <a:p>
            <a:pPr algn="ctr"/>
            <a:r>
              <a:rPr lang="en-US" sz="1600" b="1" dirty="0">
                <a:latin typeface="+mn-lt"/>
              </a:rPr>
              <a:t>One-Hot Encoder</a:t>
            </a:r>
          </a:p>
        </p:txBody>
      </p:sp>
      <p:sp>
        <p:nvSpPr>
          <p:cNvPr id="23" name="Rectangle 22">
            <a:extLst>
              <a:ext uri="{FF2B5EF4-FFF2-40B4-BE49-F238E27FC236}">
                <a16:creationId xmlns:a16="http://schemas.microsoft.com/office/drawing/2014/main" id="{B1261DA1-B494-D12B-EF61-A96EB395055F}"/>
              </a:ext>
            </a:extLst>
          </p:cNvPr>
          <p:cNvSpPr/>
          <p:nvPr/>
        </p:nvSpPr>
        <p:spPr bwMode="auto">
          <a:xfrm>
            <a:off x="3181696" y="1385864"/>
            <a:ext cx="2198670" cy="557268"/>
          </a:xfrm>
          <a:prstGeom prst="rect">
            <a:avLst/>
          </a:prstGeom>
          <a:solidFill>
            <a:schemeClr val="bg1"/>
          </a:solidFill>
          <a:ln w="28575" cap="sq" algn="ctr">
            <a:solidFill>
              <a:schemeClr val="tx1"/>
            </a:solidFill>
            <a:miter lim="800000"/>
            <a:headEnd/>
            <a:tailEnd/>
          </a:ln>
          <a:effectLst/>
        </p:spPr>
        <p:txBody>
          <a:bodyPr wrap="none" rtlCol="0" anchor="ctr"/>
          <a:lstStyle/>
          <a:p>
            <a:pPr algn="ctr"/>
            <a:r>
              <a:rPr lang="en-US" sz="1600" b="1" dirty="0">
                <a:latin typeface="+mn-lt"/>
              </a:rPr>
              <a:t>Resistor-Comparator</a:t>
            </a:r>
          </a:p>
          <a:p>
            <a:pPr algn="ctr"/>
            <a:r>
              <a:rPr lang="en-US" sz="1600" b="1" dirty="0"/>
              <a:t>Ladder</a:t>
            </a:r>
            <a:endParaRPr lang="en-US" sz="1600" b="1" dirty="0">
              <a:latin typeface="+mn-lt"/>
            </a:endParaRPr>
          </a:p>
        </p:txBody>
      </p:sp>
      <p:sp>
        <p:nvSpPr>
          <p:cNvPr id="24" name="Rectangle 23">
            <a:extLst>
              <a:ext uri="{FF2B5EF4-FFF2-40B4-BE49-F238E27FC236}">
                <a16:creationId xmlns:a16="http://schemas.microsoft.com/office/drawing/2014/main" id="{132DB44A-0124-EBDB-AF5A-CC32BF6E412B}"/>
              </a:ext>
            </a:extLst>
          </p:cNvPr>
          <p:cNvSpPr/>
          <p:nvPr/>
        </p:nvSpPr>
        <p:spPr bwMode="auto">
          <a:xfrm>
            <a:off x="3625885" y="1959007"/>
            <a:ext cx="1018034" cy="88672"/>
          </a:xfrm>
          <a:prstGeom prst="rect">
            <a:avLst/>
          </a:prstGeom>
          <a:solidFill>
            <a:schemeClr val="bg1"/>
          </a:solidFill>
          <a:ln w="28575" cap="sq" algn="ctr">
            <a:noFill/>
            <a:miter lim="800000"/>
            <a:headEnd/>
            <a:tailEnd/>
          </a:ln>
          <a:effectLst/>
        </p:spPr>
        <p:txBody>
          <a:bodyPr wrap="none" rtlCol="0" anchor="ctr"/>
          <a:lstStyle/>
          <a:p>
            <a:pPr algn="ctr"/>
            <a:endParaRPr lang="en-US" sz="1600" b="1" dirty="0">
              <a:latin typeface="+mn-lt"/>
            </a:endParaRPr>
          </a:p>
        </p:txBody>
      </p:sp>
      <p:cxnSp>
        <p:nvCxnSpPr>
          <p:cNvPr id="26" name="Straight Connector 25">
            <a:extLst>
              <a:ext uri="{FF2B5EF4-FFF2-40B4-BE49-F238E27FC236}">
                <a16:creationId xmlns:a16="http://schemas.microsoft.com/office/drawing/2014/main" id="{236FEB2C-C566-2127-DFD0-44D7DB6E7580}"/>
              </a:ext>
            </a:extLst>
          </p:cNvPr>
          <p:cNvCxnSpPr>
            <a:cxnSpLocks/>
            <a:stCxn id="23" idx="2"/>
          </p:cNvCxnSpPr>
          <p:nvPr/>
        </p:nvCxnSpPr>
        <p:spPr>
          <a:xfrm flipH="1">
            <a:off x="4233863" y="1943132"/>
            <a:ext cx="47168" cy="1499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27ADC62D-1DDF-F397-CBE7-543A44A26946}"/>
              </a:ext>
            </a:extLst>
          </p:cNvPr>
          <p:cNvSpPr/>
          <p:nvPr/>
        </p:nvSpPr>
        <p:spPr bwMode="auto">
          <a:xfrm>
            <a:off x="390418" y="1664498"/>
            <a:ext cx="2290203" cy="557268"/>
          </a:xfrm>
          <a:prstGeom prst="rect">
            <a:avLst/>
          </a:prstGeom>
          <a:solidFill>
            <a:schemeClr val="bg1"/>
          </a:solidFill>
          <a:ln w="28575" cap="sq" algn="ctr">
            <a:solidFill>
              <a:schemeClr val="tx1"/>
            </a:solidFill>
            <a:miter lim="800000"/>
            <a:headEnd/>
            <a:tailEnd/>
          </a:ln>
          <a:effectLst/>
        </p:spPr>
        <p:txBody>
          <a:bodyPr wrap="none" rtlCol="0" anchor="ctr"/>
          <a:lstStyle/>
          <a:p>
            <a:pPr algn="ctr"/>
            <a:r>
              <a:rPr lang="en-US" sz="1600" b="1" dirty="0">
                <a:latin typeface="+mn-lt"/>
              </a:rPr>
              <a:t>Sample &amp; Hold Circuit</a:t>
            </a:r>
          </a:p>
        </p:txBody>
      </p:sp>
      <p:sp>
        <p:nvSpPr>
          <p:cNvPr id="33" name="Rectangle 32">
            <a:extLst>
              <a:ext uri="{FF2B5EF4-FFF2-40B4-BE49-F238E27FC236}">
                <a16:creationId xmlns:a16="http://schemas.microsoft.com/office/drawing/2014/main" id="{C72D7E97-5C75-66DC-3B75-C715FE65EAD7}"/>
              </a:ext>
            </a:extLst>
          </p:cNvPr>
          <p:cNvSpPr/>
          <p:nvPr/>
        </p:nvSpPr>
        <p:spPr bwMode="auto">
          <a:xfrm>
            <a:off x="6298058" y="1468414"/>
            <a:ext cx="2198671" cy="433706"/>
          </a:xfrm>
          <a:prstGeom prst="rect">
            <a:avLst/>
          </a:prstGeom>
          <a:solidFill>
            <a:schemeClr val="bg1"/>
          </a:solidFill>
          <a:ln w="28575" cap="sq" algn="ctr">
            <a:solidFill>
              <a:schemeClr val="tx1"/>
            </a:solidFill>
            <a:miter lim="800000"/>
            <a:headEnd/>
            <a:tailEnd/>
          </a:ln>
          <a:effectLst/>
        </p:spPr>
        <p:txBody>
          <a:bodyPr wrap="none" rtlCol="0" anchor="ctr"/>
          <a:lstStyle/>
          <a:p>
            <a:pPr algn="ctr"/>
            <a:r>
              <a:rPr lang="en-US" sz="1600" b="1" dirty="0">
                <a:latin typeface="+mn-lt"/>
              </a:rPr>
              <a:t>ROM Encoder</a:t>
            </a:r>
          </a:p>
        </p:txBody>
      </p:sp>
      <p:sp>
        <p:nvSpPr>
          <p:cNvPr id="34" name="Rectangle 33">
            <a:extLst>
              <a:ext uri="{FF2B5EF4-FFF2-40B4-BE49-F238E27FC236}">
                <a16:creationId xmlns:a16="http://schemas.microsoft.com/office/drawing/2014/main" id="{1F14A508-09C1-0414-7D6C-FD997413843C}"/>
              </a:ext>
            </a:extLst>
          </p:cNvPr>
          <p:cNvSpPr/>
          <p:nvPr/>
        </p:nvSpPr>
        <p:spPr bwMode="auto">
          <a:xfrm>
            <a:off x="9850562" y="1876266"/>
            <a:ext cx="1485239" cy="433706"/>
          </a:xfrm>
          <a:prstGeom prst="rect">
            <a:avLst/>
          </a:prstGeom>
          <a:solidFill>
            <a:schemeClr val="bg1"/>
          </a:solidFill>
          <a:ln w="28575" cap="sq" algn="ctr">
            <a:solidFill>
              <a:schemeClr val="tx1"/>
            </a:solidFill>
            <a:miter lim="800000"/>
            <a:headEnd/>
            <a:tailEnd/>
          </a:ln>
          <a:effectLst/>
        </p:spPr>
        <p:txBody>
          <a:bodyPr wrap="none" rtlCol="0" anchor="ctr"/>
          <a:lstStyle/>
          <a:p>
            <a:pPr algn="ctr"/>
            <a:r>
              <a:rPr lang="en-US" sz="1600" b="1" dirty="0">
                <a:latin typeface="+mn-lt"/>
              </a:rPr>
              <a:t>Data Latches</a:t>
            </a:r>
          </a:p>
        </p:txBody>
      </p:sp>
      <p:sp>
        <p:nvSpPr>
          <p:cNvPr id="7" name="Oval 6">
            <a:extLst>
              <a:ext uri="{FF2B5EF4-FFF2-40B4-BE49-F238E27FC236}">
                <a16:creationId xmlns:a16="http://schemas.microsoft.com/office/drawing/2014/main" id="{BF0A1697-834B-8814-6008-E3040D2A6542}"/>
              </a:ext>
            </a:extLst>
          </p:cNvPr>
          <p:cNvSpPr/>
          <p:nvPr/>
        </p:nvSpPr>
        <p:spPr bwMode="auto">
          <a:xfrm>
            <a:off x="3251835" y="2801620"/>
            <a:ext cx="105410" cy="105410"/>
          </a:xfrm>
          <a:prstGeom prst="ellipse">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10" name="Oval 9">
            <a:extLst>
              <a:ext uri="{FF2B5EF4-FFF2-40B4-BE49-F238E27FC236}">
                <a16:creationId xmlns:a16="http://schemas.microsoft.com/office/drawing/2014/main" id="{BD81B977-B739-29AA-DBD7-DECDCC47F694}"/>
              </a:ext>
            </a:extLst>
          </p:cNvPr>
          <p:cNvSpPr/>
          <p:nvPr/>
        </p:nvSpPr>
        <p:spPr bwMode="auto">
          <a:xfrm>
            <a:off x="3247995" y="3453245"/>
            <a:ext cx="105410" cy="105410"/>
          </a:xfrm>
          <a:prstGeom prst="ellipse">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12" name="Oval 11">
            <a:extLst>
              <a:ext uri="{FF2B5EF4-FFF2-40B4-BE49-F238E27FC236}">
                <a16:creationId xmlns:a16="http://schemas.microsoft.com/office/drawing/2014/main" id="{AED1D1A3-FCE7-105A-7753-5247A09BFBC6}"/>
              </a:ext>
            </a:extLst>
          </p:cNvPr>
          <p:cNvSpPr/>
          <p:nvPr/>
        </p:nvSpPr>
        <p:spPr bwMode="auto">
          <a:xfrm>
            <a:off x="3250182" y="4116364"/>
            <a:ext cx="105410" cy="105410"/>
          </a:xfrm>
          <a:prstGeom prst="ellipse">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27" name="Rectangle 26">
            <a:extLst>
              <a:ext uri="{FF2B5EF4-FFF2-40B4-BE49-F238E27FC236}">
                <a16:creationId xmlns:a16="http://schemas.microsoft.com/office/drawing/2014/main" id="{06EF4E74-AE2C-CB65-1E55-0546A0387A57}"/>
              </a:ext>
            </a:extLst>
          </p:cNvPr>
          <p:cNvSpPr/>
          <p:nvPr/>
        </p:nvSpPr>
        <p:spPr bwMode="auto">
          <a:xfrm>
            <a:off x="3324860" y="2832297"/>
            <a:ext cx="591820" cy="45719"/>
          </a:xfrm>
          <a:prstGeom prst="rect">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28" name="Rectangle 27">
            <a:extLst>
              <a:ext uri="{FF2B5EF4-FFF2-40B4-BE49-F238E27FC236}">
                <a16:creationId xmlns:a16="http://schemas.microsoft.com/office/drawing/2014/main" id="{16233DA2-B640-C1D2-2C01-0CD9DD2A5D96}"/>
              </a:ext>
            </a:extLst>
          </p:cNvPr>
          <p:cNvSpPr/>
          <p:nvPr/>
        </p:nvSpPr>
        <p:spPr bwMode="auto">
          <a:xfrm>
            <a:off x="3324860" y="3480968"/>
            <a:ext cx="591820" cy="45719"/>
          </a:xfrm>
          <a:prstGeom prst="rect">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29" name="Rectangle 28">
            <a:extLst>
              <a:ext uri="{FF2B5EF4-FFF2-40B4-BE49-F238E27FC236}">
                <a16:creationId xmlns:a16="http://schemas.microsoft.com/office/drawing/2014/main" id="{0432E3A2-DB07-8339-AD6B-48FDE50B5F5A}"/>
              </a:ext>
            </a:extLst>
          </p:cNvPr>
          <p:cNvSpPr/>
          <p:nvPr/>
        </p:nvSpPr>
        <p:spPr bwMode="auto">
          <a:xfrm>
            <a:off x="3324860" y="4146468"/>
            <a:ext cx="591820" cy="45719"/>
          </a:xfrm>
          <a:prstGeom prst="rect">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30" name="Rectangle 29">
            <a:extLst>
              <a:ext uri="{FF2B5EF4-FFF2-40B4-BE49-F238E27FC236}">
                <a16:creationId xmlns:a16="http://schemas.microsoft.com/office/drawing/2014/main" id="{3D92024A-55FE-CCC0-A05B-BF948CFB8AC7}"/>
              </a:ext>
            </a:extLst>
          </p:cNvPr>
          <p:cNvSpPr/>
          <p:nvPr/>
        </p:nvSpPr>
        <p:spPr bwMode="auto">
          <a:xfrm>
            <a:off x="3324860" y="5449276"/>
            <a:ext cx="591820" cy="45719"/>
          </a:xfrm>
          <a:prstGeom prst="rect">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35" name="Rectangle 34">
            <a:extLst>
              <a:ext uri="{FF2B5EF4-FFF2-40B4-BE49-F238E27FC236}">
                <a16:creationId xmlns:a16="http://schemas.microsoft.com/office/drawing/2014/main" id="{5C0B61C1-AE93-8F16-280A-CDCF1C9705B6}"/>
              </a:ext>
            </a:extLst>
          </p:cNvPr>
          <p:cNvSpPr/>
          <p:nvPr/>
        </p:nvSpPr>
        <p:spPr bwMode="auto">
          <a:xfrm>
            <a:off x="3708260" y="5674908"/>
            <a:ext cx="208420" cy="45719"/>
          </a:xfrm>
          <a:prstGeom prst="rect">
            <a:avLst/>
          </a:prstGeom>
          <a:solidFill>
            <a:schemeClr val="accent3"/>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36" name="Rectangle 35">
            <a:extLst>
              <a:ext uri="{FF2B5EF4-FFF2-40B4-BE49-F238E27FC236}">
                <a16:creationId xmlns:a16="http://schemas.microsoft.com/office/drawing/2014/main" id="{45B00551-7CD7-53AC-CB45-4693A08FCB9C}"/>
              </a:ext>
            </a:extLst>
          </p:cNvPr>
          <p:cNvSpPr/>
          <p:nvPr/>
        </p:nvSpPr>
        <p:spPr bwMode="auto">
          <a:xfrm>
            <a:off x="3708260" y="4350758"/>
            <a:ext cx="208420" cy="45719"/>
          </a:xfrm>
          <a:prstGeom prst="rect">
            <a:avLst/>
          </a:prstGeom>
          <a:solidFill>
            <a:schemeClr val="accent3"/>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37" name="Rectangle 36">
            <a:extLst>
              <a:ext uri="{FF2B5EF4-FFF2-40B4-BE49-F238E27FC236}">
                <a16:creationId xmlns:a16="http://schemas.microsoft.com/office/drawing/2014/main" id="{24B8CED6-80E6-9845-25FD-DECC1F29FDFC}"/>
              </a:ext>
            </a:extLst>
          </p:cNvPr>
          <p:cNvSpPr/>
          <p:nvPr/>
        </p:nvSpPr>
        <p:spPr bwMode="auto">
          <a:xfrm>
            <a:off x="3708260" y="3685258"/>
            <a:ext cx="208420" cy="45719"/>
          </a:xfrm>
          <a:prstGeom prst="rect">
            <a:avLst/>
          </a:prstGeom>
          <a:solidFill>
            <a:schemeClr val="accent3"/>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38" name="Rectangle 37">
            <a:extLst>
              <a:ext uri="{FF2B5EF4-FFF2-40B4-BE49-F238E27FC236}">
                <a16:creationId xmlns:a16="http://schemas.microsoft.com/office/drawing/2014/main" id="{1A66DA9D-0179-F083-0ED8-6032B221E8DB}"/>
              </a:ext>
            </a:extLst>
          </p:cNvPr>
          <p:cNvSpPr/>
          <p:nvPr/>
        </p:nvSpPr>
        <p:spPr bwMode="auto">
          <a:xfrm>
            <a:off x="3708260" y="3040042"/>
            <a:ext cx="208420" cy="45719"/>
          </a:xfrm>
          <a:prstGeom prst="rect">
            <a:avLst/>
          </a:prstGeom>
          <a:solidFill>
            <a:schemeClr val="accent3"/>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40" name="Oval 39">
            <a:extLst>
              <a:ext uri="{FF2B5EF4-FFF2-40B4-BE49-F238E27FC236}">
                <a16:creationId xmlns:a16="http://schemas.microsoft.com/office/drawing/2014/main" id="{84DD9D89-4386-7A61-21F9-E6F4153C2FCE}"/>
              </a:ext>
            </a:extLst>
          </p:cNvPr>
          <p:cNvSpPr/>
          <p:nvPr/>
        </p:nvSpPr>
        <p:spPr bwMode="auto">
          <a:xfrm>
            <a:off x="3251835" y="5419431"/>
            <a:ext cx="105410" cy="105410"/>
          </a:xfrm>
          <a:prstGeom prst="ellipse">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8" name="Flowchart: Connector 7">
            <a:extLst>
              <a:ext uri="{FF2B5EF4-FFF2-40B4-BE49-F238E27FC236}">
                <a16:creationId xmlns:a16="http://schemas.microsoft.com/office/drawing/2014/main" id="{25EEE1E8-E9A4-7211-3868-3122E3B3C31B}"/>
              </a:ext>
            </a:extLst>
          </p:cNvPr>
          <p:cNvSpPr/>
          <p:nvPr/>
        </p:nvSpPr>
        <p:spPr bwMode="auto">
          <a:xfrm>
            <a:off x="4307748" y="3558655"/>
            <a:ext cx="115662" cy="115662"/>
          </a:xfrm>
          <a:prstGeom prst="flowChartConnector">
            <a:avLst/>
          </a:prstGeom>
          <a:solidFill>
            <a:schemeClr val="accent5"/>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14" name="Flowchart: Connector 13">
            <a:extLst>
              <a:ext uri="{FF2B5EF4-FFF2-40B4-BE49-F238E27FC236}">
                <a16:creationId xmlns:a16="http://schemas.microsoft.com/office/drawing/2014/main" id="{BDE79E97-C3BE-32DF-DD53-03255A2168CE}"/>
              </a:ext>
            </a:extLst>
          </p:cNvPr>
          <p:cNvSpPr/>
          <p:nvPr/>
        </p:nvSpPr>
        <p:spPr bwMode="auto">
          <a:xfrm>
            <a:off x="4307748" y="2907030"/>
            <a:ext cx="115662" cy="115662"/>
          </a:xfrm>
          <a:prstGeom prst="flowChartConnector">
            <a:avLst/>
          </a:prstGeom>
          <a:solidFill>
            <a:schemeClr val="accent5"/>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15" name="Flowchart: Connector 14">
            <a:extLst>
              <a:ext uri="{FF2B5EF4-FFF2-40B4-BE49-F238E27FC236}">
                <a16:creationId xmlns:a16="http://schemas.microsoft.com/office/drawing/2014/main" id="{C59F7CE0-1CDD-B59F-3F63-EED3C8DAB939}"/>
              </a:ext>
            </a:extLst>
          </p:cNvPr>
          <p:cNvSpPr/>
          <p:nvPr/>
        </p:nvSpPr>
        <p:spPr bwMode="auto">
          <a:xfrm>
            <a:off x="4307748" y="4210280"/>
            <a:ext cx="115662" cy="115662"/>
          </a:xfrm>
          <a:prstGeom prst="flowChartConnector">
            <a:avLst/>
          </a:prstGeom>
          <a:solidFill>
            <a:schemeClr val="accent5"/>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16" name="Flowchart: Connector 15">
            <a:extLst>
              <a:ext uri="{FF2B5EF4-FFF2-40B4-BE49-F238E27FC236}">
                <a16:creationId xmlns:a16="http://schemas.microsoft.com/office/drawing/2014/main" id="{25B5DBCB-2859-31C9-3AEF-7246271803FB}"/>
              </a:ext>
            </a:extLst>
          </p:cNvPr>
          <p:cNvSpPr/>
          <p:nvPr/>
        </p:nvSpPr>
        <p:spPr bwMode="auto">
          <a:xfrm>
            <a:off x="4307748" y="5524841"/>
            <a:ext cx="115662" cy="115662"/>
          </a:xfrm>
          <a:prstGeom prst="flowChartConnector">
            <a:avLst/>
          </a:prstGeom>
          <a:solidFill>
            <a:schemeClr val="accent5"/>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17" name="Rectangle 16">
            <a:extLst>
              <a:ext uri="{FF2B5EF4-FFF2-40B4-BE49-F238E27FC236}">
                <a16:creationId xmlns:a16="http://schemas.microsoft.com/office/drawing/2014/main" id="{A837E789-549A-6631-4660-7DE373661729}"/>
              </a:ext>
            </a:extLst>
          </p:cNvPr>
          <p:cNvSpPr/>
          <p:nvPr/>
        </p:nvSpPr>
        <p:spPr bwMode="auto">
          <a:xfrm>
            <a:off x="4498201" y="2627525"/>
            <a:ext cx="195745" cy="279505"/>
          </a:xfrm>
          <a:prstGeom prst="rect">
            <a:avLst/>
          </a:prstGeom>
          <a:solidFill>
            <a:schemeClr val="bg1">
              <a:lumMod val="95000"/>
            </a:schemeClr>
          </a:solidFill>
          <a:ln w="57150" cap="sq" algn="ctr">
            <a:solidFill>
              <a:schemeClr val="accent5"/>
            </a:solidFill>
            <a:miter lim="800000"/>
            <a:headEnd/>
            <a:tailEnd/>
          </a:ln>
          <a:effectLst/>
        </p:spPr>
        <p:txBody>
          <a:bodyPr wrap="none" rtlCol="0" anchor="ctr"/>
          <a:lstStyle/>
          <a:p>
            <a:pPr algn="ctr"/>
            <a:r>
              <a:rPr lang="en-US" sz="1600" dirty="0"/>
              <a:t>0</a:t>
            </a:r>
            <a:endParaRPr lang="en-US" sz="1600" dirty="0">
              <a:latin typeface="+mn-lt"/>
            </a:endParaRPr>
          </a:p>
        </p:txBody>
      </p:sp>
      <p:sp>
        <p:nvSpPr>
          <p:cNvPr id="18" name="Rectangle 17">
            <a:extLst>
              <a:ext uri="{FF2B5EF4-FFF2-40B4-BE49-F238E27FC236}">
                <a16:creationId xmlns:a16="http://schemas.microsoft.com/office/drawing/2014/main" id="{7B75299C-65F3-37DC-7A66-16DF8E5BDFC9}"/>
              </a:ext>
            </a:extLst>
          </p:cNvPr>
          <p:cNvSpPr/>
          <p:nvPr/>
        </p:nvSpPr>
        <p:spPr bwMode="auto">
          <a:xfrm>
            <a:off x="4498201" y="3168349"/>
            <a:ext cx="195745" cy="279505"/>
          </a:xfrm>
          <a:prstGeom prst="rect">
            <a:avLst/>
          </a:prstGeom>
          <a:solidFill>
            <a:schemeClr val="bg1">
              <a:lumMod val="95000"/>
            </a:schemeClr>
          </a:solidFill>
          <a:ln w="57150" cap="sq" algn="ctr">
            <a:solidFill>
              <a:schemeClr val="accent5"/>
            </a:solidFill>
            <a:miter lim="800000"/>
            <a:headEnd/>
            <a:tailEnd/>
          </a:ln>
          <a:effectLst/>
        </p:spPr>
        <p:txBody>
          <a:bodyPr wrap="none" rtlCol="0" anchor="ctr"/>
          <a:lstStyle/>
          <a:p>
            <a:pPr algn="ctr"/>
            <a:r>
              <a:rPr lang="en-US" sz="1600" dirty="0"/>
              <a:t>0</a:t>
            </a:r>
            <a:endParaRPr lang="en-US" sz="1600" dirty="0">
              <a:latin typeface="+mn-lt"/>
            </a:endParaRPr>
          </a:p>
        </p:txBody>
      </p:sp>
      <p:sp>
        <p:nvSpPr>
          <p:cNvPr id="19" name="Rectangle 18">
            <a:extLst>
              <a:ext uri="{FF2B5EF4-FFF2-40B4-BE49-F238E27FC236}">
                <a16:creationId xmlns:a16="http://schemas.microsoft.com/office/drawing/2014/main" id="{142F2F6E-E89F-093A-B23F-99022AD72954}"/>
              </a:ext>
            </a:extLst>
          </p:cNvPr>
          <p:cNvSpPr/>
          <p:nvPr/>
        </p:nvSpPr>
        <p:spPr bwMode="auto">
          <a:xfrm>
            <a:off x="4498201" y="3889564"/>
            <a:ext cx="195745" cy="279505"/>
          </a:xfrm>
          <a:prstGeom prst="rect">
            <a:avLst/>
          </a:prstGeom>
          <a:solidFill>
            <a:schemeClr val="bg1">
              <a:lumMod val="95000"/>
            </a:schemeClr>
          </a:solidFill>
          <a:ln w="57150" cap="sq" algn="ctr">
            <a:solidFill>
              <a:schemeClr val="accent5"/>
            </a:solidFill>
            <a:miter lim="800000"/>
            <a:headEnd/>
            <a:tailEnd/>
          </a:ln>
          <a:effectLst/>
        </p:spPr>
        <p:txBody>
          <a:bodyPr wrap="none" rtlCol="0" anchor="ctr"/>
          <a:lstStyle/>
          <a:p>
            <a:pPr algn="ctr"/>
            <a:r>
              <a:rPr lang="en-US" sz="1600" b="1" dirty="0">
                <a:latin typeface="+mn-lt"/>
              </a:rPr>
              <a:t>1</a:t>
            </a:r>
          </a:p>
        </p:txBody>
      </p:sp>
      <p:sp>
        <p:nvSpPr>
          <p:cNvPr id="39" name="Rectangle 38">
            <a:extLst>
              <a:ext uri="{FF2B5EF4-FFF2-40B4-BE49-F238E27FC236}">
                <a16:creationId xmlns:a16="http://schemas.microsoft.com/office/drawing/2014/main" id="{79EB4DDD-2BED-6935-C399-1877EB16FE80}"/>
              </a:ext>
            </a:extLst>
          </p:cNvPr>
          <p:cNvSpPr/>
          <p:nvPr/>
        </p:nvSpPr>
        <p:spPr bwMode="auto">
          <a:xfrm>
            <a:off x="4498201" y="5200781"/>
            <a:ext cx="195745" cy="279505"/>
          </a:xfrm>
          <a:prstGeom prst="rect">
            <a:avLst/>
          </a:prstGeom>
          <a:solidFill>
            <a:schemeClr val="bg1">
              <a:lumMod val="95000"/>
            </a:schemeClr>
          </a:solidFill>
          <a:ln w="57150" cap="sq" algn="ctr">
            <a:solidFill>
              <a:schemeClr val="accent5"/>
            </a:solidFill>
            <a:miter lim="800000"/>
            <a:headEnd/>
            <a:tailEnd/>
          </a:ln>
          <a:effectLst/>
        </p:spPr>
        <p:txBody>
          <a:bodyPr wrap="none" rtlCol="0" anchor="ctr"/>
          <a:lstStyle/>
          <a:p>
            <a:pPr algn="ctr"/>
            <a:r>
              <a:rPr lang="en-US" sz="1600" b="1" dirty="0">
                <a:latin typeface="+mn-lt"/>
              </a:rPr>
              <a:t>1</a:t>
            </a:r>
          </a:p>
        </p:txBody>
      </p:sp>
      <p:cxnSp>
        <p:nvCxnSpPr>
          <p:cNvPr id="41" name="Straight Connector 40">
            <a:extLst>
              <a:ext uri="{FF2B5EF4-FFF2-40B4-BE49-F238E27FC236}">
                <a16:creationId xmlns:a16="http://schemas.microsoft.com/office/drawing/2014/main" id="{78B2F24C-BE8E-5369-4093-F17E437E22DF}"/>
              </a:ext>
            </a:extLst>
          </p:cNvPr>
          <p:cNvCxnSpPr>
            <a:cxnSpLocks/>
            <a:stCxn id="17" idx="1"/>
            <a:endCxn id="14" idx="7"/>
          </p:cNvCxnSpPr>
          <p:nvPr/>
        </p:nvCxnSpPr>
        <p:spPr>
          <a:xfrm flipH="1">
            <a:off x="4406472" y="2767278"/>
            <a:ext cx="91729" cy="1566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4AC66A1-D2AB-3AAE-B0B1-5A63B437B186}"/>
              </a:ext>
            </a:extLst>
          </p:cNvPr>
          <p:cNvCxnSpPr>
            <a:cxnSpLocks/>
          </p:cNvCxnSpPr>
          <p:nvPr/>
        </p:nvCxnSpPr>
        <p:spPr>
          <a:xfrm flipH="1">
            <a:off x="4377545" y="3464402"/>
            <a:ext cx="109264" cy="152084"/>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4756DA9D-6E48-5534-3687-A2531EE3EC9E}"/>
              </a:ext>
            </a:extLst>
          </p:cNvPr>
          <p:cNvCxnSpPr>
            <a:cxnSpLocks/>
          </p:cNvCxnSpPr>
          <p:nvPr/>
        </p:nvCxnSpPr>
        <p:spPr>
          <a:xfrm flipH="1">
            <a:off x="4377545" y="4122867"/>
            <a:ext cx="109264" cy="152084"/>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59C7323-A1E1-D5AE-D522-A758F040C9A6}"/>
              </a:ext>
            </a:extLst>
          </p:cNvPr>
          <p:cNvCxnSpPr>
            <a:cxnSpLocks/>
          </p:cNvCxnSpPr>
          <p:nvPr/>
        </p:nvCxnSpPr>
        <p:spPr>
          <a:xfrm flipH="1">
            <a:off x="4377545" y="5439997"/>
            <a:ext cx="109264" cy="152084"/>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50" name="Flowchart: Connector 49">
            <a:extLst>
              <a:ext uri="{FF2B5EF4-FFF2-40B4-BE49-F238E27FC236}">
                <a16:creationId xmlns:a16="http://schemas.microsoft.com/office/drawing/2014/main" id="{527FAE7B-EF42-3516-EC40-C3AB5A8324C2}"/>
              </a:ext>
            </a:extLst>
          </p:cNvPr>
          <p:cNvSpPr/>
          <p:nvPr/>
        </p:nvSpPr>
        <p:spPr bwMode="auto">
          <a:xfrm>
            <a:off x="5145948" y="4819991"/>
            <a:ext cx="115662" cy="115662"/>
          </a:xfrm>
          <a:prstGeom prst="flowChartConnector">
            <a:avLst/>
          </a:prstGeom>
          <a:solidFill>
            <a:schemeClr val="accent4"/>
          </a:solidFill>
          <a:ln w="12700" cap="sq" algn="ctr">
            <a:solidFill>
              <a:schemeClr val="accent4"/>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51" name="Rectangle 50">
            <a:extLst>
              <a:ext uri="{FF2B5EF4-FFF2-40B4-BE49-F238E27FC236}">
                <a16:creationId xmlns:a16="http://schemas.microsoft.com/office/drawing/2014/main" id="{225C3E61-9AAD-306F-FE58-ED9CF450A171}"/>
              </a:ext>
            </a:extLst>
          </p:cNvPr>
          <p:cNvSpPr/>
          <p:nvPr/>
        </p:nvSpPr>
        <p:spPr bwMode="auto">
          <a:xfrm>
            <a:off x="5336401" y="4495931"/>
            <a:ext cx="195745" cy="279505"/>
          </a:xfrm>
          <a:prstGeom prst="rect">
            <a:avLst/>
          </a:prstGeom>
          <a:solidFill>
            <a:schemeClr val="bg1">
              <a:lumMod val="95000"/>
            </a:schemeClr>
          </a:solidFill>
          <a:ln w="57150" cap="sq" algn="ctr">
            <a:solidFill>
              <a:schemeClr val="accent4"/>
            </a:solidFill>
            <a:miter lim="800000"/>
            <a:headEnd/>
            <a:tailEnd/>
          </a:ln>
          <a:effectLst/>
        </p:spPr>
        <p:txBody>
          <a:bodyPr wrap="none" rtlCol="0" anchor="ctr"/>
          <a:lstStyle/>
          <a:p>
            <a:pPr algn="ctr"/>
            <a:r>
              <a:rPr lang="en-US" sz="1600" dirty="0"/>
              <a:t>0</a:t>
            </a:r>
            <a:endParaRPr lang="en-US" sz="1600" dirty="0">
              <a:latin typeface="+mn-lt"/>
            </a:endParaRPr>
          </a:p>
        </p:txBody>
      </p:sp>
      <p:cxnSp>
        <p:nvCxnSpPr>
          <p:cNvPr id="52" name="Straight Connector 51">
            <a:extLst>
              <a:ext uri="{FF2B5EF4-FFF2-40B4-BE49-F238E27FC236}">
                <a16:creationId xmlns:a16="http://schemas.microsoft.com/office/drawing/2014/main" id="{76E8FDCF-15BE-2BD7-1FCD-C66D6C5297C4}"/>
              </a:ext>
            </a:extLst>
          </p:cNvPr>
          <p:cNvCxnSpPr>
            <a:cxnSpLocks/>
          </p:cNvCxnSpPr>
          <p:nvPr/>
        </p:nvCxnSpPr>
        <p:spPr>
          <a:xfrm flipH="1">
            <a:off x="5215745" y="4735147"/>
            <a:ext cx="109264" cy="152084"/>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lowchart: Connector 3">
            <a:extLst>
              <a:ext uri="{FF2B5EF4-FFF2-40B4-BE49-F238E27FC236}">
                <a16:creationId xmlns:a16="http://schemas.microsoft.com/office/drawing/2014/main" id="{ACA5A3C4-A7EC-31AF-26A1-B2AA8A376FFB}"/>
              </a:ext>
            </a:extLst>
          </p:cNvPr>
          <p:cNvSpPr/>
          <p:nvPr/>
        </p:nvSpPr>
        <p:spPr bwMode="auto">
          <a:xfrm>
            <a:off x="5145948" y="4151665"/>
            <a:ext cx="115662" cy="115662"/>
          </a:xfrm>
          <a:prstGeom prst="flowChartConnector">
            <a:avLst/>
          </a:prstGeom>
          <a:solidFill>
            <a:schemeClr val="accent4"/>
          </a:solidFill>
          <a:ln w="12700" cap="sq" algn="ctr">
            <a:solidFill>
              <a:schemeClr val="accent4"/>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42" name="Rectangle 41">
            <a:extLst>
              <a:ext uri="{FF2B5EF4-FFF2-40B4-BE49-F238E27FC236}">
                <a16:creationId xmlns:a16="http://schemas.microsoft.com/office/drawing/2014/main" id="{05EE5F4C-D272-EC29-D17E-238C81CBC420}"/>
              </a:ext>
            </a:extLst>
          </p:cNvPr>
          <p:cNvSpPr/>
          <p:nvPr/>
        </p:nvSpPr>
        <p:spPr bwMode="auto">
          <a:xfrm>
            <a:off x="5336401" y="3827605"/>
            <a:ext cx="195745" cy="279505"/>
          </a:xfrm>
          <a:prstGeom prst="rect">
            <a:avLst/>
          </a:prstGeom>
          <a:solidFill>
            <a:schemeClr val="bg1">
              <a:lumMod val="95000"/>
            </a:schemeClr>
          </a:solidFill>
          <a:ln w="57150" cap="sq" algn="ctr">
            <a:solidFill>
              <a:schemeClr val="accent4"/>
            </a:solidFill>
            <a:miter lim="800000"/>
            <a:headEnd/>
            <a:tailEnd/>
          </a:ln>
          <a:effectLst/>
        </p:spPr>
        <p:txBody>
          <a:bodyPr wrap="none" rtlCol="0" anchor="ctr"/>
          <a:lstStyle/>
          <a:p>
            <a:pPr algn="ctr"/>
            <a:r>
              <a:rPr lang="en-US" sz="1600" b="1" dirty="0">
                <a:latin typeface="+mn-lt"/>
              </a:rPr>
              <a:t>1</a:t>
            </a:r>
          </a:p>
        </p:txBody>
      </p:sp>
      <p:cxnSp>
        <p:nvCxnSpPr>
          <p:cNvPr id="43" name="Straight Connector 42">
            <a:extLst>
              <a:ext uri="{FF2B5EF4-FFF2-40B4-BE49-F238E27FC236}">
                <a16:creationId xmlns:a16="http://schemas.microsoft.com/office/drawing/2014/main" id="{3FE55B44-DAC5-A001-82D4-F3E7FE4508E2}"/>
              </a:ext>
            </a:extLst>
          </p:cNvPr>
          <p:cNvCxnSpPr>
            <a:cxnSpLocks/>
          </p:cNvCxnSpPr>
          <p:nvPr/>
        </p:nvCxnSpPr>
        <p:spPr>
          <a:xfrm flipH="1">
            <a:off x="5215745" y="4066821"/>
            <a:ext cx="109264" cy="152084"/>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45" name="Flowchart: Connector 44">
            <a:extLst>
              <a:ext uri="{FF2B5EF4-FFF2-40B4-BE49-F238E27FC236}">
                <a16:creationId xmlns:a16="http://schemas.microsoft.com/office/drawing/2014/main" id="{3D142E81-65C4-1A6C-C587-E96BCB9CEAAD}"/>
              </a:ext>
            </a:extLst>
          </p:cNvPr>
          <p:cNvSpPr/>
          <p:nvPr/>
        </p:nvSpPr>
        <p:spPr bwMode="auto">
          <a:xfrm>
            <a:off x="5145948" y="3493389"/>
            <a:ext cx="115662" cy="115662"/>
          </a:xfrm>
          <a:prstGeom prst="flowChartConnector">
            <a:avLst/>
          </a:prstGeom>
          <a:solidFill>
            <a:schemeClr val="accent4"/>
          </a:solidFill>
          <a:ln w="12700" cap="sq" algn="ctr">
            <a:solidFill>
              <a:schemeClr val="accent4"/>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46" name="Rectangle 45">
            <a:extLst>
              <a:ext uri="{FF2B5EF4-FFF2-40B4-BE49-F238E27FC236}">
                <a16:creationId xmlns:a16="http://schemas.microsoft.com/office/drawing/2014/main" id="{A770D879-1C0C-D6EF-3777-CB7D853CBFAB}"/>
              </a:ext>
            </a:extLst>
          </p:cNvPr>
          <p:cNvSpPr/>
          <p:nvPr/>
        </p:nvSpPr>
        <p:spPr bwMode="auto">
          <a:xfrm>
            <a:off x="5336401" y="3169329"/>
            <a:ext cx="195745" cy="279505"/>
          </a:xfrm>
          <a:prstGeom prst="rect">
            <a:avLst/>
          </a:prstGeom>
          <a:solidFill>
            <a:schemeClr val="bg1">
              <a:lumMod val="95000"/>
            </a:schemeClr>
          </a:solidFill>
          <a:ln w="57150" cap="sq" algn="ctr">
            <a:solidFill>
              <a:schemeClr val="accent4"/>
            </a:solidFill>
            <a:miter lim="800000"/>
            <a:headEnd/>
            <a:tailEnd/>
          </a:ln>
          <a:effectLst/>
        </p:spPr>
        <p:txBody>
          <a:bodyPr wrap="none" rtlCol="0" anchor="ctr"/>
          <a:lstStyle/>
          <a:p>
            <a:pPr algn="ctr"/>
            <a:r>
              <a:rPr lang="en-US" sz="1600" dirty="0"/>
              <a:t>0</a:t>
            </a:r>
            <a:endParaRPr lang="en-US" sz="1600" dirty="0">
              <a:latin typeface="+mn-lt"/>
            </a:endParaRPr>
          </a:p>
        </p:txBody>
      </p:sp>
      <p:cxnSp>
        <p:nvCxnSpPr>
          <p:cNvPr id="49" name="Straight Connector 48">
            <a:extLst>
              <a:ext uri="{FF2B5EF4-FFF2-40B4-BE49-F238E27FC236}">
                <a16:creationId xmlns:a16="http://schemas.microsoft.com/office/drawing/2014/main" id="{53995473-45D4-600A-E51A-3A4FF66EBAE0}"/>
              </a:ext>
            </a:extLst>
          </p:cNvPr>
          <p:cNvCxnSpPr>
            <a:cxnSpLocks/>
          </p:cNvCxnSpPr>
          <p:nvPr/>
        </p:nvCxnSpPr>
        <p:spPr>
          <a:xfrm flipH="1">
            <a:off x="5215745" y="3408545"/>
            <a:ext cx="109264" cy="152084"/>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3" name="Flowchart: Connector 52">
            <a:extLst>
              <a:ext uri="{FF2B5EF4-FFF2-40B4-BE49-F238E27FC236}">
                <a16:creationId xmlns:a16="http://schemas.microsoft.com/office/drawing/2014/main" id="{151B42FD-4BE8-C25E-E415-CC4DC184A40B}"/>
              </a:ext>
            </a:extLst>
          </p:cNvPr>
          <p:cNvSpPr/>
          <p:nvPr/>
        </p:nvSpPr>
        <p:spPr bwMode="auto">
          <a:xfrm>
            <a:off x="5145948" y="5475367"/>
            <a:ext cx="115662" cy="115662"/>
          </a:xfrm>
          <a:prstGeom prst="flowChartConnector">
            <a:avLst/>
          </a:prstGeom>
          <a:solidFill>
            <a:schemeClr val="accent4"/>
          </a:solidFill>
          <a:ln w="12700" cap="sq" algn="ctr">
            <a:solidFill>
              <a:schemeClr val="accent4"/>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54" name="Rectangle 53">
            <a:extLst>
              <a:ext uri="{FF2B5EF4-FFF2-40B4-BE49-F238E27FC236}">
                <a16:creationId xmlns:a16="http://schemas.microsoft.com/office/drawing/2014/main" id="{E3422836-2A00-DADE-AF4F-070D6681B7A9}"/>
              </a:ext>
            </a:extLst>
          </p:cNvPr>
          <p:cNvSpPr/>
          <p:nvPr/>
        </p:nvSpPr>
        <p:spPr bwMode="auto">
          <a:xfrm>
            <a:off x="5336401" y="5151307"/>
            <a:ext cx="195745" cy="279505"/>
          </a:xfrm>
          <a:prstGeom prst="rect">
            <a:avLst/>
          </a:prstGeom>
          <a:solidFill>
            <a:schemeClr val="bg1">
              <a:lumMod val="95000"/>
            </a:schemeClr>
          </a:solidFill>
          <a:ln w="57150" cap="sq" algn="ctr">
            <a:solidFill>
              <a:schemeClr val="accent4"/>
            </a:solidFill>
            <a:miter lim="800000"/>
            <a:headEnd/>
            <a:tailEnd/>
          </a:ln>
          <a:effectLst/>
        </p:spPr>
        <p:txBody>
          <a:bodyPr wrap="none" rtlCol="0" anchor="ctr"/>
          <a:lstStyle/>
          <a:p>
            <a:pPr algn="ctr"/>
            <a:r>
              <a:rPr lang="en-US" sz="1600" dirty="0"/>
              <a:t>0</a:t>
            </a:r>
            <a:endParaRPr lang="en-US" sz="1600" dirty="0">
              <a:latin typeface="+mn-lt"/>
            </a:endParaRPr>
          </a:p>
        </p:txBody>
      </p:sp>
      <p:cxnSp>
        <p:nvCxnSpPr>
          <p:cNvPr id="55" name="Straight Connector 54">
            <a:extLst>
              <a:ext uri="{FF2B5EF4-FFF2-40B4-BE49-F238E27FC236}">
                <a16:creationId xmlns:a16="http://schemas.microsoft.com/office/drawing/2014/main" id="{CB238C7C-E0CD-4595-06C2-450E7EA95202}"/>
              </a:ext>
            </a:extLst>
          </p:cNvPr>
          <p:cNvCxnSpPr>
            <a:cxnSpLocks/>
          </p:cNvCxnSpPr>
          <p:nvPr/>
        </p:nvCxnSpPr>
        <p:spPr>
          <a:xfrm flipH="1">
            <a:off x="5215745" y="5390523"/>
            <a:ext cx="109264" cy="152084"/>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4EF7FD06-5588-D440-CE90-162BAF2BDCD3}"/>
              </a:ext>
            </a:extLst>
          </p:cNvPr>
          <p:cNvSpPr/>
          <p:nvPr/>
        </p:nvSpPr>
        <p:spPr bwMode="auto">
          <a:xfrm flipH="1">
            <a:off x="2406650" y="2370389"/>
            <a:ext cx="775046" cy="252044"/>
          </a:xfrm>
          <a:prstGeom prst="rect">
            <a:avLst/>
          </a:prstGeom>
          <a:solidFill>
            <a:schemeClr val="bg1">
              <a:lumMod val="95000"/>
            </a:schemeClr>
          </a:solidFill>
          <a:ln>
            <a:headEnd/>
            <a:tailEnd/>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600" b="1" dirty="0">
                <a:solidFill>
                  <a:schemeClr val="tx1"/>
                </a:solidFill>
              </a:rPr>
              <a:t>1.992 </a:t>
            </a:r>
            <a:r>
              <a:rPr lang="en-US" sz="1600" b="1" dirty="0">
                <a:solidFill>
                  <a:schemeClr val="tx1"/>
                </a:solidFill>
                <a:latin typeface="+mn-lt"/>
              </a:rPr>
              <a:t>V</a:t>
            </a:r>
          </a:p>
        </p:txBody>
      </p:sp>
      <p:sp>
        <p:nvSpPr>
          <p:cNvPr id="57" name="Rectangle 56">
            <a:extLst>
              <a:ext uri="{FF2B5EF4-FFF2-40B4-BE49-F238E27FC236}">
                <a16:creationId xmlns:a16="http://schemas.microsoft.com/office/drawing/2014/main" id="{C24D176C-0B9A-B9CB-C20C-5B77DA7E7410}"/>
              </a:ext>
            </a:extLst>
          </p:cNvPr>
          <p:cNvSpPr/>
          <p:nvPr/>
        </p:nvSpPr>
        <p:spPr bwMode="auto">
          <a:xfrm>
            <a:off x="2401321" y="3262645"/>
            <a:ext cx="775046" cy="252044"/>
          </a:xfrm>
          <a:prstGeom prst="rect">
            <a:avLst/>
          </a:prstGeom>
          <a:solidFill>
            <a:schemeClr val="bg1">
              <a:lumMod val="95000"/>
            </a:schemeClr>
          </a:solidFill>
          <a:ln>
            <a:headEnd/>
            <a:tailEnd/>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600" b="1" dirty="0">
                <a:solidFill>
                  <a:schemeClr val="tx1"/>
                </a:solidFill>
              </a:rPr>
              <a:t>1.984 </a:t>
            </a:r>
            <a:r>
              <a:rPr lang="en-US" sz="1600" b="1" dirty="0">
                <a:solidFill>
                  <a:schemeClr val="tx1"/>
                </a:solidFill>
                <a:latin typeface="+mn-lt"/>
              </a:rPr>
              <a:t>V</a:t>
            </a:r>
          </a:p>
        </p:txBody>
      </p:sp>
      <p:sp>
        <p:nvSpPr>
          <p:cNvPr id="58" name="Rectangle 57">
            <a:extLst>
              <a:ext uri="{FF2B5EF4-FFF2-40B4-BE49-F238E27FC236}">
                <a16:creationId xmlns:a16="http://schemas.microsoft.com/office/drawing/2014/main" id="{2B39B1CF-6F42-91E0-A105-858F5171FC3A}"/>
              </a:ext>
            </a:extLst>
          </p:cNvPr>
          <p:cNvSpPr/>
          <p:nvPr/>
        </p:nvSpPr>
        <p:spPr bwMode="auto">
          <a:xfrm>
            <a:off x="2401320" y="3860453"/>
            <a:ext cx="775046" cy="252044"/>
          </a:xfrm>
          <a:prstGeom prst="rect">
            <a:avLst/>
          </a:prstGeom>
          <a:solidFill>
            <a:schemeClr val="bg1">
              <a:lumMod val="95000"/>
            </a:schemeClr>
          </a:solidFill>
          <a:ln>
            <a:headEnd/>
            <a:tailEnd/>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600" b="1" dirty="0">
                <a:solidFill>
                  <a:schemeClr val="tx1"/>
                </a:solidFill>
              </a:rPr>
              <a:t>1.976 </a:t>
            </a:r>
            <a:r>
              <a:rPr lang="en-US" sz="1600" b="1" dirty="0">
                <a:solidFill>
                  <a:schemeClr val="tx1"/>
                </a:solidFill>
                <a:latin typeface="+mn-lt"/>
              </a:rPr>
              <a:t>V</a:t>
            </a:r>
          </a:p>
        </p:txBody>
      </p:sp>
      <p:cxnSp>
        <p:nvCxnSpPr>
          <p:cNvPr id="59" name="Straight Connector 58">
            <a:extLst>
              <a:ext uri="{FF2B5EF4-FFF2-40B4-BE49-F238E27FC236}">
                <a16:creationId xmlns:a16="http://schemas.microsoft.com/office/drawing/2014/main" id="{8E4104AF-060D-8EE6-809F-C91AE6C9E45C}"/>
              </a:ext>
            </a:extLst>
          </p:cNvPr>
          <p:cNvCxnSpPr>
            <a:cxnSpLocks/>
          </p:cNvCxnSpPr>
          <p:nvPr/>
        </p:nvCxnSpPr>
        <p:spPr>
          <a:xfrm>
            <a:off x="3114148" y="2622433"/>
            <a:ext cx="161487" cy="194624"/>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29D68E0-0E05-3D02-B68F-62E235A4B68F}"/>
              </a:ext>
            </a:extLst>
          </p:cNvPr>
          <p:cNvCxnSpPr>
            <a:cxnSpLocks/>
            <a:stCxn id="57" idx="3"/>
          </p:cNvCxnSpPr>
          <p:nvPr/>
        </p:nvCxnSpPr>
        <p:spPr>
          <a:xfrm>
            <a:off x="3176367" y="3388667"/>
            <a:ext cx="87065" cy="80015"/>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00C803F-BD72-95ED-DAA5-782177B98CD5}"/>
              </a:ext>
            </a:extLst>
          </p:cNvPr>
          <p:cNvCxnSpPr>
            <a:cxnSpLocks/>
          </p:cNvCxnSpPr>
          <p:nvPr/>
        </p:nvCxnSpPr>
        <p:spPr>
          <a:xfrm>
            <a:off x="3157220" y="4112497"/>
            <a:ext cx="129882" cy="36375"/>
          </a:xfrm>
          <a:prstGeom prst="line">
            <a:avLst/>
          </a:prstGeom>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BFB1DA01-E0C7-90CE-6FC7-C97FC428F01F}"/>
              </a:ext>
            </a:extLst>
          </p:cNvPr>
          <p:cNvSpPr/>
          <p:nvPr/>
        </p:nvSpPr>
        <p:spPr bwMode="auto">
          <a:xfrm>
            <a:off x="2401320" y="5107369"/>
            <a:ext cx="775046" cy="252044"/>
          </a:xfrm>
          <a:prstGeom prst="rect">
            <a:avLst/>
          </a:prstGeom>
          <a:solidFill>
            <a:schemeClr val="bg1">
              <a:lumMod val="95000"/>
            </a:schemeClr>
          </a:solidFill>
          <a:ln>
            <a:headEnd/>
            <a:tailEnd/>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600" b="1" dirty="0">
                <a:solidFill>
                  <a:schemeClr val="tx1"/>
                </a:solidFill>
              </a:rPr>
              <a:t>8 m</a:t>
            </a:r>
            <a:r>
              <a:rPr lang="en-US" sz="1600" b="1" dirty="0">
                <a:solidFill>
                  <a:schemeClr val="tx1"/>
                </a:solidFill>
                <a:latin typeface="+mn-lt"/>
              </a:rPr>
              <a:t>V</a:t>
            </a:r>
          </a:p>
        </p:txBody>
      </p:sp>
      <p:cxnSp>
        <p:nvCxnSpPr>
          <p:cNvPr id="63" name="Straight Connector 62">
            <a:extLst>
              <a:ext uri="{FF2B5EF4-FFF2-40B4-BE49-F238E27FC236}">
                <a16:creationId xmlns:a16="http://schemas.microsoft.com/office/drawing/2014/main" id="{40BB8E87-B6D7-DF8C-3E45-83DEB99FB2CC}"/>
              </a:ext>
            </a:extLst>
          </p:cNvPr>
          <p:cNvCxnSpPr>
            <a:cxnSpLocks/>
          </p:cNvCxnSpPr>
          <p:nvPr/>
        </p:nvCxnSpPr>
        <p:spPr>
          <a:xfrm>
            <a:off x="3131344" y="5367776"/>
            <a:ext cx="135928" cy="67092"/>
          </a:xfrm>
          <a:prstGeom prst="line">
            <a:avLst/>
          </a:prstGeom>
        </p:spPr>
        <p:style>
          <a:lnRef idx="1">
            <a:schemeClr val="accent1"/>
          </a:lnRef>
          <a:fillRef idx="0">
            <a:schemeClr val="accent1"/>
          </a:fillRef>
          <a:effectRef idx="0">
            <a:schemeClr val="accent1"/>
          </a:effectRef>
          <a:fontRef idx="minor">
            <a:schemeClr val="tx1"/>
          </a:fontRef>
        </p:style>
      </p:cxnSp>
      <p:pic>
        <p:nvPicPr>
          <p:cNvPr id="72" name="Graphic 71">
            <a:extLst>
              <a:ext uri="{FF2B5EF4-FFF2-40B4-BE49-F238E27FC236}">
                <a16:creationId xmlns:a16="http://schemas.microsoft.com/office/drawing/2014/main" id="{5E415B23-756A-119F-AF43-963CA8AFA691}"/>
              </a:ext>
            </a:extLst>
          </p:cNvPr>
          <p:cNvPicPr>
            <a:picLocks noChangeAspect="1"/>
          </p:cNvPicPr>
          <p:nvPr/>
        </p:nvPicPr>
        <p:blipFill>
          <a:blip>
            <a:extLst>
              <a:ext uri="{96DAC541-7B7A-43D3-8B79-37D633B846F1}">
                <asvg:svgBlip xmlns:asvg="http://schemas.microsoft.com/office/drawing/2016/SVG/main" r:embed="rId4"/>
              </a:ext>
            </a:extLst>
          </a:blip>
          <a:srcRect l="1314" t="27077" r="97577" b="70306"/>
          <a:stretch>
            <a:fillRect/>
          </a:stretch>
        </p:blipFill>
        <p:spPr>
          <a:xfrm>
            <a:off x="177572" y="2381182"/>
            <a:ext cx="1063271" cy="1058285"/>
          </a:xfrm>
          <a:prstGeom prst="flowChartConnector">
            <a:avLst/>
          </a:prstGeom>
        </p:spPr>
      </p:pic>
      <p:sp>
        <p:nvSpPr>
          <p:cNvPr id="73" name="Rectangle 72">
            <a:extLst>
              <a:ext uri="{FF2B5EF4-FFF2-40B4-BE49-F238E27FC236}">
                <a16:creationId xmlns:a16="http://schemas.microsoft.com/office/drawing/2014/main" id="{80F515FF-21C1-A385-A5A7-3672C7E7E23E}"/>
              </a:ext>
            </a:extLst>
          </p:cNvPr>
          <p:cNvSpPr/>
          <p:nvPr/>
        </p:nvSpPr>
        <p:spPr bwMode="auto">
          <a:xfrm rot="5400000">
            <a:off x="2213678" y="4210077"/>
            <a:ext cx="2968387" cy="56704"/>
          </a:xfrm>
          <a:prstGeom prst="rect">
            <a:avLst/>
          </a:prstGeom>
          <a:solidFill>
            <a:schemeClr val="accent3"/>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74" name="Rectangle 73">
            <a:extLst>
              <a:ext uri="{FF2B5EF4-FFF2-40B4-BE49-F238E27FC236}">
                <a16:creationId xmlns:a16="http://schemas.microsoft.com/office/drawing/2014/main" id="{1F871C2F-125A-826F-6B54-37BBBB3D8651}"/>
              </a:ext>
            </a:extLst>
          </p:cNvPr>
          <p:cNvSpPr/>
          <p:nvPr/>
        </p:nvSpPr>
        <p:spPr bwMode="auto">
          <a:xfrm>
            <a:off x="780836" y="2857062"/>
            <a:ext cx="1417534" cy="45719"/>
          </a:xfrm>
          <a:prstGeom prst="rect">
            <a:avLst/>
          </a:prstGeom>
          <a:solidFill>
            <a:schemeClr val="accent3"/>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75" name="Rectangle 74">
            <a:extLst>
              <a:ext uri="{FF2B5EF4-FFF2-40B4-BE49-F238E27FC236}">
                <a16:creationId xmlns:a16="http://schemas.microsoft.com/office/drawing/2014/main" id="{43D81777-57CB-BF8F-D76A-243C7B7435BC}"/>
              </a:ext>
            </a:extLst>
          </p:cNvPr>
          <p:cNvSpPr/>
          <p:nvPr/>
        </p:nvSpPr>
        <p:spPr bwMode="auto">
          <a:xfrm>
            <a:off x="2511132" y="2754235"/>
            <a:ext cx="1215095" cy="45719"/>
          </a:xfrm>
          <a:prstGeom prst="rect">
            <a:avLst/>
          </a:prstGeom>
          <a:solidFill>
            <a:schemeClr val="accent3"/>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Tree>
    <p:extLst>
      <p:ext uri="{BB962C8B-B14F-4D97-AF65-F5344CB8AC3E}">
        <p14:creationId xmlns:p14="http://schemas.microsoft.com/office/powerpoint/2010/main" val="930860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2F5F3-E474-5F46-B26A-284FCD6C57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84A119-E31A-5B93-8900-6F56686072E2}"/>
              </a:ext>
            </a:extLst>
          </p:cNvPr>
          <p:cNvSpPr>
            <a:spLocks noGrp="1"/>
          </p:cNvSpPr>
          <p:nvPr>
            <p:ph type="title"/>
          </p:nvPr>
        </p:nvSpPr>
        <p:spPr>
          <a:xfrm>
            <a:off x="609600" y="363090"/>
            <a:ext cx="10972800" cy="800100"/>
          </a:xfrm>
        </p:spPr>
        <p:txBody>
          <a:bodyPr anchor="b">
            <a:normAutofit/>
          </a:bodyPr>
          <a:lstStyle/>
          <a:p>
            <a:r>
              <a:rPr lang="en-US" dirty="0"/>
              <a:t>Flash ADC (FADC) Circuit Diagram</a:t>
            </a:r>
          </a:p>
        </p:txBody>
      </p:sp>
      <p:pic>
        <p:nvPicPr>
          <p:cNvPr id="20" name="Graphic 19">
            <a:extLst>
              <a:ext uri="{FF2B5EF4-FFF2-40B4-BE49-F238E27FC236}">
                <a16:creationId xmlns:a16="http://schemas.microsoft.com/office/drawing/2014/main" id="{ADDC32F9-EB2E-0689-1AE1-3CD6131F01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2837" y="1791124"/>
            <a:ext cx="10646326" cy="4648200"/>
          </a:xfrm>
          <a:prstGeom prst="rect">
            <a:avLst/>
          </a:prstGeom>
        </p:spPr>
      </p:pic>
      <p:sp>
        <p:nvSpPr>
          <p:cNvPr id="21" name="TextBox 20">
            <a:extLst>
              <a:ext uri="{FF2B5EF4-FFF2-40B4-BE49-F238E27FC236}">
                <a16:creationId xmlns:a16="http://schemas.microsoft.com/office/drawing/2014/main" id="{1089BC57-6AF5-48B6-1711-6CBFE97B15AE}"/>
              </a:ext>
            </a:extLst>
          </p:cNvPr>
          <p:cNvSpPr txBox="1"/>
          <p:nvPr/>
        </p:nvSpPr>
        <p:spPr>
          <a:xfrm>
            <a:off x="236306" y="6287784"/>
            <a:ext cx="544530" cy="380144"/>
          </a:xfrm>
          <a:prstGeom prst="rect">
            <a:avLst/>
          </a:prstGeom>
          <a:noFill/>
        </p:spPr>
        <p:txBody>
          <a:bodyPr wrap="square" rtlCol="0">
            <a:noAutofit/>
          </a:bodyPr>
          <a:lstStyle/>
          <a:p>
            <a:pPr algn="ctr"/>
            <a:r>
              <a:rPr lang="en-US" sz="1600" dirty="0"/>
              <a:t>9</a:t>
            </a:r>
          </a:p>
        </p:txBody>
      </p:sp>
      <p:sp>
        <p:nvSpPr>
          <p:cNvPr id="22" name="Rectangle 21">
            <a:extLst>
              <a:ext uri="{FF2B5EF4-FFF2-40B4-BE49-F238E27FC236}">
                <a16:creationId xmlns:a16="http://schemas.microsoft.com/office/drawing/2014/main" id="{5856C750-C29D-A0F9-9BA8-281DCDBF4995}"/>
              </a:ext>
            </a:extLst>
          </p:cNvPr>
          <p:cNvSpPr/>
          <p:nvPr/>
        </p:nvSpPr>
        <p:spPr bwMode="auto">
          <a:xfrm>
            <a:off x="4643919" y="6061749"/>
            <a:ext cx="2198670" cy="700285"/>
          </a:xfrm>
          <a:prstGeom prst="rect">
            <a:avLst/>
          </a:prstGeom>
          <a:solidFill>
            <a:schemeClr val="bg1"/>
          </a:solidFill>
          <a:ln w="28575" cap="sq" algn="ctr">
            <a:solidFill>
              <a:schemeClr val="tx1"/>
            </a:solidFill>
            <a:miter lim="800000"/>
            <a:headEnd/>
            <a:tailEnd/>
          </a:ln>
          <a:effectLst/>
        </p:spPr>
        <p:txBody>
          <a:bodyPr wrap="none" rtlCol="0" anchor="ctr"/>
          <a:lstStyle/>
          <a:p>
            <a:pPr algn="ctr"/>
            <a:r>
              <a:rPr lang="en-US" sz="1600" b="1" dirty="0">
                <a:latin typeface="+mn-lt"/>
              </a:rPr>
              <a:t>Thermometer to </a:t>
            </a:r>
          </a:p>
          <a:p>
            <a:pPr algn="ctr"/>
            <a:r>
              <a:rPr lang="en-US" sz="1600" b="1" dirty="0">
                <a:latin typeface="+mn-lt"/>
              </a:rPr>
              <a:t>One-Hot Encoder</a:t>
            </a:r>
          </a:p>
        </p:txBody>
      </p:sp>
      <p:sp>
        <p:nvSpPr>
          <p:cNvPr id="23" name="Rectangle 22">
            <a:extLst>
              <a:ext uri="{FF2B5EF4-FFF2-40B4-BE49-F238E27FC236}">
                <a16:creationId xmlns:a16="http://schemas.microsoft.com/office/drawing/2014/main" id="{B46157AB-FA95-40B4-59C2-8EE68CFCD83A}"/>
              </a:ext>
            </a:extLst>
          </p:cNvPr>
          <p:cNvSpPr/>
          <p:nvPr/>
        </p:nvSpPr>
        <p:spPr bwMode="auto">
          <a:xfrm>
            <a:off x="3181696" y="1385864"/>
            <a:ext cx="2198670" cy="557268"/>
          </a:xfrm>
          <a:prstGeom prst="rect">
            <a:avLst/>
          </a:prstGeom>
          <a:solidFill>
            <a:schemeClr val="bg1"/>
          </a:solidFill>
          <a:ln w="28575" cap="sq" algn="ctr">
            <a:solidFill>
              <a:schemeClr val="tx1"/>
            </a:solidFill>
            <a:miter lim="800000"/>
            <a:headEnd/>
            <a:tailEnd/>
          </a:ln>
          <a:effectLst/>
        </p:spPr>
        <p:txBody>
          <a:bodyPr wrap="none" rtlCol="0" anchor="ctr"/>
          <a:lstStyle/>
          <a:p>
            <a:pPr algn="ctr"/>
            <a:r>
              <a:rPr lang="en-US" sz="1600" b="1" dirty="0">
                <a:latin typeface="+mn-lt"/>
              </a:rPr>
              <a:t>Resistor-Comparator</a:t>
            </a:r>
          </a:p>
          <a:p>
            <a:pPr algn="ctr"/>
            <a:r>
              <a:rPr lang="en-US" sz="1600" b="1" dirty="0"/>
              <a:t>Ladder</a:t>
            </a:r>
            <a:endParaRPr lang="en-US" sz="1600" b="1" dirty="0">
              <a:latin typeface="+mn-lt"/>
            </a:endParaRPr>
          </a:p>
        </p:txBody>
      </p:sp>
      <p:sp>
        <p:nvSpPr>
          <p:cNvPr id="24" name="Rectangle 23">
            <a:extLst>
              <a:ext uri="{FF2B5EF4-FFF2-40B4-BE49-F238E27FC236}">
                <a16:creationId xmlns:a16="http://schemas.microsoft.com/office/drawing/2014/main" id="{8E6D7916-885A-B515-ABCA-4172F122A499}"/>
              </a:ext>
            </a:extLst>
          </p:cNvPr>
          <p:cNvSpPr/>
          <p:nvPr/>
        </p:nvSpPr>
        <p:spPr bwMode="auto">
          <a:xfrm>
            <a:off x="3625885" y="1959007"/>
            <a:ext cx="1018034" cy="88672"/>
          </a:xfrm>
          <a:prstGeom prst="rect">
            <a:avLst/>
          </a:prstGeom>
          <a:solidFill>
            <a:schemeClr val="bg1"/>
          </a:solidFill>
          <a:ln w="28575" cap="sq" algn="ctr">
            <a:noFill/>
            <a:miter lim="800000"/>
            <a:headEnd/>
            <a:tailEnd/>
          </a:ln>
          <a:effectLst/>
        </p:spPr>
        <p:txBody>
          <a:bodyPr wrap="none" rtlCol="0" anchor="ctr"/>
          <a:lstStyle/>
          <a:p>
            <a:pPr algn="ctr"/>
            <a:endParaRPr lang="en-US" sz="1600" b="1" dirty="0">
              <a:latin typeface="+mn-lt"/>
            </a:endParaRPr>
          </a:p>
        </p:txBody>
      </p:sp>
      <p:cxnSp>
        <p:nvCxnSpPr>
          <p:cNvPr id="26" name="Straight Connector 25">
            <a:extLst>
              <a:ext uri="{FF2B5EF4-FFF2-40B4-BE49-F238E27FC236}">
                <a16:creationId xmlns:a16="http://schemas.microsoft.com/office/drawing/2014/main" id="{6209CC73-9503-B218-0033-2355247A86FA}"/>
              </a:ext>
            </a:extLst>
          </p:cNvPr>
          <p:cNvCxnSpPr>
            <a:cxnSpLocks/>
            <a:stCxn id="23" idx="2"/>
          </p:cNvCxnSpPr>
          <p:nvPr/>
        </p:nvCxnSpPr>
        <p:spPr>
          <a:xfrm flipH="1">
            <a:off x="4233863" y="1943132"/>
            <a:ext cx="47168" cy="1499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1105A03F-43CB-4656-6C55-E391052ADE6F}"/>
              </a:ext>
            </a:extLst>
          </p:cNvPr>
          <p:cNvSpPr/>
          <p:nvPr/>
        </p:nvSpPr>
        <p:spPr bwMode="auto">
          <a:xfrm>
            <a:off x="390418" y="1664498"/>
            <a:ext cx="2290203" cy="557268"/>
          </a:xfrm>
          <a:prstGeom prst="rect">
            <a:avLst/>
          </a:prstGeom>
          <a:solidFill>
            <a:schemeClr val="bg1"/>
          </a:solidFill>
          <a:ln w="28575" cap="sq" algn="ctr">
            <a:solidFill>
              <a:schemeClr val="tx1"/>
            </a:solidFill>
            <a:miter lim="800000"/>
            <a:headEnd/>
            <a:tailEnd/>
          </a:ln>
          <a:effectLst/>
        </p:spPr>
        <p:txBody>
          <a:bodyPr wrap="none" rtlCol="0" anchor="ctr"/>
          <a:lstStyle/>
          <a:p>
            <a:pPr algn="ctr"/>
            <a:r>
              <a:rPr lang="en-US" sz="1600" b="1" dirty="0">
                <a:latin typeface="+mn-lt"/>
              </a:rPr>
              <a:t>Sample &amp; Hold Circuit</a:t>
            </a:r>
          </a:p>
        </p:txBody>
      </p:sp>
      <p:sp>
        <p:nvSpPr>
          <p:cNvPr id="33" name="Rectangle 32">
            <a:extLst>
              <a:ext uri="{FF2B5EF4-FFF2-40B4-BE49-F238E27FC236}">
                <a16:creationId xmlns:a16="http://schemas.microsoft.com/office/drawing/2014/main" id="{84836634-3D4A-1564-C3BD-FFD4B974CC77}"/>
              </a:ext>
            </a:extLst>
          </p:cNvPr>
          <p:cNvSpPr/>
          <p:nvPr/>
        </p:nvSpPr>
        <p:spPr bwMode="auto">
          <a:xfrm>
            <a:off x="6298058" y="1468414"/>
            <a:ext cx="2198671" cy="433706"/>
          </a:xfrm>
          <a:prstGeom prst="rect">
            <a:avLst/>
          </a:prstGeom>
          <a:solidFill>
            <a:schemeClr val="bg1"/>
          </a:solidFill>
          <a:ln w="28575" cap="sq" algn="ctr">
            <a:solidFill>
              <a:schemeClr val="tx1"/>
            </a:solidFill>
            <a:miter lim="800000"/>
            <a:headEnd/>
            <a:tailEnd/>
          </a:ln>
          <a:effectLst/>
        </p:spPr>
        <p:txBody>
          <a:bodyPr wrap="none" rtlCol="0" anchor="ctr"/>
          <a:lstStyle/>
          <a:p>
            <a:pPr algn="ctr"/>
            <a:r>
              <a:rPr lang="en-US" sz="1600" b="1" dirty="0">
                <a:latin typeface="+mn-lt"/>
              </a:rPr>
              <a:t>ROM Encoder</a:t>
            </a:r>
          </a:p>
        </p:txBody>
      </p:sp>
      <p:sp>
        <p:nvSpPr>
          <p:cNvPr id="34" name="Rectangle 33">
            <a:extLst>
              <a:ext uri="{FF2B5EF4-FFF2-40B4-BE49-F238E27FC236}">
                <a16:creationId xmlns:a16="http://schemas.microsoft.com/office/drawing/2014/main" id="{F0186B8B-8A4A-C80F-2FF4-E6BD939B5390}"/>
              </a:ext>
            </a:extLst>
          </p:cNvPr>
          <p:cNvSpPr/>
          <p:nvPr/>
        </p:nvSpPr>
        <p:spPr bwMode="auto">
          <a:xfrm>
            <a:off x="9850562" y="1876266"/>
            <a:ext cx="1485239" cy="433706"/>
          </a:xfrm>
          <a:prstGeom prst="rect">
            <a:avLst/>
          </a:prstGeom>
          <a:solidFill>
            <a:schemeClr val="bg1"/>
          </a:solidFill>
          <a:ln w="28575" cap="sq" algn="ctr">
            <a:solidFill>
              <a:schemeClr val="tx1"/>
            </a:solidFill>
            <a:miter lim="800000"/>
            <a:headEnd/>
            <a:tailEnd/>
          </a:ln>
          <a:effectLst/>
        </p:spPr>
        <p:txBody>
          <a:bodyPr wrap="none" rtlCol="0" anchor="ctr"/>
          <a:lstStyle/>
          <a:p>
            <a:pPr algn="ctr"/>
            <a:r>
              <a:rPr lang="en-US" sz="1600" b="1" dirty="0">
                <a:latin typeface="+mn-lt"/>
              </a:rPr>
              <a:t>Data Latches</a:t>
            </a:r>
          </a:p>
        </p:txBody>
      </p:sp>
      <p:sp>
        <p:nvSpPr>
          <p:cNvPr id="7" name="Oval 6">
            <a:extLst>
              <a:ext uri="{FF2B5EF4-FFF2-40B4-BE49-F238E27FC236}">
                <a16:creationId xmlns:a16="http://schemas.microsoft.com/office/drawing/2014/main" id="{016EBB07-5661-648F-C82B-7B83DFE4D13E}"/>
              </a:ext>
            </a:extLst>
          </p:cNvPr>
          <p:cNvSpPr/>
          <p:nvPr/>
        </p:nvSpPr>
        <p:spPr bwMode="auto">
          <a:xfrm>
            <a:off x="3251835" y="2801620"/>
            <a:ext cx="105410" cy="105410"/>
          </a:xfrm>
          <a:prstGeom prst="ellipse">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10" name="Oval 9">
            <a:extLst>
              <a:ext uri="{FF2B5EF4-FFF2-40B4-BE49-F238E27FC236}">
                <a16:creationId xmlns:a16="http://schemas.microsoft.com/office/drawing/2014/main" id="{FBA4F859-CA28-1F57-3FE5-3550C58A698B}"/>
              </a:ext>
            </a:extLst>
          </p:cNvPr>
          <p:cNvSpPr/>
          <p:nvPr/>
        </p:nvSpPr>
        <p:spPr bwMode="auto">
          <a:xfrm>
            <a:off x="3247995" y="3453245"/>
            <a:ext cx="105410" cy="105410"/>
          </a:xfrm>
          <a:prstGeom prst="ellipse">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12" name="Oval 11">
            <a:extLst>
              <a:ext uri="{FF2B5EF4-FFF2-40B4-BE49-F238E27FC236}">
                <a16:creationId xmlns:a16="http://schemas.microsoft.com/office/drawing/2014/main" id="{41440E97-313B-567C-567E-058408C55A02}"/>
              </a:ext>
            </a:extLst>
          </p:cNvPr>
          <p:cNvSpPr/>
          <p:nvPr/>
        </p:nvSpPr>
        <p:spPr bwMode="auto">
          <a:xfrm>
            <a:off x="3250182" y="4116364"/>
            <a:ext cx="105410" cy="105410"/>
          </a:xfrm>
          <a:prstGeom prst="ellipse">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27" name="Rectangle 26">
            <a:extLst>
              <a:ext uri="{FF2B5EF4-FFF2-40B4-BE49-F238E27FC236}">
                <a16:creationId xmlns:a16="http://schemas.microsoft.com/office/drawing/2014/main" id="{41D40933-45B6-CCB4-B0A6-8E9691ED9971}"/>
              </a:ext>
            </a:extLst>
          </p:cNvPr>
          <p:cNvSpPr/>
          <p:nvPr/>
        </p:nvSpPr>
        <p:spPr bwMode="auto">
          <a:xfrm>
            <a:off x="3324860" y="2832297"/>
            <a:ext cx="591820" cy="45719"/>
          </a:xfrm>
          <a:prstGeom prst="rect">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28" name="Rectangle 27">
            <a:extLst>
              <a:ext uri="{FF2B5EF4-FFF2-40B4-BE49-F238E27FC236}">
                <a16:creationId xmlns:a16="http://schemas.microsoft.com/office/drawing/2014/main" id="{E5AF79AA-0A6D-55BA-9185-17DDE0002793}"/>
              </a:ext>
            </a:extLst>
          </p:cNvPr>
          <p:cNvSpPr/>
          <p:nvPr/>
        </p:nvSpPr>
        <p:spPr bwMode="auto">
          <a:xfrm>
            <a:off x="3324860" y="3480968"/>
            <a:ext cx="591820" cy="45719"/>
          </a:xfrm>
          <a:prstGeom prst="rect">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29" name="Rectangle 28">
            <a:extLst>
              <a:ext uri="{FF2B5EF4-FFF2-40B4-BE49-F238E27FC236}">
                <a16:creationId xmlns:a16="http://schemas.microsoft.com/office/drawing/2014/main" id="{E3842583-C85E-2CBB-ED7E-2663FAB936E0}"/>
              </a:ext>
            </a:extLst>
          </p:cNvPr>
          <p:cNvSpPr/>
          <p:nvPr/>
        </p:nvSpPr>
        <p:spPr bwMode="auto">
          <a:xfrm>
            <a:off x="3324860" y="4146468"/>
            <a:ext cx="591820" cy="45719"/>
          </a:xfrm>
          <a:prstGeom prst="rect">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30" name="Rectangle 29">
            <a:extLst>
              <a:ext uri="{FF2B5EF4-FFF2-40B4-BE49-F238E27FC236}">
                <a16:creationId xmlns:a16="http://schemas.microsoft.com/office/drawing/2014/main" id="{E0CC7243-5780-A1E4-C76E-EB8234820F79}"/>
              </a:ext>
            </a:extLst>
          </p:cNvPr>
          <p:cNvSpPr/>
          <p:nvPr/>
        </p:nvSpPr>
        <p:spPr bwMode="auto">
          <a:xfrm>
            <a:off x="3324860" y="5449276"/>
            <a:ext cx="591820" cy="45719"/>
          </a:xfrm>
          <a:prstGeom prst="rect">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35" name="Rectangle 34">
            <a:extLst>
              <a:ext uri="{FF2B5EF4-FFF2-40B4-BE49-F238E27FC236}">
                <a16:creationId xmlns:a16="http://schemas.microsoft.com/office/drawing/2014/main" id="{E4BCECAD-97B5-0D2A-9DAF-723A6BADC095}"/>
              </a:ext>
            </a:extLst>
          </p:cNvPr>
          <p:cNvSpPr/>
          <p:nvPr/>
        </p:nvSpPr>
        <p:spPr bwMode="auto">
          <a:xfrm>
            <a:off x="3708260" y="5674908"/>
            <a:ext cx="208420" cy="45719"/>
          </a:xfrm>
          <a:prstGeom prst="rect">
            <a:avLst/>
          </a:prstGeom>
          <a:solidFill>
            <a:schemeClr val="accent3"/>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36" name="Rectangle 35">
            <a:extLst>
              <a:ext uri="{FF2B5EF4-FFF2-40B4-BE49-F238E27FC236}">
                <a16:creationId xmlns:a16="http://schemas.microsoft.com/office/drawing/2014/main" id="{919926E5-095A-9A96-9DE3-DB9D45481F58}"/>
              </a:ext>
            </a:extLst>
          </p:cNvPr>
          <p:cNvSpPr/>
          <p:nvPr/>
        </p:nvSpPr>
        <p:spPr bwMode="auto">
          <a:xfrm>
            <a:off x="3708260" y="4350758"/>
            <a:ext cx="208420" cy="45719"/>
          </a:xfrm>
          <a:prstGeom prst="rect">
            <a:avLst/>
          </a:prstGeom>
          <a:solidFill>
            <a:schemeClr val="accent3"/>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37" name="Rectangle 36">
            <a:extLst>
              <a:ext uri="{FF2B5EF4-FFF2-40B4-BE49-F238E27FC236}">
                <a16:creationId xmlns:a16="http://schemas.microsoft.com/office/drawing/2014/main" id="{E6C64DDA-8F2C-B4D3-6E83-EE77898C20D3}"/>
              </a:ext>
            </a:extLst>
          </p:cNvPr>
          <p:cNvSpPr/>
          <p:nvPr/>
        </p:nvSpPr>
        <p:spPr bwMode="auto">
          <a:xfrm>
            <a:off x="3708260" y="3685258"/>
            <a:ext cx="208420" cy="45719"/>
          </a:xfrm>
          <a:prstGeom prst="rect">
            <a:avLst/>
          </a:prstGeom>
          <a:solidFill>
            <a:schemeClr val="accent3"/>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38" name="Rectangle 37">
            <a:extLst>
              <a:ext uri="{FF2B5EF4-FFF2-40B4-BE49-F238E27FC236}">
                <a16:creationId xmlns:a16="http://schemas.microsoft.com/office/drawing/2014/main" id="{5A072734-4057-5723-7E86-9A55BD3D27ED}"/>
              </a:ext>
            </a:extLst>
          </p:cNvPr>
          <p:cNvSpPr/>
          <p:nvPr/>
        </p:nvSpPr>
        <p:spPr bwMode="auto">
          <a:xfrm>
            <a:off x="3708260" y="3040042"/>
            <a:ext cx="208420" cy="45719"/>
          </a:xfrm>
          <a:prstGeom prst="rect">
            <a:avLst/>
          </a:prstGeom>
          <a:solidFill>
            <a:schemeClr val="accent3"/>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40" name="Oval 39">
            <a:extLst>
              <a:ext uri="{FF2B5EF4-FFF2-40B4-BE49-F238E27FC236}">
                <a16:creationId xmlns:a16="http://schemas.microsoft.com/office/drawing/2014/main" id="{E67B4CD4-A66B-89F4-5EF7-01FD01CD3012}"/>
              </a:ext>
            </a:extLst>
          </p:cNvPr>
          <p:cNvSpPr/>
          <p:nvPr/>
        </p:nvSpPr>
        <p:spPr bwMode="auto">
          <a:xfrm>
            <a:off x="3251835" y="5419431"/>
            <a:ext cx="105410" cy="105410"/>
          </a:xfrm>
          <a:prstGeom prst="ellipse">
            <a:avLst/>
          </a:prstGeom>
          <a:solidFill>
            <a:schemeClr val="bg2"/>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8" name="Flowchart: Connector 7">
            <a:extLst>
              <a:ext uri="{FF2B5EF4-FFF2-40B4-BE49-F238E27FC236}">
                <a16:creationId xmlns:a16="http://schemas.microsoft.com/office/drawing/2014/main" id="{3AA3FF6C-7D90-86C7-0C75-18B1B7367405}"/>
              </a:ext>
            </a:extLst>
          </p:cNvPr>
          <p:cNvSpPr/>
          <p:nvPr/>
        </p:nvSpPr>
        <p:spPr bwMode="auto">
          <a:xfrm>
            <a:off x="4307748" y="3558655"/>
            <a:ext cx="115662" cy="115662"/>
          </a:xfrm>
          <a:prstGeom prst="flowChartConnector">
            <a:avLst/>
          </a:prstGeom>
          <a:solidFill>
            <a:schemeClr val="accent5"/>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14" name="Flowchart: Connector 13">
            <a:extLst>
              <a:ext uri="{FF2B5EF4-FFF2-40B4-BE49-F238E27FC236}">
                <a16:creationId xmlns:a16="http://schemas.microsoft.com/office/drawing/2014/main" id="{D496AA8C-6C64-31A3-79C2-BD3B0BA6D1B2}"/>
              </a:ext>
            </a:extLst>
          </p:cNvPr>
          <p:cNvSpPr/>
          <p:nvPr/>
        </p:nvSpPr>
        <p:spPr bwMode="auto">
          <a:xfrm>
            <a:off x="4307748" y="2907030"/>
            <a:ext cx="115662" cy="115662"/>
          </a:xfrm>
          <a:prstGeom prst="flowChartConnector">
            <a:avLst/>
          </a:prstGeom>
          <a:solidFill>
            <a:schemeClr val="accent5"/>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15" name="Flowchart: Connector 14">
            <a:extLst>
              <a:ext uri="{FF2B5EF4-FFF2-40B4-BE49-F238E27FC236}">
                <a16:creationId xmlns:a16="http://schemas.microsoft.com/office/drawing/2014/main" id="{CB911351-07CD-69AB-2A39-6FEB690B4507}"/>
              </a:ext>
            </a:extLst>
          </p:cNvPr>
          <p:cNvSpPr/>
          <p:nvPr/>
        </p:nvSpPr>
        <p:spPr bwMode="auto">
          <a:xfrm>
            <a:off x="4307748" y="4210280"/>
            <a:ext cx="115662" cy="115662"/>
          </a:xfrm>
          <a:prstGeom prst="flowChartConnector">
            <a:avLst/>
          </a:prstGeom>
          <a:solidFill>
            <a:schemeClr val="accent5"/>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16" name="Flowchart: Connector 15">
            <a:extLst>
              <a:ext uri="{FF2B5EF4-FFF2-40B4-BE49-F238E27FC236}">
                <a16:creationId xmlns:a16="http://schemas.microsoft.com/office/drawing/2014/main" id="{F99857F7-D5A3-FF12-9FFE-1C083254BEC4}"/>
              </a:ext>
            </a:extLst>
          </p:cNvPr>
          <p:cNvSpPr/>
          <p:nvPr/>
        </p:nvSpPr>
        <p:spPr bwMode="auto">
          <a:xfrm>
            <a:off x="4307748" y="5524841"/>
            <a:ext cx="115662" cy="115662"/>
          </a:xfrm>
          <a:prstGeom prst="flowChartConnector">
            <a:avLst/>
          </a:prstGeom>
          <a:solidFill>
            <a:schemeClr val="accent5"/>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17" name="Rectangle 16">
            <a:extLst>
              <a:ext uri="{FF2B5EF4-FFF2-40B4-BE49-F238E27FC236}">
                <a16:creationId xmlns:a16="http://schemas.microsoft.com/office/drawing/2014/main" id="{E404D399-8274-0CC3-A28C-AEA8C910B5DA}"/>
              </a:ext>
            </a:extLst>
          </p:cNvPr>
          <p:cNvSpPr/>
          <p:nvPr/>
        </p:nvSpPr>
        <p:spPr bwMode="auto">
          <a:xfrm>
            <a:off x="4498201" y="2627525"/>
            <a:ext cx="195745" cy="279505"/>
          </a:xfrm>
          <a:prstGeom prst="rect">
            <a:avLst/>
          </a:prstGeom>
          <a:solidFill>
            <a:schemeClr val="bg1">
              <a:lumMod val="95000"/>
            </a:schemeClr>
          </a:solidFill>
          <a:ln w="57150" cap="sq" algn="ctr">
            <a:solidFill>
              <a:schemeClr val="accent5"/>
            </a:solidFill>
            <a:miter lim="800000"/>
            <a:headEnd/>
            <a:tailEnd/>
          </a:ln>
          <a:effectLst/>
        </p:spPr>
        <p:txBody>
          <a:bodyPr wrap="none" rtlCol="0" anchor="ctr"/>
          <a:lstStyle/>
          <a:p>
            <a:pPr algn="ctr"/>
            <a:r>
              <a:rPr lang="en-US" sz="1600" dirty="0"/>
              <a:t>0</a:t>
            </a:r>
            <a:endParaRPr lang="en-US" sz="1600" dirty="0">
              <a:latin typeface="+mn-lt"/>
            </a:endParaRPr>
          </a:p>
        </p:txBody>
      </p:sp>
      <p:sp>
        <p:nvSpPr>
          <p:cNvPr id="18" name="Rectangle 17">
            <a:extLst>
              <a:ext uri="{FF2B5EF4-FFF2-40B4-BE49-F238E27FC236}">
                <a16:creationId xmlns:a16="http://schemas.microsoft.com/office/drawing/2014/main" id="{750C423C-CFBF-8EE4-C529-CF697D25B5D6}"/>
              </a:ext>
            </a:extLst>
          </p:cNvPr>
          <p:cNvSpPr/>
          <p:nvPr/>
        </p:nvSpPr>
        <p:spPr bwMode="auto">
          <a:xfrm>
            <a:off x="4498201" y="3168349"/>
            <a:ext cx="195745" cy="279505"/>
          </a:xfrm>
          <a:prstGeom prst="rect">
            <a:avLst/>
          </a:prstGeom>
          <a:solidFill>
            <a:schemeClr val="bg1">
              <a:lumMod val="95000"/>
            </a:schemeClr>
          </a:solidFill>
          <a:ln w="57150" cap="sq" algn="ctr">
            <a:solidFill>
              <a:schemeClr val="accent5"/>
            </a:solidFill>
            <a:miter lim="800000"/>
            <a:headEnd/>
            <a:tailEnd/>
          </a:ln>
          <a:effectLst/>
        </p:spPr>
        <p:txBody>
          <a:bodyPr wrap="none" rtlCol="0" anchor="ctr"/>
          <a:lstStyle/>
          <a:p>
            <a:pPr algn="ctr"/>
            <a:r>
              <a:rPr lang="en-US" sz="1600" dirty="0"/>
              <a:t>0</a:t>
            </a:r>
            <a:endParaRPr lang="en-US" sz="1600" dirty="0">
              <a:latin typeface="+mn-lt"/>
            </a:endParaRPr>
          </a:p>
        </p:txBody>
      </p:sp>
      <p:sp>
        <p:nvSpPr>
          <p:cNvPr id="19" name="Rectangle 18">
            <a:extLst>
              <a:ext uri="{FF2B5EF4-FFF2-40B4-BE49-F238E27FC236}">
                <a16:creationId xmlns:a16="http://schemas.microsoft.com/office/drawing/2014/main" id="{CE12C830-29C0-543A-FCFE-3F4BE0EE21D5}"/>
              </a:ext>
            </a:extLst>
          </p:cNvPr>
          <p:cNvSpPr/>
          <p:nvPr/>
        </p:nvSpPr>
        <p:spPr bwMode="auto">
          <a:xfrm>
            <a:off x="4498201" y="3889564"/>
            <a:ext cx="195745" cy="279505"/>
          </a:xfrm>
          <a:prstGeom prst="rect">
            <a:avLst/>
          </a:prstGeom>
          <a:solidFill>
            <a:schemeClr val="bg1">
              <a:lumMod val="95000"/>
            </a:schemeClr>
          </a:solidFill>
          <a:ln w="57150" cap="sq" algn="ctr">
            <a:solidFill>
              <a:schemeClr val="accent5"/>
            </a:solidFill>
            <a:miter lim="800000"/>
            <a:headEnd/>
            <a:tailEnd/>
          </a:ln>
          <a:effectLst/>
        </p:spPr>
        <p:txBody>
          <a:bodyPr wrap="none" rtlCol="0" anchor="ctr"/>
          <a:lstStyle/>
          <a:p>
            <a:pPr algn="ctr"/>
            <a:r>
              <a:rPr lang="en-US" sz="1600" b="1" dirty="0">
                <a:latin typeface="+mn-lt"/>
              </a:rPr>
              <a:t>1</a:t>
            </a:r>
          </a:p>
        </p:txBody>
      </p:sp>
      <p:sp>
        <p:nvSpPr>
          <p:cNvPr id="39" name="Rectangle 38">
            <a:extLst>
              <a:ext uri="{FF2B5EF4-FFF2-40B4-BE49-F238E27FC236}">
                <a16:creationId xmlns:a16="http://schemas.microsoft.com/office/drawing/2014/main" id="{E7021BDB-E37F-DA3C-AB19-5711D98770D0}"/>
              </a:ext>
            </a:extLst>
          </p:cNvPr>
          <p:cNvSpPr/>
          <p:nvPr/>
        </p:nvSpPr>
        <p:spPr bwMode="auto">
          <a:xfrm>
            <a:off x="4498201" y="5200781"/>
            <a:ext cx="195745" cy="279505"/>
          </a:xfrm>
          <a:prstGeom prst="rect">
            <a:avLst/>
          </a:prstGeom>
          <a:solidFill>
            <a:schemeClr val="bg1">
              <a:lumMod val="95000"/>
            </a:schemeClr>
          </a:solidFill>
          <a:ln w="57150" cap="sq" algn="ctr">
            <a:solidFill>
              <a:schemeClr val="accent5"/>
            </a:solidFill>
            <a:miter lim="800000"/>
            <a:headEnd/>
            <a:tailEnd/>
          </a:ln>
          <a:effectLst/>
        </p:spPr>
        <p:txBody>
          <a:bodyPr wrap="none" rtlCol="0" anchor="ctr"/>
          <a:lstStyle/>
          <a:p>
            <a:pPr algn="ctr"/>
            <a:r>
              <a:rPr lang="en-US" sz="1600" b="1" dirty="0">
                <a:latin typeface="+mn-lt"/>
              </a:rPr>
              <a:t>1</a:t>
            </a:r>
          </a:p>
        </p:txBody>
      </p:sp>
      <p:cxnSp>
        <p:nvCxnSpPr>
          <p:cNvPr id="41" name="Straight Connector 40">
            <a:extLst>
              <a:ext uri="{FF2B5EF4-FFF2-40B4-BE49-F238E27FC236}">
                <a16:creationId xmlns:a16="http://schemas.microsoft.com/office/drawing/2014/main" id="{AA800BFE-873B-4624-53FF-B73C81181774}"/>
              </a:ext>
            </a:extLst>
          </p:cNvPr>
          <p:cNvCxnSpPr>
            <a:cxnSpLocks/>
            <a:stCxn id="17" idx="1"/>
            <a:endCxn id="14" idx="7"/>
          </p:cNvCxnSpPr>
          <p:nvPr/>
        </p:nvCxnSpPr>
        <p:spPr>
          <a:xfrm flipH="1">
            <a:off x="4406472" y="2767278"/>
            <a:ext cx="91729" cy="1566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D03D77E6-1988-8674-1BA0-A02F03BBFA62}"/>
              </a:ext>
            </a:extLst>
          </p:cNvPr>
          <p:cNvCxnSpPr>
            <a:cxnSpLocks/>
          </p:cNvCxnSpPr>
          <p:nvPr/>
        </p:nvCxnSpPr>
        <p:spPr>
          <a:xfrm flipH="1">
            <a:off x="4377545" y="3464402"/>
            <a:ext cx="109264" cy="152084"/>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38BE101-D697-ADCF-558F-A1BA4C42E9A9}"/>
              </a:ext>
            </a:extLst>
          </p:cNvPr>
          <p:cNvCxnSpPr>
            <a:cxnSpLocks/>
          </p:cNvCxnSpPr>
          <p:nvPr/>
        </p:nvCxnSpPr>
        <p:spPr>
          <a:xfrm flipH="1">
            <a:off x="4377545" y="4122867"/>
            <a:ext cx="109264" cy="152084"/>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C8DF5D7C-0710-E5E7-A2F7-0AD0955164BF}"/>
              </a:ext>
            </a:extLst>
          </p:cNvPr>
          <p:cNvCxnSpPr>
            <a:cxnSpLocks/>
          </p:cNvCxnSpPr>
          <p:nvPr/>
        </p:nvCxnSpPr>
        <p:spPr>
          <a:xfrm flipH="1">
            <a:off x="4377545" y="5439997"/>
            <a:ext cx="109264" cy="152084"/>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50" name="Flowchart: Connector 49">
            <a:extLst>
              <a:ext uri="{FF2B5EF4-FFF2-40B4-BE49-F238E27FC236}">
                <a16:creationId xmlns:a16="http://schemas.microsoft.com/office/drawing/2014/main" id="{0FF769D1-8AE5-8679-594A-ED910EA34AF9}"/>
              </a:ext>
            </a:extLst>
          </p:cNvPr>
          <p:cNvSpPr/>
          <p:nvPr/>
        </p:nvSpPr>
        <p:spPr bwMode="auto">
          <a:xfrm>
            <a:off x="5145948" y="4819991"/>
            <a:ext cx="115662" cy="115662"/>
          </a:xfrm>
          <a:prstGeom prst="flowChartConnector">
            <a:avLst/>
          </a:prstGeom>
          <a:solidFill>
            <a:schemeClr val="accent4"/>
          </a:solidFill>
          <a:ln w="12700" cap="sq" algn="ctr">
            <a:solidFill>
              <a:schemeClr val="accent4"/>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51" name="Rectangle 50">
            <a:extLst>
              <a:ext uri="{FF2B5EF4-FFF2-40B4-BE49-F238E27FC236}">
                <a16:creationId xmlns:a16="http://schemas.microsoft.com/office/drawing/2014/main" id="{3A472D49-1296-845A-9A2D-6F7C560E0E2A}"/>
              </a:ext>
            </a:extLst>
          </p:cNvPr>
          <p:cNvSpPr/>
          <p:nvPr/>
        </p:nvSpPr>
        <p:spPr bwMode="auto">
          <a:xfrm>
            <a:off x="5336401" y="4495931"/>
            <a:ext cx="195745" cy="279505"/>
          </a:xfrm>
          <a:prstGeom prst="rect">
            <a:avLst/>
          </a:prstGeom>
          <a:solidFill>
            <a:schemeClr val="bg1">
              <a:lumMod val="95000"/>
            </a:schemeClr>
          </a:solidFill>
          <a:ln w="57150" cap="sq" algn="ctr">
            <a:solidFill>
              <a:schemeClr val="accent4"/>
            </a:solidFill>
            <a:miter lim="800000"/>
            <a:headEnd/>
            <a:tailEnd/>
          </a:ln>
          <a:effectLst/>
        </p:spPr>
        <p:txBody>
          <a:bodyPr wrap="none" rtlCol="0" anchor="ctr"/>
          <a:lstStyle/>
          <a:p>
            <a:pPr algn="ctr"/>
            <a:r>
              <a:rPr lang="en-US" sz="1600" dirty="0"/>
              <a:t>0</a:t>
            </a:r>
            <a:endParaRPr lang="en-US" sz="1600" dirty="0">
              <a:latin typeface="+mn-lt"/>
            </a:endParaRPr>
          </a:p>
        </p:txBody>
      </p:sp>
      <p:cxnSp>
        <p:nvCxnSpPr>
          <p:cNvPr id="52" name="Straight Connector 51">
            <a:extLst>
              <a:ext uri="{FF2B5EF4-FFF2-40B4-BE49-F238E27FC236}">
                <a16:creationId xmlns:a16="http://schemas.microsoft.com/office/drawing/2014/main" id="{48B1B894-55D1-9D14-E6BB-8D5A446DEC34}"/>
              </a:ext>
            </a:extLst>
          </p:cNvPr>
          <p:cNvCxnSpPr>
            <a:cxnSpLocks/>
          </p:cNvCxnSpPr>
          <p:nvPr/>
        </p:nvCxnSpPr>
        <p:spPr>
          <a:xfrm flipH="1">
            <a:off x="5215745" y="4735147"/>
            <a:ext cx="109264" cy="152084"/>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lowchart: Connector 3">
            <a:extLst>
              <a:ext uri="{FF2B5EF4-FFF2-40B4-BE49-F238E27FC236}">
                <a16:creationId xmlns:a16="http://schemas.microsoft.com/office/drawing/2014/main" id="{46BD3294-C549-20A7-0A3A-7849FA92A15A}"/>
              </a:ext>
            </a:extLst>
          </p:cNvPr>
          <p:cNvSpPr/>
          <p:nvPr/>
        </p:nvSpPr>
        <p:spPr bwMode="auto">
          <a:xfrm>
            <a:off x="5145948" y="4151665"/>
            <a:ext cx="115662" cy="115662"/>
          </a:xfrm>
          <a:prstGeom prst="flowChartConnector">
            <a:avLst/>
          </a:prstGeom>
          <a:solidFill>
            <a:schemeClr val="accent4"/>
          </a:solidFill>
          <a:ln w="12700" cap="sq" algn="ctr">
            <a:solidFill>
              <a:schemeClr val="accent4"/>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42" name="Rectangle 41">
            <a:extLst>
              <a:ext uri="{FF2B5EF4-FFF2-40B4-BE49-F238E27FC236}">
                <a16:creationId xmlns:a16="http://schemas.microsoft.com/office/drawing/2014/main" id="{4FD70EEB-67E2-793E-9388-97602C9981C8}"/>
              </a:ext>
            </a:extLst>
          </p:cNvPr>
          <p:cNvSpPr/>
          <p:nvPr/>
        </p:nvSpPr>
        <p:spPr bwMode="auto">
          <a:xfrm>
            <a:off x="5336401" y="3827605"/>
            <a:ext cx="195745" cy="279505"/>
          </a:xfrm>
          <a:prstGeom prst="rect">
            <a:avLst/>
          </a:prstGeom>
          <a:solidFill>
            <a:schemeClr val="bg1">
              <a:lumMod val="95000"/>
            </a:schemeClr>
          </a:solidFill>
          <a:ln w="57150" cap="sq" algn="ctr">
            <a:solidFill>
              <a:schemeClr val="accent4"/>
            </a:solidFill>
            <a:miter lim="800000"/>
            <a:headEnd/>
            <a:tailEnd/>
          </a:ln>
          <a:effectLst/>
        </p:spPr>
        <p:txBody>
          <a:bodyPr wrap="none" rtlCol="0" anchor="ctr"/>
          <a:lstStyle/>
          <a:p>
            <a:pPr algn="ctr"/>
            <a:r>
              <a:rPr lang="en-US" sz="1600" b="1" dirty="0">
                <a:latin typeface="+mn-lt"/>
              </a:rPr>
              <a:t>1</a:t>
            </a:r>
          </a:p>
        </p:txBody>
      </p:sp>
      <p:cxnSp>
        <p:nvCxnSpPr>
          <p:cNvPr id="43" name="Straight Connector 42">
            <a:extLst>
              <a:ext uri="{FF2B5EF4-FFF2-40B4-BE49-F238E27FC236}">
                <a16:creationId xmlns:a16="http://schemas.microsoft.com/office/drawing/2014/main" id="{C5C066C6-7105-0C8F-E11B-2555FDF21BF3}"/>
              </a:ext>
            </a:extLst>
          </p:cNvPr>
          <p:cNvCxnSpPr>
            <a:cxnSpLocks/>
          </p:cNvCxnSpPr>
          <p:nvPr/>
        </p:nvCxnSpPr>
        <p:spPr>
          <a:xfrm flipH="1">
            <a:off x="5215745" y="4066821"/>
            <a:ext cx="109264" cy="152084"/>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45" name="Flowchart: Connector 44">
            <a:extLst>
              <a:ext uri="{FF2B5EF4-FFF2-40B4-BE49-F238E27FC236}">
                <a16:creationId xmlns:a16="http://schemas.microsoft.com/office/drawing/2014/main" id="{163F9F3F-88DB-4039-F4F7-3C4E66C61400}"/>
              </a:ext>
            </a:extLst>
          </p:cNvPr>
          <p:cNvSpPr/>
          <p:nvPr/>
        </p:nvSpPr>
        <p:spPr bwMode="auto">
          <a:xfrm>
            <a:off x="5145948" y="3493389"/>
            <a:ext cx="115662" cy="115662"/>
          </a:xfrm>
          <a:prstGeom prst="flowChartConnector">
            <a:avLst/>
          </a:prstGeom>
          <a:solidFill>
            <a:schemeClr val="accent4"/>
          </a:solidFill>
          <a:ln w="12700" cap="sq" algn="ctr">
            <a:solidFill>
              <a:schemeClr val="accent4"/>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46" name="Rectangle 45">
            <a:extLst>
              <a:ext uri="{FF2B5EF4-FFF2-40B4-BE49-F238E27FC236}">
                <a16:creationId xmlns:a16="http://schemas.microsoft.com/office/drawing/2014/main" id="{D545CCDA-AF4F-F28A-4C22-1B83E3AFA93F}"/>
              </a:ext>
            </a:extLst>
          </p:cNvPr>
          <p:cNvSpPr/>
          <p:nvPr/>
        </p:nvSpPr>
        <p:spPr bwMode="auto">
          <a:xfrm>
            <a:off x="5336401" y="3169329"/>
            <a:ext cx="195745" cy="279505"/>
          </a:xfrm>
          <a:prstGeom prst="rect">
            <a:avLst/>
          </a:prstGeom>
          <a:solidFill>
            <a:schemeClr val="bg1">
              <a:lumMod val="95000"/>
            </a:schemeClr>
          </a:solidFill>
          <a:ln w="57150" cap="sq" algn="ctr">
            <a:solidFill>
              <a:schemeClr val="accent4"/>
            </a:solidFill>
            <a:miter lim="800000"/>
            <a:headEnd/>
            <a:tailEnd/>
          </a:ln>
          <a:effectLst/>
        </p:spPr>
        <p:txBody>
          <a:bodyPr wrap="none" rtlCol="0" anchor="ctr"/>
          <a:lstStyle/>
          <a:p>
            <a:pPr algn="ctr"/>
            <a:r>
              <a:rPr lang="en-US" sz="1600" dirty="0"/>
              <a:t>0</a:t>
            </a:r>
            <a:endParaRPr lang="en-US" sz="1600" dirty="0">
              <a:latin typeface="+mn-lt"/>
            </a:endParaRPr>
          </a:p>
        </p:txBody>
      </p:sp>
      <p:cxnSp>
        <p:nvCxnSpPr>
          <p:cNvPr id="49" name="Straight Connector 48">
            <a:extLst>
              <a:ext uri="{FF2B5EF4-FFF2-40B4-BE49-F238E27FC236}">
                <a16:creationId xmlns:a16="http://schemas.microsoft.com/office/drawing/2014/main" id="{B333F7F4-B8F8-7123-3969-ECB69D3A7CA2}"/>
              </a:ext>
            </a:extLst>
          </p:cNvPr>
          <p:cNvCxnSpPr>
            <a:cxnSpLocks/>
          </p:cNvCxnSpPr>
          <p:nvPr/>
        </p:nvCxnSpPr>
        <p:spPr>
          <a:xfrm flipH="1">
            <a:off x="5215745" y="3408545"/>
            <a:ext cx="109264" cy="152084"/>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3" name="Flowchart: Connector 52">
            <a:extLst>
              <a:ext uri="{FF2B5EF4-FFF2-40B4-BE49-F238E27FC236}">
                <a16:creationId xmlns:a16="http://schemas.microsoft.com/office/drawing/2014/main" id="{A2A08EFF-3268-1E4C-F2AF-FC5864A443FD}"/>
              </a:ext>
            </a:extLst>
          </p:cNvPr>
          <p:cNvSpPr/>
          <p:nvPr/>
        </p:nvSpPr>
        <p:spPr bwMode="auto">
          <a:xfrm>
            <a:off x="5145948" y="5475367"/>
            <a:ext cx="115662" cy="115662"/>
          </a:xfrm>
          <a:prstGeom prst="flowChartConnector">
            <a:avLst/>
          </a:prstGeom>
          <a:solidFill>
            <a:schemeClr val="accent4"/>
          </a:solidFill>
          <a:ln w="12700" cap="sq" algn="ctr">
            <a:solidFill>
              <a:schemeClr val="accent4"/>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54" name="Rectangle 53">
            <a:extLst>
              <a:ext uri="{FF2B5EF4-FFF2-40B4-BE49-F238E27FC236}">
                <a16:creationId xmlns:a16="http://schemas.microsoft.com/office/drawing/2014/main" id="{F51F363D-E2B3-1740-625A-665F0150D32C}"/>
              </a:ext>
            </a:extLst>
          </p:cNvPr>
          <p:cNvSpPr/>
          <p:nvPr/>
        </p:nvSpPr>
        <p:spPr bwMode="auto">
          <a:xfrm>
            <a:off x="5336401" y="5151307"/>
            <a:ext cx="195745" cy="279505"/>
          </a:xfrm>
          <a:prstGeom prst="rect">
            <a:avLst/>
          </a:prstGeom>
          <a:solidFill>
            <a:schemeClr val="bg1">
              <a:lumMod val="95000"/>
            </a:schemeClr>
          </a:solidFill>
          <a:ln w="57150" cap="sq" algn="ctr">
            <a:solidFill>
              <a:schemeClr val="accent4"/>
            </a:solidFill>
            <a:miter lim="800000"/>
            <a:headEnd/>
            <a:tailEnd/>
          </a:ln>
          <a:effectLst/>
        </p:spPr>
        <p:txBody>
          <a:bodyPr wrap="none" rtlCol="0" anchor="ctr"/>
          <a:lstStyle/>
          <a:p>
            <a:pPr algn="ctr"/>
            <a:r>
              <a:rPr lang="en-US" sz="1600" dirty="0"/>
              <a:t>0</a:t>
            </a:r>
            <a:endParaRPr lang="en-US" sz="1600" dirty="0">
              <a:latin typeface="+mn-lt"/>
            </a:endParaRPr>
          </a:p>
        </p:txBody>
      </p:sp>
      <p:cxnSp>
        <p:nvCxnSpPr>
          <p:cNvPr id="55" name="Straight Connector 54">
            <a:extLst>
              <a:ext uri="{FF2B5EF4-FFF2-40B4-BE49-F238E27FC236}">
                <a16:creationId xmlns:a16="http://schemas.microsoft.com/office/drawing/2014/main" id="{280BF21A-CD0B-4BD6-5007-FECF7E7F81DF}"/>
              </a:ext>
            </a:extLst>
          </p:cNvPr>
          <p:cNvCxnSpPr>
            <a:cxnSpLocks/>
          </p:cNvCxnSpPr>
          <p:nvPr/>
        </p:nvCxnSpPr>
        <p:spPr>
          <a:xfrm flipH="1">
            <a:off x="5215745" y="5390523"/>
            <a:ext cx="109264" cy="152084"/>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1E715111-EFB9-7F36-C143-D746A5CE8ACC}"/>
              </a:ext>
            </a:extLst>
          </p:cNvPr>
          <p:cNvCxnSpPr>
            <a:cxnSpLocks/>
          </p:cNvCxnSpPr>
          <p:nvPr/>
        </p:nvCxnSpPr>
        <p:spPr>
          <a:xfrm flipH="1">
            <a:off x="5261610" y="4219221"/>
            <a:ext cx="3729990"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FE4FCE3A-2C6B-6385-DADC-F45C013EAB9A}"/>
              </a:ext>
            </a:extLst>
          </p:cNvPr>
          <p:cNvSpPr/>
          <p:nvPr/>
        </p:nvSpPr>
        <p:spPr bwMode="auto">
          <a:xfrm>
            <a:off x="5558888" y="2677304"/>
            <a:ext cx="195745" cy="279505"/>
          </a:xfrm>
          <a:prstGeom prst="rect">
            <a:avLst/>
          </a:prstGeom>
          <a:solidFill>
            <a:schemeClr val="bg1">
              <a:lumMod val="95000"/>
            </a:schemeClr>
          </a:solidFill>
          <a:ln w="57150" cap="sq" algn="ctr">
            <a:solidFill>
              <a:srgbClr val="2FF942"/>
            </a:solidFill>
            <a:miter lim="800000"/>
            <a:headEnd/>
            <a:tailEnd/>
          </a:ln>
          <a:effectLst/>
        </p:spPr>
        <p:txBody>
          <a:bodyPr wrap="none" rtlCol="0" anchor="ctr"/>
          <a:lstStyle/>
          <a:p>
            <a:pPr algn="ctr"/>
            <a:r>
              <a:rPr lang="en-US" sz="1600" b="1" dirty="0">
                <a:latin typeface="+mn-lt"/>
              </a:rPr>
              <a:t>1</a:t>
            </a:r>
          </a:p>
        </p:txBody>
      </p:sp>
      <p:sp>
        <p:nvSpPr>
          <p:cNvPr id="61" name="Rectangle 60">
            <a:extLst>
              <a:ext uri="{FF2B5EF4-FFF2-40B4-BE49-F238E27FC236}">
                <a16:creationId xmlns:a16="http://schemas.microsoft.com/office/drawing/2014/main" id="{0BADFE1A-9394-3A1A-E5E5-B04C2A7724A6}"/>
              </a:ext>
            </a:extLst>
          </p:cNvPr>
          <p:cNvSpPr/>
          <p:nvPr/>
        </p:nvSpPr>
        <p:spPr bwMode="auto">
          <a:xfrm>
            <a:off x="6102313" y="2677304"/>
            <a:ext cx="195745" cy="279505"/>
          </a:xfrm>
          <a:prstGeom prst="rect">
            <a:avLst/>
          </a:prstGeom>
          <a:solidFill>
            <a:schemeClr val="bg1">
              <a:lumMod val="95000"/>
            </a:schemeClr>
          </a:solidFill>
          <a:ln w="57150" cap="sq" algn="ctr">
            <a:solidFill>
              <a:srgbClr val="2FF942"/>
            </a:solidFill>
            <a:miter lim="800000"/>
            <a:headEnd/>
            <a:tailEnd/>
          </a:ln>
          <a:effectLst/>
        </p:spPr>
        <p:txBody>
          <a:bodyPr wrap="none" rtlCol="0" anchor="ctr"/>
          <a:lstStyle/>
          <a:p>
            <a:pPr algn="ctr"/>
            <a:r>
              <a:rPr lang="en-US" sz="1600" b="1" dirty="0">
                <a:latin typeface="+mn-lt"/>
              </a:rPr>
              <a:t>1</a:t>
            </a:r>
          </a:p>
        </p:txBody>
      </p:sp>
      <p:sp>
        <p:nvSpPr>
          <p:cNvPr id="62" name="Rectangle 61">
            <a:extLst>
              <a:ext uri="{FF2B5EF4-FFF2-40B4-BE49-F238E27FC236}">
                <a16:creationId xmlns:a16="http://schemas.microsoft.com/office/drawing/2014/main" id="{4D717A37-8E8C-D264-7495-9086D697934E}"/>
              </a:ext>
            </a:extLst>
          </p:cNvPr>
          <p:cNvSpPr/>
          <p:nvPr/>
        </p:nvSpPr>
        <p:spPr bwMode="auto">
          <a:xfrm>
            <a:off x="6619575" y="2677304"/>
            <a:ext cx="195745" cy="279505"/>
          </a:xfrm>
          <a:prstGeom prst="rect">
            <a:avLst/>
          </a:prstGeom>
          <a:solidFill>
            <a:schemeClr val="bg1">
              <a:lumMod val="95000"/>
            </a:schemeClr>
          </a:solidFill>
          <a:ln w="57150" cap="sq" algn="ctr">
            <a:solidFill>
              <a:srgbClr val="2FF942"/>
            </a:solidFill>
            <a:miter lim="800000"/>
            <a:headEnd/>
            <a:tailEnd/>
          </a:ln>
          <a:effectLst/>
        </p:spPr>
        <p:txBody>
          <a:bodyPr wrap="none" rtlCol="0" anchor="ctr"/>
          <a:lstStyle/>
          <a:p>
            <a:pPr algn="ctr"/>
            <a:r>
              <a:rPr lang="en-US" sz="1600" b="1" dirty="0">
                <a:latin typeface="+mn-lt"/>
              </a:rPr>
              <a:t>1</a:t>
            </a:r>
          </a:p>
        </p:txBody>
      </p:sp>
      <p:sp>
        <p:nvSpPr>
          <p:cNvPr id="63" name="Rectangle 62">
            <a:extLst>
              <a:ext uri="{FF2B5EF4-FFF2-40B4-BE49-F238E27FC236}">
                <a16:creationId xmlns:a16="http://schemas.microsoft.com/office/drawing/2014/main" id="{60477A1C-6018-0C9D-7DAC-304D5D39AC23}"/>
              </a:ext>
            </a:extLst>
          </p:cNvPr>
          <p:cNvSpPr/>
          <p:nvPr/>
        </p:nvSpPr>
        <p:spPr bwMode="auto">
          <a:xfrm>
            <a:off x="7156106" y="2677304"/>
            <a:ext cx="195745" cy="279505"/>
          </a:xfrm>
          <a:prstGeom prst="rect">
            <a:avLst/>
          </a:prstGeom>
          <a:solidFill>
            <a:schemeClr val="bg1">
              <a:lumMod val="95000"/>
            </a:schemeClr>
          </a:solidFill>
          <a:ln w="57150" cap="sq" algn="ctr">
            <a:solidFill>
              <a:srgbClr val="2FF942"/>
            </a:solidFill>
            <a:miter lim="800000"/>
            <a:headEnd/>
            <a:tailEnd/>
          </a:ln>
          <a:effectLst/>
        </p:spPr>
        <p:txBody>
          <a:bodyPr wrap="none" rtlCol="0" anchor="ctr"/>
          <a:lstStyle/>
          <a:p>
            <a:pPr algn="ctr"/>
            <a:r>
              <a:rPr lang="en-US" sz="1600" b="1" dirty="0">
                <a:latin typeface="+mn-lt"/>
              </a:rPr>
              <a:t>1</a:t>
            </a:r>
          </a:p>
        </p:txBody>
      </p:sp>
      <p:sp>
        <p:nvSpPr>
          <p:cNvPr id="64" name="Rectangle 63">
            <a:extLst>
              <a:ext uri="{FF2B5EF4-FFF2-40B4-BE49-F238E27FC236}">
                <a16:creationId xmlns:a16="http://schemas.microsoft.com/office/drawing/2014/main" id="{F1B36970-FAFE-B773-F99E-B8D50A65EFC0}"/>
              </a:ext>
            </a:extLst>
          </p:cNvPr>
          <p:cNvSpPr/>
          <p:nvPr/>
        </p:nvSpPr>
        <p:spPr bwMode="auto">
          <a:xfrm>
            <a:off x="7688146" y="2677304"/>
            <a:ext cx="195745" cy="279505"/>
          </a:xfrm>
          <a:prstGeom prst="rect">
            <a:avLst/>
          </a:prstGeom>
          <a:solidFill>
            <a:schemeClr val="bg1">
              <a:lumMod val="95000"/>
            </a:schemeClr>
          </a:solidFill>
          <a:ln w="57150" cap="sq" algn="ctr">
            <a:solidFill>
              <a:srgbClr val="2FF942"/>
            </a:solidFill>
            <a:miter lim="800000"/>
            <a:headEnd/>
            <a:tailEnd/>
          </a:ln>
          <a:effectLst/>
        </p:spPr>
        <p:txBody>
          <a:bodyPr wrap="none" rtlCol="0" anchor="ctr"/>
          <a:lstStyle/>
          <a:p>
            <a:pPr algn="ctr"/>
            <a:r>
              <a:rPr lang="en-US" sz="1600" b="1" dirty="0">
                <a:latin typeface="+mn-lt"/>
              </a:rPr>
              <a:t>1</a:t>
            </a:r>
          </a:p>
        </p:txBody>
      </p:sp>
      <p:sp>
        <p:nvSpPr>
          <p:cNvPr id="65" name="Rectangle 64">
            <a:extLst>
              <a:ext uri="{FF2B5EF4-FFF2-40B4-BE49-F238E27FC236}">
                <a16:creationId xmlns:a16="http://schemas.microsoft.com/office/drawing/2014/main" id="{0CEF7C70-7D0F-A497-2386-A3062ACA6952}"/>
              </a:ext>
            </a:extLst>
          </p:cNvPr>
          <p:cNvSpPr/>
          <p:nvPr/>
        </p:nvSpPr>
        <p:spPr bwMode="auto">
          <a:xfrm>
            <a:off x="8220186" y="2677304"/>
            <a:ext cx="195745" cy="279505"/>
          </a:xfrm>
          <a:prstGeom prst="rect">
            <a:avLst/>
          </a:prstGeom>
          <a:solidFill>
            <a:schemeClr val="bg1">
              <a:lumMod val="95000"/>
            </a:schemeClr>
          </a:solidFill>
          <a:ln w="57150" cap="sq" algn="ctr">
            <a:solidFill>
              <a:srgbClr val="2FF942"/>
            </a:solidFill>
            <a:miter lim="800000"/>
            <a:headEnd/>
            <a:tailEnd/>
          </a:ln>
          <a:effectLst/>
        </p:spPr>
        <p:txBody>
          <a:bodyPr wrap="none" rtlCol="0" anchor="ctr"/>
          <a:lstStyle/>
          <a:p>
            <a:pPr algn="ctr"/>
            <a:r>
              <a:rPr lang="en-US" sz="1600" b="1" dirty="0">
                <a:latin typeface="+mn-lt"/>
              </a:rPr>
              <a:t>1</a:t>
            </a:r>
          </a:p>
        </p:txBody>
      </p:sp>
      <p:sp>
        <p:nvSpPr>
          <p:cNvPr id="66" name="Rectangle 65">
            <a:extLst>
              <a:ext uri="{FF2B5EF4-FFF2-40B4-BE49-F238E27FC236}">
                <a16:creationId xmlns:a16="http://schemas.microsoft.com/office/drawing/2014/main" id="{817548DF-9A32-3C19-3A46-715D9F6BB619}"/>
              </a:ext>
            </a:extLst>
          </p:cNvPr>
          <p:cNvSpPr/>
          <p:nvPr/>
        </p:nvSpPr>
        <p:spPr bwMode="auto">
          <a:xfrm>
            <a:off x="8752226" y="2677304"/>
            <a:ext cx="195745" cy="279505"/>
          </a:xfrm>
          <a:prstGeom prst="rect">
            <a:avLst/>
          </a:prstGeom>
          <a:solidFill>
            <a:schemeClr val="bg1">
              <a:lumMod val="95000"/>
            </a:schemeClr>
          </a:solidFill>
          <a:ln w="57150" cap="sq" algn="ctr">
            <a:solidFill>
              <a:srgbClr val="2FF942"/>
            </a:solidFill>
            <a:miter lim="800000"/>
            <a:headEnd/>
            <a:tailEnd/>
          </a:ln>
          <a:effectLst/>
        </p:spPr>
        <p:txBody>
          <a:bodyPr wrap="none" rtlCol="0" anchor="ctr"/>
          <a:lstStyle/>
          <a:p>
            <a:pPr algn="ctr"/>
            <a:r>
              <a:rPr lang="en-US" sz="1600" b="1" dirty="0">
                <a:latin typeface="+mn-lt"/>
              </a:rPr>
              <a:t>1</a:t>
            </a:r>
          </a:p>
        </p:txBody>
      </p:sp>
      <p:sp>
        <p:nvSpPr>
          <p:cNvPr id="67" name="Rectangle 66">
            <a:extLst>
              <a:ext uri="{FF2B5EF4-FFF2-40B4-BE49-F238E27FC236}">
                <a16:creationId xmlns:a16="http://schemas.microsoft.com/office/drawing/2014/main" id="{A69D7F97-56C5-3F59-CB8F-D97E00841635}"/>
              </a:ext>
            </a:extLst>
          </p:cNvPr>
          <p:cNvSpPr/>
          <p:nvPr/>
        </p:nvSpPr>
        <p:spPr bwMode="auto">
          <a:xfrm>
            <a:off x="9284266" y="2677304"/>
            <a:ext cx="195745" cy="279505"/>
          </a:xfrm>
          <a:prstGeom prst="rect">
            <a:avLst/>
          </a:prstGeom>
          <a:solidFill>
            <a:schemeClr val="bg1">
              <a:lumMod val="95000"/>
            </a:schemeClr>
          </a:solidFill>
          <a:ln w="57150" cap="sq" algn="ctr">
            <a:solidFill>
              <a:srgbClr val="2FF942"/>
            </a:solidFill>
            <a:miter lim="800000"/>
            <a:headEnd/>
            <a:tailEnd/>
          </a:ln>
          <a:effectLst/>
        </p:spPr>
        <p:txBody>
          <a:bodyPr wrap="none" rtlCol="0" anchor="ctr"/>
          <a:lstStyle/>
          <a:p>
            <a:pPr algn="ctr"/>
            <a:r>
              <a:rPr lang="en-US" sz="1600" b="1" dirty="0"/>
              <a:t>0</a:t>
            </a:r>
            <a:endParaRPr lang="en-US" sz="1600" b="1" dirty="0">
              <a:latin typeface="+mn-lt"/>
            </a:endParaRPr>
          </a:p>
        </p:txBody>
      </p:sp>
      <p:sp>
        <p:nvSpPr>
          <p:cNvPr id="68" name="Rectangle 67">
            <a:extLst>
              <a:ext uri="{FF2B5EF4-FFF2-40B4-BE49-F238E27FC236}">
                <a16:creationId xmlns:a16="http://schemas.microsoft.com/office/drawing/2014/main" id="{9383F36B-5D14-023D-B160-767831C6F4FC}"/>
              </a:ext>
            </a:extLst>
          </p:cNvPr>
          <p:cNvSpPr/>
          <p:nvPr/>
        </p:nvSpPr>
        <p:spPr bwMode="auto">
          <a:xfrm flipH="1">
            <a:off x="2406650" y="2370389"/>
            <a:ext cx="775046" cy="252044"/>
          </a:xfrm>
          <a:prstGeom prst="rect">
            <a:avLst/>
          </a:prstGeom>
          <a:solidFill>
            <a:schemeClr val="bg1">
              <a:lumMod val="95000"/>
            </a:schemeClr>
          </a:solidFill>
          <a:ln>
            <a:headEnd/>
            <a:tailEnd/>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600" b="1" dirty="0">
                <a:solidFill>
                  <a:schemeClr val="tx1"/>
                </a:solidFill>
              </a:rPr>
              <a:t>1.992 </a:t>
            </a:r>
            <a:r>
              <a:rPr lang="en-US" sz="1600" b="1" dirty="0">
                <a:solidFill>
                  <a:schemeClr val="tx1"/>
                </a:solidFill>
                <a:latin typeface="+mn-lt"/>
              </a:rPr>
              <a:t>V</a:t>
            </a:r>
          </a:p>
        </p:txBody>
      </p:sp>
      <p:sp>
        <p:nvSpPr>
          <p:cNvPr id="69" name="Rectangle 68">
            <a:extLst>
              <a:ext uri="{FF2B5EF4-FFF2-40B4-BE49-F238E27FC236}">
                <a16:creationId xmlns:a16="http://schemas.microsoft.com/office/drawing/2014/main" id="{52637D2E-39C4-53F8-CE32-A8F98D56EBC5}"/>
              </a:ext>
            </a:extLst>
          </p:cNvPr>
          <p:cNvSpPr/>
          <p:nvPr/>
        </p:nvSpPr>
        <p:spPr bwMode="auto">
          <a:xfrm>
            <a:off x="2401321" y="3262645"/>
            <a:ext cx="775046" cy="252044"/>
          </a:xfrm>
          <a:prstGeom prst="rect">
            <a:avLst/>
          </a:prstGeom>
          <a:solidFill>
            <a:schemeClr val="bg1">
              <a:lumMod val="95000"/>
            </a:schemeClr>
          </a:solidFill>
          <a:ln>
            <a:headEnd/>
            <a:tailEnd/>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600" b="1" dirty="0">
                <a:solidFill>
                  <a:schemeClr val="tx1"/>
                </a:solidFill>
              </a:rPr>
              <a:t>1.984 </a:t>
            </a:r>
            <a:r>
              <a:rPr lang="en-US" sz="1600" b="1" dirty="0">
                <a:solidFill>
                  <a:schemeClr val="tx1"/>
                </a:solidFill>
                <a:latin typeface="+mn-lt"/>
              </a:rPr>
              <a:t>V</a:t>
            </a:r>
          </a:p>
        </p:txBody>
      </p:sp>
      <p:sp>
        <p:nvSpPr>
          <p:cNvPr id="70" name="Rectangle 69">
            <a:extLst>
              <a:ext uri="{FF2B5EF4-FFF2-40B4-BE49-F238E27FC236}">
                <a16:creationId xmlns:a16="http://schemas.microsoft.com/office/drawing/2014/main" id="{D56DD53E-D025-B270-2143-49ABBA3E91D3}"/>
              </a:ext>
            </a:extLst>
          </p:cNvPr>
          <p:cNvSpPr/>
          <p:nvPr/>
        </p:nvSpPr>
        <p:spPr bwMode="auto">
          <a:xfrm>
            <a:off x="2401320" y="3860453"/>
            <a:ext cx="775046" cy="252044"/>
          </a:xfrm>
          <a:prstGeom prst="rect">
            <a:avLst/>
          </a:prstGeom>
          <a:solidFill>
            <a:schemeClr val="bg1">
              <a:lumMod val="95000"/>
            </a:schemeClr>
          </a:solidFill>
          <a:ln>
            <a:headEnd/>
            <a:tailEnd/>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600" b="1" dirty="0">
                <a:solidFill>
                  <a:schemeClr val="tx1"/>
                </a:solidFill>
              </a:rPr>
              <a:t>1.976 </a:t>
            </a:r>
            <a:r>
              <a:rPr lang="en-US" sz="1600" b="1" dirty="0">
                <a:solidFill>
                  <a:schemeClr val="tx1"/>
                </a:solidFill>
                <a:latin typeface="+mn-lt"/>
              </a:rPr>
              <a:t>V</a:t>
            </a:r>
          </a:p>
        </p:txBody>
      </p:sp>
      <p:cxnSp>
        <p:nvCxnSpPr>
          <p:cNvPr id="71" name="Straight Connector 70">
            <a:extLst>
              <a:ext uri="{FF2B5EF4-FFF2-40B4-BE49-F238E27FC236}">
                <a16:creationId xmlns:a16="http://schemas.microsoft.com/office/drawing/2014/main" id="{32F00647-C0FE-FE64-9875-811658C7E1C7}"/>
              </a:ext>
            </a:extLst>
          </p:cNvPr>
          <p:cNvCxnSpPr>
            <a:cxnSpLocks/>
          </p:cNvCxnSpPr>
          <p:nvPr/>
        </p:nvCxnSpPr>
        <p:spPr>
          <a:xfrm>
            <a:off x="3114148" y="2622433"/>
            <a:ext cx="161487" cy="194624"/>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B373F554-73ED-45DB-90BF-EFA3C387E374}"/>
              </a:ext>
            </a:extLst>
          </p:cNvPr>
          <p:cNvCxnSpPr>
            <a:cxnSpLocks/>
            <a:stCxn id="69" idx="3"/>
          </p:cNvCxnSpPr>
          <p:nvPr/>
        </p:nvCxnSpPr>
        <p:spPr>
          <a:xfrm>
            <a:off x="3176367" y="3388667"/>
            <a:ext cx="87065" cy="80015"/>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6688B21F-F26F-21C9-F943-EFB87E523F95}"/>
              </a:ext>
            </a:extLst>
          </p:cNvPr>
          <p:cNvCxnSpPr>
            <a:cxnSpLocks/>
          </p:cNvCxnSpPr>
          <p:nvPr/>
        </p:nvCxnSpPr>
        <p:spPr>
          <a:xfrm>
            <a:off x="3157220" y="4112497"/>
            <a:ext cx="129882" cy="36375"/>
          </a:xfrm>
          <a:prstGeom prst="line">
            <a:avLst/>
          </a:prstGeom>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613E96CA-D0C1-81E9-AF35-DB078EB193AA}"/>
              </a:ext>
            </a:extLst>
          </p:cNvPr>
          <p:cNvSpPr/>
          <p:nvPr/>
        </p:nvSpPr>
        <p:spPr bwMode="auto">
          <a:xfrm>
            <a:off x="2401320" y="5107369"/>
            <a:ext cx="775046" cy="252044"/>
          </a:xfrm>
          <a:prstGeom prst="rect">
            <a:avLst/>
          </a:prstGeom>
          <a:solidFill>
            <a:schemeClr val="bg1">
              <a:lumMod val="95000"/>
            </a:schemeClr>
          </a:solidFill>
          <a:ln>
            <a:headEnd/>
            <a:tailEnd/>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600" b="1" dirty="0">
                <a:solidFill>
                  <a:schemeClr val="tx1"/>
                </a:solidFill>
              </a:rPr>
              <a:t>8 m</a:t>
            </a:r>
            <a:r>
              <a:rPr lang="en-US" sz="1600" b="1" dirty="0">
                <a:solidFill>
                  <a:schemeClr val="tx1"/>
                </a:solidFill>
                <a:latin typeface="+mn-lt"/>
              </a:rPr>
              <a:t>V</a:t>
            </a:r>
          </a:p>
        </p:txBody>
      </p:sp>
      <p:cxnSp>
        <p:nvCxnSpPr>
          <p:cNvPr id="75" name="Straight Connector 74">
            <a:extLst>
              <a:ext uri="{FF2B5EF4-FFF2-40B4-BE49-F238E27FC236}">
                <a16:creationId xmlns:a16="http://schemas.microsoft.com/office/drawing/2014/main" id="{39DC38C0-4E63-23E2-569C-DFB0EDDEC3D2}"/>
              </a:ext>
            </a:extLst>
          </p:cNvPr>
          <p:cNvCxnSpPr>
            <a:cxnSpLocks/>
          </p:cNvCxnSpPr>
          <p:nvPr/>
        </p:nvCxnSpPr>
        <p:spPr>
          <a:xfrm>
            <a:off x="3131344" y="5367776"/>
            <a:ext cx="135928" cy="67092"/>
          </a:xfrm>
          <a:prstGeom prst="line">
            <a:avLst/>
          </a:prstGeom>
        </p:spPr>
        <p:style>
          <a:lnRef idx="1">
            <a:schemeClr val="accent1"/>
          </a:lnRef>
          <a:fillRef idx="0">
            <a:schemeClr val="accent1"/>
          </a:fillRef>
          <a:effectRef idx="0">
            <a:schemeClr val="accent1"/>
          </a:effectRef>
          <a:fontRef idx="minor">
            <a:schemeClr val="tx1"/>
          </a:fontRef>
        </p:style>
      </p:cxnSp>
      <p:pic>
        <p:nvPicPr>
          <p:cNvPr id="76" name="Graphic 75">
            <a:extLst>
              <a:ext uri="{FF2B5EF4-FFF2-40B4-BE49-F238E27FC236}">
                <a16:creationId xmlns:a16="http://schemas.microsoft.com/office/drawing/2014/main" id="{C20E9B3C-7379-BB0B-3058-1F3F2C2A120D}"/>
              </a:ext>
            </a:extLst>
          </p:cNvPr>
          <p:cNvPicPr>
            <a:picLocks noChangeAspect="1"/>
          </p:cNvPicPr>
          <p:nvPr/>
        </p:nvPicPr>
        <p:blipFill>
          <a:blip>
            <a:extLst>
              <a:ext uri="{96DAC541-7B7A-43D3-8B79-37D633B846F1}">
                <asvg:svgBlip xmlns:asvg="http://schemas.microsoft.com/office/drawing/2016/SVG/main" r:embed="rId4"/>
              </a:ext>
            </a:extLst>
          </a:blip>
          <a:srcRect l="1314" t="27077" r="97577" b="70306"/>
          <a:stretch>
            <a:fillRect/>
          </a:stretch>
        </p:blipFill>
        <p:spPr>
          <a:xfrm>
            <a:off x="177572" y="2381182"/>
            <a:ext cx="1063271" cy="1058285"/>
          </a:xfrm>
          <a:prstGeom prst="flowChartConnector">
            <a:avLst/>
          </a:prstGeom>
        </p:spPr>
      </p:pic>
      <p:sp>
        <p:nvSpPr>
          <p:cNvPr id="77" name="Rectangle 76">
            <a:extLst>
              <a:ext uri="{FF2B5EF4-FFF2-40B4-BE49-F238E27FC236}">
                <a16:creationId xmlns:a16="http://schemas.microsoft.com/office/drawing/2014/main" id="{E97E47FF-34A6-D1E3-72EF-629E784B22C5}"/>
              </a:ext>
            </a:extLst>
          </p:cNvPr>
          <p:cNvSpPr/>
          <p:nvPr/>
        </p:nvSpPr>
        <p:spPr bwMode="auto">
          <a:xfrm rot="5400000">
            <a:off x="2213678" y="4210077"/>
            <a:ext cx="2968387" cy="56704"/>
          </a:xfrm>
          <a:prstGeom prst="rect">
            <a:avLst/>
          </a:prstGeom>
          <a:solidFill>
            <a:schemeClr val="accent3"/>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78" name="Rectangle 77">
            <a:extLst>
              <a:ext uri="{FF2B5EF4-FFF2-40B4-BE49-F238E27FC236}">
                <a16:creationId xmlns:a16="http://schemas.microsoft.com/office/drawing/2014/main" id="{334333DA-6CE7-9B64-4282-6A21B49414B2}"/>
              </a:ext>
            </a:extLst>
          </p:cNvPr>
          <p:cNvSpPr/>
          <p:nvPr/>
        </p:nvSpPr>
        <p:spPr bwMode="auto">
          <a:xfrm>
            <a:off x="780836" y="2857062"/>
            <a:ext cx="1417534" cy="45719"/>
          </a:xfrm>
          <a:prstGeom prst="rect">
            <a:avLst/>
          </a:prstGeom>
          <a:solidFill>
            <a:schemeClr val="accent3"/>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79" name="Rectangle 78">
            <a:extLst>
              <a:ext uri="{FF2B5EF4-FFF2-40B4-BE49-F238E27FC236}">
                <a16:creationId xmlns:a16="http://schemas.microsoft.com/office/drawing/2014/main" id="{5FD3188F-A1EF-E687-6FD2-3E29A6C19BAB}"/>
              </a:ext>
            </a:extLst>
          </p:cNvPr>
          <p:cNvSpPr/>
          <p:nvPr/>
        </p:nvSpPr>
        <p:spPr bwMode="auto">
          <a:xfrm>
            <a:off x="2511132" y="2754235"/>
            <a:ext cx="1215095" cy="45719"/>
          </a:xfrm>
          <a:prstGeom prst="rect">
            <a:avLst/>
          </a:prstGeom>
          <a:solidFill>
            <a:schemeClr val="accent3"/>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Tree>
    <p:extLst>
      <p:ext uri="{BB962C8B-B14F-4D97-AF65-F5344CB8AC3E}">
        <p14:creationId xmlns:p14="http://schemas.microsoft.com/office/powerpoint/2010/main" val="1786562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5C298-D3E4-BA08-7199-78D322B9D7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78154E-109F-DDE5-8EFD-34CCF9CF4D58}"/>
              </a:ext>
            </a:extLst>
          </p:cNvPr>
          <p:cNvSpPr>
            <a:spLocks noGrp="1"/>
          </p:cNvSpPr>
          <p:nvPr>
            <p:ph type="title"/>
          </p:nvPr>
        </p:nvSpPr>
        <p:spPr>
          <a:xfrm>
            <a:off x="609600" y="363090"/>
            <a:ext cx="10972800" cy="800100"/>
          </a:xfrm>
        </p:spPr>
        <p:txBody>
          <a:bodyPr anchor="b">
            <a:normAutofit/>
          </a:bodyPr>
          <a:lstStyle/>
          <a:p>
            <a:r>
              <a:rPr lang="en-US" dirty="0"/>
              <a:t>Timing Diagram</a:t>
            </a:r>
          </a:p>
        </p:txBody>
      </p:sp>
      <p:pic>
        <p:nvPicPr>
          <p:cNvPr id="8" name="Graphic 7">
            <a:extLst>
              <a:ext uri="{FF2B5EF4-FFF2-40B4-BE49-F238E27FC236}">
                <a16:creationId xmlns:a16="http://schemas.microsoft.com/office/drawing/2014/main" id="{BF6AFCC3-B537-BD41-8BB9-DF44ACDA29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7800" y="1524000"/>
            <a:ext cx="9296400" cy="4648200"/>
          </a:xfrm>
          <a:prstGeom prst="rect">
            <a:avLst/>
          </a:prstGeom>
        </p:spPr>
      </p:pic>
      <p:sp>
        <p:nvSpPr>
          <p:cNvPr id="3" name="Rectangle: Rounded Corners 2">
            <a:extLst>
              <a:ext uri="{FF2B5EF4-FFF2-40B4-BE49-F238E27FC236}">
                <a16:creationId xmlns:a16="http://schemas.microsoft.com/office/drawing/2014/main" id="{738D6398-6498-38DD-61BB-B5BCFAD92FA1}"/>
              </a:ext>
            </a:extLst>
          </p:cNvPr>
          <p:cNvSpPr/>
          <p:nvPr/>
        </p:nvSpPr>
        <p:spPr bwMode="auto">
          <a:xfrm>
            <a:off x="822148" y="2558122"/>
            <a:ext cx="1683097" cy="332509"/>
          </a:xfrm>
          <a:prstGeom prst="roundRect">
            <a:avLst/>
          </a:prstGeom>
          <a:solidFill>
            <a:schemeClr val="accent2">
              <a:lumMod val="20000"/>
              <a:lumOff val="80000"/>
            </a:schemeClr>
          </a:solidFill>
          <a:ln w="38100" cap="sq" algn="ctr">
            <a:solidFill>
              <a:schemeClr val="bg2"/>
            </a:solidFill>
            <a:miter lim="800000"/>
            <a:headEnd/>
            <a:tailEnd/>
          </a:ln>
          <a:effectLst/>
        </p:spPr>
        <p:txBody>
          <a:bodyPr wrap="none" rtlCol="0" anchor="ctr"/>
          <a:lstStyle/>
          <a:p>
            <a:pPr algn="ctr"/>
            <a:r>
              <a:rPr lang="en-US" sz="1600" b="1" dirty="0">
                <a:latin typeface="+mn-lt"/>
              </a:rPr>
              <a:t>Sample &amp; Hold</a:t>
            </a:r>
          </a:p>
        </p:txBody>
      </p:sp>
      <p:sp>
        <p:nvSpPr>
          <p:cNvPr id="4" name="Rectangle: Rounded Corners 3">
            <a:extLst>
              <a:ext uri="{FF2B5EF4-FFF2-40B4-BE49-F238E27FC236}">
                <a16:creationId xmlns:a16="http://schemas.microsoft.com/office/drawing/2014/main" id="{BAA33E91-CBF6-2F2E-3A51-BC91936B2B11}"/>
              </a:ext>
            </a:extLst>
          </p:cNvPr>
          <p:cNvSpPr/>
          <p:nvPr/>
        </p:nvSpPr>
        <p:spPr bwMode="auto">
          <a:xfrm>
            <a:off x="2910724" y="3285932"/>
            <a:ext cx="1967576" cy="249382"/>
          </a:xfrm>
          <a:prstGeom prst="roundRect">
            <a:avLst/>
          </a:prstGeom>
          <a:solidFill>
            <a:schemeClr val="accent2">
              <a:lumMod val="20000"/>
              <a:lumOff val="80000"/>
            </a:schemeClr>
          </a:solidFill>
          <a:ln w="38100" cap="sq" algn="ctr">
            <a:solidFill>
              <a:schemeClr val="bg2"/>
            </a:solidFill>
            <a:miter lim="800000"/>
            <a:headEnd/>
            <a:tailEnd/>
          </a:ln>
          <a:effectLst/>
        </p:spPr>
        <p:txBody>
          <a:bodyPr wrap="none" rtlCol="0" anchor="ctr"/>
          <a:lstStyle/>
          <a:p>
            <a:pPr algn="ctr"/>
            <a:r>
              <a:rPr lang="en-US" sz="1600" b="1" dirty="0">
                <a:latin typeface="+mn-lt"/>
              </a:rPr>
              <a:t>Comparator Enable</a:t>
            </a:r>
          </a:p>
        </p:txBody>
      </p:sp>
      <p:sp>
        <p:nvSpPr>
          <p:cNvPr id="5" name="Rectangle: Rounded Corners 4">
            <a:extLst>
              <a:ext uri="{FF2B5EF4-FFF2-40B4-BE49-F238E27FC236}">
                <a16:creationId xmlns:a16="http://schemas.microsoft.com/office/drawing/2014/main" id="{19E0D34C-E1C8-1023-3D1B-E8EF336432AC}"/>
              </a:ext>
            </a:extLst>
          </p:cNvPr>
          <p:cNvSpPr/>
          <p:nvPr/>
        </p:nvSpPr>
        <p:spPr bwMode="auto">
          <a:xfrm>
            <a:off x="3328545" y="3682533"/>
            <a:ext cx="1855013" cy="331134"/>
          </a:xfrm>
          <a:prstGeom prst="roundRect">
            <a:avLst/>
          </a:prstGeom>
          <a:solidFill>
            <a:schemeClr val="accent2">
              <a:lumMod val="20000"/>
              <a:lumOff val="80000"/>
            </a:schemeClr>
          </a:solidFill>
          <a:ln w="38100" cap="sq" algn="ctr">
            <a:solidFill>
              <a:schemeClr val="bg2"/>
            </a:solidFill>
            <a:miter lim="800000"/>
            <a:headEnd/>
            <a:tailEnd/>
          </a:ln>
          <a:effectLst/>
        </p:spPr>
        <p:txBody>
          <a:bodyPr wrap="none" rtlCol="0" anchor="ctr"/>
          <a:lstStyle/>
          <a:p>
            <a:pPr algn="ctr"/>
            <a:r>
              <a:rPr lang="en-US" sz="1100" b="1" dirty="0"/>
              <a:t>Thermometer to One-Hot </a:t>
            </a:r>
          </a:p>
          <a:p>
            <a:pPr algn="ctr"/>
            <a:r>
              <a:rPr lang="en-US" sz="1100" b="1" dirty="0"/>
              <a:t>&amp; ROM Encoder</a:t>
            </a:r>
            <a:endParaRPr lang="en-US" sz="1100" b="1" dirty="0">
              <a:latin typeface="+mn-lt"/>
            </a:endParaRPr>
          </a:p>
        </p:txBody>
      </p:sp>
      <p:sp>
        <p:nvSpPr>
          <p:cNvPr id="6" name="Rectangle: Rounded Corners 5">
            <a:extLst>
              <a:ext uri="{FF2B5EF4-FFF2-40B4-BE49-F238E27FC236}">
                <a16:creationId xmlns:a16="http://schemas.microsoft.com/office/drawing/2014/main" id="{2FD6B6C1-1B18-94C0-BD1C-7720E55BDB8D}"/>
              </a:ext>
            </a:extLst>
          </p:cNvPr>
          <p:cNvSpPr/>
          <p:nvPr/>
        </p:nvSpPr>
        <p:spPr bwMode="auto">
          <a:xfrm>
            <a:off x="3559232" y="4670655"/>
            <a:ext cx="2221808" cy="281519"/>
          </a:xfrm>
          <a:prstGeom prst="roundRect">
            <a:avLst/>
          </a:prstGeom>
          <a:solidFill>
            <a:schemeClr val="accent2">
              <a:lumMod val="20000"/>
              <a:lumOff val="80000"/>
            </a:schemeClr>
          </a:solidFill>
          <a:ln w="38100" cap="sq" algn="ctr">
            <a:solidFill>
              <a:schemeClr val="bg2"/>
            </a:solidFill>
            <a:miter lim="800000"/>
            <a:headEnd/>
            <a:tailEnd/>
          </a:ln>
          <a:effectLst/>
        </p:spPr>
        <p:txBody>
          <a:bodyPr wrap="none" rtlCol="0" anchor="ctr"/>
          <a:lstStyle/>
          <a:p>
            <a:pPr algn="ctr"/>
            <a:r>
              <a:rPr lang="en-US" sz="1050" b="1" dirty="0"/>
              <a:t>MUX new data into shift register</a:t>
            </a:r>
            <a:endParaRPr lang="en-US" sz="1050" b="1" dirty="0">
              <a:latin typeface="+mn-lt"/>
            </a:endParaRPr>
          </a:p>
        </p:txBody>
      </p:sp>
      <p:sp>
        <p:nvSpPr>
          <p:cNvPr id="7" name="Rectangle: Rounded Corners 6">
            <a:extLst>
              <a:ext uri="{FF2B5EF4-FFF2-40B4-BE49-F238E27FC236}">
                <a16:creationId xmlns:a16="http://schemas.microsoft.com/office/drawing/2014/main" id="{A66D6D69-79B8-FE9A-1E86-E3A7A08FEC0F}"/>
              </a:ext>
            </a:extLst>
          </p:cNvPr>
          <p:cNvSpPr/>
          <p:nvPr/>
        </p:nvSpPr>
        <p:spPr bwMode="auto">
          <a:xfrm>
            <a:off x="9871371" y="5156301"/>
            <a:ext cx="2279533" cy="418441"/>
          </a:xfrm>
          <a:prstGeom prst="roundRect">
            <a:avLst/>
          </a:prstGeom>
          <a:solidFill>
            <a:schemeClr val="accent2">
              <a:lumMod val="20000"/>
              <a:lumOff val="80000"/>
            </a:schemeClr>
          </a:solidFill>
          <a:ln w="38100" cap="sq" algn="ctr">
            <a:solidFill>
              <a:schemeClr val="bg2"/>
            </a:solidFill>
            <a:miter lim="800000"/>
            <a:headEnd/>
            <a:tailEnd/>
          </a:ln>
          <a:effectLst/>
        </p:spPr>
        <p:txBody>
          <a:bodyPr wrap="none" rtlCol="0" anchor="ctr"/>
          <a:lstStyle/>
          <a:p>
            <a:pPr algn="ctr"/>
            <a:r>
              <a:rPr lang="en-US" sz="1600" b="1" dirty="0"/>
              <a:t>Shift serial data out</a:t>
            </a:r>
            <a:endParaRPr lang="en-US" sz="1600" b="1" dirty="0">
              <a:latin typeface="+mn-lt"/>
            </a:endParaRPr>
          </a:p>
        </p:txBody>
      </p:sp>
      <p:sp>
        <p:nvSpPr>
          <p:cNvPr id="28" name="Rectangle: Rounded Corners 27">
            <a:extLst>
              <a:ext uri="{FF2B5EF4-FFF2-40B4-BE49-F238E27FC236}">
                <a16:creationId xmlns:a16="http://schemas.microsoft.com/office/drawing/2014/main" id="{F01FDB99-FCD5-DC96-EE94-566D6E6B4A7A}"/>
              </a:ext>
            </a:extLst>
          </p:cNvPr>
          <p:cNvSpPr/>
          <p:nvPr/>
        </p:nvSpPr>
        <p:spPr bwMode="auto">
          <a:xfrm>
            <a:off x="3582255" y="4196200"/>
            <a:ext cx="1855014" cy="281518"/>
          </a:xfrm>
          <a:prstGeom prst="roundRect">
            <a:avLst/>
          </a:prstGeom>
          <a:solidFill>
            <a:schemeClr val="accent2">
              <a:lumMod val="20000"/>
              <a:lumOff val="80000"/>
            </a:schemeClr>
          </a:solidFill>
          <a:ln w="38100" cap="sq" algn="ctr">
            <a:solidFill>
              <a:schemeClr val="bg2"/>
            </a:solidFill>
            <a:miter lim="800000"/>
            <a:headEnd/>
            <a:tailEnd/>
          </a:ln>
          <a:effectLst/>
        </p:spPr>
        <p:txBody>
          <a:bodyPr wrap="none" rtlCol="0" anchor="ctr"/>
          <a:lstStyle/>
          <a:p>
            <a:pPr algn="ctr"/>
            <a:r>
              <a:rPr lang="en-US" sz="1400" b="1" dirty="0">
                <a:latin typeface="+mn-lt"/>
              </a:rPr>
              <a:t>Latch Paralle</a:t>
            </a:r>
            <a:r>
              <a:rPr lang="en-US" sz="1400" b="1" dirty="0"/>
              <a:t>l Data</a:t>
            </a:r>
            <a:endParaRPr lang="en-US" sz="1400" b="1" dirty="0">
              <a:latin typeface="+mn-lt"/>
            </a:endParaRPr>
          </a:p>
        </p:txBody>
      </p:sp>
      <p:cxnSp>
        <p:nvCxnSpPr>
          <p:cNvPr id="13" name="Straight Connector 12">
            <a:extLst>
              <a:ext uri="{FF2B5EF4-FFF2-40B4-BE49-F238E27FC236}">
                <a16:creationId xmlns:a16="http://schemas.microsoft.com/office/drawing/2014/main" id="{9F5F69CC-CEAA-7AFE-D8F2-66860E6A5F00}"/>
              </a:ext>
            </a:extLst>
          </p:cNvPr>
          <p:cNvCxnSpPr>
            <a:cxnSpLocks/>
          </p:cNvCxnSpPr>
          <p:nvPr/>
        </p:nvCxnSpPr>
        <p:spPr>
          <a:xfrm>
            <a:off x="2600152" y="6027054"/>
            <a:ext cx="3738418"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AB39B24-D192-DFD3-F2E3-CBF09D26CB3E}"/>
              </a:ext>
            </a:extLst>
          </p:cNvPr>
          <p:cNvCxnSpPr>
            <a:cxnSpLocks/>
          </p:cNvCxnSpPr>
          <p:nvPr/>
        </p:nvCxnSpPr>
        <p:spPr>
          <a:xfrm>
            <a:off x="2600152" y="5010150"/>
            <a:ext cx="0" cy="112918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C8C160E-3660-A038-9681-A1CA857C5073}"/>
              </a:ext>
            </a:extLst>
          </p:cNvPr>
          <p:cNvCxnSpPr>
            <a:cxnSpLocks/>
          </p:cNvCxnSpPr>
          <p:nvPr/>
        </p:nvCxnSpPr>
        <p:spPr>
          <a:xfrm>
            <a:off x="6338570" y="5010150"/>
            <a:ext cx="0" cy="1129184"/>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4" name="Rectangle: Rounded Corners 23">
            <a:extLst>
              <a:ext uri="{FF2B5EF4-FFF2-40B4-BE49-F238E27FC236}">
                <a16:creationId xmlns:a16="http://schemas.microsoft.com/office/drawing/2014/main" id="{1E71D4B5-16D0-480D-265F-76EFF45F8217}"/>
              </a:ext>
            </a:extLst>
          </p:cNvPr>
          <p:cNvSpPr/>
          <p:nvPr/>
        </p:nvSpPr>
        <p:spPr bwMode="auto">
          <a:xfrm>
            <a:off x="3202577" y="6186398"/>
            <a:ext cx="2614369" cy="304707"/>
          </a:xfrm>
          <a:prstGeom prst="roundRect">
            <a:avLst/>
          </a:prstGeom>
          <a:solidFill>
            <a:schemeClr val="accent2">
              <a:lumMod val="20000"/>
              <a:lumOff val="80000"/>
            </a:schemeClr>
          </a:solidFill>
          <a:ln w="38100" cap="sq" algn="ctr">
            <a:solidFill>
              <a:schemeClr val="bg2"/>
            </a:solidFill>
            <a:miter lim="800000"/>
            <a:headEnd/>
            <a:tailEnd/>
          </a:ln>
          <a:effectLst/>
        </p:spPr>
        <p:txBody>
          <a:bodyPr wrap="none" rtlCol="0" anchor="ctr"/>
          <a:lstStyle/>
          <a:p>
            <a:pPr algn="ctr"/>
            <a:r>
              <a:rPr lang="en-US" sz="1600" b="1" dirty="0">
                <a:latin typeface="+mn-lt"/>
              </a:rPr>
              <a:t>Fs = Sampling Frequency</a:t>
            </a:r>
          </a:p>
        </p:txBody>
      </p:sp>
      <p:sp>
        <p:nvSpPr>
          <p:cNvPr id="36" name="TextBox 35">
            <a:extLst>
              <a:ext uri="{FF2B5EF4-FFF2-40B4-BE49-F238E27FC236}">
                <a16:creationId xmlns:a16="http://schemas.microsoft.com/office/drawing/2014/main" id="{1F170BE3-0B80-6DCC-5B26-9607D65ADE85}"/>
              </a:ext>
            </a:extLst>
          </p:cNvPr>
          <p:cNvSpPr txBox="1"/>
          <p:nvPr/>
        </p:nvSpPr>
        <p:spPr>
          <a:xfrm>
            <a:off x="236306" y="6287784"/>
            <a:ext cx="544530" cy="380144"/>
          </a:xfrm>
          <a:prstGeom prst="rect">
            <a:avLst/>
          </a:prstGeom>
          <a:noFill/>
        </p:spPr>
        <p:txBody>
          <a:bodyPr wrap="square" rtlCol="0">
            <a:noAutofit/>
          </a:bodyPr>
          <a:lstStyle/>
          <a:p>
            <a:pPr algn="ctr"/>
            <a:r>
              <a:rPr lang="en-US" sz="1600" dirty="0"/>
              <a:t>10</a:t>
            </a:r>
          </a:p>
        </p:txBody>
      </p:sp>
    </p:spTree>
    <p:extLst>
      <p:ext uri="{BB962C8B-B14F-4D97-AF65-F5344CB8AC3E}">
        <p14:creationId xmlns:p14="http://schemas.microsoft.com/office/powerpoint/2010/main" val="3723140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227EB-07F0-D409-0B7B-DF995C230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B8DA4D-A8D7-8C0E-5648-A0E30088EAC0}"/>
              </a:ext>
            </a:extLst>
          </p:cNvPr>
          <p:cNvSpPr>
            <a:spLocks noGrp="1"/>
          </p:cNvSpPr>
          <p:nvPr>
            <p:ph type="title"/>
          </p:nvPr>
        </p:nvSpPr>
        <p:spPr>
          <a:xfrm>
            <a:off x="609600" y="363090"/>
            <a:ext cx="10972800" cy="800100"/>
          </a:xfrm>
        </p:spPr>
        <p:txBody>
          <a:bodyPr anchor="b">
            <a:normAutofit/>
          </a:bodyPr>
          <a:lstStyle/>
          <a:p>
            <a:r>
              <a:rPr lang="en-US" dirty="0"/>
              <a:t>FADC Layout</a:t>
            </a:r>
          </a:p>
        </p:txBody>
      </p:sp>
      <p:grpSp>
        <p:nvGrpSpPr>
          <p:cNvPr id="50" name="Group 49">
            <a:extLst>
              <a:ext uri="{FF2B5EF4-FFF2-40B4-BE49-F238E27FC236}">
                <a16:creationId xmlns:a16="http://schemas.microsoft.com/office/drawing/2014/main" id="{47559DB1-B970-7D95-E8A8-B251A66B6FC2}"/>
              </a:ext>
            </a:extLst>
          </p:cNvPr>
          <p:cNvGrpSpPr/>
          <p:nvPr/>
        </p:nvGrpSpPr>
        <p:grpSpPr>
          <a:xfrm>
            <a:off x="402333" y="2004595"/>
            <a:ext cx="11651407" cy="3422445"/>
            <a:chOff x="138260" y="1927027"/>
            <a:chExt cx="11915480" cy="3500013"/>
          </a:xfrm>
        </p:grpSpPr>
        <p:pic>
          <p:nvPicPr>
            <p:cNvPr id="9" name="Picture 8">
              <a:extLst>
                <a:ext uri="{FF2B5EF4-FFF2-40B4-BE49-F238E27FC236}">
                  <a16:creationId xmlns:a16="http://schemas.microsoft.com/office/drawing/2014/main" id="{B3FC1C9D-21AA-F083-1AE5-A18C9C476E19}"/>
                </a:ext>
              </a:extLst>
            </p:cNvPr>
            <p:cNvPicPr>
              <a:picLocks noChangeAspect="1"/>
            </p:cNvPicPr>
            <p:nvPr/>
          </p:nvPicPr>
          <p:blipFill>
            <a:blip r:embed="rId3" cstate="print">
              <a:extLst>
                <a:ext uri="{28A0092B-C50C-407E-A947-70E740481C1C}">
                  <a14:useLocalDpi xmlns:a14="http://schemas.microsoft.com/office/drawing/2010/main" val="0"/>
                </a:ext>
              </a:extLst>
            </a:blip>
            <a:srcRect l="3289" r="9974"/>
            <a:stretch>
              <a:fillRect/>
            </a:stretch>
          </p:blipFill>
          <p:spPr>
            <a:xfrm rot="16200000">
              <a:off x="7922083" y="1155459"/>
              <a:ext cx="3360089" cy="4903225"/>
            </a:xfrm>
            <a:prstGeom prst="rect">
              <a:avLst/>
            </a:prstGeom>
          </p:spPr>
        </p:pic>
        <p:pic>
          <p:nvPicPr>
            <p:cNvPr id="29" name="Picture 28">
              <a:extLst>
                <a:ext uri="{FF2B5EF4-FFF2-40B4-BE49-F238E27FC236}">
                  <a16:creationId xmlns:a16="http://schemas.microsoft.com/office/drawing/2014/main" id="{C1F3E96D-261F-F563-A2ED-CED7C86564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1809273" y="506578"/>
              <a:ext cx="3249449" cy="6591475"/>
            </a:xfrm>
            <a:prstGeom prst="rect">
              <a:avLst/>
            </a:prstGeom>
          </p:spPr>
        </p:pic>
        <p:grpSp>
          <p:nvGrpSpPr>
            <p:cNvPr id="39" name="Group 38">
              <a:extLst>
                <a:ext uri="{FF2B5EF4-FFF2-40B4-BE49-F238E27FC236}">
                  <a16:creationId xmlns:a16="http://schemas.microsoft.com/office/drawing/2014/main" id="{2B8DE92F-1376-91E0-0CCC-5176C42E08ED}"/>
                </a:ext>
              </a:extLst>
            </p:cNvPr>
            <p:cNvGrpSpPr/>
            <p:nvPr/>
          </p:nvGrpSpPr>
          <p:grpSpPr>
            <a:xfrm>
              <a:off x="6750297" y="3830320"/>
              <a:ext cx="379655" cy="45719"/>
              <a:chOff x="5464271" y="5971424"/>
              <a:chExt cx="1438718" cy="173254"/>
            </a:xfrm>
          </p:grpSpPr>
          <p:sp>
            <p:nvSpPr>
              <p:cNvPr id="40" name="Oval 39">
                <a:extLst>
                  <a:ext uri="{FF2B5EF4-FFF2-40B4-BE49-F238E27FC236}">
                    <a16:creationId xmlns:a16="http://schemas.microsoft.com/office/drawing/2014/main" id="{10A999C4-96C5-9204-FC22-70691DF3997C}"/>
                  </a:ext>
                </a:extLst>
              </p:cNvPr>
              <p:cNvSpPr/>
              <p:nvPr/>
            </p:nvSpPr>
            <p:spPr bwMode="auto">
              <a:xfrm>
                <a:off x="6729735" y="5971424"/>
                <a:ext cx="173254" cy="173254"/>
              </a:xfrm>
              <a:prstGeom prst="ellipse">
                <a:avLst/>
              </a:prstGeom>
              <a:solidFill>
                <a:schemeClr val="tx1"/>
              </a:solidFill>
              <a:ln w="12700" cap="sq" algn="ctr">
                <a:solidFill>
                  <a:schemeClr val="tx1"/>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41" name="Oval 40">
                <a:extLst>
                  <a:ext uri="{FF2B5EF4-FFF2-40B4-BE49-F238E27FC236}">
                    <a16:creationId xmlns:a16="http://schemas.microsoft.com/office/drawing/2014/main" id="{8382571F-0521-C41E-A049-5F48DD91F43E}"/>
                  </a:ext>
                </a:extLst>
              </p:cNvPr>
              <p:cNvSpPr/>
              <p:nvPr/>
            </p:nvSpPr>
            <p:spPr bwMode="auto">
              <a:xfrm>
                <a:off x="6097003" y="5971424"/>
                <a:ext cx="173254" cy="173254"/>
              </a:xfrm>
              <a:prstGeom prst="ellipse">
                <a:avLst/>
              </a:prstGeom>
              <a:solidFill>
                <a:schemeClr val="tx1"/>
              </a:solidFill>
              <a:ln w="12700" cap="sq" algn="ctr">
                <a:solidFill>
                  <a:schemeClr val="tx1"/>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42" name="Oval 41">
                <a:extLst>
                  <a:ext uri="{FF2B5EF4-FFF2-40B4-BE49-F238E27FC236}">
                    <a16:creationId xmlns:a16="http://schemas.microsoft.com/office/drawing/2014/main" id="{78803C00-8D4F-75AF-190B-5A484D5FD6BD}"/>
                  </a:ext>
                </a:extLst>
              </p:cNvPr>
              <p:cNvSpPr/>
              <p:nvPr/>
            </p:nvSpPr>
            <p:spPr bwMode="auto">
              <a:xfrm>
                <a:off x="5464271" y="5971424"/>
                <a:ext cx="173254" cy="173254"/>
              </a:xfrm>
              <a:prstGeom prst="ellipse">
                <a:avLst/>
              </a:prstGeom>
              <a:solidFill>
                <a:schemeClr val="tx1"/>
              </a:solidFill>
              <a:ln w="12700" cap="sq" algn="ctr">
                <a:solidFill>
                  <a:schemeClr val="tx1"/>
                </a:solidFill>
                <a:miter lim="800000"/>
                <a:headEnd/>
                <a:tailEnd/>
              </a:ln>
              <a:effectLst/>
            </p:spPr>
            <p:txBody>
              <a:bodyPr wrap="none" rtlCol="0" anchor="ctr"/>
              <a:lstStyle/>
              <a:p>
                <a:pPr algn="ctr"/>
                <a:endParaRPr lang="en-US" sz="1600" dirty="0">
                  <a:solidFill>
                    <a:schemeClr val="bg1"/>
                  </a:solidFill>
                  <a:latin typeface="+mn-lt"/>
                </a:endParaRPr>
              </a:p>
            </p:txBody>
          </p:sp>
        </p:grpSp>
      </p:grpSp>
      <p:cxnSp>
        <p:nvCxnSpPr>
          <p:cNvPr id="43" name="Straight Arrow Connector 42">
            <a:extLst>
              <a:ext uri="{FF2B5EF4-FFF2-40B4-BE49-F238E27FC236}">
                <a16:creationId xmlns:a16="http://schemas.microsoft.com/office/drawing/2014/main" id="{81432580-77DE-B94C-5C46-D97531272871}"/>
              </a:ext>
            </a:extLst>
          </p:cNvPr>
          <p:cNvCxnSpPr>
            <a:cxnSpLocks/>
          </p:cNvCxnSpPr>
          <p:nvPr/>
        </p:nvCxnSpPr>
        <p:spPr>
          <a:xfrm flipH="1">
            <a:off x="221673" y="5536046"/>
            <a:ext cx="11832067" cy="0"/>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039EA507-7AA8-E500-CE01-CA36F12DCD25}"/>
              </a:ext>
            </a:extLst>
          </p:cNvPr>
          <p:cNvSpPr txBox="1"/>
          <p:nvPr/>
        </p:nvSpPr>
        <p:spPr>
          <a:xfrm>
            <a:off x="4724349" y="5645053"/>
            <a:ext cx="1371652" cy="400047"/>
          </a:xfrm>
          <a:prstGeom prst="rect">
            <a:avLst/>
          </a:prstGeom>
          <a:noFill/>
        </p:spPr>
        <p:txBody>
          <a:bodyPr wrap="square" rtlCol="0">
            <a:noAutofit/>
          </a:bodyPr>
          <a:lstStyle/>
          <a:p>
            <a:pPr algn="ctr"/>
            <a:r>
              <a:rPr lang="en-US" sz="1600" b="1" dirty="0">
                <a:solidFill>
                  <a:schemeClr val="bg2"/>
                </a:solidFill>
              </a:rPr>
              <a:t>1.3 mm</a:t>
            </a:r>
          </a:p>
        </p:txBody>
      </p:sp>
      <p:cxnSp>
        <p:nvCxnSpPr>
          <p:cNvPr id="47" name="Straight Arrow Connector 46">
            <a:extLst>
              <a:ext uri="{FF2B5EF4-FFF2-40B4-BE49-F238E27FC236}">
                <a16:creationId xmlns:a16="http://schemas.microsoft.com/office/drawing/2014/main" id="{C2360F8D-FD14-DF49-FCD6-8F791A129EFF}"/>
              </a:ext>
            </a:extLst>
          </p:cNvPr>
          <p:cNvCxnSpPr>
            <a:cxnSpLocks/>
          </p:cNvCxnSpPr>
          <p:nvPr/>
        </p:nvCxnSpPr>
        <p:spPr>
          <a:xfrm>
            <a:off x="221673" y="2299855"/>
            <a:ext cx="0" cy="3127185"/>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06C384B2-514C-292B-ED11-707B9BA1B69D}"/>
              </a:ext>
            </a:extLst>
          </p:cNvPr>
          <p:cNvSpPr txBox="1"/>
          <p:nvPr/>
        </p:nvSpPr>
        <p:spPr>
          <a:xfrm>
            <a:off x="-90987" y="2045329"/>
            <a:ext cx="838197" cy="400047"/>
          </a:xfrm>
          <a:prstGeom prst="rect">
            <a:avLst/>
          </a:prstGeom>
          <a:noFill/>
        </p:spPr>
        <p:txBody>
          <a:bodyPr wrap="square" rtlCol="0">
            <a:noAutofit/>
          </a:bodyPr>
          <a:lstStyle/>
          <a:p>
            <a:pPr algn="ctr"/>
            <a:r>
              <a:rPr lang="en-US" sz="1600" b="1" dirty="0">
                <a:solidFill>
                  <a:schemeClr val="bg2"/>
                </a:solidFill>
              </a:rPr>
              <a:t>0.1mm</a:t>
            </a:r>
          </a:p>
        </p:txBody>
      </p:sp>
      <p:sp>
        <p:nvSpPr>
          <p:cNvPr id="51" name="TextBox 50">
            <a:extLst>
              <a:ext uri="{FF2B5EF4-FFF2-40B4-BE49-F238E27FC236}">
                <a16:creationId xmlns:a16="http://schemas.microsoft.com/office/drawing/2014/main" id="{F46FF325-FDD3-A7B6-68DD-47606A8E083C}"/>
              </a:ext>
            </a:extLst>
          </p:cNvPr>
          <p:cNvSpPr txBox="1"/>
          <p:nvPr/>
        </p:nvSpPr>
        <p:spPr>
          <a:xfrm>
            <a:off x="236306" y="6287784"/>
            <a:ext cx="544530" cy="380144"/>
          </a:xfrm>
          <a:prstGeom prst="rect">
            <a:avLst/>
          </a:prstGeom>
          <a:noFill/>
        </p:spPr>
        <p:txBody>
          <a:bodyPr wrap="square" rtlCol="0">
            <a:noAutofit/>
          </a:bodyPr>
          <a:lstStyle/>
          <a:p>
            <a:pPr algn="ctr"/>
            <a:r>
              <a:rPr lang="en-US" sz="1600" dirty="0"/>
              <a:t>11</a:t>
            </a:r>
          </a:p>
        </p:txBody>
      </p:sp>
      <p:cxnSp>
        <p:nvCxnSpPr>
          <p:cNvPr id="4" name="Straight Connector 3">
            <a:extLst>
              <a:ext uri="{FF2B5EF4-FFF2-40B4-BE49-F238E27FC236}">
                <a16:creationId xmlns:a16="http://schemas.microsoft.com/office/drawing/2014/main" id="{D7D18FAB-9C92-2ECD-BB62-590CB4201B6D}"/>
              </a:ext>
            </a:extLst>
          </p:cNvPr>
          <p:cNvCxnSpPr>
            <a:cxnSpLocks/>
          </p:cNvCxnSpPr>
          <p:nvPr/>
        </p:nvCxnSpPr>
        <p:spPr>
          <a:xfrm>
            <a:off x="1769950" y="5189253"/>
            <a:ext cx="0" cy="78482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F497DC40-BABC-F04E-B380-8B3C215868CE}"/>
              </a:ext>
            </a:extLst>
          </p:cNvPr>
          <p:cNvCxnSpPr>
            <a:cxnSpLocks/>
          </p:cNvCxnSpPr>
          <p:nvPr/>
        </p:nvCxnSpPr>
        <p:spPr>
          <a:xfrm>
            <a:off x="1916635" y="5189253"/>
            <a:ext cx="0" cy="78482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3CDE6A4-A662-CE7B-E623-E43FA28F706C}"/>
              </a:ext>
            </a:extLst>
          </p:cNvPr>
          <p:cNvCxnSpPr>
            <a:cxnSpLocks/>
          </p:cNvCxnSpPr>
          <p:nvPr/>
        </p:nvCxnSpPr>
        <p:spPr>
          <a:xfrm flipH="1">
            <a:off x="1769950" y="5916930"/>
            <a:ext cx="146685"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5BA8CC4-3885-D1A6-1636-F2DCAD91B140}"/>
              </a:ext>
            </a:extLst>
          </p:cNvPr>
          <p:cNvSpPr txBox="1"/>
          <p:nvPr/>
        </p:nvSpPr>
        <p:spPr>
          <a:xfrm>
            <a:off x="780836" y="5749878"/>
            <a:ext cx="1371652" cy="400047"/>
          </a:xfrm>
          <a:prstGeom prst="rect">
            <a:avLst/>
          </a:prstGeom>
          <a:noFill/>
        </p:spPr>
        <p:txBody>
          <a:bodyPr wrap="square" rtlCol="0">
            <a:noAutofit/>
          </a:bodyPr>
          <a:lstStyle/>
          <a:p>
            <a:pPr algn="ctr"/>
            <a:r>
              <a:rPr lang="en-US" sz="1600" b="1" dirty="0">
                <a:solidFill>
                  <a:schemeClr val="bg2"/>
                </a:solidFill>
              </a:rPr>
              <a:t>4um</a:t>
            </a:r>
          </a:p>
        </p:txBody>
      </p:sp>
      <p:grpSp>
        <p:nvGrpSpPr>
          <p:cNvPr id="38" name="Group 37">
            <a:extLst>
              <a:ext uri="{FF2B5EF4-FFF2-40B4-BE49-F238E27FC236}">
                <a16:creationId xmlns:a16="http://schemas.microsoft.com/office/drawing/2014/main" id="{43BA56BC-F602-6383-5AA1-C577C6BBA8B3}"/>
              </a:ext>
            </a:extLst>
          </p:cNvPr>
          <p:cNvGrpSpPr/>
          <p:nvPr/>
        </p:nvGrpSpPr>
        <p:grpSpPr>
          <a:xfrm>
            <a:off x="10246938" y="85637"/>
            <a:ext cx="1570748" cy="1705127"/>
            <a:chOff x="7026032" y="-656722"/>
            <a:chExt cx="2389595" cy="2628204"/>
          </a:xfrm>
        </p:grpSpPr>
        <p:pic>
          <p:nvPicPr>
            <p:cNvPr id="30" name="Picture 29">
              <a:extLst>
                <a:ext uri="{FF2B5EF4-FFF2-40B4-BE49-F238E27FC236}">
                  <a16:creationId xmlns:a16="http://schemas.microsoft.com/office/drawing/2014/main" id="{E7B0297A-8D55-B1C5-7B8D-A66307FEDE6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l="820" r="333" b="4"/>
            <a:stretch>
              <a:fillRect/>
            </a:stretch>
          </p:blipFill>
          <p:spPr bwMode="auto">
            <a:xfrm>
              <a:off x="7445181" y="-236967"/>
              <a:ext cx="1787090" cy="180785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31" name="Rectangle 30">
              <a:extLst>
                <a:ext uri="{FF2B5EF4-FFF2-40B4-BE49-F238E27FC236}">
                  <a16:creationId xmlns:a16="http://schemas.microsoft.com/office/drawing/2014/main" id="{4682D783-8BB2-2EB6-33E1-6FF0708C1E72}"/>
                </a:ext>
              </a:extLst>
            </p:cNvPr>
            <p:cNvSpPr/>
            <p:nvPr/>
          </p:nvSpPr>
          <p:spPr bwMode="auto">
            <a:xfrm>
              <a:off x="7672452" y="-17652"/>
              <a:ext cx="1281113" cy="66676"/>
            </a:xfrm>
            <a:prstGeom prst="rect">
              <a:avLst/>
            </a:prstGeom>
            <a:solidFill>
              <a:srgbClr val="AB192D">
                <a:alpha val="9020"/>
              </a:srgbClr>
            </a:solidFill>
            <a:ln w="12700" cap="sq" algn="ctr">
              <a:solidFill>
                <a:schemeClr val="tx1"/>
              </a:solidFill>
              <a:miter lim="800000"/>
              <a:headEnd/>
              <a:tailEnd/>
            </a:ln>
            <a:effectLst/>
          </p:spPr>
          <p:txBody>
            <a:bodyPr wrap="none" rtlCol="0" anchor="ctr"/>
            <a:lstStyle/>
            <a:p>
              <a:pPr algn="ctr"/>
              <a:endParaRPr lang="en-US" sz="1600" b="1" dirty="0"/>
            </a:p>
          </p:txBody>
        </p:sp>
        <p:sp>
          <p:nvSpPr>
            <p:cNvPr id="32" name="TextBox 31">
              <a:extLst>
                <a:ext uri="{FF2B5EF4-FFF2-40B4-BE49-F238E27FC236}">
                  <a16:creationId xmlns:a16="http://schemas.microsoft.com/office/drawing/2014/main" id="{1075FEAE-CF6D-4539-22B6-F0677C33200E}"/>
                </a:ext>
              </a:extLst>
            </p:cNvPr>
            <p:cNvSpPr txBox="1"/>
            <p:nvPr/>
          </p:nvSpPr>
          <p:spPr>
            <a:xfrm>
              <a:off x="7281827" y="1590482"/>
              <a:ext cx="2133800" cy="381000"/>
            </a:xfrm>
            <a:prstGeom prst="rect">
              <a:avLst/>
            </a:prstGeom>
            <a:noFill/>
          </p:spPr>
          <p:txBody>
            <a:bodyPr wrap="none" rtlCol="0">
              <a:noAutofit/>
            </a:bodyPr>
            <a:lstStyle/>
            <a:p>
              <a:pPr algn="ctr"/>
              <a:r>
                <a:rPr lang="en-US" sz="1100" dirty="0"/>
                <a:t>FADC on WCIS Chip</a:t>
              </a:r>
            </a:p>
          </p:txBody>
        </p:sp>
        <p:sp>
          <p:nvSpPr>
            <p:cNvPr id="33" name="Rectangle 32">
              <a:extLst>
                <a:ext uri="{FF2B5EF4-FFF2-40B4-BE49-F238E27FC236}">
                  <a16:creationId xmlns:a16="http://schemas.microsoft.com/office/drawing/2014/main" id="{527D260E-A114-9240-C444-3915BA9908FD}"/>
                </a:ext>
              </a:extLst>
            </p:cNvPr>
            <p:cNvSpPr/>
            <p:nvPr/>
          </p:nvSpPr>
          <p:spPr bwMode="auto">
            <a:xfrm>
              <a:off x="7672452" y="1284892"/>
              <a:ext cx="1281113" cy="66676"/>
            </a:xfrm>
            <a:prstGeom prst="rect">
              <a:avLst/>
            </a:prstGeom>
            <a:solidFill>
              <a:srgbClr val="AB192D">
                <a:alpha val="9020"/>
              </a:srgbClr>
            </a:solidFill>
            <a:ln w="12700" cap="sq" algn="ctr">
              <a:solidFill>
                <a:schemeClr val="tx1"/>
              </a:solidFill>
              <a:miter lim="800000"/>
              <a:headEnd/>
              <a:tailEnd/>
            </a:ln>
            <a:effectLst/>
          </p:spPr>
          <p:txBody>
            <a:bodyPr wrap="none" rtlCol="0" anchor="ctr"/>
            <a:lstStyle/>
            <a:p>
              <a:pPr algn="ctr"/>
              <a:endParaRPr lang="en-US" sz="1600" b="1" dirty="0"/>
            </a:p>
          </p:txBody>
        </p:sp>
        <p:cxnSp>
          <p:nvCxnSpPr>
            <p:cNvPr id="34" name="Straight Arrow Connector 33">
              <a:extLst>
                <a:ext uri="{FF2B5EF4-FFF2-40B4-BE49-F238E27FC236}">
                  <a16:creationId xmlns:a16="http://schemas.microsoft.com/office/drawing/2014/main" id="{389401C1-BE0A-D475-2EF7-D623ADF4AB0F}"/>
                </a:ext>
              </a:extLst>
            </p:cNvPr>
            <p:cNvCxnSpPr>
              <a:cxnSpLocks/>
            </p:cNvCxnSpPr>
            <p:nvPr/>
          </p:nvCxnSpPr>
          <p:spPr>
            <a:xfrm>
              <a:off x="7041798" y="-656722"/>
              <a:ext cx="630654" cy="57125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C520A694-62BB-7639-059D-FE1B85111E5D}"/>
                </a:ext>
              </a:extLst>
            </p:cNvPr>
            <p:cNvCxnSpPr>
              <a:cxnSpLocks/>
            </p:cNvCxnSpPr>
            <p:nvPr/>
          </p:nvCxnSpPr>
          <p:spPr>
            <a:xfrm flipV="1">
              <a:off x="7026032" y="1371166"/>
              <a:ext cx="630654" cy="57125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66192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840B2-FEB2-FFA9-6F55-5724267AC6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C2EDF0-14DB-C844-6D69-264E14AE1B9F}"/>
              </a:ext>
            </a:extLst>
          </p:cNvPr>
          <p:cNvSpPr>
            <a:spLocks noGrp="1"/>
          </p:cNvSpPr>
          <p:nvPr>
            <p:ph type="title"/>
          </p:nvPr>
        </p:nvSpPr>
        <p:spPr>
          <a:xfrm>
            <a:off x="609600" y="363090"/>
            <a:ext cx="10972800" cy="800100"/>
          </a:xfrm>
        </p:spPr>
        <p:txBody>
          <a:bodyPr anchor="b">
            <a:normAutofit/>
          </a:bodyPr>
          <a:lstStyle/>
          <a:p>
            <a:r>
              <a:rPr lang="en-US" dirty="0"/>
              <a:t>FADC Layout</a:t>
            </a:r>
            <a:endParaRPr lang="en-US" dirty="0">
              <a:solidFill>
                <a:srgbClr val="FF0000"/>
              </a:solidFill>
              <a:highlight>
                <a:srgbClr val="FFFF00"/>
              </a:highlight>
            </a:endParaRPr>
          </a:p>
        </p:txBody>
      </p:sp>
      <p:grpSp>
        <p:nvGrpSpPr>
          <p:cNvPr id="10" name="Group 9">
            <a:extLst>
              <a:ext uri="{FF2B5EF4-FFF2-40B4-BE49-F238E27FC236}">
                <a16:creationId xmlns:a16="http://schemas.microsoft.com/office/drawing/2014/main" id="{E01769BC-8841-D3A0-3159-9F8F22B74595}"/>
              </a:ext>
            </a:extLst>
          </p:cNvPr>
          <p:cNvGrpSpPr/>
          <p:nvPr/>
        </p:nvGrpSpPr>
        <p:grpSpPr>
          <a:xfrm>
            <a:off x="469020" y="1613674"/>
            <a:ext cx="9462107" cy="4628178"/>
            <a:chOff x="420802" y="1412962"/>
            <a:chExt cx="9462107" cy="4628178"/>
          </a:xfrm>
        </p:grpSpPr>
        <p:pic>
          <p:nvPicPr>
            <p:cNvPr id="29" name="Picture 28">
              <a:extLst>
                <a:ext uri="{FF2B5EF4-FFF2-40B4-BE49-F238E27FC236}">
                  <a16:creationId xmlns:a16="http://schemas.microsoft.com/office/drawing/2014/main" id="{2C95F82F-D41D-0A75-7DAD-9CA6261988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2800824" y="-967055"/>
              <a:ext cx="4628178" cy="9388212"/>
            </a:xfrm>
            <a:prstGeom prst="rect">
              <a:avLst/>
            </a:prstGeom>
          </p:spPr>
        </p:pic>
        <p:sp>
          <p:nvSpPr>
            <p:cNvPr id="3" name="Rectangle 2">
              <a:extLst>
                <a:ext uri="{FF2B5EF4-FFF2-40B4-BE49-F238E27FC236}">
                  <a16:creationId xmlns:a16="http://schemas.microsoft.com/office/drawing/2014/main" id="{AF32F51D-3DBD-50E3-B2E6-AFE0155C1116}"/>
                </a:ext>
              </a:extLst>
            </p:cNvPr>
            <p:cNvSpPr/>
            <p:nvPr/>
          </p:nvSpPr>
          <p:spPr bwMode="auto">
            <a:xfrm>
              <a:off x="420802" y="4761115"/>
              <a:ext cx="9462107" cy="1046471"/>
            </a:xfrm>
            <a:prstGeom prst="rect">
              <a:avLst/>
            </a:prstGeom>
            <a:solidFill>
              <a:srgbClr val="AB192D">
                <a:alpha val="9020"/>
              </a:srgbClr>
            </a:solidFill>
            <a:ln w="57150" cap="sq" algn="ctr">
              <a:solidFill>
                <a:schemeClr val="tx1"/>
              </a:solidFill>
              <a:miter lim="800000"/>
              <a:headEnd/>
              <a:tailEnd/>
            </a:ln>
            <a:effectLst/>
          </p:spPr>
          <p:txBody>
            <a:bodyPr wrap="none" rtlCol="0" anchor="ctr"/>
            <a:lstStyle/>
            <a:p>
              <a:pPr algn="ctr"/>
              <a:r>
                <a:rPr lang="en-US" sz="2400" b="1" dirty="0">
                  <a:highlight>
                    <a:srgbClr val="F19DA9"/>
                  </a:highlight>
                </a:rPr>
                <a:t>RESISTOR NETWORK</a:t>
              </a:r>
            </a:p>
          </p:txBody>
        </p:sp>
        <p:sp>
          <p:nvSpPr>
            <p:cNvPr id="4" name="Rectangle 3">
              <a:extLst>
                <a:ext uri="{FF2B5EF4-FFF2-40B4-BE49-F238E27FC236}">
                  <a16:creationId xmlns:a16="http://schemas.microsoft.com/office/drawing/2014/main" id="{3E0F5D5D-8642-BAB1-7B59-1B533C75C4C5}"/>
                </a:ext>
              </a:extLst>
            </p:cNvPr>
            <p:cNvSpPr/>
            <p:nvPr/>
          </p:nvSpPr>
          <p:spPr bwMode="auto">
            <a:xfrm>
              <a:off x="420805" y="1869927"/>
              <a:ext cx="9462103" cy="1021904"/>
            </a:xfrm>
            <a:prstGeom prst="rect">
              <a:avLst/>
            </a:prstGeom>
            <a:solidFill>
              <a:srgbClr val="AB192D">
                <a:alpha val="9020"/>
              </a:srgbClr>
            </a:solidFill>
            <a:ln w="57150" cap="sq" algn="ctr">
              <a:solidFill>
                <a:schemeClr val="tx1"/>
              </a:solidFill>
              <a:miter lim="800000"/>
              <a:headEnd/>
              <a:tailEnd/>
            </a:ln>
            <a:effectLst/>
          </p:spPr>
          <p:txBody>
            <a:bodyPr wrap="none" rtlCol="0" anchor="ctr"/>
            <a:lstStyle/>
            <a:p>
              <a:pPr algn="ctr"/>
              <a:r>
                <a:rPr lang="en-US" sz="2400" b="1" dirty="0">
                  <a:highlight>
                    <a:srgbClr val="F19DA9"/>
                  </a:highlight>
                  <a:latin typeface="+mn-lt"/>
                </a:rPr>
                <a:t>ROM ENCODER</a:t>
              </a:r>
            </a:p>
          </p:txBody>
        </p:sp>
        <p:sp>
          <p:nvSpPr>
            <p:cNvPr id="5" name="Rectangle 4">
              <a:extLst>
                <a:ext uri="{FF2B5EF4-FFF2-40B4-BE49-F238E27FC236}">
                  <a16:creationId xmlns:a16="http://schemas.microsoft.com/office/drawing/2014/main" id="{82CB4E0A-32F4-5D4B-CF07-4419363CCB64}"/>
                </a:ext>
              </a:extLst>
            </p:cNvPr>
            <p:cNvSpPr/>
            <p:nvPr/>
          </p:nvSpPr>
          <p:spPr bwMode="auto">
            <a:xfrm>
              <a:off x="420805" y="2928430"/>
              <a:ext cx="9462103" cy="387860"/>
            </a:xfrm>
            <a:prstGeom prst="rect">
              <a:avLst/>
            </a:prstGeom>
            <a:solidFill>
              <a:srgbClr val="AB192D">
                <a:alpha val="9020"/>
              </a:srgbClr>
            </a:solidFill>
            <a:ln w="57150" cap="sq" algn="ctr">
              <a:solidFill>
                <a:schemeClr val="tx1"/>
              </a:solidFill>
              <a:miter lim="800000"/>
              <a:headEnd/>
              <a:tailEnd/>
            </a:ln>
            <a:effectLst/>
          </p:spPr>
          <p:txBody>
            <a:bodyPr wrap="none" rtlCol="0" anchor="ctr"/>
            <a:lstStyle/>
            <a:p>
              <a:pPr algn="ctr"/>
              <a:r>
                <a:rPr lang="en-US" sz="1400" b="1" dirty="0">
                  <a:highlight>
                    <a:srgbClr val="F19DA9"/>
                  </a:highlight>
                  <a:latin typeface="+mn-lt"/>
                </a:rPr>
                <a:t>Thermometer to One Hot Encoder</a:t>
              </a:r>
            </a:p>
          </p:txBody>
        </p:sp>
        <p:sp>
          <p:nvSpPr>
            <p:cNvPr id="6" name="Rectangle 5">
              <a:extLst>
                <a:ext uri="{FF2B5EF4-FFF2-40B4-BE49-F238E27FC236}">
                  <a16:creationId xmlns:a16="http://schemas.microsoft.com/office/drawing/2014/main" id="{67E99E9E-BA74-67CC-8277-CF2641A6AECC}"/>
                </a:ext>
              </a:extLst>
            </p:cNvPr>
            <p:cNvSpPr/>
            <p:nvPr/>
          </p:nvSpPr>
          <p:spPr bwMode="auto">
            <a:xfrm>
              <a:off x="420805" y="3316290"/>
              <a:ext cx="9462103" cy="1408227"/>
            </a:xfrm>
            <a:prstGeom prst="rect">
              <a:avLst/>
            </a:prstGeom>
            <a:solidFill>
              <a:srgbClr val="AB192D">
                <a:alpha val="9020"/>
              </a:srgbClr>
            </a:solidFill>
            <a:ln w="57150" cap="sq" algn="ctr">
              <a:solidFill>
                <a:schemeClr val="tx1"/>
              </a:solidFill>
              <a:miter lim="800000"/>
              <a:headEnd/>
              <a:tailEnd/>
            </a:ln>
            <a:effectLst/>
          </p:spPr>
          <p:txBody>
            <a:bodyPr wrap="none" rtlCol="0" anchor="ctr"/>
            <a:lstStyle/>
            <a:p>
              <a:pPr algn="ctr"/>
              <a:r>
                <a:rPr lang="en-US" sz="2400" b="1" dirty="0">
                  <a:highlight>
                    <a:srgbClr val="F19DA9"/>
                  </a:highlight>
                </a:rPr>
                <a:t>COMPARATOR LADDER</a:t>
              </a:r>
            </a:p>
          </p:txBody>
        </p:sp>
        <p:sp>
          <p:nvSpPr>
            <p:cNvPr id="8" name="Rectangle 7">
              <a:extLst>
                <a:ext uri="{FF2B5EF4-FFF2-40B4-BE49-F238E27FC236}">
                  <a16:creationId xmlns:a16="http://schemas.microsoft.com/office/drawing/2014/main" id="{510E6CB3-6D1D-21E3-35FC-215187533CC2}"/>
                </a:ext>
              </a:extLst>
            </p:cNvPr>
            <p:cNvSpPr/>
            <p:nvPr/>
          </p:nvSpPr>
          <p:spPr bwMode="auto">
            <a:xfrm>
              <a:off x="420805" y="1520203"/>
              <a:ext cx="9462103" cy="349724"/>
            </a:xfrm>
            <a:prstGeom prst="rect">
              <a:avLst/>
            </a:prstGeom>
            <a:solidFill>
              <a:srgbClr val="AB192D">
                <a:alpha val="9020"/>
              </a:srgbClr>
            </a:solidFill>
            <a:ln w="57150" cap="sq" algn="ctr">
              <a:solidFill>
                <a:schemeClr val="tx1"/>
              </a:solidFill>
              <a:miter lim="800000"/>
              <a:headEnd/>
              <a:tailEnd/>
            </a:ln>
            <a:effectLst/>
          </p:spPr>
          <p:txBody>
            <a:bodyPr wrap="none" rtlCol="0" anchor="ctr"/>
            <a:lstStyle/>
            <a:p>
              <a:pPr algn="ctr"/>
              <a:r>
                <a:rPr lang="en-US" b="1" dirty="0">
                  <a:highlight>
                    <a:srgbClr val="F19DA9"/>
                  </a:highlight>
                  <a:latin typeface="+mn-lt"/>
                </a:rPr>
                <a:t>Data Latches</a:t>
              </a:r>
            </a:p>
          </p:txBody>
        </p:sp>
      </p:grpSp>
      <p:sp>
        <p:nvSpPr>
          <p:cNvPr id="11" name="Oval 10">
            <a:extLst>
              <a:ext uri="{FF2B5EF4-FFF2-40B4-BE49-F238E27FC236}">
                <a16:creationId xmlns:a16="http://schemas.microsoft.com/office/drawing/2014/main" id="{4BE5A78A-243A-D66F-B731-8F1E27C7806C}"/>
              </a:ext>
            </a:extLst>
          </p:cNvPr>
          <p:cNvSpPr/>
          <p:nvPr/>
        </p:nvSpPr>
        <p:spPr bwMode="auto">
          <a:xfrm>
            <a:off x="11319205" y="3874769"/>
            <a:ext cx="173254" cy="173254"/>
          </a:xfrm>
          <a:prstGeom prst="ellipse">
            <a:avLst/>
          </a:prstGeom>
          <a:solidFill>
            <a:schemeClr val="tx1"/>
          </a:solidFill>
          <a:ln w="12700" cap="sq" algn="ctr">
            <a:solidFill>
              <a:schemeClr val="tx1"/>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12" name="Oval 11">
            <a:extLst>
              <a:ext uri="{FF2B5EF4-FFF2-40B4-BE49-F238E27FC236}">
                <a16:creationId xmlns:a16="http://schemas.microsoft.com/office/drawing/2014/main" id="{95882FE5-18DE-9DDE-6944-0080C52A25D8}"/>
              </a:ext>
            </a:extLst>
          </p:cNvPr>
          <p:cNvSpPr/>
          <p:nvPr/>
        </p:nvSpPr>
        <p:spPr bwMode="auto">
          <a:xfrm>
            <a:off x="10686473" y="3874769"/>
            <a:ext cx="173254" cy="173254"/>
          </a:xfrm>
          <a:prstGeom prst="ellipse">
            <a:avLst/>
          </a:prstGeom>
          <a:solidFill>
            <a:schemeClr val="tx1"/>
          </a:solidFill>
          <a:ln w="12700" cap="sq" algn="ctr">
            <a:solidFill>
              <a:schemeClr val="tx1"/>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13" name="Oval 12">
            <a:extLst>
              <a:ext uri="{FF2B5EF4-FFF2-40B4-BE49-F238E27FC236}">
                <a16:creationId xmlns:a16="http://schemas.microsoft.com/office/drawing/2014/main" id="{9293201F-FA66-7506-8A84-3894AB63AC06}"/>
              </a:ext>
            </a:extLst>
          </p:cNvPr>
          <p:cNvSpPr/>
          <p:nvPr/>
        </p:nvSpPr>
        <p:spPr bwMode="auto">
          <a:xfrm>
            <a:off x="10053741" y="3874769"/>
            <a:ext cx="173254" cy="173254"/>
          </a:xfrm>
          <a:prstGeom prst="ellipse">
            <a:avLst/>
          </a:prstGeom>
          <a:solidFill>
            <a:schemeClr val="tx1"/>
          </a:solidFill>
          <a:ln w="12700" cap="sq" algn="ctr">
            <a:solidFill>
              <a:schemeClr val="tx1"/>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14" name="TextBox 13">
            <a:extLst>
              <a:ext uri="{FF2B5EF4-FFF2-40B4-BE49-F238E27FC236}">
                <a16:creationId xmlns:a16="http://schemas.microsoft.com/office/drawing/2014/main" id="{D6885A4F-4AD2-FBE5-52FF-64D6323A89FB}"/>
              </a:ext>
            </a:extLst>
          </p:cNvPr>
          <p:cNvSpPr txBox="1"/>
          <p:nvPr/>
        </p:nvSpPr>
        <p:spPr>
          <a:xfrm>
            <a:off x="236306" y="6287784"/>
            <a:ext cx="544530" cy="380144"/>
          </a:xfrm>
          <a:prstGeom prst="rect">
            <a:avLst/>
          </a:prstGeom>
          <a:noFill/>
        </p:spPr>
        <p:txBody>
          <a:bodyPr wrap="square" rtlCol="0">
            <a:noAutofit/>
          </a:bodyPr>
          <a:lstStyle/>
          <a:p>
            <a:pPr algn="ctr"/>
            <a:r>
              <a:rPr lang="en-US" sz="1600" dirty="0"/>
              <a:t>12</a:t>
            </a:r>
          </a:p>
        </p:txBody>
      </p:sp>
    </p:spTree>
    <p:extLst>
      <p:ext uri="{BB962C8B-B14F-4D97-AF65-F5344CB8AC3E}">
        <p14:creationId xmlns:p14="http://schemas.microsoft.com/office/powerpoint/2010/main" val="34152145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DF519-9194-23BF-C3D5-AD715C6055F4}"/>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C5C8B00E-B8B7-5177-8AB4-82498325E2CC}"/>
              </a:ext>
            </a:extLst>
          </p:cNvPr>
          <p:cNvPicPr>
            <a:picLocks noChangeAspect="1"/>
          </p:cNvPicPr>
          <p:nvPr/>
        </p:nvPicPr>
        <p:blipFill>
          <a:blip r:embed="rId3">
            <a:extLst>
              <a:ext uri="{28A0092B-C50C-407E-A947-70E740481C1C}">
                <a14:useLocalDpi xmlns:a14="http://schemas.microsoft.com/office/drawing/2010/main" val="0"/>
              </a:ext>
            </a:extLst>
          </a:blip>
          <a:srcRect r="9975"/>
          <a:stretch>
            <a:fillRect/>
          </a:stretch>
        </p:blipFill>
        <p:spPr>
          <a:xfrm rot="16200000">
            <a:off x="3474206" y="284414"/>
            <a:ext cx="5243588" cy="7372240"/>
          </a:xfrm>
          <a:prstGeom prst="rect">
            <a:avLst/>
          </a:prstGeom>
        </p:spPr>
      </p:pic>
      <p:sp>
        <p:nvSpPr>
          <p:cNvPr id="2" name="Title 1">
            <a:extLst>
              <a:ext uri="{FF2B5EF4-FFF2-40B4-BE49-F238E27FC236}">
                <a16:creationId xmlns:a16="http://schemas.microsoft.com/office/drawing/2014/main" id="{2FC6D59C-9765-F44D-090D-40AF79A0BC24}"/>
              </a:ext>
            </a:extLst>
          </p:cNvPr>
          <p:cNvSpPr>
            <a:spLocks noGrp="1"/>
          </p:cNvSpPr>
          <p:nvPr>
            <p:ph type="title"/>
          </p:nvPr>
        </p:nvSpPr>
        <p:spPr>
          <a:xfrm>
            <a:off x="609600" y="363090"/>
            <a:ext cx="10972800" cy="800100"/>
          </a:xfrm>
        </p:spPr>
        <p:txBody>
          <a:bodyPr anchor="b">
            <a:normAutofit/>
          </a:bodyPr>
          <a:lstStyle/>
          <a:p>
            <a:r>
              <a:rPr lang="en-US" dirty="0"/>
              <a:t>FADC Layout</a:t>
            </a:r>
          </a:p>
        </p:txBody>
      </p:sp>
      <p:sp>
        <p:nvSpPr>
          <p:cNvPr id="6" name="Rectangle 5">
            <a:extLst>
              <a:ext uri="{FF2B5EF4-FFF2-40B4-BE49-F238E27FC236}">
                <a16:creationId xmlns:a16="http://schemas.microsoft.com/office/drawing/2014/main" id="{4DA3AE17-5091-C1F6-1821-ECA5FB8F58C5}"/>
              </a:ext>
            </a:extLst>
          </p:cNvPr>
          <p:cNvSpPr/>
          <p:nvPr/>
        </p:nvSpPr>
        <p:spPr bwMode="auto">
          <a:xfrm>
            <a:off x="2225522" y="5509260"/>
            <a:ext cx="4301881" cy="1046471"/>
          </a:xfrm>
          <a:prstGeom prst="rect">
            <a:avLst/>
          </a:prstGeom>
          <a:solidFill>
            <a:srgbClr val="AB192D">
              <a:alpha val="9020"/>
            </a:srgbClr>
          </a:solidFill>
          <a:ln w="57150" cap="sq" algn="ctr">
            <a:solidFill>
              <a:schemeClr val="tx1"/>
            </a:solidFill>
            <a:miter lim="800000"/>
            <a:headEnd/>
            <a:tailEnd/>
          </a:ln>
          <a:effectLst/>
        </p:spPr>
        <p:txBody>
          <a:bodyPr wrap="none" rtlCol="0" anchor="ctr"/>
          <a:lstStyle/>
          <a:p>
            <a:pPr algn="ctr"/>
            <a:r>
              <a:rPr lang="en-US" sz="2400" b="1" dirty="0">
                <a:highlight>
                  <a:srgbClr val="F19DA9"/>
                </a:highlight>
              </a:rPr>
              <a:t>RESISTOR NETWORK</a:t>
            </a:r>
          </a:p>
        </p:txBody>
      </p:sp>
      <p:sp>
        <p:nvSpPr>
          <p:cNvPr id="10" name="Rectangle 9">
            <a:extLst>
              <a:ext uri="{FF2B5EF4-FFF2-40B4-BE49-F238E27FC236}">
                <a16:creationId xmlns:a16="http://schemas.microsoft.com/office/drawing/2014/main" id="{23939675-EB77-DE1B-6B6C-AC32693825FA}"/>
              </a:ext>
            </a:extLst>
          </p:cNvPr>
          <p:cNvSpPr/>
          <p:nvPr/>
        </p:nvSpPr>
        <p:spPr bwMode="auto">
          <a:xfrm>
            <a:off x="2225524" y="2618072"/>
            <a:ext cx="4301880" cy="1021904"/>
          </a:xfrm>
          <a:prstGeom prst="rect">
            <a:avLst/>
          </a:prstGeom>
          <a:solidFill>
            <a:srgbClr val="AB192D">
              <a:alpha val="9020"/>
            </a:srgbClr>
          </a:solidFill>
          <a:ln w="57150" cap="sq" algn="ctr">
            <a:solidFill>
              <a:schemeClr val="tx1"/>
            </a:solidFill>
            <a:miter lim="800000"/>
            <a:headEnd/>
            <a:tailEnd/>
          </a:ln>
          <a:effectLst/>
        </p:spPr>
        <p:txBody>
          <a:bodyPr wrap="none" rtlCol="0" anchor="ctr"/>
          <a:lstStyle/>
          <a:p>
            <a:pPr algn="ctr"/>
            <a:r>
              <a:rPr lang="en-US" sz="2400" b="1" dirty="0">
                <a:highlight>
                  <a:srgbClr val="F19DA9"/>
                </a:highlight>
                <a:latin typeface="+mn-lt"/>
              </a:rPr>
              <a:t>ROM ENCODER</a:t>
            </a:r>
          </a:p>
        </p:txBody>
      </p:sp>
      <p:sp>
        <p:nvSpPr>
          <p:cNvPr id="11" name="Rectangle 10">
            <a:extLst>
              <a:ext uri="{FF2B5EF4-FFF2-40B4-BE49-F238E27FC236}">
                <a16:creationId xmlns:a16="http://schemas.microsoft.com/office/drawing/2014/main" id="{60D088E6-1F60-68D9-1B1C-173ACDD4641D}"/>
              </a:ext>
            </a:extLst>
          </p:cNvPr>
          <p:cNvSpPr/>
          <p:nvPr/>
        </p:nvSpPr>
        <p:spPr bwMode="auto">
          <a:xfrm>
            <a:off x="6769413" y="3311092"/>
            <a:ext cx="3012707" cy="2358184"/>
          </a:xfrm>
          <a:prstGeom prst="rect">
            <a:avLst/>
          </a:prstGeom>
          <a:solidFill>
            <a:srgbClr val="AB192D">
              <a:alpha val="9020"/>
            </a:srgbClr>
          </a:solidFill>
          <a:ln w="57150" cap="sq" algn="ctr">
            <a:solidFill>
              <a:schemeClr val="tx1"/>
            </a:solidFill>
            <a:miter lim="800000"/>
            <a:headEnd/>
            <a:tailEnd/>
          </a:ln>
          <a:effectLst/>
        </p:spPr>
        <p:txBody>
          <a:bodyPr wrap="none" rtlCol="0" anchor="ctr"/>
          <a:lstStyle/>
          <a:p>
            <a:pPr algn="ctr"/>
            <a:r>
              <a:rPr lang="en-US" sz="3200" b="1" dirty="0">
                <a:highlight>
                  <a:srgbClr val="F19DA9"/>
                </a:highlight>
              </a:rPr>
              <a:t>S/H OPAMP</a:t>
            </a:r>
          </a:p>
        </p:txBody>
      </p:sp>
      <p:sp>
        <p:nvSpPr>
          <p:cNvPr id="12" name="Rectangle 11">
            <a:extLst>
              <a:ext uri="{FF2B5EF4-FFF2-40B4-BE49-F238E27FC236}">
                <a16:creationId xmlns:a16="http://schemas.microsoft.com/office/drawing/2014/main" id="{E17B9F25-13A4-A979-E753-C80DF6F2012D}"/>
              </a:ext>
            </a:extLst>
          </p:cNvPr>
          <p:cNvSpPr/>
          <p:nvPr/>
        </p:nvSpPr>
        <p:spPr bwMode="auto">
          <a:xfrm>
            <a:off x="6769412" y="1946451"/>
            <a:ext cx="3012708" cy="1364641"/>
          </a:xfrm>
          <a:prstGeom prst="rect">
            <a:avLst/>
          </a:prstGeom>
          <a:solidFill>
            <a:srgbClr val="AB192D">
              <a:alpha val="9020"/>
            </a:srgbClr>
          </a:solidFill>
          <a:ln w="57150" cap="sq" algn="ctr">
            <a:solidFill>
              <a:schemeClr val="tx1"/>
            </a:solidFill>
            <a:miter lim="800000"/>
            <a:headEnd/>
            <a:tailEnd/>
          </a:ln>
          <a:effectLst/>
        </p:spPr>
        <p:txBody>
          <a:bodyPr wrap="none" rtlCol="0" anchor="ctr"/>
          <a:lstStyle/>
          <a:p>
            <a:pPr algn="ctr"/>
            <a:r>
              <a:rPr lang="en-US" sz="1600" b="1" dirty="0">
                <a:highlight>
                  <a:srgbClr val="F19DA9"/>
                </a:highlight>
              </a:rPr>
              <a:t>S/H CURRENT BIAS</a:t>
            </a:r>
          </a:p>
        </p:txBody>
      </p:sp>
      <p:sp>
        <p:nvSpPr>
          <p:cNvPr id="13" name="Rectangle 12">
            <a:extLst>
              <a:ext uri="{FF2B5EF4-FFF2-40B4-BE49-F238E27FC236}">
                <a16:creationId xmlns:a16="http://schemas.microsoft.com/office/drawing/2014/main" id="{287A3F26-FDF7-CB32-1073-686F406633B6}"/>
              </a:ext>
            </a:extLst>
          </p:cNvPr>
          <p:cNvSpPr/>
          <p:nvPr/>
        </p:nvSpPr>
        <p:spPr bwMode="auto">
          <a:xfrm>
            <a:off x="2225524" y="3676575"/>
            <a:ext cx="4301880" cy="387860"/>
          </a:xfrm>
          <a:prstGeom prst="rect">
            <a:avLst/>
          </a:prstGeom>
          <a:solidFill>
            <a:srgbClr val="AB192D">
              <a:alpha val="9020"/>
            </a:srgbClr>
          </a:solidFill>
          <a:ln w="57150" cap="sq" algn="ctr">
            <a:solidFill>
              <a:schemeClr val="tx1"/>
            </a:solidFill>
            <a:miter lim="800000"/>
            <a:headEnd/>
            <a:tailEnd/>
          </a:ln>
          <a:effectLst/>
        </p:spPr>
        <p:txBody>
          <a:bodyPr wrap="none" rtlCol="0" anchor="ctr"/>
          <a:lstStyle/>
          <a:p>
            <a:pPr algn="ctr"/>
            <a:r>
              <a:rPr lang="en-US" sz="1100" b="1" dirty="0">
                <a:highlight>
                  <a:srgbClr val="F19DA9"/>
                </a:highlight>
                <a:latin typeface="+mn-lt"/>
              </a:rPr>
              <a:t>Thermometer to One Hot Encoder</a:t>
            </a:r>
          </a:p>
        </p:txBody>
      </p:sp>
      <p:sp>
        <p:nvSpPr>
          <p:cNvPr id="14" name="Rectangle 13">
            <a:extLst>
              <a:ext uri="{FF2B5EF4-FFF2-40B4-BE49-F238E27FC236}">
                <a16:creationId xmlns:a16="http://schemas.microsoft.com/office/drawing/2014/main" id="{F133F021-34A5-BE6E-42E4-7D9657982AEF}"/>
              </a:ext>
            </a:extLst>
          </p:cNvPr>
          <p:cNvSpPr/>
          <p:nvPr/>
        </p:nvSpPr>
        <p:spPr bwMode="auto">
          <a:xfrm>
            <a:off x="2225524" y="4064435"/>
            <a:ext cx="4301880" cy="1408227"/>
          </a:xfrm>
          <a:prstGeom prst="rect">
            <a:avLst/>
          </a:prstGeom>
          <a:solidFill>
            <a:srgbClr val="AB192D">
              <a:alpha val="9020"/>
            </a:srgbClr>
          </a:solidFill>
          <a:ln w="57150" cap="sq" algn="ctr">
            <a:solidFill>
              <a:schemeClr val="tx1"/>
            </a:solidFill>
            <a:miter lim="800000"/>
            <a:headEnd/>
            <a:tailEnd/>
          </a:ln>
          <a:effectLst/>
        </p:spPr>
        <p:txBody>
          <a:bodyPr wrap="none" rtlCol="0" anchor="ctr"/>
          <a:lstStyle/>
          <a:p>
            <a:pPr algn="ctr"/>
            <a:r>
              <a:rPr lang="en-US" sz="2400" b="1" dirty="0">
                <a:highlight>
                  <a:srgbClr val="F19DA9"/>
                </a:highlight>
              </a:rPr>
              <a:t>Comparator Ladder</a:t>
            </a:r>
          </a:p>
        </p:txBody>
      </p:sp>
      <p:sp>
        <p:nvSpPr>
          <p:cNvPr id="15" name="Rectangle 14">
            <a:extLst>
              <a:ext uri="{FF2B5EF4-FFF2-40B4-BE49-F238E27FC236}">
                <a16:creationId xmlns:a16="http://schemas.microsoft.com/office/drawing/2014/main" id="{5394DA32-42CA-C124-2543-78A3BEA28F95}"/>
              </a:ext>
            </a:extLst>
          </p:cNvPr>
          <p:cNvSpPr/>
          <p:nvPr/>
        </p:nvSpPr>
        <p:spPr bwMode="auto">
          <a:xfrm>
            <a:off x="4911726" y="1385338"/>
            <a:ext cx="1615678" cy="1222677"/>
          </a:xfrm>
          <a:prstGeom prst="rect">
            <a:avLst/>
          </a:prstGeom>
          <a:solidFill>
            <a:srgbClr val="AB192D">
              <a:alpha val="9020"/>
            </a:srgbClr>
          </a:solidFill>
          <a:ln w="57150" cap="sq" algn="ctr">
            <a:solidFill>
              <a:schemeClr val="tx1"/>
            </a:solidFill>
            <a:miter lim="800000"/>
            <a:headEnd/>
            <a:tailEnd/>
          </a:ln>
          <a:effectLst/>
        </p:spPr>
        <p:txBody>
          <a:bodyPr wrap="none" rtlCol="0" anchor="ctr"/>
          <a:lstStyle/>
          <a:p>
            <a:pPr algn="ctr"/>
            <a:r>
              <a:rPr lang="en-US" sz="1600" b="1" dirty="0">
                <a:highlight>
                  <a:srgbClr val="F19DA9"/>
                </a:highlight>
              </a:rPr>
              <a:t>FADC </a:t>
            </a:r>
          </a:p>
          <a:p>
            <a:pPr algn="ctr"/>
            <a:r>
              <a:rPr lang="en-US" sz="1600" b="1" dirty="0">
                <a:highlight>
                  <a:srgbClr val="F19DA9"/>
                </a:highlight>
              </a:rPr>
              <a:t>Scan-chain</a:t>
            </a:r>
          </a:p>
        </p:txBody>
      </p:sp>
      <p:sp>
        <p:nvSpPr>
          <p:cNvPr id="16" name="Rectangle 15">
            <a:extLst>
              <a:ext uri="{FF2B5EF4-FFF2-40B4-BE49-F238E27FC236}">
                <a16:creationId xmlns:a16="http://schemas.microsoft.com/office/drawing/2014/main" id="{03366551-CA94-F39C-E29E-206F217EACD8}"/>
              </a:ext>
            </a:extLst>
          </p:cNvPr>
          <p:cNvSpPr/>
          <p:nvPr/>
        </p:nvSpPr>
        <p:spPr bwMode="auto">
          <a:xfrm>
            <a:off x="2225522" y="1385338"/>
            <a:ext cx="2686204" cy="1222677"/>
          </a:xfrm>
          <a:prstGeom prst="rect">
            <a:avLst/>
          </a:prstGeom>
          <a:solidFill>
            <a:srgbClr val="AB192D">
              <a:alpha val="9020"/>
            </a:srgbClr>
          </a:solidFill>
          <a:ln w="57150" cap="sq" algn="ctr">
            <a:solidFill>
              <a:schemeClr val="tx1"/>
            </a:solidFill>
            <a:miter lim="800000"/>
            <a:headEnd/>
            <a:tailEnd/>
          </a:ln>
          <a:effectLst/>
        </p:spPr>
        <p:txBody>
          <a:bodyPr wrap="none" rtlCol="0" anchor="ctr"/>
          <a:lstStyle/>
          <a:p>
            <a:pPr algn="ctr"/>
            <a:r>
              <a:rPr lang="en-US" sz="1600" b="1" dirty="0">
                <a:highlight>
                  <a:srgbClr val="F19DA9"/>
                </a:highlight>
              </a:rPr>
              <a:t>FADC Current Bias</a:t>
            </a:r>
          </a:p>
        </p:txBody>
      </p:sp>
      <p:sp>
        <p:nvSpPr>
          <p:cNvPr id="17" name="Rectangle 16">
            <a:extLst>
              <a:ext uri="{FF2B5EF4-FFF2-40B4-BE49-F238E27FC236}">
                <a16:creationId xmlns:a16="http://schemas.microsoft.com/office/drawing/2014/main" id="{BD9F359A-F5E0-2A89-3230-B31BB3594721}"/>
              </a:ext>
            </a:extLst>
          </p:cNvPr>
          <p:cNvSpPr/>
          <p:nvPr/>
        </p:nvSpPr>
        <p:spPr bwMode="auto">
          <a:xfrm>
            <a:off x="6769412" y="1385338"/>
            <a:ext cx="3012708" cy="561113"/>
          </a:xfrm>
          <a:prstGeom prst="rect">
            <a:avLst/>
          </a:prstGeom>
          <a:solidFill>
            <a:srgbClr val="AB192D">
              <a:alpha val="9020"/>
            </a:srgbClr>
          </a:solidFill>
          <a:ln w="57150" cap="sq" algn="ctr">
            <a:solidFill>
              <a:schemeClr val="tx1"/>
            </a:solidFill>
            <a:miter lim="800000"/>
            <a:headEnd/>
            <a:tailEnd/>
          </a:ln>
          <a:effectLst/>
        </p:spPr>
        <p:txBody>
          <a:bodyPr wrap="none" rtlCol="0" anchor="ctr"/>
          <a:lstStyle/>
          <a:p>
            <a:pPr algn="ctr"/>
            <a:r>
              <a:rPr lang="en-US" sz="1600" b="1" dirty="0">
                <a:highlight>
                  <a:srgbClr val="F19DA9"/>
                </a:highlight>
              </a:rPr>
              <a:t>FADC </a:t>
            </a:r>
          </a:p>
          <a:p>
            <a:pPr algn="ctr"/>
            <a:r>
              <a:rPr lang="en-US" sz="1600" b="1" dirty="0">
                <a:highlight>
                  <a:srgbClr val="F19DA9"/>
                </a:highlight>
              </a:rPr>
              <a:t>Scan-chain</a:t>
            </a:r>
          </a:p>
        </p:txBody>
      </p:sp>
      <p:sp>
        <p:nvSpPr>
          <p:cNvPr id="23" name="Oval 22">
            <a:extLst>
              <a:ext uri="{FF2B5EF4-FFF2-40B4-BE49-F238E27FC236}">
                <a16:creationId xmlns:a16="http://schemas.microsoft.com/office/drawing/2014/main" id="{2EBF510A-7A54-9888-9DBD-DFC5E34AA230}"/>
              </a:ext>
            </a:extLst>
          </p:cNvPr>
          <p:cNvSpPr/>
          <p:nvPr/>
        </p:nvSpPr>
        <p:spPr bwMode="auto">
          <a:xfrm>
            <a:off x="1678181" y="3874769"/>
            <a:ext cx="173254" cy="173254"/>
          </a:xfrm>
          <a:prstGeom prst="ellipse">
            <a:avLst/>
          </a:prstGeom>
          <a:solidFill>
            <a:schemeClr val="tx1"/>
          </a:solidFill>
          <a:ln w="12700" cap="sq" algn="ctr">
            <a:solidFill>
              <a:schemeClr val="tx1"/>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24" name="Oval 23">
            <a:extLst>
              <a:ext uri="{FF2B5EF4-FFF2-40B4-BE49-F238E27FC236}">
                <a16:creationId xmlns:a16="http://schemas.microsoft.com/office/drawing/2014/main" id="{5DD61F42-72C5-5F30-437C-C3C1426BD3FA}"/>
              </a:ext>
            </a:extLst>
          </p:cNvPr>
          <p:cNvSpPr/>
          <p:nvPr/>
        </p:nvSpPr>
        <p:spPr bwMode="auto">
          <a:xfrm>
            <a:off x="1045449" y="3874769"/>
            <a:ext cx="173254" cy="173254"/>
          </a:xfrm>
          <a:prstGeom prst="ellipse">
            <a:avLst/>
          </a:prstGeom>
          <a:solidFill>
            <a:schemeClr val="tx1"/>
          </a:solidFill>
          <a:ln w="12700" cap="sq" algn="ctr">
            <a:solidFill>
              <a:schemeClr val="tx1"/>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25" name="Oval 24">
            <a:extLst>
              <a:ext uri="{FF2B5EF4-FFF2-40B4-BE49-F238E27FC236}">
                <a16:creationId xmlns:a16="http://schemas.microsoft.com/office/drawing/2014/main" id="{A365A035-9900-AF74-E5B8-81A30800D6EE}"/>
              </a:ext>
            </a:extLst>
          </p:cNvPr>
          <p:cNvSpPr/>
          <p:nvPr/>
        </p:nvSpPr>
        <p:spPr bwMode="auto">
          <a:xfrm>
            <a:off x="412717" y="3874769"/>
            <a:ext cx="173254" cy="173254"/>
          </a:xfrm>
          <a:prstGeom prst="ellipse">
            <a:avLst/>
          </a:prstGeom>
          <a:solidFill>
            <a:schemeClr val="tx1"/>
          </a:solidFill>
          <a:ln w="12700" cap="sq" algn="ctr">
            <a:solidFill>
              <a:schemeClr val="tx1"/>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26" name="TextBox 25">
            <a:extLst>
              <a:ext uri="{FF2B5EF4-FFF2-40B4-BE49-F238E27FC236}">
                <a16:creationId xmlns:a16="http://schemas.microsoft.com/office/drawing/2014/main" id="{F7CD2E1A-1ADB-5125-DD07-12C37CB9A1F3}"/>
              </a:ext>
            </a:extLst>
          </p:cNvPr>
          <p:cNvSpPr txBox="1"/>
          <p:nvPr/>
        </p:nvSpPr>
        <p:spPr>
          <a:xfrm>
            <a:off x="236306" y="6287784"/>
            <a:ext cx="544530" cy="380144"/>
          </a:xfrm>
          <a:prstGeom prst="rect">
            <a:avLst/>
          </a:prstGeom>
          <a:noFill/>
        </p:spPr>
        <p:txBody>
          <a:bodyPr wrap="square" rtlCol="0">
            <a:noAutofit/>
          </a:bodyPr>
          <a:lstStyle/>
          <a:p>
            <a:pPr algn="ctr"/>
            <a:r>
              <a:rPr lang="en-US" sz="1600" dirty="0"/>
              <a:t>13</a:t>
            </a:r>
          </a:p>
        </p:txBody>
      </p:sp>
    </p:spTree>
    <p:extLst>
      <p:ext uri="{BB962C8B-B14F-4D97-AF65-F5344CB8AC3E}">
        <p14:creationId xmlns:p14="http://schemas.microsoft.com/office/powerpoint/2010/main" val="3461642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24862-2E93-DB1E-7B0E-391E1C51B4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34D867-35F8-88F9-DAF6-FA78792775F5}"/>
              </a:ext>
            </a:extLst>
          </p:cNvPr>
          <p:cNvSpPr>
            <a:spLocks noGrp="1"/>
          </p:cNvSpPr>
          <p:nvPr>
            <p:ph type="ctrTitle"/>
          </p:nvPr>
        </p:nvSpPr>
        <p:spPr/>
        <p:txBody>
          <a:bodyPr/>
          <a:lstStyle/>
          <a:p>
            <a:r>
              <a:rPr lang="en-US" dirty="0"/>
              <a:t>Test Methods</a:t>
            </a:r>
          </a:p>
        </p:txBody>
      </p:sp>
      <p:sp>
        <p:nvSpPr>
          <p:cNvPr id="6" name="TextBox 5">
            <a:extLst>
              <a:ext uri="{FF2B5EF4-FFF2-40B4-BE49-F238E27FC236}">
                <a16:creationId xmlns:a16="http://schemas.microsoft.com/office/drawing/2014/main" id="{C1686892-0E2D-A540-CDAA-FA3B321B1F4D}"/>
              </a:ext>
            </a:extLst>
          </p:cNvPr>
          <p:cNvSpPr txBox="1"/>
          <p:nvPr/>
        </p:nvSpPr>
        <p:spPr>
          <a:xfrm>
            <a:off x="3901440" y="5953760"/>
            <a:ext cx="0" cy="0"/>
          </a:xfrm>
          <a:prstGeom prst="rect">
            <a:avLst/>
          </a:prstGeom>
          <a:noFill/>
        </p:spPr>
        <p:txBody>
          <a:bodyPr wrap="none" rtlCol="0">
            <a:noAutofit/>
          </a:bodyPr>
          <a:lstStyle/>
          <a:p>
            <a:pPr algn="ctr"/>
            <a:endParaRPr lang="en-US" sz="1600" dirty="0" err="1"/>
          </a:p>
        </p:txBody>
      </p:sp>
      <p:sp>
        <p:nvSpPr>
          <p:cNvPr id="5" name="Subtitle 4">
            <a:extLst>
              <a:ext uri="{FF2B5EF4-FFF2-40B4-BE49-F238E27FC236}">
                <a16:creationId xmlns:a16="http://schemas.microsoft.com/office/drawing/2014/main" id="{F73C86D6-F466-90DC-A300-8B7CD538963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09361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985B3-81AB-45D3-1E25-1239808C7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FF7142-3216-32C1-CCCA-65C0F25D8A93}"/>
              </a:ext>
            </a:extLst>
          </p:cNvPr>
          <p:cNvSpPr>
            <a:spLocks noGrp="1"/>
          </p:cNvSpPr>
          <p:nvPr>
            <p:ph type="title"/>
          </p:nvPr>
        </p:nvSpPr>
        <p:spPr>
          <a:xfrm>
            <a:off x="609600" y="363090"/>
            <a:ext cx="10972800" cy="800100"/>
          </a:xfrm>
        </p:spPr>
        <p:txBody>
          <a:bodyPr anchor="b">
            <a:normAutofit/>
          </a:bodyPr>
          <a:lstStyle/>
          <a:p>
            <a:r>
              <a:rPr lang="en-US" dirty="0"/>
              <a:t>Test Setup</a:t>
            </a:r>
          </a:p>
        </p:txBody>
      </p:sp>
      <p:pic>
        <p:nvPicPr>
          <p:cNvPr id="7" name="Picture 6">
            <a:extLst>
              <a:ext uri="{FF2B5EF4-FFF2-40B4-BE49-F238E27FC236}">
                <a16:creationId xmlns:a16="http://schemas.microsoft.com/office/drawing/2014/main" id="{90F9A21B-BA1B-A11A-AD28-DC8F29D4CC64}"/>
              </a:ext>
            </a:extLst>
          </p:cNvPr>
          <p:cNvPicPr>
            <a:picLocks noChangeAspect="1"/>
          </p:cNvPicPr>
          <p:nvPr/>
        </p:nvPicPr>
        <p:blipFill>
          <a:blip r:embed="rId3" cstate="print">
            <a:extLst>
              <a:ext uri="{28A0092B-C50C-407E-A947-70E740481C1C}">
                <a14:useLocalDpi xmlns:a14="http://schemas.microsoft.com/office/drawing/2010/main" val="0"/>
              </a:ext>
            </a:extLst>
          </a:blip>
          <a:srcRect l="1521" r="10343"/>
          <a:stretch>
            <a:fillRect/>
          </a:stretch>
        </p:blipFill>
        <p:spPr>
          <a:xfrm>
            <a:off x="609600" y="1527057"/>
            <a:ext cx="5283200" cy="4495782"/>
          </a:xfrm>
          <a:prstGeom prst="rect">
            <a:avLst/>
          </a:prstGeom>
          <a:noFill/>
        </p:spPr>
      </p:pic>
      <p:pic>
        <p:nvPicPr>
          <p:cNvPr id="8" name="Graphic 7">
            <a:extLst>
              <a:ext uri="{FF2B5EF4-FFF2-40B4-BE49-F238E27FC236}">
                <a16:creationId xmlns:a16="http://schemas.microsoft.com/office/drawing/2014/main" id="{C1D782F9-2D02-EE3B-5E98-412A728AAB5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99202" y="2489252"/>
            <a:ext cx="5283200" cy="2571391"/>
          </a:xfrm>
          <a:prstGeom prst="rect">
            <a:avLst/>
          </a:prstGeom>
        </p:spPr>
      </p:pic>
      <p:sp>
        <p:nvSpPr>
          <p:cNvPr id="9" name="TextBox 8">
            <a:extLst>
              <a:ext uri="{FF2B5EF4-FFF2-40B4-BE49-F238E27FC236}">
                <a16:creationId xmlns:a16="http://schemas.microsoft.com/office/drawing/2014/main" id="{D558F5F7-FAB0-4AC2-F5FD-9E7D6DF36A73}"/>
              </a:ext>
            </a:extLst>
          </p:cNvPr>
          <p:cNvSpPr txBox="1"/>
          <p:nvPr/>
        </p:nvSpPr>
        <p:spPr>
          <a:xfrm>
            <a:off x="236306" y="6287784"/>
            <a:ext cx="544530" cy="380144"/>
          </a:xfrm>
          <a:prstGeom prst="rect">
            <a:avLst/>
          </a:prstGeom>
          <a:noFill/>
        </p:spPr>
        <p:txBody>
          <a:bodyPr wrap="square" rtlCol="0">
            <a:noAutofit/>
          </a:bodyPr>
          <a:lstStyle/>
          <a:p>
            <a:pPr algn="ctr"/>
            <a:r>
              <a:rPr lang="en-US" sz="1600" dirty="0"/>
              <a:t>14</a:t>
            </a:r>
          </a:p>
        </p:txBody>
      </p:sp>
    </p:spTree>
    <p:extLst>
      <p:ext uri="{BB962C8B-B14F-4D97-AF65-F5344CB8AC3E}">
        <p14:creationId xmlns:p14="http://schemas.microsoft.com/office/powerpoint/2010/main" val="52536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F262E-D8D0-1090-D136-3B79355688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7079AE-35B0-FA85-E088-CB1717F41916}"/>
              </a:ext>
            </a:extLst>
          </p:cNvPr>
          <p:cNvSpPr>
            <a:spLocks noGrp="1"/>
          </p:cNvSpPr>
          <p:nvPr>
            <p:ph type="title"/>
          </p:nvPr>
        </p:nvSpPr>
        <p:spPr>
          <a:xfrm>
            <a:off x="609600" y="363090"/>
            <a:ext cx="10972800" cy="800100"/>
          </a:xfrm>
        </p:spPr>
        <p:txBody>
          <a:bodyPr anchor="b">
            <a:normAutofit/>
          </a:bodyPr>
          <a:lstStyle/>
          <a:p>
            <a:r>
              <a:rPr lang="en-US" dirty="0"/>
              <a:t>Coherent Sampling Setup</a:t>
            </a:r>
          </a:p>
        </p:txBody>
      </p:sp>
      <p:grpSp>
        <p:nvGrpSpPr>
          <p:cNvPr id="14" name="Group 13">
            <a:extLst>
              <a:ext uri="{FF2B5EF4-FFF2-40B4-BE49-F238E27FC236}">
                <a16:creationId xmlns:a16="http://schemas.microsoft.com/office/drawing/2014/main" id="{237E6C6F-1951-5115-40AA-07D37BB0AC5F}"/>
              </a:ext>
            </a:extLst>
          </p:cNvPr>
          <p:cNvGrpSpPr/>
          <p:nvPr/>
        </p:nvGrpSpPr>
        <p:grpSpPr>
          <a:xfrm>
            <a:off x="-4408471" y="2528888"/>
            <a:ext cx="20589744" cy="1800224"/>
            <a:chOff x="-4408471" y="2743201"/>
            <a:chExt cx="20589744" cy="1800224"/>
          </a:xfrm>
        </p:grpSpPr>
        <p:grpSp>
          <p:nvGrpSpPr>
            <p:cNvPr id="6" name="Group 5">
              <a:extLst>
                <a:ext uri="{FF2B5EF4-FFF2-40B4-BE49-F238E27FC236}">
                  <a16:creationId xmlns:a16="http://schemas.microsoft.com/office/drawing/2014/main" id="{24FA214A-E553-9DEC-D1C0-8AC80E0156B7}"/>
                </a:ext>
              </a:extLst>
            </p:cNvPr>
            <p:cNvGrpSpPr/>
            <p:nvPr/>
          </p:nvGrpSpPr>
          <p:grpSpPr>
            <a:xfrm>
              <a:off x="2449529" y="2743201"/>
              <a:ext cx="6868828" cy="1800224"/>
              <a:chOff x="2449529" y="2743201"/>
              <a:chExt cx="6868828" cy="1800224"/>
            </a:xfrm>
          </p:grpSpPr>
          <p:pic>
            <p:nvPicPr>
              <p:cNvPr id="25" name="Graphic 24">
                <a:extLst>
                  <a:ext uri="{FF2B5EF4-FFF2-40B4-BE49-F238E27FC236}">
                    <a16:creationId xmlns:a16="http://schemas.microsoft.com/office/drawing/2014/main" id="{B48F07A9-DCD6-77A7-961A-87AF748086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49529" y="2857500"/>
                <a:ext cx="1722922" cy="1560398"/>
              </a:xfrm>
              <a:prstGeom prst="rect">
                <a:avLst/>
              </a:prstGeom>
            </p:spPr>
          </p:pic>
          <p:pic>
            <p:nvPicPr>
              <p:cNvPr id="26" name="Graphic 25">
                <a:extLst>
                  <a:ext uri="{FF2B5EF4-FFF2-40B4-BE49-F238E27FC236}">
                    <a16:creationId xmlns:a16="http://schemas.microsoft.com/office/drawing/2014/main" id="{E02C3F3F-B272-CF0F-6EB3-FEE01EC206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64831" y="2857500"/>
                <a:ext cx="1722922" cy="1560398"/>
              </a:xfrm>
              <a:prstGeom prst="rect">
                <a:avLst/>
              </a:prstGeom>
            </p:spPr>
          </p:pic>
          <p:pic>
            <p:nvPicPr>
              <p:cNvPr id="3" name="Graphic 2">
                <a:extLst>
                  <a:ext uri="{FF2B5EF4-FFF2-40B4-BE49-F238E27FC236}">
                    <a16:creationId xmlns:a16="http://schemas.microsoft.com/office/drawing/2014/main" id="{236F6631-0D23-C31B-A644-0C08052D47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80133" y="2857500"/>
                <a:ext cx="1722922" cy="1560398"/>
              </a:xfrm>
              <a:prstGeom prst="rect">
                <a:avLst/>
              </a:prstGeom>
            </p:spPr>
          </p:pic>
          <p:pic>
            <p:nvPicPr>
              <p:cNvPr id="4" name="Graphic 3">
                <a:extLst>
                  <a:ext uri="{FF2B5EF4-FFF2-40B4-BE49-F238E27FC236}">
                    <a16:creationId xmlns:a16="http://schemas.microsoft.com/office/drawing/2014/main" id="{4E9004A0-7D6D-9C61-0860-617AC6941A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95435" y="2857500"/>
                <a:ext cx="1722922" cy="1560398"/>
              </a:xfrm>
              <a:prstGeom prst="rect">
                <a:avLst/>
              </a:prstGeom>
            </p:spPr>
          </p:pic>
          <p:sp>
            <p:nvSpPr>
              <p:cNvPr id="5" name="Rectangle 4">
                <a:extLst>
                  <a:ext uri="{FF2B5EF4-FFF2-40B4-BE49-F238E27FC236}">
                    <a16:creationId xmlns:a16="http://schemas.microsoft.com/office/drawing/2014/main" id="{6228FC5F-4239-6DD7-52AB-F47F70C2A2F7}"/>
                  </a:ext>
                </a:extLst>
              </p:cNvPr>
              <p:cNvSpPr/>
              <p:nvPr/>
            </p:nvSpPr>
            <p:spPr bwMode="auto">
              <a:xfrm>
                <a:off x="2449529" y="2743201"/>
                <a:ext cx="6868828" cy="1800224"/>
              </a:xfrm>
              <a:prstGeom prst="rect">
                <a:avLst/>
              </a:prstGeom>
              <a:noFill/>
              <a:ln w="76200" cap="sq" algn="ctr">
                <a:solidFill>
                  <a:schemeClr val="tx1"/>
                </a:solidFill>
                <a:miter lim="800000"/>
                <a:headEnd/>
                <a:tailEnd/>
              </a:ln>
              <a:effectLst/>
            </p:spPr>
            <p:txBody>
              <a:bodyPr wrap="none" rtlCol="0" anchor="ctr"/>
              <a:lstStyle/>
              <a:p>
                <a:pPr algn="ctr"/>
                <a:endParaRPr lang="en-US" sz="1600" dirty="0">
                  <a:solidFill>
                    <a:schemeClr val="bg1"/>
                  </a:solidFill>
                  <a:latin typeface="+mn-lt"/>
                </a:endParaRPr>
              </a:p>
            </p:txBody>
          </p:sp>
        </p:grpSp>
        <p:grpSp>
          <p:nvGrpSpPr>
            <p:cNvPr id="7" name="Group 6">
              <a:extLst>
                <a:ext uri="{FF2B5EF4-FFF2-40B4-BE49-F238E27FC236}">
                  <a16:creationId xmlns:a16="http://schemas.microsoft.com/office/drawing/2014/main" id="{9A029B74-28F8-CFF5-BEA8-2B99A846A64B}"/>
                </a:ext>
              </a:extLst>
            </p:cNvPr>
            <p:cNvGrpSpPr/>
            <p:nvPr/>
          </p:nvGrpSpPr>
          <p:grpSpPr>
            <a:xfrm>
              <a:off x="-4408471" y="2743201"/>
              <a:ext cx="6868828" cy="1800224"/>
              <a:chOff x="2449529" y="2743201"/>
              <a:chExt cx="6868828" cy="1800224"/>
            </a:xfrm>
          </p:grpSpPr>
          <p:pic>
            <p:nvPicPr>
              <p:cNvPr id="8" name="Graphic 7">
                <a:extLst>
                  <a:ext uri="{FF2B5EF4-FFF2-40B4-BE49-F238E27FC236}">
                    <a16:creationId xmlns:a16="http://schemas.microsoft.com/office/drawing/2014/main" id="{8D356F65-815F-2C30-0532-C1FEB21F01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49529" y="2857500"/>
                <a:ext cx="1722922" cy="1560398"/>
              </a:xfrm>
              <a:prstGeom prst="rect">
                <a:avLst/>
              </a:prstGeom>
            </p:spPr>
          </p:pic>
          <p:pic>
            <p:nvPicPr>
              <p:cNvPr id="9" name="Graphic 8">
                <a:extLst>
                  <a:ext uri="{FF2B5EF4-FFF2-40B4-BE49-F238E27FC236}">
                    <a16:creationId xmlns:a16="http://schemas.microsoft.com/office/drawing/2014/main" id="{7A71F966-66E8-CDF8-0BDF-EC8B99F7C0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64831" y="2857500"/>
                <a:ext cx="1722922" cy="1560398"/>
              </a:xfrm>
              <a:prstGeom prst="rect">
                <a:avLst/>
              </a:prstGeom>
            </p:spPr>
          </p:pic>
          <p:pic>
            <p:nvPicPr>
              <p:cNvPr id="10" name="Graphic 9">
                <a:extLst>
                  <a:ext uri="{FF2B5EF4-FFF2-40B4-BE49-F238E27FC236}">
                    <a16:creationId xmlns:a16="http://schemas.microsoft.com/office/drawing/2014/main" id="{48118E5C-E738-EA4C-C6A5-7885990324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80133" y="2857500"/>
                <a:ext cx="1722922" cy="1560398"/>
              </a:xfrm>
              <a:prstGeom prst="rect">
                <a:avLst/>
              </a:prstGeom>
            </p:spPr>
          </p:pic>
          <p:pic>
            <p:nvPicPr>
              <p:cNvPr id="11" name="Graphic 10">
                <a:extLst>
                  <a:ext uri="{FF2B5EF4-FFF2-40B4-BE49-F238E27FC236}">
                    <a16:creationId xmlns:a16="http://schemas.microsoft.com/office/drawing/2014/main" id="{5ED1A66B-F4DA-913E-6B48-C4DEE3D3AE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95435" y="2857500"/>
                <a:ext cx="1722922" cy="1560398"/>
              </a:xfrm>
              <a:prstGeom prst="rect">
                <a:avLst/>
              </a:prstGeom>
            </p:spPr>
          </p:pic>
          <p:sp>
            <p:nvSpPr>
              <p:cNvPr id="12" name="Rectangle 11">
                <a:extLst>
                  <a:ext uri="{FF2B5EF4-FFF2-40B4-BE49-F238E27FC236}">
                    <a16:creationId xmlns:a16="http://schemas.microsoft.com/office/drawing/2014/main" id="{D769A399-EC95-95D9-64AC-B1F2BF4C063F}"/>
                  </a:ext>
                </a:extLst>
              </p:cNvPr>
              <p:cNvSpPr/>
              <p:nvPr/>
            </p:nvSpPr>
            <p:spPr bwMode="auto">
              <a:xfrm>
                <a:off x="2449529" y="2743201"/>
                <a:ext cx="6868828" cy="1800224"/>
              </a:xfrm>
              <a:prstGeom prst="rect">
                <a:avLst/>
              </a:prstGeom>
              <a:noFill/>
              <a:ln w="76200" cap="sq" algn="ctr">
                <a:solidFill>
                  <a:schemeClr val="tx1"/>
                </a:solidFill>
                <a:miter lim="800000"/>
                <a:headEnd/>
                <a:tailEnd/>
              </a:ln>
              <a:effectLst/>
            </p:spPr>
            <p:txBody>
              <a:bodyPr wrap="none" rtlCol="0" anchor="ctr"/>
              <a:lstStyle/>
              <a:p>
                <a:pPr algn="ctr"/>
                <a:endParaRPr lang="en-US" sz="1600" dirty="0">
                  <a:solidFill>
                    <a:schemeClr val="bg1"/>
                  </a:solidFill>
                  <a:latin typeface="+mn-lt"/>
                </a:endParaRPr>
              </a:p>
            </p:txBody>
          </p:sp>
        </p:grpSp>
        <p:grpSp>
          <p:nvGrpSpPr>
            <p:cNvPr id="13" name="Group 12">
              <a:extLst>
                <a:ext uri="{FF2B5EF4-FFF2-40B4-BE49-F238E27FC236}">
                  <a16:creationId xmlns:a16="http://schemas.microsoft.com/office/drawing/2014/main" id="{E5A61B88-2DC2-6500-9CC3-57DA3812CD14}"/>
                </a:ext>
              </a:extLst>
            </p:cNvPr>
            <p:cNvGrpSpPr/>
            <p:nvPr/>
          </p:nvGrpSpPr>
          <p:grpSpPr>
            <a:xfrm>
              <a:off x="9312445" y="2743201"/>
              <a:ext cx="6868828" cy="1800224"/>
              <a:chOff x="2449529" y="2743201"/>
              <a:chExt cx="6868828" cy="1800224"/>
            </a:xfrm>
          </p:grpSpPr>
          <p:pic>
            <p:nvPicPr>
              <p:cNvPr id="15" name="Graphic 14">
                <a:extLst>
                  <a:ext uri="{FF2B5EF4-FFF2-40B4-BE49-F238E27FC236}">
                    <a16:creationId xmlns:a16="http://schemas.microsoft.com/office/drawing/2014/main" id="{9CD36832-A387-8B8E-12F5-70BBC06091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49529" y="2857500"/>
                <a:ext cx="1722922" cy="1560398"/>
              </a:xfrm>
              <a:prstGeom prst="rect">
                <a:avLst/>
              </a:prstGeom>
            </p:spPr>
          </p:pic>
          <p:pic>
            <p:nvPicPr>
              <p:cNvPr id="16" name="Graphic 15">
                <a:extLst>
                  <a:ext uri="{FF2B5EF4-FFF2-40B4-BE49-F238E27FC236}">
                    <a16:creationId xmlns:a16="http://schemas.microsoft.com/office/drawing/2014/main" id="{D1D72047-5334-9C26-F8DF-07D21374BA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64831" y="2857500"/>
                <a:ext cx="1722922" cy="1560398"/>
              </a:xfrm>
              <a:prstGeom prst="rect">
                <a:avLst/>
              </a:prstGeom>
            </p:spPr>
          </p:pic>
          <p:pic>
            <p:nvPicPr>
              <p:cNvPr id="17" name="Graphic 16">
                <a:extLst>
                  <a:ext uri="{FF2B5EF4-FFF2-40B4-BE49-F238E27FC236}">
                    <a16:creationId xmlns:a16="http://schemas.microsoft.com/office/drawing/2014/main" id="{729E385E-6C9D-C1CB-1D6F-929E9C08B5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80133" y="2857500"/>
                <a:ext cx="1722922" cy="1560398"/>
              </a:xfrm>
              <a:prstGeom prst="rect">
                <a:avLst/>
              </a:prstGeom>
            </p:spPr>
          </p:pic>
          <p:pic>
            <p:nvPicPr>
              <p:cNvPr id="18" name="Graphic 17">
                <a:extLst>
                  <a:ext uri="{FF2B5EF4-FFF2-40B4-BE49-F238E27FC236}">
                    <a16:creationId xmlns:a16="http://schemas.microsoft.com/office/drawing/2014/main" id="{78974E58-A818-12ED-4496-81DBA2E03A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95435" y="2857500"/>
                <a:ext cx="1722922" cy="1560398"/>
              </a:xfrm>
              <a:prstGeom prst="rect">
                <a:avLst/>
              </a:prstGeom>
            </p:spPr>
          </p:pic>
          <p:sp>
            <p:nvSpPr>
              <p:cNvPr id="20" name="Rectangle 19">
                <a:extLst>
                  <a:ext uri="{FF2B5EF4-FFF2-40B4-BE49-F238E27FC236}">
                    <a16:creationId xmlns:a16="http://schemas.microsoft.com/office/drawing/2014/main" id="{CF3C8651-BF22-98AB-810C-9E0FA49C9830}"/>
                  </a:ext>
                </a:extLst>
              </p:cNvPr>
              <p:cNvSpPr/>
              <p:nvPr/>
            </p:nvSpPr>
            <p:spPr bwMode="auto">
              <a:xfrm>
                <a:off x="2449529" y="2743201"/>
                <a:ext cx="6868828" cy="1800224"/>
              </a:xfrm>
              <a:prstGeom prst="rect">
                <a:avLst/>
              </a:prstGeom>
              <a:noFill/>
              <a:ln w="76200" cap="sq" algn="ctr">
                <a:solidFill>
                  <a:schemeClr val="tx1"/>
                </a:solidFill>
                <a:miter lim="800000"/>
                <a:headEnd/>
                <a:tailEnd/>
              </a:ln>
              <a:effectLst/>
            </p:spPr>
            <p:txBody>
              <a:bodyPr wrap="none" rtlCol="0" anchor="ctr"/>
              <a:lstStyle/>
              <a:p>
                <a:pPr algn="ctr"/>
                <a:endParaRPr lang="en-US" sz="1600" dirty="0">
                  <a:solidFill>
                    <a:schemeClr val="bg1"/>
                  </a:solidFill>
                  <a:latin typeface="+mn-lt"/>
                </a:endParaRPr>
              </a:p>
            </p:txBody>
          </p:sp>
        </p:grpSp>
      </p:grpSp>
      <p:sp>
        <p:nvSpPr>
          <p:cNvPr id="19" name="Content Placeholder 2">
            <a:extLst>
              <a:ext uri="{FF2B5EF4-FFF2-40B4-BE49-F238E27FC236}">
                <a16:creationId xmlns:a16="http://schemas.microsoft.com/office/drawing/2014/main" id="{DABB5BF0-FD8B-7842-D1CE-FE5A3DEC357F}"/>
              </a:ext>
            </a:extLst>
          </p:cNvPr>
          <p:cNvSpPr>
            <a:spLocks noGrp="1"/>
          </p:cNvSpPr>
          <p:nvPr>
            <p:ph idx="1"/>
          </p:nvPr>
        </p:nvSpPr>
        <p:spPr>
          <a:xfrm>
            <a:off x="609600" y="5254054"/>
            <a:ext cx="10972800" cy="1240856"/>
          </a:xfrm>
        </p:spPr>
        <p:txBody>
          <a:bodyPr anchor="t">
            <a:normAutofit/>
          </a:bodyPr>
          <a:lstStyle/>
          <a:p>
            <a:pPr marL="320040" lvl="1" indent="0" algn="ctr">
              <a:buNone/>
            </a:pPr>
            <a:r>
              <a:rPr lang="en-US" sz="3200" i="1" dirty="0"/>
              <a:t>The </a:t>
            </a:r>
            <a:r>
              <a:rPr lang="en-US" sz="3200" b="1" i="1" dirty="0"/>
              <a:t>Fast Fourier Transform</a:t>
            </a:r>
            <a:r>
              <a:rPr lang="en-US" sz="3200" i="1" dirty="0"/>
              <a:t> lets us take a captured “epoch” of data and generate a frequency spectrum</a:t>
            </a:r>
          </a:p>
        </p:txBody>
      </p:sp>
      <p:sp>
        <p:nvSpPr>
          <p:cNvPr id="22" name="TextBox 21">
            <a:extLst>
              <a:ext uri="{FF2B5EF4-FFF2-40B4-BE49-F238E27FC236}">
                <a16:creationId xmlns:a16="http://schemas.microsoft.com/office/drawing/2014/main" id="{FD42B388-1DA0-CAB6-ED60-790AABB9BB53}"/>
              </a:ext>
            </a:extLst>
          </p:cNvPr>
          <p:cNvSpPr txBox="1"/>
          <p:nvPr/>
        </p:nvSpPr>
        <p:spPr>
          <a:xfrm>
            <a:off x="236306" y="6287784"/>
            <a:ext cx="544530" cy="380144"/>
          </a:xfrm>
          <a:prstGeom prst="rect">
            <a:avLst/>
          </a:prstGeom>
          <a:noFill/>
        </p:spPr>
        <p:txBody>
          <a:bodyPr wrap="square" rtlCol="0">
            <a:noAutofit/>
          </a:bodyPr>
          <a:lstStyle/>
          <a:p>
            <a:pPr algn="ctr"/>
            <a:r>
              <a:rPr lang="en-US" sz="1600" dirty="0"/>
              <a:t>15</a:t>
            </a:r>
          </a:p>
        </p:txBody>
      </p:sp>
    </p:spTree>
    <p:extLst>
      <p:ext uri="{BB962C8B-B14F-4D97-AF65-F5344CB8AC3E}">
        <p14:creationId xmlns:p14="http://schemas.microsoft.com/office/powerpoint/2010/main" val="18579405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94197-ABFE-D4FB-0CD0-FFCFE5EAD4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9FCC30-44EF-2564-520B-6C23964FFC50}"/>
              </a:ext>
            </a:extLst>
          </p:cNvPr>
          <p:cNvSpPr>
            <a:spLocks noGrp="1"/>
          </p:cNvSpPr>
          <p:nvPr>
            <p:ph type="title"/>
          </p:nvPr>
        </p:nvSpPr>
        <p:spPr>
          <a:xfrm>
            <a:off x="609600" y="363090"/>
            <a:ext cx="10972800" cy="800100"/>
          </a:xfrm>
        </p:spPr>
        <p:txBody>
          <a:bodyPr anchor="b">
            <a:normAutofit/>
          </a:bodyPr>
          <a:lstStyle/>
          <a:p>
            <a:r>
              <a:rPr lang="en-US" dirty="0"/>
              <a:t>Coherent Sampling Setup</a:t>
            </a:r>
          </a:p>
        </p:txBody>
      </p:sp>
      <p:grpSp>
        <p:nvGrpSpPr>
          <p:cNvPr id="54" name="Group 53">
            <a:extLst>
              <a:ext uri="{FF2B5EF4-FFF2-40B4-BE49-F238E27FC236}">
                <a16:creationId xmlns:a16="http://schemas.microsoft.com/office/drawing/2014/main" id="{6C8F89CB-6F63-0465-A922-4B454F757788}"/>
              </a:ext>
            </a:extLst>
          </p:cNvPr>
          <p:cNvGrpSpPr/>
          <p:nvPr/>
        </p:nvGrpSpPr>
        <p:grpSpPr>
          <a:xfrm>
            <a:off x="-3855923" y="2485611"/>
            <a:ext cx="19574880" cy="1886779"/>
            <a:chOff x="-3855923" y="2163314"/>
            <a:chExt cx="19574880" cy="1886779"/>
          </a:xfrm>
        </p:grpSpPr>
        <p:grpSp>
          <p:nvGrpSpPr>
            <p:cNvPr id="48" name="Group 47">
              <a:extLst>
                <a:ext uri="{FF2B5EF4-FFF2-40B4-BE49-F238E27FC236}">
                  <a16:creationId xmlns:a16="http://schemas.microsoft.com/office/drawing/2014/main" id="{DAA86560-15A3-18B0-C206-8D1A8C15E59A}"/>
                </a:ext>
              </a:extLst>
            </p:cNvPr>
            <p:cNvGrpSpPr/>
            <p:nvPr/>
          </p:nvGrpSpPr>
          <p:grpSpPr>
            <a:xfrm>
              <a:off x="-3855923" y="2163314"/>
              <a:ext cx="6748816" cy="1886779"/>
              <a:chOff x="2550291" y="2163314"/>
              <a:chExt cx="6748816" cy="1886779"/>
            </a:xfrm>
          </p:grpSpPr>
          <p:pic>
            <p:nvPicPr>
              <p:cNvPr id="49" name="Graphic 48">
                <a:extLst>
                  <a:ext uri="{FF2B5EF4-FFF2-40B4-BE49-F238E27FC236}">
                    <a16:creationId xmlns:a16="http://schemas.microsoft.com/office/drawing/2014/main" id="{7E9FE0FB-FC3C-8CB2-1BAC-FA77D8F4A0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293" y="2163314"/>
                <a:ext cx="6748814" cy="1800224"/>
              </a:xfrm>
              <a:prstGeom prst="rect">
                <a:avLst/>
              </a:prstGeom>
            </p:spPr>
          </p:pic>
          <p:sp>
            <p:nvSpPr>
              <p:cNvPr id="50" name="Rectangle 49">
                <a:extLst>
                  <a:ext uri="{FF2B5EF4-FFF2-40B4-BE49-F238E27FC236}">
                    <a16:creationId xmlns:a16="http://schemas.microsoft.com/office/drawing/2014/main" id="{384810E5-BBB5-6E8B-2AA8-55BEBBE7518F}"/>
                  </a:ext>
                </a:extLst>
              </p:cNvPr>
              <p:cNvSpPr/>
              <p:nvPr/>
            </p:nvSpPr>
            <p:spPr bwMode="auto">
              <a:xfrm>
                <a:off x="2550291" y="2249869"/>
                <a:ext cx="6431784" cy="1800224"/>
              </a:xfrm>
              <a:prstGeom prst="rect">
                <a:avLst/>
              </a:prstGeom>
              <a:noFill/>
              <a:ln w="76200" cap="sq" algn="ctr">
                <a:solidFill>
                  <a:schemeClr val="tx1"/>
                </a:solidFill>
                <a:miter lim="800000"/>
                <a:headEnd/>
                <a:tailEnd/>
              </a:ln>
              <a:effectLst/>
            </p:spPr>
            <p:txBody>
              <a:bodyPr wrap="none" rtlCol="0" anchor="ctr"/>
              <a:lstStyle/>
              <a:p>
                <a:pPr algn="ctr"/>
                <a:endParaRPr lang="en-US" sz="1600" dirty="0">
                  <a:solidFill>
                    <a:schemeClr val="bg1"/>
                  </a:solidFill>
                  <a:latin typeface="+mn-lt"/>
                </a:endParaRPr>
              </a:p>
            </p:txBody>
          </p:sp>
        </p:grpSp>
        <p:grpSp>
          <p:nvGrpSpPr>
            <p:cNvPr id="41" name="Group 40">
              <a:extLst>
                <a:ext uri="{FF2B5EF4-FFF2-40B4-BE49-F238E27FC236}">
                  <a16:creationId xmlns:a16="http://schemas.microsoft.com/office/drawing/2014/main" id="{25DFA98B-BE3D-88FF-B9B1-8ED98A3C7553}"/>
                </a:ext>
              </a:extLst>
            </p:cNvPr>
            <p:cNvGrpSpPr/>
            <p:nvPr/>
          </p:nvGrpSpPr>
          <p:grpSpPr>
            <a:xfrm>
              <a:off x="2550291" y="2163314"/>
              <a:ext cx="6748816" cy="1886779"/>
              <a:chOff x="2550291" y="2163314"/>
              <a:chExt cx="6748816" cy="1886779"/>
            </a:xfrm>
          </p:grpSpPr>
          <p:pic>
            <p:nvPicPr>
              <p:cNvPr id="19" name="Graphic 18">
                <a:extLst>
                  <a:ext uri="{FF2B5EF4-FFF2-40B4-BE49-F238E27FC236}">
                    <a16:creationId xmlns:a16="http://schemas.microsoft.com/office/drawing/2014/main" id="{B91A44F8-50E4-A1C1-1E46-D0FEB5914C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293" y="2163314"/>
                <a:ext cx="6748814" cy="1800224"/>
              </a:xfrm>
              <a:prstGeom prst="rect">
                <a:avLst/>
              </a:prstGeom>
            </p:spPr>
          </p:pic>
          <p:sp>
            <p:nvSpPr>
              <p:cNvPr id="34" name="Rectangle 33">
                <a:extLst>
                  <a:ext uri="{FF2B5EF4-FFF2-40B4-BE49-F238E27FC236}">
                    <a16:creationId xmlns:a16="http://schemas.microsoft.com/office/drawing/2014/main" id="{C0E00884-1FF4-891E-991B-2647DF17E77D}"/>
                  </a:ext>
                </a:extLst>
              </p:cNvPr>
              <p:cNvSpPr/>
              <p:nvPr/>
            </p:nvSpPr>
            <p:spPr bwMode="auto">
              <a:xfrm>
                <a:off x="2550291" y="2249869"/>
                <a:ext cx="6431784" cy="1800224"/>
              </a:xfrm>
              <a:prstGeom prst="rect">
                <a:avLst/>
              </a:prstGeom>
              <a:noFill/>
              <a:ln w="76200" cap="sq" algn="ctr">
                <a:solidFill>
                  <a:schemeClr val="tx1"/>
                </a:solidFill>
                <a:miter lim="800000"/>
                <a:headEnd/>
                <a:tailEnd/>
              </a:ln>
              <a:effectLst/>
            </p:spPr>
            <p:txBody>
              <a:bodyPr wrap="none" rtlCol="0" anchor="ctr"/>
              <a:lstStyle/>
              <a:p>
                <a:pPr algn="ctr"/>
                <a:endParaRPr lang="en-US" sz="1600" dirty="0">
                  <a:solidFill>
                    <a:schemeClr val="bg1"/>
                  </a:solidFill>
                  <a:latin typeface="+mn-lt"/>
                </a:endParaRPr>
              </a:p>
            </p:txBody>
          </p:sp>
        </p:grpSp>
        <p:grpSp>
          <p:nvGrpSpPr>
            <p:cNvPr id="42" name="Group 41">
              <a:extLst>
                <a:ext uri="{FF2B5EF4-FFF2-40B4-BE49-F238E27FC236}">
                  <a16:creationId xmlns:a16="http://schemas.microsoft.com/office/drawing/2014/main" id="{0AD03665-D0EA-BA90-CD90-8B0E01C5E660}"/>
                </a:ext>
              </a:extLst>
            </p:cNvPr>
            <p:cNvGrpSpPr/>
            <p:nvPr/>
          </p:nvGrpSpPr>
          <p:grpSpPr>
            <a:xfrm>
              <a:off x="8970141" y="2163314"/>
              <a:ext cx="6748816" cy="1886779"/>
              <a:chOff x="2550291" y="2163314"/>
              <a:chExt cx="6748816" cy="1886779"/>
            </a:xfrm>
          </p:grpSpPr>
          <p:pic>
            <p:nvPicPr>
              <p:cNvPr id="43" name="Graphic 42">
                <a:extLst>
                  <a:ext uri="{FF2B5EF4-FFF2-40B4-BE49-F238E27FC236}">
                    <a16:creationId xmlns:a16="http://schemas.microsoft.com/office/drawing/2014/main" id="{D53C64CE-89A5-01A1-2119-2F29D67DA4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293" y="2163314"/>
                <a:ext cx="6748814" cy="1800224"/>
              </a:xfrm>
              <a:prstGeom prst="rect">
                <a:avLst/>
              </a:prstGeom>
            </p:spPr>
          </p:pic>
          <p:sp>
            <p:nvSpPr>
              <p:cNvPr id="44" name="Rectangle 43">
                <a:extLst>
                  <a:ext uri="{FF2B5EF4-FFF2-40B4-BE49-F238E27FC236}">
                    <a16:creationId xmlns:a16="http://schemas.microsoft.com/office/drawing/2014/main" id="{F86EDBBB-88DE-E3D9-28F1-1DBB6911082C}"/>
                  </a:ext>
                </a:extLst>
              </p:cNvPr>
              <p:cNvSpPr/>
              <p:nvPr/>
            </p:nvSpPr>
            <p:spPr bwMode="auto">
              <a:xfrm>
                <a:off x="2550291" y="2249869"/>
                <a:ext cx="6431784" cy="1800224"/>
              </a:xfrm>
              <a:prstGeom prst="rect">
                <a:avLst/>
              </a:prstGeom>
              <a:noFill/>
              <a:ln w="76200" cap="sq" algn="ctr">
                <a:solidFill>
                  <a:schemeClr val="tx1"/>
                </a:solidFill>
                <a:miter lim="800000"/>
                <a:headEnd/>
                <a:tailEnd/>
              </a:ln>
              <a:effectLst/>
            </p:spPr>
            <p:txBody>
              <a:bodyPr wrap="none" rtlCol="0" anchor="ctr"/>
              <a:lstStyle/>
              <a:p>
                <a:pPr algn="ctr"/>
                <a:endParaRPr lang="en-US" sz="1600" dirty="0">
                  <a:solidFill>
                    <a:schemeClr val="bg1"/>
                  </a:solidFill>
                  <a:latin typeface="+mn-lt"/>
                </a:endParaRPr>
              </a:p>
            </p:txBody>
          </p:sp>
        </p:grpSp>
      </p:grpSp>
      <p:sp>
        <p:nvSpPr>
          <p:cNvPr id="55" name="Content Placeholder 2">
            <a:extLst>
              <a:ext uri="{FF2B5EF4-FFF2-40B4-BE49-F238E27FC236}">
                <a16:creationId xmlns:a16="http://schemas.microsoft.com/office/drawing/2014/main" id="{A34A8902-973D-01A6-8041-E1DDFB87006F}"/>
              </a:ext>
            </a:extLst>
          </p:cNvPr>
          <p:cNvSpPr>
            <a:spLocks noGrp="1"/>
          </p:cNvSpPr>
          <p:nvPr>
            <p:ph idx="1"/>
          </p:nvPr>
        </p:nvSpPr>
        <p:spPr>
          <a:xfrm>
            <a:off x="609600" y="5254054"/>
            <a:ext cx="10972800" cy="1240856"/>
          </a:xfrm>
        </p:spPr>
        <p:txBody>
          <a:bodyPr anchor="t">
            <a:normAutofit fontScale="92500"/>
          </a:bodyPr>
          <a:lstStyle/>
          <a:p>
            <a:pPr marL="320040" lvl="1" indent="0" algn="ctr">
              <a:buNone/>
            </a:pPr>
            <a:r>
              <a:rPr lang="en-US" sz="3200" i="1" dirty="0"/>
              <a:t>But the “epoch” </a:t>
            </a:r>
            <a:r>
              <a:rPr lang="en-US" sz="3200" i="1" u="sng" dirty="0"/>
              <a:t>MUST</a:t>
            </a:r>
            <a:r>
              <a:rPr lang="en-US" sz="3200" i="1" dirty="0"/>
              <a:t> be </a:t>
            </a:r>
            <a:r>
              <a:rPr lang="en-US" sz="3200" b="1" i="1" dirty="0"/>
              <a:t>coherently sampled </a:t>
            </a:r>
            <a:r>
              <a:rPr lang="en-US" sz="3200" i="1" dirty="0"/>
              <a:t>to generate accurate spectrum data and avoid </a:t>
            </a:r>
            <a:r>
              <a:rPr lang="en-US" sz="3200" i="1" u="sng" dirty="0"/>
              <a:t>spectral leakage</a:t>
            </a:r>
          </a:p>
        </p:txBody>
      </p:sp>
      <p:sp>
        <p:nvSpPr>
          <p:cNvPr id="56" name="Oval 55">
            <a:extLst>
              <a:ext uri="{FF2B5EF4-FFF2-40B4-BE49-F238E27FC236}">
                <a16:creationId xmlns:a16="http://schemas.microsoft.com/office/drawing/2014/main" id="{90080B90-CA04-5FCD-E5CB-C49EDBC49C35}"/>
              </a:ext>
            </a:extLst>
          </p:cNvPr>
          <p:cNvSpPr/>
          <p:nvPr/>
        </p:nvSpPr>
        <p:spPr bwMode="auto">
          <a:xfrm>
            <a:off x="2045110" y="2379406"/>
            <a:ext cx="1071716" cy="1445342"/>
          </a:xfrm>
          <a:prstGeom prst="ellipse">
            <a:avLst/>
          </a:prstGeom>
          <a:noFill/>
          <a:ln w="76200" cap="sq" algn="ctr">
            <a:solidFill>
              <a:schemeClr val="bg2"/>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57" name="Oval 56">
            <a:extLst>
              <a:ext uri="{FF2B5EF4-FFF2-40B4-BE49-F238E27FC236}">
                <a16:creationId xmlns:a16="http://schemas.microsoft.com/office/drawing/2014/main" id="{5845FFA6-90CC-159E-53CC-F90EE71BFD1E}"/>
              </a:ext>
            </a:extLst>
          </p:cNvPr>
          <p:cNvSpPr/>
          <p:nvPr/>
        </p:nvSpPr>
        <p:spPr bwMode="auto">
          <a:xfrm>
            <a:off x="8446215" y="2379406"/>
            <a:ext cx="1071716" cy="1445342"/>
          </a:xfrm>
          <a:prstGeom prst="ellipse">
            <a:avLst/>
          </a:prstGeom>
          <a:noFill/>
          <a:ln w="76200" cap="sq" algn="ctr">
            <a:solidFill>
              <a:schemeClr val="bg2"/>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4" name="TextBox 3">
            <a:extLst>
              <a:ext uri="{FF2B5EF4-FFF2-40B4-BE49-F238E27FC236}">
                <a16:creationId xmlns:a16="http://schemas.microsoft.com/office/drawing/2014/main" id="{686DA134-C86C-CC81-382D-245181A7F077}"/>
              </a:ext>
            </a:extLst>
          </p:cNvPr>
          <p:cNvSpPr txBox="1"/>
          <p:nvPr/>
        </p:nvSpPr>
        <p:spPr>
          <a:xfrm>
            <a:off x="236306" y="6287784"/>
            <a:ext cx="544530" cy="380144"/>
          </a:xfrm>
          <a:prstGeom prst="rect">
            <a:avLst/>
          </a:prstGeom>
          <a:noFill/>
        </p:spPr>
        <p:txBody>
          <a:bodyPr wrap="square" rtlCol="0">
            <a:noAutofit/>
          </a:bodyPr>
          <a:lstStyle/>
          <a:p>
            <a:pPr algn="ctr"/>
            <a:r>
              <a:rPr lang="en-US" sz="1600" dirty="0"/>
              <a:t>16</a:t>
            </a:r>
          </a:p>
        </p:txBody>
      </p:sp>
    </p:spTree>
    <p:extLst>
      <p:ext uri="{BB962C8B-B14F-4D97-AF65-F5344CB8AC3E}">
        <p14:creationId xmlns:p14="http://schemas.microsoft.com/office/powerpoint/2010/main" val="13114748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6CA20-B9FE-D128-8D13-AC25D04699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7EB626-14A0-5CD4-7EF5-5431B232415F}"/>
              </a:ext>
            </a:extLst>
          </p:cNvPr>
          <p:cNvSpPr>
            <a:spLocks noGrp="1"/>
          </p:cNvSpPr>
          <p:nvPr>
            <p:ph type="title"/>
          </p:nvPr>
        </p:nvSpPr>
        <p:spPr>
          <a:xfrm>
            <a:off x="609600" y="363090"/>
            <a:ext cx="10972800" cy="800100"/>
          </a:xfrm>
        </p:spPr>
        <p:txBody>
          <a:bodyPr anchor="b">
            <a:normAutofit/>
          </a:bodyPr>
          <a:lstStyle/>
          <a:p>
            <a:r>
              <a:rPr lang="en-US" dirty="0"/>
              <a:t>Coherent Sampling Setup</a:t>
            </a:r>
          </a:p>
        </p:txBody>
      </p:sp>
      <p:sp>
        <p:nvSpPr>
          <p:cNvPr id="3" name="Content Placeholder 2">
            <a:extLst>
              <a:ext uri="{FF2B5EF4-FFF2-40B4-BE49-F238E27FC236}">
                <a16:creationId xmlns:a16="http://schemas.microsoft.com/office/drawing/2014/main" id="{4FC78289-C24C-9241-8B7C-C9B5827B2EEC}"/>
              </a:ext>
            </a:extLst>
          </p:cNvPr>
          <p:cNvSpPr>
            <a:spLocks noGrp="1"/>
          </p:cNvSpPr>
          <p:nvPr>
            <p:ph idx="1"/>
          </p:nvPr>
        </p:nvSpPr>
        <p:spPr>
          <a:xfrm>
            <a:off x="609600" y="1524000"/>
            <a:ext cx="10972800" cy="1240856"/>
          </a:xfrm>
        </p:spPr>
        <p:txBody>
          <a:bodyPr anchor="t">
            <a:normAutofit/>
          </a:bodyPr>
          <a:lstStyle/>
          <a:p>
            <a:pPr marL="320040" lvl="1" indent="0" algn="ctr">
              <a:buNone/>
            </a:pPr>
            <a:r>
              <a:rPr lang="en-US" sz="3200" i="1" dirty="0"/>
              <a:t>“Sampling of a periodic signal such that there is an integer number of signal cycles in the waveform epoch” </a:t>
            </a:r>
            <a:r>
              <a:rPr lang="en-US" sz="2400" i="1" dirty="0"/>
              <a:t>–IEEE1241</a:t>
            </a:r>
            <a:endParaRPr lang="en-US" sz="3200" i="1"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04620A1-7AEF-214C-600A-E144AF3DCACE}"/>
                  </a:ext>
                </a:extLst>
              </p:cNvPr>
              <p:cNvSpPr txBox="1"/>
              <p:nvPr/>
            </p:nvSpPr>
            <p:spPr>
              <a:xfrm>
                <a:off x="2211197" y="2730428"/>
                <a:ext cx="2454442" cy="664144"/>
              </a:xfrm>
              <a:prstGeom prst="rect">
                <a:avLst/>
              </a:prstGeom>
              <a:noFill/>
            </p:spPr>
            <p:txBody>
              <a:bodyPr wrap="none" lIns="0" tIns="0" rIns="0" bIns="0" rtlCol="0">
                <a:noAutofit/>
              </a:bodyPr>
              <a:lstStyle/>
              <a:p>
                <a:pPr algn="ctr"/>
                <a14:m>
                  <m:oMathPara xmlns:m="http://schemas.openxmlformats.org/officeDocument/2006/math">
                    <m:oMathParaPr>
                      <m:jc m:val="centerGroup"/>
                    </m:oMathParaPr>
                    <m:oMath xmlns:m="http://schemas.openxmlformats.org/officeDocument/2006/math">
                      <m:sSub>
                        <m:sSubPr>
                          <m:ctrlPr>
                            <a:rPr lang="en-US" sz="3600" i="1" smtClean="0">
                              <a:latin typeface="Cambria Math" panose="02040503050406030204" pitchFamily="18" charset="0"/>
                            </a:rPr>
                          </m:ctrlPr>
                        </m:sSubPr>
                        <m:e>
                          <m:r>
                            <a:rPr lang="en-US" sz="3600" b="0" i="1" smtClean="0">
                              <a:latin typeface="Cambria Math" panose="02040503050406030204" pitchFamily="18" charset="0"/>
                            </a:rPr>
                            <m:t>𝐹</m:t>
                          </m:r>
                        </m:e>
                        <m:sub>
                          <m:r>
                            <a:rPr lang="en-US" sz="3600" b="0" i="1" smtClean="0">
                              <a:latin typeface="Cambria Math" panose="02040503050406030204" pitchFamily="18" charset="0"/>
                            </a:rPr>
                            <m:t>𝑖</m:t>
                          </m:r>
                        </m:sub>
                      </m:sSub>
                      <m:r>
                        <a:rPr lang="en-US" sz="3600" b="0" i="1" smtClean="0">
                          <a:latin typeface="Cambria Math" panose="02040503050406030204" pitchFamily="18" charset="0"/>
                        </a:rPr>
                        <m:t>𝑀</m:t>
                      </m:r>
                      <m:r>
                        <a:rPr lang="en-US" sz="3600" b="0" i="1" smtClean="0">
                          <a:latin typeface="Cambria Math" panose="02040503050406030204" pitchFamily="18" charset="0"/>
                        </a:rPr>
                        <m:t>=</m:t>
                      </m:r>
                      <m:r>
                        <a:rPr lang="en-US" sz="3600" b="0" i="1" smtClean="0">
                          <a:latin typeface="Cambria Math" panose="02040503050406030204" pitchFamily="18" charset="0"/>
                        </a:rPr>
                        <m:t>𝐽</m:t>
                      </m:r>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𝐹</m:t>
                          </m:r>
                        </m:e>
                        <m:sub>
                          <m:r>
                            <a:rPr lang="en-US" sz="3600" b="0" i="1" smtClean="0">
                              <a:latin typeface="Cambria Math" panose="02040503050406030204" pitchFamily="18" charset="0"/>
                            </a:rPr>
                            <m:t>𝑆</m:t>
                          </m:r>
                        </m:sub>
                      </m:sSub>
                    </m:oMath>
                  </m:oMathPara>
                </a14:m>
                <a:endParaRPr lang="en-US" sz="3600" dirty="0" err="1"/>
              </a:p>
            </p:txBody>
          </p:sp>
        </mc:Choice>
        <mc:Fallback xmlns="">
          <p:sp>
            <p:nvSpPr>
              <p:cNvPr id="6" name="TextBox 5">
                <a:extLst>
                  <a:ext uri="{FF2B5EF4-FFF2-40B4-BE49-F238E27FC236}">
                    <a16:creationId xmlns:a16="http://schemas.microsoft.com/office/drawing/2014/main" id="{204620A1-7AEF-214C-600A-E144AF3DCACE}"/>
                  </a:ext>
                </a:extLst>
              </p:cNvPr>
              <p:cNvSpPr txBox="1">
                <a:spLocks noRot="1" noChangeAspect="1" noMove="1" noResize="1" noEditPoints="1" noAdjustHandles="1" noChangeArrowheads="1" noChangeShapeType="1" noTextEdit="1"/>
              </p:cNvSpPr>
              <p:nvPr/>
            </p:nvSpPr>
            <p:spPr>
              <a:xfrm>
                <a:off x="2211197" y="2730428"/>
                <a:ext cx="2454442" cy="664144"/>
              </a:xfrm>
              <a:prstGeom prst="rect">
                <a:avLst/>
              </a:prstGeom>
              <a:blipFill>
                <a:blip r:embed="rId3"/>
                <a:stretch>
                  <a:fillRect/>
                </a:stretch>
              </a:blipFill>
            </p:spPr>
            <p:txBody>
              <a:bodyPr/>
              <a:lstStyle/>
              <a:p>
                <a:r>
                  <a:rPr lang="en-US">
                    <a:noFill/>
                  </a:rPr>
                  <a:t> </a:t>
                </a:r>
              </a:p>
            </p:txBody>
          </p:sp>
        </mc:Fallback>
      </mc:AlternateContent>
      <p:pic>
        <p:nvPicPr>
          <p:cNvPr id="15" name="Graphic 14">
            <a:extLst>
              <a:ext uri="{FF2B5EF4-FFF2-40B4-BE49-F238E27FC236}">
                <a16:creationId xmlns:a16="http://schemas.microsoft.com/office/drawing/2014/main" id="{FF360158-3730-DBD4-A439-4C974EFA81A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96000" y="2394685"/>
            <a:ext cx="6939816" cy="4168792"/>
          </a:xfrm>
          <a:prstGeom prst="rect">
            <a:avLst/>
          </a:prstGeom>
        </p:spPr>
      </p:pic>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7576044D-D5BC-0D31-1343-E7CD605F60DB}"/>
                  </a:ext>
                </a:extLst>
              </p:cNvPr>
              <p:cNvGraphicFramePr>
                <a:graphicFrameLocks noGrp="1"/>
              </p:cNvGraphicFramePr>
              <p:nvPr>
                <p:extLst>
                  <p:ext uri="{D42A27DB-BD31-4B8C-83A1-F6EECF244321}">
                    <p14:modId xmlns:p14="http://schemas.microsoft.com/office/powerpoint/2010/main" val="2021285681"/>
                  </p:ext>
                </p:extLst>
              </p:nvPr>
            </p:nvGraphicFramePr>
            <p:xfrm>
              <a:off x="506444" y="3429000"/>
              <a:ext cx="5863949" cy="2692796"/>
            </p:xfrm>
            <a:graphic>
              <a:graphicData uri="http://schemas.openxmlformats.org/drawingml/2006/table">
                <a:tbl>
                  <a:tblPr firstRow="1" bandRow="1">
                    <a:tableStyleId>{2D5ABB26-0587-4C30-8999-92F81FD0307C}</a:tableStyleId>
                  </a:tblPr>
                  <a:tblGrid>
                    <a:gridCol w="659331">
                      <a:extLst>
                        <a:ext uri="{9D8B030D-6E8A-4147-A177-3AD203B41FA5}">
                          <a16:colId xmlns:a16="http://schemas.microsoft.com/office/drawing/2014/main" val="1025358382"/>
                        </a:ext>
                      </a:extLst>
                    </a:gridCol>
                    <a:gridCol w="5204618">
                      <a:extLst>
                        <a:ext uri="{9D8B030D-6E8A-4147-A177-3AD203B41FA5}">
                          <a16:colId xmlns:a16="http://schemas.microsoft.com/office/drawing/2014/main" val="3273274684"/>
                        </a:ext>
                      </a:extLst>
                    </a:gridCol>
                  </a:tblGrid>
                  <a:tr h="673199">
                    <a:tc>
                      <a:txBody>
                        <a:bodyPr/>
                        <a:lstStyle/>
                        <a:p>
                          <a:pPr/>
                          <a14:m>
                            <m:oMathPara xmlns:m="http://schemas.openxmlformats.org/officeDocument/2006/math">
                              <m:oMathParaPr>
                                <m:jc m:val="centerGroup"/>
                              </m:oMathParaPr>
                              <m:oMath xmlns:m="http://schemas.openxmlformats.org/officeDocument/2006/math">
                                <m:sSub>
                                  <m:sSubPr>
                                    <m:ctrlPr>
                                      <a:rPr lang="en-US" sz="2400" b="1" i="1" smtClean="0">
                                        <a:latin typeface="Cambria Math" panose="02040503050406030204" pitchFamily="18" charset="0"/>
                                      </a:rPr>
                                    </m:ctrlPr>
                                  </m:sSubPr>
                                  <m:e>
                                    <m:r>
                                      <a:rPr lang="en-US" sz="2400" b="1" i="1">
                                        <a:latin typeface="Cambria Math" panose="02040503050406030204" pitchFamily="18" charset="0"/>
                                      </a:rPr>
                                      <m:t>𝑭</m:t>
                                    </m:r>
                                  </m:e>
                                  <m:sub>
                                    <m:r>
                                      <a:rPr lang="en-US" sz="2400" b="1" i="1" smtClean="0">
                                        <a:latin typeface="Cambria Math" panose="02040503050406030204" pitchFamily="18" charset="0"/>
                                      </a:rPr>
                                      <m:t>𝒊</m:t>
                                    </m:r>
                                  </m:sub>
                                </m:sSub>
                              </m:oMath>
                            </m:oMathPara>
                          </a14:m>
                          <a:endParaRPr lang="en-US" dirty="0"/>
                        </a:p>
                      </a:txBody>
                      <a:tcPr anchor="ctr">
                        <a:lnB w="38100" cap="flat" cmpd="sng" algn="ctr">
                          <a:solidFill>
                            <a:schemeClr val="tx1"/>
                          </a:solidFill>
                          <a:prstDash val="solid"/>
                          <a:round/>
                          <a:headEnd type="none" w="med" len="med"/>
                          <a:tailEnd type="none" w="med" len="med"/>
                        </a:lnB>
                      </a:tcPr>
                    </a:tc>
                    <a:tc>
                      <a:txBody>
                        <a:bodyPr/>
                        <a:lstStyle/>
                        <a:p>
                          <a:r>
                            <a:rPr lang="en-US" sz="1800" dirty="0">
                              <a:latin typeface="Cambria Math" panose="02040503050406030204" pitchFamily="18" charset="0"/>
                            </a:rPr>
                            <a:t>Input Frequency</a:t>
                          </a:r>
                          <a:endParaRPr lang="en-US" dirty="0"/>
                        </a:p>
                      </a:txBody>
                      <a:tcPr anchor="ct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4958793"/>
                      </a:ext>
                    </a:extLst>
                  </a:tr>
                  <a:tr h="673199">
                    <a:tc>
                      <a:txBody>
                        <a:bodyPr/>
                        <a:lstStyle/>
                        <a:p>
                          <a:pPr algn="ctr"/>
                          <a:r>
                            <a:rPr lang="en-US" b="1" dirty="0"/>
                            <a:t>M</a:t>
                          </a:r>
                        </a:p>
                      </a:txBody>
                      <a:tcPr anchor="ct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sz="1800" b="1" dirty="0">
                              <a:latin typeface="Cambria Math" panose="02040503050406030204" pitchFamily="18" charset="0"/>
                            </a:rPr>
                            <a:t>Number of samples</a:t>
                          </a:r>
                          <a:r>
                            <a:rPr lang="en-US" sz="1800" dirty="0">
                              <a:latin typeface="Cambria Math" panose="02040503050406030204" pitchFamily="18" charset="0"/>
                            </a:rPr>
                            <a:t> in waveform epoch</a:t>
                          </a:r>
                          <a:endParaRPr lang="en-US" dirty="0"/>
                        </a:p>
                      </a:txBody>
                      <a:tcPr anchor="ct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5501839"/>
                      </a:ext>
                    </a:extLst>
                  </a:tr>
                  <a:tr h="673199">
                    <a:tc>
                      <a:txBody>
                        <a:bodyPr/>
                        <a:lstStyle/>
                        <a:p>
                          <a:pPr algn="ctr"/>
                          <a:r>
                            <a:rPr lang="en-US" b="1" dirty="0"/>
                            <a:t>J</a:t>
                          </a:r>
                        </a:p>
                      </a:txBody>
                      <a:tcPr anchor="ct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sz="1800" b="1" i="0" u="none" dirty="0">
                              <a:latin typeface="Cambria Math" panose="02040503050406030204" pitchFamily="18" charset="0"/>
                            </a:rPr>
                            <a:t>Integer</a:t>
                          </a:r>
                          <a:r>
                            <a:rPr lang="en-US" sz="1800" dirty="0">
                              <a:latin typeface="Cambria Math" panose="02040503050406030204" pitchFamily="18" charset="0"/>
                            </a:rPr>
                            <a:t> </a:t>
                          </a:r>
                          <a:r>
                            <a:rPr lang="en-US" sz="1800" b="1" u="none" dirty="0">
                              <a:latin typeface="Cambria Math" panose="02040503050406030204" pitchFamily="18" charset="0"/>
                            </a:rPr>
                            <a:t>number of cycles</a:t>
                          </a:r>
                          <a:r>
                            <a:rPr lang="en-US" sz="1800" u="sng" dirty="0">
                              <a:latin typeface="Cambria Math" panose="02040503050406030204" pitchFamily="18" charset="0"/>
                            </a:rPr>
                            <a:t> </a:t>
                          </a:r>
                          <a:r>
                            <a:rPr lang="en-US" sz="1800" dirty="0">
                              <a:latin typeface="Cambria Math" panose="02040503050406030204" pitchFamily="18" charset="0"/>
                            </a:rPr>
                            <a:t>of the signal in the epoch,   which is </a:t>
                          </a:r>
                          <a:r>
                            <a:rPr lang="en-US" sz="1800" b="1" u="none" dirty="0">
                              <a:latin typeface="Cambria Math" panose="02040503050406030204" pitchFamily="18" charset="0"/>
                            </a:rPr>
                            <a:t>relatively prime to </a:t>
                          </a:r>
                          <a:r>
                            <a:rPr lang="en-US" sz="1800" b="1" i="1" dirty="0">
                              <a:latin typeface="Cambria Math" panose="02040503050406030204" pitchFamily="18" charset="0"/>
                            </a:rPr>
                            <a:t>M</a:t>
                          </a:r>
                          <a:endParaRPr lang="en-US" dirty="0"/>
                        </a:p>
                      </a:txBody>
                      <a:tcPr anchor="ct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8715302"/>
                      </a:ext>
                    </a:extLst>
                  </a:tr>
                  <a:tr h="673199">
                    <a:tc>
                      <a:txBody>
                        <a:bodyPr/>
                        <a:lstStyle/>
                        <a:p>
                          <a:pPr/>
                          <a14:m>
                            <m:oMathPara xmlns:m="http://schemas.openxmlformats.org/officeDocument/2006/math">
                              <m:oMathParaPr>
                                <m:jc m:val="centerGroup"/>
                              </m:oMathParaPr>
                              <m:oMath xmlns:m="http://schemas.openxmlformats.org/officeDocument/2006/math">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𝑭</m:t>
                                    </m:r>
                                  </m:e>
                                  <m:sub>
                                    <m:r>
                                      <a:rPr lang="en-US" sz="2400" b="1" i="1" smtClean="0">
                                        <a:latin typeface="Cambria Math" panose="02040503050406030204" pitchFamily="18" charset="0"/>
                                      </a:rPr>
                                      <m:t>𝑺</m:t>
                                    </m:r>
                                  </m:sub>
                                </m:sSub>
                              </m:oMath>
                            </m:oMathPara>
                          </a14:m>
                          <a:endParaRPr lang="en-US" dirty="0"/>
                        </a:p>
                      </a:txBody>
                      <a:tcPr anchor="ctr">
                        <a:lnT w="38100" cap="flat" cmpd="sng" algn="ctr">
                          <a:solidFill>
                            <a:schemeClr val="tx1"/>
                          </a:solidFill>
                          <a:prstDash val="solid"/>
                          <a:round/>
                          <a:headEnd type="none" w="med" len="med"/>
                          <a:tailEnd type="none" w="med" len="med"/>
                        </a:lnT>
                      </a:tcPr>
                    </a:tc>
                    <a:tc>
                      <a:txBody>
                        <a:bodyPr/>
                        <a:lstStyle/>
                        <a:p>
                          <a:r>
                            <a:rPr lang="en-US" sz="1800" dirty="0"/>
                            <a:t>Sampling Frequency</a:t>
                          </a:r>
                          <a:endParaRPr lang="en-US" dirty="0"/>
                        </a:p>
                      </a:txBody>
                      <a:tcPr anchor="ct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152464210"/>
                      </a:ext>
                    </a:extLst>
                  </a:tr>
                </a:tbl>
              </a:graphicData>
            </a:graphic>
          </p:graphicFrame>
        </mc:Choice>
        <mc:Fallback xmlns="">
          <p:graphicFrame>
            <p:nvGraphicFramePr>
              <p:cNvPr id="5" name="Table 4">
                <a:extLst>
                  <a:ext uri="{FF2B5EF4-FFF2-40B4-BE49-F238E27FC236}">
                    <a16:creationId xmlns:a16="http://schemas.microsoft.com/office/drawing/2014/main" id="{7576044D-D5BC-0D31-1343-E7CD605F60DB}"/>
                  </a:ext>
                </a:extLst>
              </p:cNvPr>
              <p:cNvGraphicFramePr>
                <a:graphicFrameLocks noGrp="1"/>
              </p:cNvGraphicFramePr>
              <p:nvPr>
                <p:extLst>
                  <p:ext uri="{D42A27DB-BD31-4B8C-83A1-F6EECF244321}">
                    <p14:modId xmlns:p14="http://schemas.microsoft.com/office/powerpoint/2010/main" val="2021285681"/>
                  </p:ext>
                </p:extLst>
              </p:nvPr>
            </p:nvGraphicFramePr>
            <p:xfrm>
              <a:off x="506444" y="3429000"/>
              <a:ext cx="5863949" cy="2692796"/>
            </p:xfrm>
            <a:graphic>
              <a:graphicData uri="http://schemas.openxmlformats.org/drawingml/2006/table">
                <a:tbl>
                  <a:tblPr firstRow="1" bandRow="1">
                    <a:tableStyleId>{2D5ABB26-0587-4C30-8999-92F81FD0307C}</a:tableStyleId>
                  </a:tblPr>
                  <a:tblGrid>
                    <a:gridCol w="659331">
                      <a:extLst>
                        <a:ext uri="{9D8B030D-6E8A-4147-A177-3AD203B41FA5}">
                          <a16:colId xmlns:a16="http://schemas.microsoft.com/office/drawing/2014/main" val="1025358382"/>
                        </a:ext>
                      </a:extLst>
                    </a:gridCol>
                    <a:gridCol w="5204618">
                      <a:extLst>
                        <a:ext uri="{9D8B030D-6E8A-4147-A177-3AD203B41FA5}">
                          <a16:colId xmlns:a16="http://schemas.microsoft.com/office/drawing/2014/main" val="3273274684"/>
                        </a:ext>
                      </a:extLst>
                    </a:gridCol>
                  </a:tblGrid>
                  <a:tr h="673199">
                    <a:tc>
                      <a:txBody>
                        <a:bodyPr/>
                        <a:lstStyle/>
                        <a:p>
                          <a:endParaRPr lang="en-US"/>
                        </a:p>
                      </a:txBody>
                      <a:tcPr anchor="ctr">
                        <a:lnB w="38100" cap="flat" cmpd="sng" algn="ctr">
                          <a:solidFill>
                            <a:schemeClr val="tx1"/>
                          </a:solidFill>
                          <a:prstDash val="solid"/>
                          <a:round/>
                          <a:headEnd type="none" w="med" len="med"/>
                          <a:tailEnd type="none" w="med" len="med"/>
                        </a:lnB>
                        <a:blipFill>
                          <a:blip r:embed="rId5"/>
                          <a:stretch>
                            <a:fillRect r="-794444" b="-299099"/>
                          </a:stretch>
                        </a:blipFill>
                      </a:tcPr>
                    </a:tc>
                    <a:tc>
                      <a:txBody>
                        <a:bodyPr/>
                        <a:lstStyle/>
                        <a:p>
                          <a:r>
                            <a:rPr lang="en-US" sz="1800" dirty="0">
                              <a:latin typeface="Cambria Math" panose="02040503050406030204" pitchFamily="18" charset="0"/>
                            </a:rPr>
                            <a:t>Input Frequency</a:t>
                          </a:r>
                          <a:endParaRPr lang="en-US" dirty="0"/>
                        </a:p>
                      </a:txBody>
                      <a:tcPr anchor="ct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4958793"/>
                      </a:ext>
                    </a:extLst>
                  </a:tr>
                  <a:tr h="673199">
                    <a:tc>
                      <a:txBody>
                        <a:bodyPr/>
                        <a:lstStyle/>
                        <a:p>
                          <a:pPr algn="ctr"/>
                          <a:r>
                            <a:rPr lang="en-US" b="1" dirty="0"/>
                            <a:t>M</a:t>
                          </a:r>
                        </a:p>
                      </a:txBody>
                      <a:tcPr anchor="ct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sz="1800" b="1" dirty="0">
                              <a:latin typeface="Cambria Math" panose="02040503050406030204" pitchFamily="18" charset="0"/>
                            </a:rPr>
                            <a:t>Number of samples</a:t>
                          </a:r>
                          <a:r>
                            <a:rPr lang="en-US" sz="1800" dirty="0">
                              <a:latin typeface="Cambria Math" panose="02040503050406030204" pitchFamily="18" charset="0"/>
                            </a:rPr>
                            <a:t> in waveform epoch</a:t>
                          </a:r>
                          <a:endParaRPr lang="en-US" dirty="0"/>
                        </a:p>
                      </a:txBody>
                      <a:tcPr anchor="ct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5501839"/>
                      </a:ext>
                    </a:extLst>
                  </a:tr>
                  <a:tr h="673199">
                    <a:tc>
                      <a:txBody>
                        <a:bodyPr/>
                        <a:lstStyle/>
                        <a:p>
                          <a:pPr algn="ctr"/>
                          <a:r>
                            <a:rPr lang="en-US" b="1" dirty="0"/>
                            <a:t>J</a:t>
                          </a:r>
                        </a:p>
                      </a:txBody>
                      <a:tcPr anchor="ct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sz="1800" b="1" i="0" u="none" dirty="0">
                              <a:latin typeface="Cambria Math" panose="02040503050406030204" pitchFamily="18" charset="0"/>
                            </a:rPr>
                            <a:t>Integer</a:t>
                          </a:r>
                          <a:r>
                            <a:rPr lang="en-US" sz="1800" dirty="0">
                              <a:latin typeface="Cambria Math" panose="02040503050406030204" pitchFamily="18" charset="0"/>
                            </a:rPr>
                            <a:t> </a:t>
                          </a:r>
                          <a:r>
                            <a:rPr lang="en-US" sz="1800" b="1" u="none" dirty="0">
                              <a:latin typeface="Cambria Math" panose="02040503050406030204" pitchFamily="18" charset="0"/>
                            </a:rPr>
                            <a:t>number of cycles</a:t>
                          </a:r>
                          <a:r>
                            <a:rPr lang="en-US" sz="1800" u="sng" dirty="0">
                              <a:latin typeface="Cambria Math" panose="02040503050406030204" pitchFamily="18" charset="0"/>
                            </a:rPr>
                            <a:t> </a:t>
                          </a:r>
                          <a:r>
                            <a:rPr lang="en-US" sz="1800" dirty="0">
                              <a:latin typeface="Cambria Math" panose="02040503050406030204" pitchFamily="18" charset="0"/>
                            </a:rPr>
                            <a:t>of the signal in the epoch,   which is </a:t>
                          </a:r>
                          <a:r>
                            <a:rPr lang="en-US" sz="1800" b="1" u="none" dirty="0">
                              <a:latin typeface="Cambria Math" panose="02040503050406030204" pitchFamily="18" charset="0"/>
                            </a:rPr>
                            <a:t>relatively prime to </a:t>
                          </a:r>
                          <a:r>
                            <a:rPr lang="en-US" sz="1800" b="1" i="1" dirty="0">
                              <a:latin typeface="Cambria Math" panose="02040503050406030204" pitchFamily="18" charset="0"/>
                            </a:rPr>
                            <a:t>M</a:t>
                          </a:r>
                          <a:endParaRPr lang="en-US" dirty="0"/>
                        </a:p>
                      </a:txBody>
                      <a:tcPr anchor="ct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8715302"/>
                      </a:ext>
                    </a:extLst>
                  </a:tr>
                  <a:tr h="673199">
                    <a:tc>
                      <a:txBody>
                        <a:bodyPr/>
                        <a:lstStyle/>
                        <a:p>
                          <a:endParaRPr lang="en-US"/>
                        </a:p>
                      </a:txBody>
                      <a:tcPr anchor="ctr">
                        <a:lnT w="38100" cap="flat" cmpd="sng" algn="ctr">
                          <a:solidFill>
                            <a:schemeClr val="tx1"/>
                          </a:solidFill>
                          <a:prstDash val="solid"/>
                          <a:round/>
                          <a:headEnd type="none" w="med" len="med"/>
                          <a:tailEnd type="none" w="med" len="med"/>
                        </a:lnT>
                        <a:blipFill>
                          <a:blip r:embed="rId5"/>
                          <a:stretch>
                            <a:fillRect t="-299099" r="-794444"/>
                          </a:stretch>
                        </a:blipFill>
                      </a:tcPr>
                    </a:tc>
                    <a:tc>
                      <a:txBody>
                        <a:bodyPr/>
                        <a:lstStyle/>
                        <a:p>
                          <a:r>
                            <a:rPr lang="en-US" sz="1800" dirty="0"/>
                            <a:t>Sampling Frequency</a:t>
                          </a:r>
                          <a:endParaRPr lang="en-US" dirty="0"/>
                        </a:p>
                      </a:txBody>
                      <a:tcPr anchor="ct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152464210"/>
                      </a:ext>
                    </a:extLst>
                  </a:tr>
                </a:tbl>
              </a:graphicData>
            </a:graphic>
          </p:graphicFrame>
        </mc:Fallback>
      </mc:AlternateContent>
      <p:sp>
        <p:nvSpPr>
          <p:cNvPr id="7" name="TextBox 6">
            <a:extLst>
              <a:ext uri="{FF2B5EF4-FFF2-40B4-BE49-F238E27FC236}">
                <a16:creationId xmlns:a16="http://schemas.microsoft.com/office/drawing/2014/main" id="{87EACA18-621D-329B-B73D-812D54EA58C8}"/>
              </a:ext>
            </a:extLst>
          </p:cNvPr>
          <p:cNvSpPr txBox="1"/>
          <p:nvPr/>
        </p:nvSpPr>
        <p:spPr>
          <a:xfrm>
            <a:off x="236306" y="6287784"/>
            <a:ext cx="544530" cy="380144"/>
          </a:xfrm>
          <a:prstGeom prst="rect">
            <a:avLst/>
          </a:prstGeom>
          <a:noFill/>
        </p:spPr>
        <p:txBody>
          <a:bodyPr wrap="square" rtlCol="0">
            <a:noAutofit/>
          </a:bodyPr>
          <a:lstStyle/>
          <a:p>
            <a:pPr algn="ctr"/>
            <a:r>
              <a:rPr lang="en-US" sz="1600" dirty="0"/>
              <a:t>17</a:t>
            </a:r>
          </a:p>
        </p:txBody>
      </p:sp>
    </p:spTree>
    <p:extLst>
      <p:ext uri="{BB962C8B-B14F-4D97-AF65-F5344CB8AC3E}">
        <p14:creationId xmlns:p14="http://schemas.microsoft.com/office/powerpoint/2010/main" val="10301340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B5831-71B0-33CF-353B-A5C3AC271039}"/>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BA15B749-B3CE-3BF8-5BBE-F6410A008FE0}"/>
              </a:ext>
            </a:extLst>
          </p:cNvPr>
          <p:cNvPicPr>
            <a:picLocks noChangeAspect="1"/>
          </p:cNvPicPr>
          <p:nvPr/>
        </p:nvPicPr>
        <p:blipFill>
          <a:blip r:embed="rId3"/>
          <a:stretch>
            <a:fillRect/>
          </a:stretch>
        </p:blipFill>
        <p:spPr>
          <a:xfrm>
            <a:off x="1675254" y="1446921"/>
            <a:ext cx="8841492" cy="2693279"/>
          </a:xfrm>
          <a:prstGeom prst="rect">
            <a:avLst/>
          </a:prstGeom>
        </p:spPr>
      </p:pic>
      <p:sp>
        <p:nvSpPr>
          <p:cNvPr id="2" name="Title 1">
            <a:extLst>
              <a:ext uri="{FF2B5EF4-FFF2-40B4-BE49-F238E27FC236}">
                <a16:creationId xmlns:a16="http://schemas.microsoft.com/office/drawing/2014/main" id="{C7BEF399-F0C0-AC9A-4887-43D7BE28D3BC}"/>
              </a:ext>
            </a:extLst>
          </p:cNvPr>
          <p:cNvSpPr>
            <a:spLocks noGrp="1"/>
          </p:cNvSpPr>
          <p:nvPr>
            <p:ph type="title"/>
          </p:nvPr>
        </p:nvSpPr>
        <p:spPr>
          <a:xfrm>
            <a:off x="609600" y="363090"/>
            <a:ext cx="10972800" cy="800100"/>
          </a:xfrm>
        </p:spPr>
        <p:txBody>
          <a:bodyPr anchor="b">
            <a:normAutofit/>
          </a:bodyPr>
          <a:lstStyle/>
          <a:p>
            <a:r>
              <a:rPr lang="en-US" dirty="0"/>
              <a:t>Coherent Sampling Setup</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32B0ACA-A2B3-4823-0A84-F6A582473DFB}"/>
                  </a:ext>
                </a:extLst>
              </p:cNvPr>
              <p:cNvSpPr txBox="1"/>
              <p:nvPr/>
            </p:nvSpPr>
            <p:spPr>
              <a:xfrm>
                <a:off x="1609154" y="5129274"/>
                <a:ext cx="2454442" cy="664144"/>
              </a:xfrm>
              <a:prstGeom prst="rect">
                <a:avLst/>
              </a:prstGeom>
              <a:noFill/>
            </p:spPr>
            <p:txBody>
              <a:bodyPr wrap="none" lIns="0" tIns="0" rIns="0" bIns="0" rtlCol="0">
                <a:noAutofit/>
              </a:bodyPr>
              <a:lstStyle/>
              <a:p>
                <a:pPr algn="ctr"/>
                <a14:m>
                  <m:oMathPara xmlns:m="http://schemas.openxmlformats.org/officeDocument/2006/math">
                    <m:oMathParaPr>
                      <m:jc m:val="centerGroup"/>
                    </m:oMathParaPr>
                    <m:oMath xmlns:m="http://schemas.openxmlformats.org/officeDocument/2006/math">
                      <m:sSub>
                        <m:sSubPr>
                          <m:ctrlPr>
                            <a:rPr lang="en-US" sz="3600" i="1" smtClean="0">
                              <a:latin typeface="Cambria Math" panose="02040503050406030204" pitchFamily="18" charset="0"/>
                            </a:rPr>
                          </m:ctrlPr>
                        </m:sSubPr>
                        <m:e>
                          <m:r>
                            <a:rPr lang="en-US" sz="3600" b="0" i="1" smtClean="0">
                              <a:latin typeface="Cambria Math" panose="02040503050406030204" pitchFamily="18" charset="0"/>
                            </a:rPr>
                            <m:t>𝐹</m:t>
                          </m:r>
                        </m:e>
                        <m:sub>
                          <m:r>
                            <a:rPr lang="en-US" sz="3600" b="0" i="1" smtClean="0">
                              <a:latin typeface="Cambria Math" panose="02040503050406030204" pitchFamily="18" charset="0"/>
                            </a:rPr>
                            <m:t>𝑖</m:t>
                          </m:r>
                        </m:sub>
                      </m:sSub>
                      <m:r>
                        <a:rPr lang="en-US" sz="3600" b="0" i="1" smtClean="0">
                          <a:latin typeface="Cambria Math" panose="02040503050406030204" pitchFamily="18" charset="0"/>
                        </a:rPr>
                        <m:t>𝑀</m:t>
                      </m:r>
                      <m:r>
                        <a:rPr lang="en-US" sz="3600" b="0" i="1" smtClean="0">
                          <a:latin typeface="Cambria Math" panose="02040503050406030204" pitchFamily="18" charset="0"/>
                        </a:rPr>
                        <m:t>=</m:t>
                      </m:r>
                      <m:r>
                        <a:rPr lang="en-US" sz="3600" b="0" i="1" smtClean="0">
                          <a:latin typeface="Cambria Math" panose="02040503050406030204" pitchFamily="18" charset="0"/>
                        </a:rPr>
                        <m:t>𝐽</m:t>
                      </m:r>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𝐹</m:t>
                          </m:r>
                        </m:e>
                        <m:sub>
                          <m:r>
                            <a:rPr lang="en-US" sz="3600" b="0" i="1" smtClean="0">
                              <a:latin typeface="Cambria Math" panose="02040503050406030204" pitchFamily="18" charset="0"/>
                            </a:rPr>
                            <m:t>𝑆</m:t>
                          </m:r>
                        </m:sub>
                      </m:sSub>
                    </m:oMath>
                  </m:oMathPara>
                </a14:m>
                <a:endParaRPr lang="en-US" sz="3600" dirty="0" err="1"/>
              </a:p>
            </p:txBody>
          </p:sp>
        </mc:Choice>
        <mc:Fallback xmlns="">
          <p:sp>
            <p:nvSpPr>
              <p:cNvPr id="6" name="TextBox 5">
                <a:extLst>
                  <a:ext uri="{FF2B5EF4-FFF2-40B4-BE49-F238E27FC236}">
                    <a16:creationId xmlns:a16="http://schemas.microsoft.com/office/drawing/2014/main" id="{932B0ACA-A2B3-4823-0A84-F6A582473DFB}"/>
                  </a:ext>
                </a:extLst>
              </p:cNvPr>
              <p:cNvSpPr txBox="1">
                <a:spLocks noRot="1" noChangeAspect="1" noMove="1" noResize="1" noEditPoints="1" noAdjustHandles="1" noChangeArrowheads="1" noChangeShapeType="1" noTextEdit="1"/>
              </p:cNvSpPr>
              <p:nvPr/>
            </p:nvSpPr>
            <p:spPr>
              <a:xfrm>
                <a:off x="1609154" y="5129274"/>
                <a:ext cx="2454442" cy="66414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8DDE227E-E000-1486-57BE-5FF0CA1C9160}"/>
                  </a:ext>
                </a:extLst>
              </p:cNvPr>
              <p:cNvGraphicFramePr>
                <a:graphicFrameLocks noGrp="1"/>
              </p:cNvGraphicFramePr>
              <p:nvPr>
                <p:extLst>
                  <p:ext uri="{D42A27DB-BD31-4B8C-83A1-F6EECF244321}">
                    <p14:modId xmlns:p14="http://schemas.microsoft.com/office/powerpoint/2010/main" val="3788575880"/>
                  </p:ext>
                </p:extLst>
              </p:nvPr>
            </p:nvGraphicFramePr>
            <p:xfrm>
              <a:off x="4279293" y="4110284"/>
              <a:ext cx="5863949" cy="2692796"/>
            </p:xfrm>
            <a:graphic>
              <a:graphicData uri="http://schemas.openxmlformats.org/drawingml/2006/table">
                <a:tbl>
                  <a:tblPr firstRow="1" bandRow="1">
                    <a:tableStyleId>{2D5ABB26-0587-4C30-8999-92F81FD0307C}</a:tableStyleId>
                  </a:tblPr>
                  <a:tblGrid>
                    <a:gridCol w="659331">
                      <a:extLst>
                        <a:ext uri="{9D8B030D-6E8A-4147-A177-3AD203B41FA5}">
                          <a16:colId xmlns:a16="http://schemas.microsoft.com/office/drawing/2014/main" val="1025358382"/>
                        </a:ext>
                      </a:extLst>
                    </a:gridCol>
                    <a:gridCol w="5204618">
                      <a:extLst>
                        <a:ext uri="{9D8B030D-6E8A-4147-A177-3AD203B41FA5}">
                          <a16:colId xmlns:a16="http://schemas.microsoft.com/office/drawing/2014/main" val="3273274684"/>
                        </a:ext>
                      </a:extLst>
                    </a:gridCol>
                  </a:tblGrid>
                  <a:tr h="673199">
                    <a:tc>
                      <a:txBody>
                        <a:bodyPr/>
                        <a:lstStyle/>
                        <a:p>
                          <a:pPr/>
                          <a14:m>
                            <m:oMathPara xmlns:m="http://schemas.openxmlformats.org/officeDocument/2006/math">
                              <m:oMathParaPr>
                                <m:jc m:val="centerGroup"/>
                              </m:oMathParaPr>
                              <m:oMath xmlns:m="http://schemas.openxmlformats.org/officeDocument/2006/math">
                                <m:sSub>
                                  <m:sSubPr>
                                    <m:ctrlPr>
                                      <a:rPr lang="en-US" sz="2400" b="1" i="1" smtClean="0">
                                        <a:latin typeface="Cambria Math" panose="02040503050406030204" pitchFamily="18" charset="0"/>
                                      </a:rPr>
                                    </m:ctrlPr>
                                  </m:sSubPr>
                                  <m:e>
                                    <m:r>
                                      <a:rPr lang="en-US" sz="2400" b="1" i="1">
                                        <a:latin typeface="Cambria Math" panose="02040503050406030204" pitchFamily="18" charset="0"/>
                                      </a:rPr>
                                      <m:t>𝑭</m:t>
                                    </m:r>
                                  </m:e>
                                  <m:sub>
                                    <m:r>
                                      <a:rPr lang="en-US" sz="2400" b="1" i="1" smtClean="0">
                                        <a:latin typeface="Cambria Math" panose="02040503050406030204" pitchFamily="18" charset="0"/>
                                      </a:rPr>
                                      <m:t>𝒊</m:t>
                                    </m:r>
                                  </m:sub>
                                </m:sSub>
                              </m:oMath>
                            </m:oMathPara>
                          </a14:m>
                          <a:endParaRPr lang="en-US" dirty="0"/>
                        </a:p>
                      </a:txBody>
                      <a:tcPr anchor="ctr">
                        <a:lnB w="38100" cap="flat" cmpd="sng" algn="ctr">
                          <a:solidFill>
                            <a:schemeClr val="tx1"/>
                          </a:solidFill>
                          <a:prstDash val="solid"/>
                          <a:round/>
                          <a:headEnd type="none" w="med" len="med"/>
                          <a:tailEnd type="none" w="med" len="med"/>
                        </a:lnB>
                      </a:tcPr>
                    </a:tc>
                    <a:tc>
                      <a:txBody>
                        <a:bodyPr/>
                        <a:lstStyle/>
                        <a:p>
                          <a:r>
                            <a:rPr lang="en-US" sz="1800" dirty="0">
                              <a:latin typeface="Cambria Math" panose="02040503050406030204" pitchFamily="18" charset="0"/>
                            </a:rPr>
                            <a:t>Input Frequency</a:t>
                          </a:r>
                          <a:endParaRPr lang="en-US" dirty="0"/>
                        </a:p>
                      </a:txBody>
                      <a:tcPr anchor="ct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4958793"/>
                      </a:ext>
                    </a:extLst>
                  </a:tr>
                  <a:tr h="673199">
                    <a:tc>
                      <a:txBody>
                        <a:bodyPr/>
                        <a:lstStyle/>
                        <a:p>
                          <a:pPr algn="ctr"/>
                          <a:r>
                            <a:rPr lang="en-US" b="1" dirty="0"/>
                            <a:t>M</a:t>
                          </a:r>
                        </a:p>
                      </a:txBody>
                      <a:tcPr anchor="ct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sz="1800" dirty="0">
                              <a:latin typeface="Cambria Math" panose="02040503050406030204" pitchFamily="18" charset="0"/>
                            </a:rPr>
                            <a:t>Number of samples in waveform epoch</a:t>
                          </a:r>
                          <a:endParaRPr lang="en-US" dirty="0"/>
                        </a:p>
                      </a:txBody>
                      <a:tcPr anchor="ct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5501839"/>
                      </a:ext>
                    </a:extLst>
                  </a:tr>
                  <a:tr h="673199">
                    <a:tc>
                      <a:txBody>
                        <a:bodyPr/>
                        <a:lstStyle/>
                        <a:p>
                          <a:pPr algn="ctr"/>
                          <a:r>
                            <a:rPr lang="en-US" b="1" dirty="0"/>
                            <a:t>J</a:t>
                          </a:r>
                        </a:p>
                      </a:txBody>
                      <a:tcPr anchor="ct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sz="1800" dirty="0">
                              <a:latin typeface="Cambria Math" panose="02040503050406030204" pitchFamily="18" charset="0"/>
                            </a:rPr>
                            <a:t>Integer number of cycles of the signal in the epoch,   which is relatively prime to </a:t>
                          </a:r>
                          <a:r>
                            <a:rPr lang="en-US" sz="1800" b="1" i="1" dirty="0">
                              <a:latin typeface="Cambria Math" panose="02040503050406030204" pitchFamily="18" charset="0"/>
                            </a:rPr>
                            <a:t>M</a:t>
                          </a:r>
                          <a:endParaRPr lang="en-US" dirty="0"/>
                        </a:p>
                      </a:txBody>
                      <a:tcPr anchor="ct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8715302"/>
                      </a:ext>
                    </a:extLst>
                  </a:tr>
                  <a:tr h="673199">
                    <a:tc>
                      <a:txBody>
                        <a:bodyPr/>
                        <a:lstStyle/>
                        <a:p>
                          <a:pPr/>
                          <a14:m>
                            <m:oMathPara xmlns:m="http://schemas.openxmlformats.org/officeDocument/2006/math">
                              <m:oMathParaPr>
                                <m:jc m:val="centerGroup"/>
                              </m:oMathParaPr>
                              <m:oMath xmlns:m="http://schemas.openxmlformats.org/officeDocument/2006/math">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𝑭</m:t>
                                    </m:r>
                                  </m:e>
                                  <m:sub>
                                    <m:r>
                                      <a:rPr lang="en-US" sz="2400" b="1" i="1" smtClean="0">
                                        <a:latin typeface="Cambria Math" panose="02040503050406030204" pitchFamily="18" charset="0"/>
                                      </a:rPr>
                                      <m:t>𝑺</m:t>
                                    </m:r>
                                  </m:sub>
                                </m:sSub>
                              </m:oMath>
                            </m:oMathPara>
                          </a14:m>
                          <a:endParaRPr lang="en-US" dirty="0"/>
                        </a:p>
                      </a:txBody>
                      <a:tcPr anchor="ctr">
                        <a:lnT w="38100" cap="flat" cmpd="sng" algn="ctr">
                          <a:solidFill>
                            <a:schemeClr val="tx1"/>
                          </a:solidFill>
                          <a:prstDash val="solid"/>
                          <a:round/>
                          <a:headEnd type="none" w="med" len="med"/>
                          <a:tailEnd type="none" w="med" len="med"/>
                        </a:lnT>
                      </a:tcPr>
                    </a:tc>
                    <a:tc>
                      <a:txBody>
                        <a:bodyPr/>
                        <a:lstStyle/>
                        <a:p>
                          <a:r>
                            <a:rPr lang="en-US" sz="1800" dirty="0"/>
                            <a:t>Sampling Frequency</a:t>
                          </a:r>
                          <a:endParaRPr lang="en-US" dirty="0"/>
                        </a:p>
                      </a:txBody>
                      <a:tcPr anchor="ct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152464210"/>
                      </a:ext>
                    </a:extLst>
                  </a:tr>
                </a:tbl>
              </a:graphicData>
            </a:graphic>
          </p:graphicFrame>
        </mc:Choice>
        <mc:Fallback xmlns="">
          <p:graphicFrame>
            <p:nvGraphicFramePr>
              <p:cNvPr id="4" name="Table 3">
                <a:extLst>
                  <a:ext uri="{FF2B5EF4-FFF2-40B4-BE49-F238E27FC236}">
                    <a16:creationId xmlns:a16="http://schemas.microsoft.com/office/drawing/2014/main" id="{8DDE227E-E000-1486-57BE-5FF0CA1C9160}"/>
                  </a:ext>
                </a:extLst>
              </p:cNvPr>
              <p:cNvGraphicFramePr>
                <a:graphicFrameLocks noGrp="1"/>
              </p:cNvGraphicFramePr>
              <p:nvPr>
                <p:extLst>
                  <p:ext uri="{D42A27DB-BD31-4B8C-83A1-F6EECF244321}">
                    <p14:modId xmlns:p14="http://schemas.microsoft.com/office/powerpoint/2010/main" val="3788575880"/>
                  </p:ext>
                </p:extLst>
              </p:nvPr>
            </p:nvGraphicFramePr>
            <p:xfrm>
              <a:off x="4279293" y="4110284"/>
              <a:ext cx="5863949" cy="2692796"/>
            </p:xfrm>
            <a:graphic>
              <a:graphicData uri="http://schemas.openxmlformats.org/drawingml/2006/table">
                <a:tbl>
                  <a:tblPr firstRow="1" bandRow="1">
                    <a:tableStyleId>{2D5ABB26-0587-4C30-8999-92F81FD0307C}</a:tableStyleId>
                  </a:tblPr>
                  <a:tblGrid>
                    <a:gridCol w="659331">
                      <a:extLst>
                        <a:ext uri="{9D8B030D-6E8A-4147-A177-3AD203B41FA5}">
                          <a16:colId xmlns:a16="http://schemas.microsoft.com/office/drawing/2014/main" val="1025358382"/>
                        </a:ext>
                      </a:extLst>
                    </a:gridCol>
                    <a:gridCol w="5204618">
                      <a:extLst>
                        <a:ext uri="{9D8B030D-6E8A-4147-A177-3AD203B41FA5}">
                          <a16:colId xmlns:a16="http://schemas.microsoft.com/office/drawing/2014/main" val="3273274684"/>
                        </a:ext>
                      </a:extLst>
                    </a:gridCol>
                  </a:tblGrid>
                  <a:tr h="673199">
                    <a:tc>
                      <a:txBody>
                        <a:bodyPr/>
                        <a:lstStyle/>
                        <a:p>
                          <a:endParaRPr lang="en-US"/>
                        </a:p>
                      </a:txBody>
                      <a:tcPr anchor="ctr">
                        <a:lnB w="38100" cap="flat" cmpd="sng" algn="ctr">
                          <a:solidFill>
                            <a:schemeClr val="tx1"/>
                          </a:solidFill>
                          <a:prstDash val="solid"/>
                          <a:round/>
                          <a:headEnd type="none" w="med" len="med"/>
                          <a:tailEnd type="none" w="med" len="med"/>
                        </a:lnB>
                        <a:blipFill>
                          <a:blip r:embed="rId5"/>
                          <a:stretch>
                            <a:fillRect r="-795370" b="-298198"/>
                          </a:stretch>
                        </a:blipFill>
                      </a:tcPr>
                    </a:tc>
                    <a:tc>
                      <a:txBody>
                        <a:bodyPr/>
                        <a:lstStyle/>
                        <a:p>
                          <a:r>
                            <a:rPr lang="en-US" sz="1800" dirty="0">
                              <a:latin typeface="Cambria Math" panose="02040503050406030204" pitchFamily="18" charset="0"/>
                            </a:rPr>
                            <a:t>Input Frequency</a:t>
                          </a:r>
                          <a:endParaRPr lang="en-US" dirty="0"/>
                        </a:p>
                      </a:txBody>
                      <a:tcPr anchor="ct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4958793"/>
                      </a:ext>
                    </a:extLst>
                  </a:tr>
                  <a:tr h="673199">
                    <a:tc>
                      <a:txBody>
                        <a:bodyPr/>
                        <a:lstStyle/>
                        <a:p>
                          <a:pPr algn="ctr"/>
                          <a:r>
                            <a:rPr lang="en-US" b="1" dirty="0"/>
                            <a:t>M</a:t>
                          </a:r>
                        </a:p>
                      </a:txBody>
                      <a:tcPr anchor="ct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sz="1800" dirty="0">
                              <a:latin typeface="Cambria Math" panose="02040503050406030204" pitchFamily="18" charset="0"/>
                            </a:rPr>
                            <a:t>Number of samples in waveform epoch</a:t>
                          </a:r>
                          <a:endParaRPr lang="en-US" dirty="0"/>
                        </a:p>
                      </a:txBody>
                      <a:tcPr anchor="ct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5501839"/>
                      </a:ext>
                    </a:extLst>
                  </a:tr>
                  <a:tr h="673199">
                    <a:tc>
                      <a:txBody>
                        <a:bodyPr/>
                        <a:lstStyle/>
                        <a:p>
                          <a:pPr algn="ctr"/>
                          <a:r>
                            <a:rPr lang="en-US" b="1" dirty="0"/>
                            <a:t>J</a:t>
                          </a:r>
                        </a:p>
                      </a:txBody>
                      <a:tcPr anchor="ct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sz="1800" dirty="0">
                              <a:latin typeface="Cambria Math" panose="02040503050406030204" pitchFamily="18" charset="0"/>
                            </a:rPr>
                            <a:t>Integer number of cycles of the signal in the epoch,   which is relatively prime to </a:t>
                          </a:r>
                          <a:r>
                            <a:rPr lang="en-US" sz="1800" b="1" i="1" dirty="0">
                              <a:latin typeface="Cambria Math" panose="02040503050406030204" pitchFamily="18" charset="0"/>
                            </a:rPr>
                            <a:t>M</a:t>
                          </a:r>
                          <a:endParaRPr lang="en-US" dirty="0"/>
                        </a:p>
                      </a:txBody>
                      <a:tcPr anchor="ct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8715302"/>
                      </a:ext>
                    </a:extLst>
                  </a:tr>
                  <a:tr h="673199">
                    <a:tc>
                      <a:txBody>
                        <a:bodyPr/>
                        <a:lstStyle/>
                        <a:p>
                          <a:endParaRPr lang="en-US"/>
                        </a:p>
                      </a:txBody>
                      <a:tcPr anchor="ctr">
                        <a:lnT w="38100" cap="flat" cmpd="sng" algn="ctr">
                          <a:solidFill>
                            <a:schemeClr val="tx1"/>
                          </a:solidFill>
                          <a:prstDash val="solid"/>
                          <a:round/>
                          <a:headEnd type="none" w="med" len="med"/>
                          <a:tailEnd type="none" w="med" len="med"/>
                        </a:lnT>
                        <a:blipFill>
                          <a:blip r:embed="rId5"/>
                          <a:stretch>
                            <a:fillRect t="-301818" r="-795370"/>
                          </a:stretch>
                        </a:blipFill>
                      </a:tcPr>
                    </a:tc>
                    <a:tc>
                      <a:txBody>
                        <a:bodyPr/>
                        <a:lstStyle/>
                        <a:p>
                          <a:r>
                            <a:rPr lang="en-US" sz="1800" dirty="0"/>
                            <a:t>Sampling Frequency</a:t>
                          </a:r>
                          <a:endParaRPr lang="en-US" dirty="0"/>
                        </a:p>
                      </a:txBody>
                      <a:tcPr anchor="ct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152464210"/>
                      </a:ext>
                    </a:extLst>
                  </a:tr>
                </a:tbl>
              </a:graphicData>
            </a:graphic>
          </p:graphicFrame>
        </mc:Fallback>
      </mc:AlternateContent>
      <p:sp>
        <p:nvSpPr>
          <p:cNvPr id="11" name="Rectangle: Rounded Corners 10">
            <a:extLst>
              <a:ext uri="{FF2B5EF4-FFF2-40B4-BE49-F238E27FC236}">
                <a16:creationId xmlns:a16="http://schemas.microsoft.com/office/drawing/2014/main" id="{A235B635-0865-3CD0-31B0-07A01D27BE09}"/>
              </a:ext>
            </a:extLst>
          </p:cNvPr>
          <p:cNvSpPr/>
          <p:nvPr/>
        </p:nvSpPr>
        <p:spPr bwMode="auto">
          <a:xfrm>
            <a:off x="1879600" y="3238500"/>
            <a:ext cx="8534400" cy="781050"/>
          </a:xfrm>
          <a:prstGeom prst="roundRect">
            <a:avLst/>
          </a:prstGeom>
          <a:solidFill>
            <a:srgbClr val="FFFF00">
              <a:alpha val="18824"/>
            </a:srgbClr>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12" name="TextBox 11">
            <a:extLst>
              <a:ext uri="{FF2B5EF4-FFF2-40B4-BE49-F238E27FC236}">
                <a16:creationId xmlns:a16="http://schemas.microsoft.com/office/drawing/2014/main" id="{AC9F0924-FD4C-FA64-BD72-CA7209642D82}"/>
              </a:ext>
            </a:extLst>
          </p:cNvPr>
          <p:cNvSpPr txBox="1"/>
          <p:nvPr/>
        </p:nvSpPr>
        <p:spPr>
          <a:xfrm>
            <a:off x="236306" y="6287784"/>
            <a:ext cx="544530" cy="380144"/>
          </a:xfrm>
          <a:prstGeom prst="rect">
            <a:avLst/>
          </a:prstGeom>
          <a:noFill/>
        </p:spPr>
        <p:txBody>
          <a:bodyPr wrap="square" rtlCol="0">
            <a:noAutofit/>
          </a:bodyPr>
          <a:lstStyle/>
          <a:p>
            <a:pPr algn="ctr"/>
            <a:r>
              <a:rPr lang="en-US" sz="1600" dirty="0"/>
              <a:t>18</a:t>
            </a:r>
          </a:p>
        </p:txBody>
      </p:sp>
    </p:spTree>
    <p:extLst>
      <p:ext uri="{BB962C8B-B14F-4D97-AF65-F5344CB8AC3E}">
        <p14:creationId xmlns:p14="http://schemas.microsoft.com/office/powerpoint/2010/main" val="28480948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CBA69-E6B3-90AA-7BC5-03D225340F3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535A1C6-DA43-6721-18A0-4AC5A067D3FA}"/>
              </a:ext>
            </a:extLst>
          </p:cNvPr>
          <p:cNvSpPr>
            <a:spLocks noGrp="1"/>
          </p:cNvSpPr>
          <p:nvPr>
            <p:ph type="subTitle" idx="1"/>
          </p:nvPr>
        </p:nvSpPr>
        <p:spPr/>
        <p:txBody>
          <a:bodyPr/>
          <a:lstStyle/>
          <a:p>
            <a:pPr marL="0" indent="0">
              <a:buNone/>
            </a:pPr>
            <a:endParaRPr lang="en-US" dirty="0"/>
          </a:p>
        </p:txBody>
      </p:sp>
      <p:sp>
        <p:nvSpPr>
          <p:cNvPr id="2" name="Title 1">
            <a:extLst>
              <a:ext uri="{FF2B5EF4-FFF2-40B4-BE49-F238E27FC236}">
                <a16:creationId xmlns:a16="http://schemas.microsoft.com/office/drawing/2014/main" id="{433AE741-7C67-9713-2B88-82AAC0DACDAB}"/>
              </a:ext>
            </a:extLst>
          </p:cNvPr>
          <p:cNvSpPr>
            <a:spLocks noGrp="1"/>
          </p:cNvSpPr>
          <p:nvPr>
            <p:ph type="ctrTitle"/>
          </p:nvPr>
        </p:nvSpPr>
        <p:spPr/>
        <p:txBody>
          <a:bodyPr/>
          <a:lstStyle/>
          <a:p>
            <a:r>
              <a:rPr lang="en-US" dirty="0"/>
              <a:t>FFT Spectrum Analysis</a:t>
            </a:r>
          </a:p>
        </p:txBody>
      </p:sp>
      <p:sp>
        <p:nvSpPr>
          <p:cNvPr id="6" name="TextBox 5">
            <a:extLst>
              <a:ext uri="{FF2B5EF4-FFF2-40B4-BE49-F238E27FC236}">
                <a16:creationId xmlns:a16="http://schemas.microsoft.com/office/drawing/2014/main" id="{56CEAB77-2412-4338-C1B2-B9BC2076A1FF}"/>
              </a:ext>
            </a:extLst>
          </p:cNvPr>
          <p:cNvSpPr txBox="1"/>
          <p:nvPr/>
        </p:nvSpPr>
        <p:spPr>
          <a:xfrm>
            <a:off x="3901440" y="5953760"/>
            <a:ext cx="0" cy="0"/>
          </a:xfrm>
          <a:prstGeom prst="rect">
            <a:avLst/>
          </a:prstGeom>
          <a:noFill/>
        </p:spPr>
        <p:txBody>
          <a:bodyPr wrap="none" rtlCol="0">
            <a:noAutofit/>
          </a:bodyPr>
          <a:lstStyle/>
          <a:p>
            <a:pPr algn="ctr"/>
            <a:endParaRPr lang="en-US" sz="1600" dirty="0" err="1"/>
          </a:p>
        </p:txBody>
      </p:sp>
      <p:sp>
        <p:nvSpPr>
          <p:cNvPr id="4" name="TextBox 3">
            <a:extLst>
              <a:ext uri="{FF2B5EF4-FFF2-40B4-BE49-F238E27FC236}">
                <a16:creationId xmlns:a16="http://schemas.microsoft.com/office/drawing/2014/main" id="{518BE359-055D-9CA1-6631-3A8679A66940}"/>
              </a:ext>
            </a:extLst>
          </p:cNvPr>
          <p:cNvSpPr txBox="1"/>
          <p:nvPr/>
        </p:nvSpPr>
        <p:spPr>
          <a:xfrm>
            <a:off x="236306" y="6287784"/>
            <a:ext cx="544530" cy="380144"/>
          </a:xfrm>
          <a:prstGeom prst="rect">
            <a:avLst/>
          </a:prstGeom>
          <a:noFill/>
        </p:spPr>
        <p:txBody>
          <a:bodyPr wrap="square" rtlCol="0">
            <a:noAutofit/>
          </a:bodyPr>
          <a:lstStyle/>
          <a:p>
            <a:pPr algn="ctr"/>
            <a:endParaRPr lang="en-US" sz="1600" dirty="0"/>
          </a:p>
        </p:txBody>
      </p:sp>
    </p:spTree>
    <p:extLst>
      <p:ext uri="{BB962C8B-B14F-4D97-AF65-F5344CB8AC3E}">
        <p14:creationId xmlns:p14="http://schemas.microsoft.com/office/powerpoint/2010/main" val="1117782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80FB7-8D1E-F0DE-DCC5-0E5765B90A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5D6207-4D61-B34E-3BB3-6F98BCA2084A}"/>
              </a:ext>
            </a:extLst>
          </p:cNvPr>
          <p:cNvSpPr>
            <a:spLocks noGrp="1"/>
          </p:cNvSpPr>
          <p:nvPr>
            <p:ph type="title"/>
          </p:nvPr>
        </p:nvSpPr>
        <p:spPr/>
        <p:txBody>
          <a:bodyPr/>
          <a:lstStyle/>
          <a:p>
            <a:r>
              <a:rPr lang="en-US" dirty="0"/>
              <a:t>Initial FFT Measurement</a:t>
            </a:r>
          </a:p>
        </p:txBody>
      </p:sp>
      <p:pic>
        <p:nvPicPr>
          <p:cNvPr id="5" name="Content Placeholder 5">
            <a:extLst>
              <a:ext uri="{FF2B5EF4-FFF2-40B4-BE49-F238E27FC236}">
                <a16:creationId xmlns:a16="http://schemas.microsoft.com/office/drawing/2014/main" id="{E1A01D18-81E3-661E-4465-5CB7BDD39F8F}"/>
              </a:ext>
            </a:extLst>
          </p:cNvPr>
          <p:cNvPicPr>
            <a:picLocks noChangeAspect="1"/>
          </p:cNvPicPr>
          <p:nvPr/>
        </p:nvPicPr>
        <p:blipFill>
          <a:blip r:embed="rId3">
            <a:extLst>
              <a:ext uri="{28A0092B-C50C-407E-A947-70E740481C1C}">
                <a14:useLocalDpi xmlns:a14="http://schemas.microsoft.com/office/drawing/2010/main" val="0"/>
              </a:ext>
            </a:extLst>
          </a:blip>
          <a:srcRect l="50588" t="20332" r="-85" b="59835"/>
          <a:stretch>
            <a:fillRect/>
          </a:stretch>
        </p:blipFill>
        <p:spPr>
          <a:xfrm>
            <a:off x="1968338" y="1495926"/>
            <a:ext cx="8255324" cy="4676274"/>
          </a:xfrm>
          <a:prstGeom prst="rect">
            <a:avLst/>
          </a:prstGeom>
        </p:spPr>
      </p:pic>
      <p:sp>
        <p:nvSpPr>
          <p:cNvPr id="6" name="Oval 5">
            <a:extLst>
              <a:ext uri="{FF2B5EF4-FFF2-40B4-BE49-F238E27FC236}">
                <a16:creationId xmlns:a16="http://schemas.microsoft.com/office/drawing/2014/main" id="{7E486945-9D82-B8A2-E7F4-967F512B58D7}"/>
              </a:ext>
            </a:extLst>
          </p:cNvPr>
          <p:cNvSpPr/>
          <p:nvPr/>
        </p:nvSpPr>
        <p:spPr bwMode="auto">
          <a:xfrm>
            <a:off x="3711429" y="3206919"/>
            <a:ext cx="1498746" cy="2433536"/>
          </a:xfrm>
          <a:prstGeom prst="ellipse">
            <a:avLst/>
          </a:prstGeom>
          <a:noFill/>
          <a:ln w="76200" cap="sq" algn="ctr">
            <a:solidFill>
              <a:schemeClr val="bg2"/>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7" name="TextBox 6">
            <a:extLst>
              <a:ext uri="{FF2B5EF4-FFF2-40B4-BE49-F238E27FC236}">
                <a16:creationId xmlns:a16="http://schemas.microsoft.com/office/drawing/2014/main" id="{029521B2-7959-9BAB-5617-B9C09382CC09}"/>
              </a:ext>
            </a:extLst>
          </p:cNvPr>
          <p:cNvSpPr txBox="1"/>
          <p:nvPr/>
        </p:nvSpPr>
        <p:spPr>
          <a:xfrm>
            <a:off x="4876799" y="1959480"/>
            <a:ext cx="2851271" cy="1047750"/>
          </a:xfrm>
          <a:prstGeom prst="rect">
            <a:avLst/>
          </a:prstGeom>
          <a:noFill/>
        </p:spPr>
        <p:txBody>
          <a:bodyPr wrap="square" rtlCol="0">
            <a:noAutofit/>
          </a:bodyPr>
          <a:lstStyle/>
          <a:p>
            <a:pPr algn="ctr"/>
            <a:r>
              <a:rPr lang="en-US" sz="3200" dirty="0">
                <a:solidFill>
                  <a:schemeClr val="bg2"/>
                </a:solidFill>
              </a:rPr>
              <a:t>Spectral Leakage!</a:t>
            </a:r>
          </a:p>
        </p:txBody>
      </p:sp>
      <p:cxnSp>
        <p:nvCxnSpPr>
          <p:cNvPr id="9" name="Straight Arrow Connector 8">
            <a:extLst>
              <a:ext uri="{FF2B5EF4-FFF2-40B4-BE49-F238E27FC236}">
                <a16:creationId xmlns:a16="http://schemas.microsoft.com/office/drawing/2014/main" id="{3C5F0D2E-C672-AB7B-528E-A921AE69D0F1}"/>
              </a:ext>
            </a:extLst>
          </p:cNvPr>
          <p:cNvCxnSpPr>
            <a:cxnSpLocks/>
          </p:cNvCxnSpPr>
          <p:nvPr/>
        </p:nvCxnSpPr>
        <p:spPr>
          <a:xfrm flipH="1">
            <a:off x="5010150" y="2954167"/>
            <a:ext cx="400050" cy="47483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6" name="Text Placeholder 5">
            <a:extLst>
              <a:ext uri="{FF2B5EF4-FFF2-40B4-BE49-F238E27FC236}">
                <a16:creationId xmlns:a16="http://schemas.microsoft.com/office/drawing/2014/main" id="{23EB0F81-F7A6-F009-E164-EF24D01D17C0}"/>
              </a:ext>
            </a:extLst>
          </p:cNvPr>
          <p:cNvSpPr txBox="1">
            <a:spLocks/>
          </p:cNvSpPr>
          <p:nvPr/>
        </p:nvSpPr>
        <p:spPr>
          <a:xfrm>
            <a:off x="4522203" y="6172200"/>
            <a:ext cx="3560461" cy="693312"/>
          </a:xfrm>
          <a:prstGeom prst="rect">
            <a:avLst/>
          </a:prstGeom>
        </p:spPr>
        <p:txBody>
          <a:bodyPr/>
          <a:lstStyle>
            <a:lvl1pPr marL="274320" indent="-274320" algn="l" defTabSz="914400" rtl="0" eaLnBrk="1" latinLnBrk="0" hangingPunct="1">
              <a:lnSpc>
                <a:spcPct val="95000"/>
              </a:lnSpc>
              <a:spcBef>
                <a:spcPts val="1200"/>
              </a:spcBef>
              <a:buClr>
                <a:srgbClr val="AB162B"/>
              </a:buClr>
              <a:buFont typeface="Arial" pitchFamily="34" charset="0"/>
              <a:buChar char="•"/>
              <a:defRPr sz="2400" kern="1200">
                <a:solidFill>
                  <a:srgbClr val="272626"/>
                </a:solidFill>
                <a:latin typeface="Arial" panose="020B0604020202020204" pitchFamily="34" charset="0"/>
                <a:ea typeface="Verdana" pitchFamily="34" charset="0"/>
                <a:cs typeface="Arial" panose="020B0604020202020204" pitchFamily="34" charset="0"/>
              </a:defRPr>
            </a:lvl1pPr>
            <a:lvl2pPr marL="594360" indent="-274320" algn="l" defTabSz="914400" rtl="0" eaLnBrk="1" latinLnBrk="0" hangingPunct="1">
              <a:lnSpc>
                <a:spcPct val="95000"/>
              </a:lnSpc>
              <a:spcBef>
                <a:spcPts val="600"/>
              </a:spcBef>
              <a:buClr>
                <a:srgbClr val="AB162B"/>
              </a:buClr>
              <a:buFont typeface="Verdana" pitchFamily="34" charset="0"/>
              <a:buChar char="─"/>
              <a:defRPr sz="2000" kern="1200">
                <a:solidFill>
                  <a:srgbClr val="272626"/>
                </a:solidFill>
                <a:latin typeface="Arial" panose="020B0604020202020204" pitchFamily="34" charset="0"/>
                <a:ea typeface="Verdana" pitchFamily="34" charset="0"/>
                <a:cs typeface="Arial" panose="020B0604020202020204" pitchFamily="34" charset="0"/>
              </a:defRPr>
            </a:lvl2pPr>
            <a:lvl3pPr marL="868680" indent="-228600" algn="l" defTabSz="914400" rtl="0" eaLnBrk="1" latinLnBrk="0" hangingPunct="1">
              <a:lnSpc>
                <a:spcPct val="95000"/>
              </a:lnSpc>
              <a:spcBef>
                <a:spcPts val="600"/>
              </a:spcBef>
              <a:buClr>
                <a:srgbClr val="AB162B"/>
              </a:buClr>
              <a:buFont typeface="Wingdings" pitchFamily="2" charset="2"/>
              <a:buChar char="§"/>
              <a:defRPr sz="1800" kern="1200">
                <a:solidFill>
                  <a:srgbClr val="272626"/>
                </a:solidFill>
                <a:latin typeface="Arial" panose="020B0604020202020204" pitchFamily="34" charset="0"/>
                <a:ea typeface="Verdana" pitchFamily="34" charset="0"/>
                <a:cs typeface="Arial" panose="020B0604020202020204" pitchFamily="34" charset="0"/>
              </a:defRPr>
            </a:lvl3pPr>
            <a:lvl4pPr marL="1143000" indent="-228600" algn="l" defTabSz="914400" rtl="0" eaLnBrk="1" latinLnBrk="0" hangingPunct="1">
              <a:lnSpc>
                <a:spcPct val="95000"/>
              </a:lnSpc>
              <a:spcBef>
                <a:spcPts val="600"/>
              </a:spcBef>
              <a:buClr>
                <a:srgbClr val="AB162B"/>
              </a:buClr>
              <a:buFont typeface="Courier New" pitchFamily="49" charset="0"/>
              <a:buChar char="o"/>
              <a:defRPr sz="1600" kern="1200">
                <a:solidFill>
                  <a:srgbClr val="272626"/>
                </a:solidFill>
                <a:latin typeface="Arial" panose="020B0604020202020204" pitchFamily="34" charset="0"/>
                <a:ea typeface="Verdana" pitchFamily="34" charset="0"/>
                <a:cs typeface="Arial" panose="020B0604020202020204" pitchFamily="34" charset="0"/>
              </a:defRPr>
            </a:lvl4pPr>
            <a:lvl5pPr marL="1371600" indent="-228600" algn="l" defTabSz="914400" rtl="0" eaLnBrk="1" latinLnBrk="0" hangingPunct="1">
              <a:lnSpc>
                <a:spcPct val="95000"/>
              </a:lnSpc>
              <a:spcBef>
                <a:spcPts val="600"/>
              </a:spcBef>
              <a:buClr>
                <a:srgbClr val="AB162B"/>
              </a:buClr>
              <a:buFont typeface="Arial" pitchFamily="34" charset="0"/>
              <a:buChar char="•"/>
              <a:defRPr sz="1600" kern="1200" baseline="0">
                <a:solidFill>
                  <a:srgbClr val="272626"/>
                </a:solidFill>
                <a:latin typeface="Arial" panose="020B0604020202020204" pitchFamily="34" charset="0"/>
                <a:ea typeface="Verdana" pitchFamily="34" charset="0"/>
                <a:cs typeface="Arial" panose="020B0604020202020204" pitchFamily="34" charset="0"/>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a:lstStyle>
          <a:p>
            <a:pPr marL="0" indent="0" algn="ctr">
              <a:buNone/>
            </a:pPr>
            <a:r>
              <a:rPr lang="en-US" sz="1600" dirty="0"/>
              <a:t>Initial FFT spectrum showing spectral leakage around fundamental tone</a:t>
            </a:r>
          </a:p>
        </p:txBody>
      </p:sp>
      <p:sp>
        <p:nvSpPr>
          <p:cNvPr id="3" name="TextBox 2">
            <a:extLst>
              <a:ext uri="{FF2B5EF4-FFF2-40B4-BE49-F238E27FC236}">
                <a16:creationId xmlns:a16="http://schemas.microsoft.com/office/drawing/2014/main" id="{5332B14C-84FC-64C8-E6C4-BF66A87DEBFA}"/>
              </a:ext>
            </a:extLst>
          </p:cNvPr>
          <p:cNvSpPr txBox="1"/>
          <p:nvPr/>
        </p:nvSpPr>
        <p:spPr>
          <a:xfrm>
            <a:off x="236306" y="6287784"/>
            <a:ext cx="544530" cy="380144"/>
          </a:xfrm>
          <a:prstGeom prst="rect">
            <a:avLst/>
          </a:prstGeom>
          <a:noFill/>
        </p:spPr>
        <p:txBody>
          <a:bodyPr wrap="square" rtlCol="0">
            <a:noAutofit/>
          </a:bodyPr>
          <a:lstStyle/>
          <a:p>
            <a:pPr algn="ctr"/>
            <a:r>
              <a:rPr lang="en-US" sz="1600" dirty="0"/>
              <a:t>19</a:t>
            </a:r>
          </a:p>
        </p:txBody>
      </p:sp>
    </p:spTree>
    <p:extLst>
      <p:ext uri="{BB962C8B-B14F-4D97-AF65-F5344CB8AC3E}">
        <p14:creationId xmlns:p14="http://schemas.microsoft.com/office/powerpoint/2010/main" val="11390303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251F1-E652-EE8A-B7CF-83664DD88B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6814F7-7851-5EE6-A529-76CB1B6EE988}"/>
              </a:ext>
            </a:extLst>
          </p:cNvPr>
          <p:cNvSpPr>
            <a:spLocks noGrp="1"/>
          </p:cNvSpPr>
          <p:nvPr>
            <p:ph type="title"/>
          </p:nvPr>
        </p:nvSpPr>
        <p:spPr/>
        <p:txBody>
          <a:bodyPr/>
          <a:lstStyle/>
          <a:p>
            <a:r>
              <a:rPr lang="en-US" dirty="0"/>
              <a:t>Hanning Window</a:t>
            </a:r>
          </a:p>
        </p:txBody>
      </p:sp>
      <p:pic>
        <p:nvPicPr>
          <p:cNvPr id="6" name="Content Placeholder 5">
            <a:extLst>
              <a:ext uri="{FF2B5EF4-FFF2-40B4-BE49-F238E27FC236}">
                <a16:creationId xmlns:a16="http://schemas.microsoft.com/office/drawing/2014/main" id="{BB965F1B-9562-C818-24B2-B00D650A9959}"/>
              </a:ext>
            </a:extLst>
          </p:cNvPr>
          <p:cNvPicPr>
            <a:picLocks noChangeAspect="1"/>
          </p:cNvPicPr>
          <p:nvPr/>
        </p:nvPicPr>
        <p:blipFill>
          <a:blip r:embed="rId3">
            <a:extLst>
              <a:ext uri="{28A0092B-C50C-407E-A947-70E740481C1C}">
                <a14:useLocalDpi xmlns:a14="http://schemas.microsoft.com/office/drawing/2010/main" val="0"/>
              </a:ext>
            </a:extLst>
          </a:blip>
          <a:srcRect l="50588" t="20332" r="-85" b="59835"/>
          <a:stretch>
            <a:fillRect/>
          </a:stretch>
        </p:blipFill>
        <p:spPr>
          <a:xfrm>
            <a:off x="176463" y="2242930"/>
            <a:ext cx="5547052" cy="3142160"/>
          </a:xfrm>
          <a:prstGeom prst="rect">
            <a:avLst/>
          </a:prstGeom>
        </p:spPr>
      </p:pic>
      <p:sp>
        <p:nvSpPr>
          <p:cNvPr id="3" name="Text Placeholder 5">
            <a:extLst>
              <a:ext uri="{FF2B5EF4-FFF2-40B4-BE49-F238E27FC236}">
                <a16:creationId xmlns:a16="http://schemas.microsoft.com/office/drawing/2014/main" id="{BE7F497A-BD40-50F7-3B79-FFCFA47DF3B0}"/>
              </a:ext>
            </a:extLst>
          </p:cNvPr>
          <p:cNvSpPr txBox="1">
            <a:spLocks/>
          </p:cNvSpPr>
          <p:nvPr/>
        </p:nvSpPr>
        <p:spPr>
          <a:xfrm>
            <a:off x="1169758" y="5568465"/>
            <a:ext cx="3560461" cy="693312"/>
          </a:xfrm>
          <a:prstGeom prst="rect">
            <a:avLst/>
          </a:prstGeom>
        </p:spPr>
        <p:txBody>
          <a:bodyPr/>
          <a:lstStyle>
            <a:lvl1pPr marL="274320" indent="-274320" algn="l" defTabSz="914400" rtl="0" eaLnBrk="1" latinLnBrk="0" hangingPunct="1">
              <a:lnSpc>
                <a:spcPct val="95000"/>
              </a:lnSpc>
              <a:spcBef>
                <a:spcPts val="1200"/>
              </a:spcBef>
              <a:buClr>
                <a:srgbClr val="AB162B"/>
              </a:buClr>
              <a:buFont typeface="Arial" pitchFamily="34" charset="0"/>
              <a:buChar char="•"/>
              <a:defRPr sz="2400" kern="1200">
                <a:solidFill>
                  <a:srgbClr val="272626"/>
                </a:solidFill>
                <a:latin typeface="Arial" panose="020B0604020202020204" pitchFamily="34" charset="0"/>
                <a:ea typeface="Verdana" pitchFamily="34" charset="0"/>
                <a:cs typeface="Arial" panose="020B0604020202020204" pitchFamily="34" charset="0"/>
              </a:defRPr>
            </a:lvl1pPr>
            <a:lvl2pPr marL="594360" indent="-274320" algn="l" defTabSz="914400" rtl="0" eaLnBrk="1" latinLnBrk="0" hangingPunct="1">
              <a:lnSpc>
                <a:spcPct val="95000"/>
              </a:lnSpc>
              <a:spcBef>
                <a:spcPts val="600"/>
              </a:spcBef>
              <a:buClr>
                <a:srgbClr val="AB162B"/>
              </a:buClr>
              <a:buFont typeface="Verdana" pitchFamily="34" charset="0"/>
              <a:buChar char="─"/>
              <a:defRPr sz="2000" kern="1200">
                <a:solidFill>
                  <a:srgbClr val="272626"/>
                </a:solidFill>
                <a:latin typeface="Arial" panose="020B0604020202020204" pitchFamily="34" charset="0"/>
                <a:ea typeface="Verdana" pitchFamily="34" charset="0"/>
                <a:cs typeface="Arial" panose="020B0604020202020204" pitchFamily="34" charset="0"/>
              </a:defRPr>
            </a:lvl2pPr>
            <a:lvl3pPr marL="868680" indent="-228600" algn="l" defTabSz="914400" rtl="0" eaLnBrk="1" latinLnBrk="0" hangingPunct="1">
              <a:lnSpc>
                <a:spcPct val="95000"/>
              </a:lnSpc>
              <a:spcBef>
                <a:spcPts val="600"/>
              </a:spcBef>
              <a:buClr>
                <a:srgbClr val="AB162B"/>
              </a:buClr>
              <a:buFont typeface="Wingdings" pitchFamily="2" charset="2"/>
              <a:buChar char="§"/>
              <a:defRPr sz="1800" kern="1200">
                <a:solidFill>
                  <a:srgbClr val="272626"/>
                </a:solidFill>
                <a:latin typeface="Arial" panose="020B0604020202020204" pitchFamily="34" charset="0"/>
                <a:ea typeface="Verdana" pitchFamily="34" charset="0"/>
                <a:cs typeface="Arial" panose="020B0604020202020204" pitchFamily="34" charset="0"/>
              </a:defRPr>
            </a:lvl3pPr>
            <a:lvl4pPr marL="1143000" indent="-228600" algn="l" defTabSz="914400" rtl="0" eaLnBrk="1" latinLnBrk="0" hangingPunct="1">
              <a:lnSpc>
                <a:spcPct val="95000"/>
              </a:lnSpc>
              <a:spcBef>
                <a:spcPts val="600"/>
              </a:spcBef>
              <a:buClr>
                <a:srgbClr val="AB162B"/>
              </a:buClr>
              <a:buFont typeface="Courier New" pitchFamily="49" charset="0"/>
              <a:buChar char="o"/>
              <a:defRPr sz="1600" kern="1200">
                <a:solidFill>
                  <a:srgbClr val="272626"/>
                </a:solidFill>
                <a:latin typeface="Arial" panose="020B0604020202020204" pitchFamily="34" charset="0"/>
                <a:ea typeface="Verdana" pitchFamily="34" charset="0"/>
                <a:cs typeface="Arial" panose="020B0604020202020204" pitchFamily="34" charset="0"/>
              </a:defRPr>
            </a:lvl4pPr>
            <a:lvl5pPr marL="1371600" indent="-228600" algn="l" defTabSz="914400" rtl="0" eaLnBrk="1" latinLnBrk="0" hangingPunct="1">
              <a:lnSpc>
                <a:spcPct val="95000"/>
              </a:lnSpc>
              <a:spcBef>
                <a:spcPts val="600"/>
              </a:spcBef>
              <a:buClr>
                <a:srgbClr val="AB162B"/>
              </a:buClr>
              <a:buFont typeface="Arial" pitchFamily="34" charset="0"/>
              <a:buChar char="•"/>
              <a:defRPr sz="1600" kern="1200" baseline="0">
                <a:solidFill>
                  <a:srgbClr val="272626"/>
                </a:solidFill>
                <a:latin typeface="Arial" panose="020B0604020202020204" pitchFamily="34" charset="0"/>
                <a:ea typeface="Verdana" pitchFamily="34" charset="0"/>
                <a:cs typeface="Arial" panose="020B0604020202020204" pitchFamily="34" charset="0"/>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a:lstStyle>
          <a:p>
            <a:pPr marL="0" indent="0" algn="ctr">
              <a:buNone/>
            </a:pPr>
            <a:r>
              <a:rPr lang="en-US" sz="1600" dirty="0"/>
              <a:t>Initial FFT spectrum showing spectral leakage around fundamental tone</a:t>
            </a:r>
          </a:p>
        </p:txBody>
      </p:sp>
      <p:sp>
        <p:nvSpPr>
          <p:cNvPr id="7" name="Text Placeholder 5">
            <a:extLst>
              <a:ext uri="{FF2B5EF4-FFF2-40B4-BE49-F238E27FC236}">
                <a16:creationId xmlns:a16="http://schemas.microsoft.com/office/drawing/2014/main" id="{50E8C91C-55BD-AB37-79A0-1D60AF12FBF9}"/>
              </a:ext>
            </a:extLst>
          </p:cNvPr>
          <p:cNvSpPr txBox="1">
            <a:spLocks/>
          </p:cNvSpPr>
          <p:nvPr/>
        </p:nvSpPr>
        <p:spPr>
          <a:xfrm>
            <a:off x="7033452" y="5593392"/>
            <a:ext cx="4196524" cy="693312"/>
          </a:xfrm>
          <a:prstGeom prst="rect">
            <a:avLst/>
          </a:prstGeom>
        </p:spPr>
        <p:txBody>
          <a:bodyPr/>
          <a:lstStyle>
            <a:lvl1pPr marL="274320" indent="-274320" algn="l" defTabSz="914400" rtl="0" eaLnBrk="1" latinLnBrk="0" hangingPunct="1">
              <a:lnSpc>
                <a:spcPct val="95000"/>
              </a:lnSpc>
              <a:spcBef>
                <a:spcPts val="1200"/>
              </a:spcBef>
              <a:buClr>
                <a:srgbClr val="AB162B"/>
              </a:buClr>
              <a:buFont typeface="Arial" pitchFamily="34" charset="0"/>
              <a:buChar char="•"/>
              <a:defRPr sz="2400" kern="1200">
                <a:solidFill>
                  <a:srgbClr val="272626"/>
                </a:solidFill>
                <a:latin typeface="Arial" panose="020B0604020202020204" pitchFamily="34" charset="0"/>
                <a:ea typeface="Verdana" pitchFamily="34" charset="0"/>
                <a:cs typeface="Arial" panose="020B0604020202020204" pitchFamily="34" charset="0"/>
              </a:defRPr>
            </a:lvl1pPr>
            <a:lvl2pPr marL="594360" indent="-274320" algn="l" defTabSz="914400" rtl="0" eaLnBrk="1" latinLnBrk="0" hangingPunct="1">
              <a:lnSpc>
                <a:spcPct val="95000"/>
              </a:lnSpc>
              <a:spcBef>
                <a:spcPts val="600"/>
              </a:spcBef>
              <a:buClr>
                <a:srgbClr val="AB162B"/>
              </a:buClr>
              <a:buFont typeface="Verdana" pitchFamily="34" charset="0"/>
              <a:buChar char="─"/>
              <a:defRPr sz="2000" kern="1200">
                <a:solidFill>
                  <a:srgbClr val="272626"/>
                </a:solidFill>
                <a:latin typeface="Arial" panose="020B0604020202020204" pitchFamily="34" charset="0"/>
                <a:ea typeface="Verdana" pitchFamily="34" charset="0"/>
                <a:cs typeface="Arial" panose="020B0604020202020204" pitchFamily="34" charset="0"/>
              </a:defRPr>
            </a:lvl2pPr>
            <a:lvl3pPr marL="868680" indent="-228600" algn="l" defTabSz="914400" rtl="0" eaLnBrk="1" latinLnBrk="0" hangingPunct="1">
              <a:lnSpc>
                <a:spcPct val="95000"/>
              </a:lnSpc>
              <a:spcBef>
                <a:spcPts val="600"/>
              </a:spcBef>
              <a:buClr>
                <a:srgbClr val="AB162B"/>
              </a:buClr>
              <a:buFont typeface="Wingdings" pitchFamily="2" charset="2"/>
              <a:buChar char="§"/>
              <a:defRPr sz="1800" kern="1200">
                <a:solidFill>
                  <a:srgbClr val="272626"/>
                </a:solidFill>
                <a:latin typeface="Arial" panose="020B0604020202020204" pitchFamily="34" charset="0"/>
                <a:ea typeface="Verdana" pitchFamily="34" charset="0"/>
                <a:cs typeface="Arial" panose="020B0604020202020204" pitchFamily="34" charset="0"/>
              </a:defRPr>
            </a:lvl3pPr>
            <a:lvl4pPr marL="1143000" indent="-228600" algn="l" defTabSz="914400" rtl="0" eaLnBrk="1" latinLnBrk="0" hangingPunct="1">
              <a:lnSpc>
                <a:spcPct val="95000"/>
              </a:lnSpc>
              <a:spcBef>
                <a:spcPts val="600"/>
              </a:spcBef>
              <a:buClr>
                <a:srgbClr val="AB162B"/>
              </a:buClr>
              <a:buFont typeface="Courier New" pitchFamily="49" charset="0"/>
              <a:buChar char="o"/>
              <a:defRPr sz="1600" kern="1200">
                <a:solidFill>
                  <a:srgbClr val="272626"/>
                </a:solidFill>
                <a:latin typeface="Arial" panose="020B0604020202020204" pitchFamily="34" charset="0"/>
                <a:ea typeface="Verdana" pitchFamily="34" charset="0"/>
                <a:cs typeface="Arial" panose="020B0604020202020204" pitchFamily="34" charset="0"/>
              </a:defRPr>
            </a:lvl4pPr>
            <a:lvl5pPr marL="1371600" indent="-228600" algn="l" defTabSz="914400" rtl="0" eaLnBrk="1" latinLnBrk="0" hangingPunct="1">
              <a:lnSpc>
                <a:spcPct val="95000"/>
              </a:lnSpc>
              <a:spcBef>
                <a:spcPts val="600"/>
              </a:spcBef>
              <a:buClr>
                <a:srgbClr val="AB162B"/>
              </a:buClr>
              <a:buFont typeface="Arial" pitchFamily="34" charset="0"/>
              <a:buChar char="•"/>
              <a:defRPr sz="1600" kern="1200" baseline="0">
                <a:solidFill>
                  <a:srgbClr val="272626"/>
                </a:solidFill>
                <a:latin typeface="Arial" panose="020B0604020202020204" pitchFamily="34" charset="0"/>
                <a:ea typeface="Verdana" pitchFamily="34" charset="0"/>
                <a:cs typeface="Arial" panose="020B0604020202020204" pitchFamily="34" charset="0"/>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a:lstStyle>
          <a:p>
            <a:pPr marL="0" indent="0" algn="ctr">
              <a:buNone/>
            </a:pPr>
            <a:r>
              <a:rPr lang="en-US" sz="1600" dirty="0"/>
              <a:t>FFT spectrum after applying Hanning window showing less spectral leakage</a:t>
            </a:r>
          </a:p>
        </p:txBody>
      </p:sp>
      <p:sp>
        <p:nvSpPr>
          <p:cNvPr id="8" name="Title 1">
            <a:extLst>
              <a:ext uri="{FF2B5EF4-FFF2-40B4-BE49-F238E27FC236}">
                <a16:creationId xmlns:a16="http://schemas.microsoft.com/office/drawing/2014/main" id="{B4184FA4-6FE6-8E4A-531A-59F21D9E83A0}"/>
              </a:ext>
            </a:extLst>
          </p:cNvPr>
          <p:cNvSpPr txBox="1">
            <a:spLocks/>
          </p:cNvSpPr>
          <p:nvPr/>
        </p:nvSpPr>
        <p:spPr>
          <a:xfrm>
            <a:off x="2171700" y="1595789"/>
            <a:ext cx="2057400" cy="463766"/>
          </a:xfrm>
          <a:prstGeom prst="rect">
            <a:avLst/>
          </a:prstGeom>
        </p:spPr>
        <p:txBody>
          <a:bodyPr vert="horz" lIns="0" tIns="45720" rIns="0" bIns="45720" rtlCol="0" anchor="b" anchorCtr="0">
            <a:noAutofit/>
          </a:bodyPr>
          <a:lstStyle>
            <a:lvl1pPr algn="l" defTabSz="914400" rtl="0" eaLnBrk="1" latinLnBrk="0" hangingPunct="1">
              <a:lnSpc>
                <a:spcPts val="3800"/>
              </a:lnSpc>
              <a:spcBef>
                <a:spcPct val="0"/>
              </a:spcBef>
              <a:buNone/>
              <a:defRPr sz="3600" b="1" kern="1200">
                <a:solidFill>
                  <a:srgbClr val="272626"/>
                </a:solidFill>
                <a:latin typeface="Arial" panose="020B0604020202020204" pitchFamily="34" charset="0"/>
                <a:ea typeface="Verdana" pitchFamily="34" charset="0"/>
                <a:cs typeface="Arial" panose="020B060402020202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400" u="sng" dirty="0">
                <a:solidFill>
                  <a:schemeClr val="bg2"/>
                </a:solidFill>
              </a:rPr>
              <a:t>BEFORE</a:t>
            </a:r>
          </a:p>
        </p:txBody>
      </p:sp>
      <p:sp>
        <p:nvSpPr>
          <p:cNvPr id="9" name="Title 1">
            <a:extLst>
              <a:ext uri="{FF2B5EF4-FFF2-40B4-BE49-F238E27FC236}">
                <a16:creationId xmlns:a16="http://schemas.microsoft.com/office/drawing/2014/main" id="{093C71A8-BED4-C4B4-861E-BE232B8F83F8}"/>
              </a:ext>
            </a:extLst>
          </p:cNvPr>
          <p:cNvSpPr txBox="1">
            <a:spLocks/>
          </p:cNvSpPr>
          <p:nvPr/>
        </p:nvSpPr>
        <p:spPr>
          <a:xfrm>
            <a:off x="8334375" y="1595789"/>
            <a:ext cx="2057400" cy="463766"/>
          </a:xfrm>
          <a:prstGeom prst="rect">
            <a:avLst/>
          </a:prstGeom>
        </p:spPr>
        <p:txBody>
          <a:bodyPr vert="horz" lIns="0" tIns="45720" rIns="0" bIns="45720" rtlCol="0" anchor="b" anchorCtr="0">
            <a:noAutofit/>
          </a:bodyPr>
          <a:lstStyle>
            <a:lvl1pPr algn="l" defTabSz="914400" rtl="0" eaLnBrk="1" latinLnBrk="0" hangingPunct="1">
              <a:lnSpc>
                <a:spcPts val="3800"/>
              </a:lnSpc>
              <a:spcBef>
                <a:spcPct val="0"/>
              </a:spcBef>
              <a:buNone/>
              <a:defRPr sz="3600" b="1" kern="1200">
                <a:solidFill>
                  <a:srgbClr val="272626"/>
                </a:solidFill>
                <a:latin typeface="Arial" panose="020B0604020202020204" pitchFamily="34" charset="0"/>
                <a:ea typeface="Verdana" pitchFamily="34" charset="0"/>
                <a:cs typeface="Arial" panose="020B060402020202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400" u="sng" dirty="0">
                <a:solidFill>
                  <a:schemeClr val="bg2"/>
                </a:solidFill>
              </a:rPr>
              <a:t>AFTER</a:t>
            </a:r>
          </a:p>
        </p:txBody>
      </p:sp>
      <p:cxnSp>
        <p:nvCxnSpPr>
          <p:cNvPr id="14" name="Straight Connector 13">
            <a:extLst>
              <a:ext uri="{FF2B5EF4-FFF2-40B4-BE49-F238E27FC236}">
                <a16:creationId xmlns:a16="http://schemas.microsoft.com/office/drawing/2014/main" id="{638A5F98-42F6-A36A-BD2A-0A5A7497C900}"/>
              </a:ext>
            </a:extLst>
          </p:cNvPr>
          <p:cNvCxnSpPr>
            <a:cxnSpLocks/>
          </p:cNvCxnSpPr>
          <p:nvPr/>
        </p:nvCxnSpPr>
        <p:spPr>
          <a:xfrm>
            <a:off x="6096000" y="1885950"/>
            <a:ext cx="0" cy="4608960"/>
          </a:xfrm>
          <a:prstGeom prst="line">
            <a:avLst/>
          </a:prstGeom>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86EC4937-6240-5FAE-C8D7-324A0F7B91C3}"/>
              </a:ext>
            </a:extLst>
          </p:cNvPr>
          <p:cNvSpPr/>
          <p:nvPr/>
        </p:nvSpPr>
        <p:spPr bwMode="auto">
          <a:xfrm>
            <a:off x="1396835" y="3677109"/>
            <a:ext cx="976494" cy="1199779"/>
          </a:xfrm>
          <a:prstGeom prst="ellipse">
            <a:avLst/>
          </a:prstGeom>
          <a:noFill/>
          <a:ln w="76200" cap="sq" algn="ctr">
            <a:solidFill>
              <a:schemeClr val="bg2"/>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19" name="Oval 18">
            <a:extLst>
              <a:ext uri="{FF2B5EF4-FFF2-40B4-BE49-F238E27FC236}">
                <a16:creationId xmlns:a16="http://schemas.microsoft.com/office/drawing/2014/main" id="{AC1F4D2E-ADA6-2E16-2F72-7D78F3838313}"/>
              </a:ext>
            </a:extLst>
          </p:cNvPr>
          <p:cNvSpPr/>
          <p:nvPr/>
        </p:nvSpPr>
        <p:spPr bwMode="auto">
          <a:xfrm>
            <a:off x="7413105" y="3677108"/>
            <a:ext cx="976494" cy="1199779"/>
          </a:xfrm>
          <a:prstGeom prst="ellipse">
            <a:avLst/>
          </a:prstGeom>
          <a:noFill/>
          <a:ln w="76200" cap="sq" algn="ctr">
            <a:solidFill>
              <a:schemeClr val="bg2"/>
            </a:solidFill>
            <a:miter lim="800000"/>
            <a:headEnd/>
            <a:tailEnd/>
          </a:ln>
          <a:effectLst/>
        </p:spPr>
        <p:txBody>
          <a:bodyPr wrap="none" rtlCol="0" anchor="ctr"/>
          <a:lstStyle/>
          <a:p>
            <a:pPr algn="ctr"/>
            <a:endParaRPr lang="en-US" sz="1600" dirty="0">
              <a:solidFill>
                <a:schemeClr val="bg1"/>
              </a:solidFill>
              <a:latin typeface="+mn-lt"/>
            </a:endParaRPr>
          </a:p>
        </p:txBody>
      </p:sp>
      <p:pic>
        <p:nvPicPr>
          <p:cNvPr id="5" name="Content Placeholder 5">
            <a:extLst>
              <a:ext uri="{FF2B5EF4-FFF2-40B4-BE49-F238E27FC236}">
                <a16:creationId xmlns:a16="http://schemas.microsoft.com/office/drawing/2014/main" id="{8E886732-AF89-C642-B372-33CFEDDED70A}"/>
              </a:ext>
            </a:extLst>
          </p:cNvPr>
          <p:cNvPicPr>
            <a:picLocks noChangeAspect="1"/>
          </p:cNvPicPr>
          <p:nvPr/>
        </p:nvPicPr>
        <p:blipFill>
          <a:blip r:embed="rId3">
            <a:extLst>
              <a:ext uri="{28A0092B-C50C-407E-A947-70E740481C1C}">
                <a14:useLocalDpi xmlns:a14="http://schemas.microsoft.com/office/drawing/2010/main" val="0"/>
              </a:ext>
            </a:extLst>
          </a:blip>
          <a:srcRect t="40099" r="49729" b="40022"/>
          <a:stretch>
            <a:fillRect/>
          </a:stretch>
        </p:blipFill>
        <p:spPr>
          <a:xfrm>
            <a:off x="6189352" y="2263558"/>
            <a:ext cx="5547052" cy="3100904"/>
          </a:xfrm>
          <a:prstGeom prst="rect">
            <a:avLst/>
          </a:prstGeom>
        </p:spPr>
      </p:pic>
      <p:sp>
        <p:nvSpPr>
          <p:cNvPr id="4" name="TextBox 3">
            <a:extLst>
              <a:ext uri="{FF2B5EF4-FFF2-40B4-BE49-F238E27FC236}">
                <a16:creationId xmlns:a16="http://schemas.microsoft.com/office/drawing/2014/main" id="{CF7FC639-871D-FA9B-C8A4-6A4C8D34C573}"/>
              </a:ext>
            </a:extLst>
          </p:cNvPr>
          <p:cNvSpPr txBox="1"/>
          <p:nvPr/>
        </p:nvSpPr>
        <p:spPr>
          <a:xfrm>
            <a:off x="236306" y="6287784"/>
            <a:ext cx="544530" cy="380144"/>
          </a:xfrm>
          <a:prstGeom prst="rect">
            <a:avLst/>
          </a:prstGeom>
          <a:noFill/>
        </p:spPr>
        <p:txBody>
          <a:bodyPr wrap="square" rtlCol="0">
            <a:noAutofit/>
          </a:bodyPr>
          <a:lstStyle/>
          <a:p>
            <a:pPr algn="ctr"/>
            <a:r>
              <a:rPr lang="en-US" sz="1600" dirty="0"/>
              <a:t>20</a:t>
            </a:r>
          </a:p>
        </p:txBody>
      </p:sp>
    </p:spTree>
    <p:extLst>
      <p:ext uri="{BB962C8B-B14F-4D97-AF65-F5344CB8AC3E}">
        <p14:creationId xmlns:p14="http://schemas.microsoft.com/office/powerpoint/2010/main" val="4285161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237E-9B9D-EA52-1BBA-8FA66F5546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5510BC-4D6E-36E9-3FEE-3C2D4E090053}"/>
              </a:ext>
            </a:extLst>
          </p:cNvPr>
          <p:cNvSpPr>
            <a:spLocks noGrp="1"/>
          </p:cNvSpPr>
          <p:nvPr>
            <p:ph type="title"/>
          </p:nvPr>
        </p:nvSpPr>
        <p:spPr/>
        <p:txBody>
          <a:bodyPr/>
          <a:lstStyle/>
          <a:p>
            <a:r>
              <a:rPr lang="en-US" dirty="0"/>
              <a:t>Signal Estimation - Tabei &amp; Ueda Method</a:t>
            </a:r>
          </a:p>
        </p:txBody>
      </p:sp>
      <p:pic>
        <p:nvPicPr>
          <p:cNvPr id="8" name="Content Placeholder 5">
            <a:extLst>
              <a:ext uri="{FF2B5EF4-FFF2-40B4-BE49-F238E27FC236}">
                <a16:creationId xmlns:a16="http://schemas.microsoft.com/office/drawing/2014/main" id="{9F56F4AF-CF28-54BF-BC67-E673EF935569}"/>
              </a:ext>
            </a:extLst>
          </p:cNvPr>
          <p:cNvPicPr>
            <a:picLocks noChangeAspect="1"/>
          </p:cNvPicPr>
          <p:nvPr/>
        </p:nvPicPr>
        <p:blipFill>
          <a:blip r:embed="rId3" cstate="print">
            <a:extLst>
              <a:ext uri="{28A0092B-C50C-407E-A947-70E740481C1C}">
                <a14:useLocalDpi xmlns:a14="http://schemas.microsoft.com/office/drawing/2010/main" val="0"/>
              </a:ext>
            </a:extLst>
          </a:blip>
          <a:srcRect t="40099" r="49729" b="40022"/>
          <a:stretch>
            <a:fillRect/>
          </a:stretch>
        </p:blipFill>
        <p:spPr>
          <a:xfrm>
            <a:off x="321297" y="1704688"/>
            <a:ext cx="4350430" cy="2431970"/>
          </a:xfrm>
          <a:prstGeom prst="rect">
            <a:avLst/>
          </a:prstGeom>
        </p:spPr>
      </p:pic>
      <p:sp>
        <p:nvSpPr>
          <p:cNvPr id="11" name="Oval 10">
            <a:extLst>
              <a:ext uri="{FF2B5EF4-FFF2-40B4-BE49-F238E27FC236}">
                <a16:creationId xmlns:a16="http://schemas.microsoft.com/office/drawing/2014/main" id="{0508B3F1-8183-7D72-1405-85941491F039}"/>
              </a:ext>
            </a:extLst>
          </p:cNvPr>
          <p:cNvSpPr/>
          <p:nvPr/>
        </p:nvSpPr>
        <p:spPr bwMode="auto">
          <a:xfrm>
            <a:off x="1229420" y="1820846"/>
            <a:ext cx="875605" cy="1495425"/>
          </a:xfrm>
          <a:prstGeom prst="ellipse">
            <a:avLst/>
          </a:prstGeom>
          <a:noFill/>
          <a:ln w="76200" cap="sq" algn="ctr">
            <a:solidFill>
              <a:schemeClr val="bg2"/>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12" name="Text Placeholder 5">
            <a:extLst>
              <a:ext uri="{FF2B5EF4-FFF2-40B4-BE49-F238E27FC236}">
                <a16:creationId xmlns:a16="http://schemas.microsoft.com/office/drawing/2014/main" id="{0E0C5B5A-58BF-3377-E8FC-F7148146408A}"/>
              </a:ext>
            </a:extLst>
          </p:cNvPr>
          <p:cNvSpPr txBox="1">
            <a:spLocks/>
          </p:cNvSpPr>
          <p:nvPr/>
        </p:nvSpPr>
        <p:spPr>
          <a:xfrm>
            <a:off x="6911288" y="4789833"/>
            <a:ext cx="3560461" cy="693312"/>
          </a:xfrm>
          <a:prstGeom prst="rect">
            <a:avLst/>
          </a:prstGeom>
        </p:spPr>
        <p:txBody>
          <a:bodyPr/>
          <a:lstStyle>
            <a:lvl1pPr marL="274320" indent="-274320" algn="l" defTabSz="914400" rtl="0" eaLnBrk="1" latinLnBrk="0" hangingPunct="1">
              <a:lnSpc>
                <a:spcPct val="95000"/>
              </a:lnSpc>
              <a:spcBef>
                <a:spcPts val="1200"/>
              </a:spcBef>
              <a:buClr>
                <a:srgbClr val="AB162B"/>
              </a:buClr>
              <a:buFont typeface="Arial" pitchFamily="34" charset="0"/>
              <a:buChar char="•"/>
              <a:defRPr sz="2400" kern="1200">
                <a:solidFill>
                  <a:srgbClr val="272626"/>
                </a:solidFill>
                <a:latin typeface="Arial" panose="020B0604020202020204" pitchFamily="34" charset="0"/>
                <a:ea typeface="Verdana" pitchFamily="34" charset="0"/>
                <a:cs typeface="Arial" panose="020B0604020202020204" pitchFamily="34" charset="0"/>
              </a:defRPr>
            </a:lvl1pPr>
            <a:lvl2pPr marL="594360" indent="-274320" algn="l" defTabSz="914400" rtl="0" eaLnBrk="1" latinLnBrk="0" hangingPunct="1">
              <a:lnSpc>
                <a:spcPct val="95000"/>
              </a:lnSpc>
              <a:spcBef>
                <a:spcPts val="600"/>
              </a:spcBef>
              <a:buClr>
                <a:srgbClr val="AB162B"/>
              </a:buClr>
              <a:buFont typeface="Verdana" pitchFamily="34" charset="0"/>
              <a:buChar char="─"/>
              <a:defRPr sz="2000" kern="1200">
                <a:solidFill>
                  <a:srgbClr val="272626"/>
                </a:solidFill>
                <a:latin typeface="Arial" panose="020B0604020202020204" pitchFamily="34" charset="0"/>
                <a:ea typeface="Verdana" pitchFamily="34" charset="0"/>
                <a:cs typeface="Arial" panose="020B0604020202020204" pitchFamily="34" charset="0"/>
              </a:defRPr>
            </a:lvl2pPr>
            <a:lvl3pPr marL="868680" indent="-228600" algn="l" defTabSz="914400" rtl="0" eaLnBrk="1" latinLnBrk="0" hangingPunct="1">
              <a:lnSpc>
                <a:spcPct val="95000"/>
              </a:lnSpc>
              <a:spcBef>
                <a:spcPts val="600"/>
              </a:spcBef>
              <a:buClr>
                <a:srgbClr val="AB162B"/>
              </a:buClr>
              <a:buFont typeface="Wingdings" pitchFamily="2" charset="2"/>
              <a:buChar char="§"/>
              <a:defRPr sz="1800" kern="1200">
                <a:solidFill>
                  <a:srgbClr val="272626"/>
                </a:solidFill>
                <a:latin typeface="Arial" panose="020B0604020202020204" pitchFamily="34" charset="0"/>
                <a:ea typeface="Verdana" pitchFamily="34" charset="0"/>
                <a:cs typeface="Arial" panose="020B0604020202020204" pitchFamily="34" charset="0"/>
              </a:defRPr>
            </a:lvl3pPr>
            <a:lvl4pPr marL="1143000" indent="-228600" algn="l" defTabSz="914400" rtl="0" eaLnBrk="1" latinLnBrk="0" hangingPunct="1">
              <a:lnSpc>
                <a:spcPct val="95000"/>
              </a:lnSpc>
              <a:spcBef>
                <a:spcPts val="600"/>
              </a:spcBef>
              <a:buClr>
                <a:srgbClr val="AB162B"/>
              </a:buClr>
              <a:buFont typeface="Courier New" pitchFamily="49" charset="0"/>
              <a:buChar char="o"/>
              <a:defRPr sz="1600" kern="1200">
                <a:solidFill>
                  <a:srgbClr val="272626"/>
                </a:solidFill>
                <a:latin typeface="Arial" panose="020B0604020202020204" pitchFamily="34" charset="0"/>
                <a:ea typeface="Verdana" pitchFamily="34" charset="0"/>
                <a:cs typeface="Arial" panose="020B0604020202020204" pitchFamily="34" charset="0"/>
              </a:defRPr>
            </a:lvl4pPr>
            <a:lvl5pPr marL="1371600" indent="-228600" algn="l" defTabSz="914400" rtl="0" eaLnBrk="1" latinLnBrk="0" hangingPunct="1">
              <a:lnSpc>
                <a:spcPct val="95000"/>
              </a:lnSpc>
              <a:spcBef>
                <a:spcPts val="600"/>
              </a:spcBef>
              <a:buClr>
                <a:srgbClr val="AB162B"/>
              </a:buClr>
              <a:buFont typeface="Arial" pitchFamily="34" charset="0"/>
              <a:buChar char="•"/>
              <a:defRPr sz="1600" kern="1200" baseline="0">
                <a:solidFill>
                  <a:srgbClr val="272626"/>
                </a:solidFill>
                <a:latin typeface="Arial" panose="020B0604020202020204" pitchFamily="34" charset="0"/>
                <a:ea typeface="Verdana" pitchFamily="34" charset="0"/>
                <a:cs typeface="Arial" panose="020B0604020202020204" pitchFamily="34" charset="0"/>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a:lstStyle>
          <a:p>
            <a:pPr marL="0" indent="0" algn="ctr">
              <a:buNone/>
            </a:pPr>
            <a:r>
              <a:rPr lang="en-US" sz="1600" dirty="0"/>
              <a:t>(a) </a:t>
            </a:r>
          </a:p>
        </p:txBody>
      </p:sp>
      <p:pic>
        <p:nvPicPr>
          <p:cNvPr id="14" name="Picture 13">
            <a:extLst>
              <a:ext uri="{FF2B5EF4-FFF2-40B4-BE49-F238E27FC236}">
                <a16:creationId xmlns:a16="http://schemas.microsoft.com/office/drawing/2014/main" id="{6E7CAC9F-D2BC-BD53-8398-F33750729F60}"/>
              </a:ext>
            </a:extLst>
          </p:cNvPr>
          <p:cNvPicPr>
            <a:picLocks noChangeAspect="1"/>
          </p:cNvPicPr>
          <p:nvPr/>
        </p:nvPicPr>
        <p:blipFill>
          <a:blip r:embed="rId4"/>
          <a:stretch>
            <a:fillRect/>
          </a:stretch>
        </p:blipFill>
        <p:spPr>
          <a:xfrm>
            <a:off x="4882567" y="1424941"/>
            <a:ext cx="6867006" cy="4058204"/>
          </a:xfrm>
          <a:prstGeom prst="rect">
            <a:avLst/>
          </a:prstGeom>
        </p:spPr>
      </p:pic>
      <p:pic>
        <p:nvPicPr>
          <p:cNvPr id="3076" name="Picture 4">
            <a:extLst>
              <a:ext uri="{FF2B5EF4-FFF2-40B4-BE49-F238E27FC236}">
                <a16:creationId xmlns:a16="http://schemas.microsoft.com/office/drawing/2014/main" id="{81D4115C-DC31-D6A3-8F4F-6B0CC2262EC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0000" t="79953"/>
          <a:stretch>
            <a:fillRect/>
          </a:stretch>
        </p:blipFill>
        <p:spPr bwMode="auto">
          <a:xfrm>
            <a:off x="442427" y="4353762"/>
            <a:ext cx="3982605" cy="2258766"/>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Straight Arrow Connector 16">
            <a:extLst>
              <a:ext uri="{FF2B5EF4-FFF2-40B4-BE49-F238E27FC236}">
                <a16:creationId xmlns:a16="http://schemas.microsoft.com/office/drawing/2014/main" id="{77042B5D-B1EB-2540-36F3-31DB00E27CA9}"/>
              </a:ext>
            </a:extLst>
          </p:cNvPr>
          <p:cNvCxnSpPr>
            <a:cxnSpLocks/>
          </p:cNvCxnSpPr>
          <p:nvPr/>
        </p:nvCxnSpPr>
        <p:spPr>
          <a:xfrm>
            <a:off x="1771449" y="3262218"/>
            <a:ext cx="333576" cy="99059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093A038-F5B6-E570-A0BC-B7213EA007C2}"/>
                  </a:ext>
                </a:extLst>
              </p:cNvPr>
              <p:cNvSpPr txBox="1"/>
              <p:nvPr/>
            </p:nvSpPr>
            <p:spPr>
              <a:xfrm>
                <a:off x="4671727" y="5661146"/>
                <a:ext cx="6516304" cy="529390"/>
              </a:xfrm>
              <a:prstGeom prst="rect">
                <a:avLst/>
              </a:prstGeom>
              <a:noFill/>
            </p:spPr>
            <p:txBody>
              <a:bodyPr wrap="none" lIns="0" tIns="0" rIns="0" bIns="0" rtlCol="0">
                <a:noAutofit/>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𝐴</m:t>
                      </m:r>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−2|</m:t>
                          </m:r>
                          <m:r>
                            <a:rPr lang="en-US" sz="1600" b="0" i="1" smtClean="0">
                              <a:latin typeface="Cambria Math" panose="02040503050406030204" pitchFamily="18" charset="0"/>
                            </a:rPr>
                            <m:t>𝐺</m:t>
                          </m:r>
                          <m:r>
                            <a:rPr lang="en-US" sz="1600" b="0" i="1" smtClean="0">
                              <a:latin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𝑘</m:t>
                              </m:r>
                            </m:e>
                            <m:sub>
                              <m:r>
                                <a:rPr lang="en-US" sz="1600" i="1">
                                  <a:latin typeface="Cambria Math" panose="02040503050406030204" pitchFamily="18" charset="0"/>
                                  <a:ea typeface="Cambria Math" panose="02040503050406030204" pitchFamily="18" charset="0"/>
                                </a:rPr>
                                <m:t>𝑚𝑎𝑥</m:t>
                              </m:r>
                            </m:sub>
                          </m:sSub>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rPr>
                            <m:t>|</m:t>
                          </m:r>
                        </m:num>
                        <m:den>
                          <m:r>
                            <a:rPr lang="en-US" sz="1600" b="0" i="1" smtClean="0">
                              <a:latin typeface="Cambria Math" panose="02040503050406030204" pitchFamily="18" charset="0"/>
                            </a:rPr>
                            <m:t>𝑁</m:t>
                          </m:r>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𝐶</m:t>
                              </m:r>
                            </m:e>
                            <m:sub>
                              <m:r>
                                <a:rPr lang="en-US" sz="1600" b="0" i="1" smtClean="0">
                                  <a:latin typeface="Cambria Math" panose="02040503050406030204" pitchFamily="18" charset="0"/>
                                  <a:ea typeface="Cambria Math" panose="02040503050406030204" pitchFamily="18" charset="0"/>
                                </a:rPr>
                                <m:t>𝐺</m:t>
                              </m:r>
                            </m:sub>
                          </m:sSub>
                        </m:den>
                      </m:f>
                      <m:f>
                        <m:fPr>
                          <m:ctrlPr>
                            <a:rPr lang="en-US" sz="1600" b="0" i="1" smtClean="0">
                              <a:latin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𝜋</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𝑓</m:t>
                          </m:r>
                          <m:r>
                            <a:rPr lang="en-US" sz="1600" b="0" i="1" smtClean="0">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𝑘</m:t>
                              </m:r>
                            </m:e>
                            <m:sub>
                              <m:r>
                                <a:rPr lang="en-US" sz="1600" i="1">
                                  <a:latin typeface="Cambria Math" panose="02040503050406030204" pitchFamily="18" charset="0"/>
                                  <a:ea typeface="Cambria Math" panose="02040503050406030204" pitchFamily="18" charset="0"/>
                                </a:rPr>
                                <m:t>𝑚𝑎𝑥</m:t>
                              </m:r>
                            </m:sub>
                          </m:sSub>
                          <m:r>
                            <a:rPr lang="en-US" sz="1600" b="0" i="1" smtClean="0">
                              <a:latin typeface="Cambria Math" panose="02040503050406030204" pitchFamily="18" charset="0"/>
                              <a:ea typeface="Cambria Math" panose="02040503050406030204" pitchFamily="18" charset="0"/>
                            </a:rPr>
                            <m:t>)</m:t>
                          </m:r>
                        </m:num>
                        <m:den>
                          <m:r>
                            <m:rPr>
                              <m:sty m:val="p"/>
                            </m:rPr>
                            <a:rPr lang="en-US" sz="1600" b="0" i="0" smtClean="0">
                              <a:latin typeface="Cambria Math" panose="02040503050406030204" pitchFamily="18" charset="0"/>
                            </a:rPr>
                            <m:t>sin</m:t>
                          </m:r>
                          <m:r>
                            <a:rPr lang="en-US" sz="1600" b="0" i="1" smtClean="0">
                              <a:latin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𝜋</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𝑓</m:t>
                          </m:r>
                          <m:r>
                            <a:rPr lang="en-US" sz="1600" b="0" i="1" smtClean="0">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𝑘</m:t>
                              </m:r>
                            </m:e>
                            <m:sub>
                              <m:r>
                                <a:rPr lang="en-US" sz="1600" i="1">
                                  <a:latin typeface="Cambria Math" panose="02040503050406030204" pitchFamily="18" charset="0"/>
                                  <a:ea typeface="Cambria Math" panose="02040503050406030204" pitchFamily="18" charset="0"/>
                                </a:rPr>
                                <m:t>𝑚𝑎𝑥</m:t>
                              </m:r>
                            </m:sub>
                          </m:sSub>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rPr>
                            <m:t>)</m:t>
                          </m:r>
                        </m:den>
                      </m:f>
                      <m:r>
                        <a:rPr lang="en-US"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𝑓</m:t>
                      </m:r>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𝑘</m:t>
                          </m:r>
                        </m:e>
                        <m:sub>
                          <m:r>
                            <a:rPr lang="en-US" sz="1600" i="1">
                              <a:latin typeface="Cambria Math" panose="02040503050406030204" pitchFamily="18" charset="0"/>
                              <a:ea typeface="Cambria Math" panose="02040503050406030204" pitchFamily="18" charset="0"/>
                            </a:rPr>
                            <m:t>𝑚𝑎𝑥</m:t>
                          </m:r>
                        </m:sub>
                      </m:sSub>
                      <m:r>
                        <a:rPr lang="en-US" sz="1600" b="0" i="1" smtClean="0">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1</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𝑓</m:t>
                      </m:r>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𝑘</m:t>
                          </m:r>
                        </m:e>
                        <m:sub>
                          <m:r>
                            <a:rPr lang="en-US" sz="1600" b="0" i="1" smtClean="0">
                              <a:latin typeface="Cambria Math" panose="02040503050406030204" pitchFamily="18" charset="0"/>
                              <a:ea typeface="Cambria Math" panose="02040503050406030204" pitchFamily="18" charset="0"/>
                            </a:rPr>
                            <m:t>𝑚𝑎𝑥</m:t>
                          </m:r>
                        </m:sub>
                      </m:sSub>
                      <m:r>
                        <a:rPr lang="en-US" sz="1600" b="0" i="1" smtClean="0">
                          <a:latin typeface="Cambria Math" panose="02040503050406030204" pitchFamily="18" charset="0"/>
                          <a:ea typeface="Cambria Math" panose="02040503050406030204" pitchFamily="18" charset="0"/>
                        </a:rPr>
                        <m:t>+1)</m:t>
                      </m:r>
                    </m:oMath>
                  </m:oMathPara>
                </a14:m>
                <a:endParaRPr lang="en-US" sz="1600" dirty="0" err="1"/>
              </a:p>
            </p:txBody>
          </p:sp>
        </mc:Choice>
        <mc:Fallback xmlns="">
          <p:sp>
            <p:nvSpPr>
              <p:cNvPr id="21" name="TextBox 20">
                <a:extLst>
                  <a:ext uri="{FF2B5EF4-FFF2-40B4-BE49-F238E27FC236}">
                    <a16:creationId xmlns:a16="http://schemas.microsoft.com/office/drawing/2014/main" id="{F093A038-F5B6-E570-A0BC-B7213EA007C2}"/>
                  </a:ext>
                </a:extLst>
              </p:cNvPr>
              <p:cNvSpPr txBox="1">
                <a:spLocks noRot="1" noChangeAspect="1" noMove="1" noResize="1" noEditPoints="1" noAdjustHandles="1" noChangeArrowheads="1" noChangeShapeType="1" noTextEdit="1"/>
              </p:cNvSpPr>
              <p:nvPr/>
            </p:nvSpPr>
            <p:spPr>
              <a:xfrm>
                <a:off x="4671727" y="5661146"/>
                <a:ext cx="6516304" cy="52939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462FED8-2716-0029-C094-E4AF24322EBF}"/>
                  </a:ext>
                </a:extLst>
              </p:cNvPr>
              <p:cNvSpPr txBox="1"/>
              <p:nvPr/>
            </p:nvSpPr>
            <p:spPr>
              <a:xfrm>
                <a:off x="4671727" y="6328610"/>
                <a:ext cx="3763479" cy="529390"/>
              </a:xfrm>
              <a:prstGeom prst="rect">
                <a:avLst/>
              </a:prstGeom>
              <a:noFill/>
            </p:spPr>
            <p:txBody>
              <a:bodyPr wrap="none" lIns="0" tIns="0" rIns="0" bIns="0" rtlCol="0">
                <a:noAutofit/>
              </a:bodyPr>
              <a:lstStyle/>
              <a:p>
                <a:pPr algn="ct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𝑃</m:t>
                          </m:r>
                        </m:e>
                        <m:sub>
                          <m:r>
                            <a:rPr lang="en-US" sz="1600" b="0" i="1" smtClean="0">
                              <a:latin typeface="Cambria Math" panose="02040503050406030204" pitchFamily="18" charset="0"/>
                            </a:rPr>
                            <m:t>𝑜</m:t>
                          </m:r>
                        </m:sub>
                      </m:sSub>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2</m:t>
                          </m:r>
                          <m:r>
                            <a:rPr lang="en-US" sz="1600" b="0" i="1" smtClean="0">
                              <a:latin typeface="Cambria Math" panose="02040503050406030204" pitchFamily="18" charset="0"/>
                              <a:ea typeface="Cambria Math" panose="02040503050406030204" pitchFamily="18" charset="0"/>
                            </a:rPr>
                            <m:t>𝜋</m:t>
                          </m:r>
                        </m:den>
                      </m:f>
                      <m:r>
                        <a:rPr lang="en-US" sz="1600" b="0" i="1" smtClean="0">
                          <a:latin typeface="Cambria Math" panose="02040503050406030204" pitchFamily="18" charset="0"/>
                        </a:rPr>
                        <m:t>𝐴𝑟𝑔</m:t>
                      </m:r>
                      <m:r>
                        <a:rPr lang="en-US" sz="1600" b="0" i="1" smtClean="0">
                          <a:latin typeface="Cambria Math" panose="02040503050406030204" pitchFamily="18" charset="0"/>
                        </a:rPr>
                        <m:t>(</m:t>
                      </m:r>
                      <m:r>
                        <a:rPr lang="en-US" sz="1600" b="0" i="1" smtClean="0">
                          <a:latin typeface="Cambria Math" panose="02040503050406030204" pitchFamily="18" charset="0"/>
                        </a:rPr>
                        <m:t>𝐺</m:t>
                      </m:r>
                      <m:r>
                        <a:rPr lang="en-US" sz="1600" b="0" i="1" smtClean="0">
                          <a:latin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𝑘</m:t>
                          </m:r>
                        </m:e>
                        <m:sub>
                          <m:r>
                            <a:rPr lang="en-US" sz="1600" i="1">
                              <a:latin typeface="Cambria Math" panose="02040503050406030204" pitchFamily="18" charset="0"/>
                              <a:ea typeface="Cambria Math" panose="02040503050406030204" pitchFamily="18" charset="0"/>
                            </a:rPr>
                            <m:t>𝑚𝑎𝑥</m:t>
                          </m:r>
                        </m:sub>
                      </m:sSub>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𝑒</m:t>
                          </m:r>
                        </m:e>
                        <m:sup>
                          <m:r>
                            <a:rPr lang="en-US" sz="1600" b="0" i="1" smtClean="0">
                              <a:latin typeface="Cambria Math" panose="02040503050406030204" pitchFamily="18" charset="0"/>
                            </a:rPr>
                            <m:t>−</m:t>
                          </m:r>
                          <m:r>
                            <a:rPr lang="en-US" sz="1600" b="0" i="1" smtClean="0">
                              <a:latin typeface="Cambria Math" panose="02040503050406030204" pitchFamily="18" charset="0"/>
                            </a:rPr>
                            <m:t>𝑗</m:t>
                          </m:r>
                          <m:r>
                            <a:rPr lang="en-US" sz="1600" b="0" i="1" smtClean="0">
                              <a:latin typeface="Cambria Math" panose="02040503050406030204" pitchFamily="18" charset="0"/>
                              <a:ea typeface="Cambria Math" panose="02040503050406030204" pitchFamily="18" charset="0"/>
                            </a:rPr>
                            <m:t>𝜋</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𝑓</m:t>
                          </m:r>
                          <m:r>
                            <a:rPr lang="en-US" sz="1600" b="0" i="1" smtClean="0">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𝑘</m:t>
                              </m:r>
                            </m:e>
                            <m:sub>
                              <m:r>
                                <a:rPr lang="en-US" sz="1600" i="1">
                                  <a:latin typeface="Cambria Math" panose="02040503050406030204" pitchFamily="18" charset="0"/>
                                  <a:ea typeface="Cambria Math" panose="02040503050406030204" pitchFamily="18" charset="0"/>
                                </a:rPr>
                                <m:t>𝑚𝑎𝑥</m:t>
                              </m:r>
                            </m:sub>
                          </m:sSub>
                          <m:r>
                            <a:rPr lang="en-US" sz="1600" b="0" i="1" smtClean="0">
                              <a:latin typeface="Cambria Math" panose="02040503050406030204" pitchFamily="18" charset="0"/>
                              <a:ea typeface="Cambria Math" panose="02040503050406030204" pitchFamily="18" charset="0"/>
                            </a:rPr>
                            <m:t>)</m:t>
                          </m:r>
                        </m:sup>
                      </m:sSup>
                      <m:r>
                        <a:rPr lang="en-US" sz="1600" b="0" i="1" smtClean="0">
                          <a:latin typeface="Cambria Math" panose="02040503050406030204" pitchFamily="18" charset="0"/>
                        </a:rPr>
                        <m:t>)</m:t>
                      </m:r>
                    </m:oMath>
                  </m:oMathPara>
                </a14:m>
                <a:endParaRPr lang="en-US" sz="1600" dirty="0" err="1"/>
              </a:p>
            </p:txBody>
          </p:sp>
        </mc:Choice>
        <mc:Fallback xmlns="">
          <p:sp>
            <p:nvSpPr>
              <p:cNvPr id="22" name="TextBox 21">
                <a:extLst>
                  <a:ext uri="{FF2B5EF4-FFF2-40B4-BE49-F238E27FC236}">
                    <a16:creationId xmlns:a16="http://schemas.microsoft.com/office/drawing/2014/main" id="{9462FED8-2716-0029-C094-E4AF24322EBF}"/>
                  </a:ext>
                </a:extLst>
              </p:cNvPr>
              <p:cNvSpPr txBox="1">
                <a:spLocks noRot="1" noChangeAspect="1" noMove="1" noResize="1" noEditPoints="1" noAdjustHandles="1" noChangeArrowheads="1" noChangeShapeType="1" noTextEdit="1"/>
              </p:cNvSpPr>
              <p:nvPr/>
            </p:nvSpPr>
            <p:spPr>
              <a:xfrm>
                <a:off x="4671727" y="6328610"/>
                <a:ext cx="3763479" cy="529390"/>
              </a:xfrm>
              <a:prstGeom prst="rect">
                <a:avLst/>
              </a:prstGeom>
              <a:blipFill>
                <a:blip r:embed="rId7"/>
                <a:stretch>
                  <a:fillRect/>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10BE2E74-ACEB-C2CF-E7C8-440EFE525DB3}"/>
              </a:ext>
            </a:extLst>
          </p:cNvPr>
          <p:cNvSpPr txBox="1"/>
          <p:nvPr/>
        </p:nvSpPr>
        <p:spPr>
          <a:xfrm>
            <a:off x="0" y="6660581"/>
            <a:ext cx="4229300" cy="264966"/>
          </a:xfrm>
          <a:prstGeom prst="rect">
            <a:avLst/>
          </a:prstGeom>
          <a:noFill/>
        </p:spPr>
        <p:txBody>
          <a:bodyPr wrap="square" rtlCol="0">
            <a:noAutofit/>
          </a:bodyPr>
          <a:lstStyle/>
          <a:p>
            <a:r>
              <a:rPr lang="en-US" sz="800" dirty="0">
                <a:cs typeface="Calibri"/>
                <a:hlinkClick r:id="rId8"/>
              </a:rPr>
              <a:t>https://www3.advantest.com/documents/11348/f641a733-fcbe-43e8-b020-7799cd4c82bc</a:t>
            </a:r>
            <a:endParaRPr lang="en-US" sz="800" dirty="0">
              <a:cs typeface="Calibri"/>
            </a:endParaRPr>
          </a:p>
        </p:txBody>
      </p:sp>
      <p:sp>
        <p:nvSpPr>
          <p:cNvPr id="3" name="TextBox 2">
            <a:extLst>
              <a:ext uri="{FF2B5EF4-FFF2-40B4-BE49-F238E27FC236}">
                <a16:creationId xmlns:a16="http://schemas.microsoft.com/office/drawing/2014/main" id="{B917BF62-4F0D-58DB-E402-4C9E4257C8E2}"/>
              </a:ext>
            </a:extLst>
          </p:cNvPr>
          <p:cNvSpPr txBox="1"/>
          <p:nvPr/>
        </p:nvSpPr>
        <p:spPr>
          <a:xfrm>
            <a:off x="236306" y="6287784"/>
            <a:ext cx="544530" cy="380144"/>
          </a:xfrm>
          <a:prstGeom prst="rect">
            <a:avLst/>
          </a:prstGeom>
          <a:noFill/>
        </p:spPr>
        <p:txBody>
          <a:bodyPr wrap="square" rtlCol="0">
            <a:noAutofit/>
          </a:bodyPr>
          <a:lstStyle/>
          <a:p>
            <a:pPr algn="ctr"/>
            <a:r>
              <a:rPr lang="en-US" sz="1600" dirty="0"/>
              <a:t>21</a:t>
            </a:r>
          </a:p>
        </p:txBody>
      </p:sp>
    </p:spTree>
    <p:extLst>
      <p:ext uri="{BB962C8B-B14F-4D97-AF65-F5344CB8AC3E}">
        <p14:creationId xmlns:p14="http://schemas.microsoft.com/office/powerpoint/2010/main" val="9841741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27B00-CE2D-9E71-B0A0-22A34FA7BCDE}"/>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AC18313E-CAAC-0A97-1628-8AB8521A7352}"/>
              </a:ext>
            </a:extLst>
          </p:cNvPr>
          <p:cNvSpPr/>
          <p:nvPr/>
        </p:nvSpPr>
        <p:spPr bwMode="auto">
          <a:xfrm>
            <a:off x="10037852" y="6115188"/>
            <a:ext cx="1925946" cy="647827"/>
          </a:xfrm>
          <a:prstGeom prst="rect">
            <a:avLst/>
          </a:prstGeom>
          <a:solidFill>
            <a:schemeClr val="bg1"/>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2" name="Title 1">
            <a:extLst>
              <a:ext uri="{FF2B5EF4-FFF2-40B4-BE49-F238E27FC236}">
                <a16:creationId xmlns:a16="http://schemas.microsoft.com/office/drawing/2014/main" id="{A8142161-CEED-FFE3-3623-EC16B70A91C5}"/>
              </a:ext>
            </a:extLst>
          </p:cNvPr>
          <p:cNvSpPr>
            <a:spLocks noGrp="1"/>
          </p:cNvSpPr>
          <p:nvPr>
            <p:ph type="title"/>
          </p:nvPr>
        </p:nvSpPr>
        <p:spPr>
          <a:xfrm>
            <a:off x="609600" y="394747"/>
            <a:ext cx="10972800" cy="800100"/>
          </a:xfrm>
        </p:spPr>
        <p:txBody>
          <a:bodyPr/>
          <a:lstStyle/>
          <a:p>
            <a:r>
              <a:rPr lang="en-US" dirty="0"/>
              <a:t>Breakdown Characterization Calculations</a:t>
            </a:r>
          </a:p>
        </p:txBody>
      </p:sp>
      <p:pic>
        <p:nvPicPr>
          <p:cNvPr id="12" name="Content Placeholder 5">
            <a:extLst>
              <a:ext uri="{FF2B5EF4-FFF2-40B4-BE49-F238E27FC236}">
                <a16:creationId xmlns:a16="http://schemas.microsoft.com/office/drawing/2014/main" id="{5FB765D2-6FAE-8368-ACB2-71F8DAF20AE7}"/>
              </a:ext>
            </a:extLst>
          </p:cNvPr>
          <p:cNvPicPr>
            <a:picLocks noChangeAspect="1"/>
          </p:cNvPicPr>
          <p:nvPr/>
        </p:nvPicPr>
        <p:blipFill>
          <a:blip r:embed="rId3">
            <a:extLst>
              <a:ext uri="{28A0092B-C50C-407E-A947-70E740481C1C}">
                <a14:useLocalDpi xmlns:a14="http://schemas.microsoft.com/office/drawing/2010/main" val="0"/>
              </a:ext>
            </a:extLst>
          </a:blip>
          <a:srcRect t="40099" r="49729" b="40022"/>
          <a:stretch>
            <a:fillRect/>
          </a:stretch>
        </p:blipFill>
        <p:spPr>
          <a:xfrm>
            <a:off x="4828661" y="1489051"/>
            <a:ext cx="3588893" cy="2046960"/>
          </a:xfrm>
          <a:prstGeom prst="rect">
            <a:avLst/>
          </a:prstGeom>
        </p:spPr>
      </p:pic>
      <p:sp>
        <p:nvSpPr>
          <p:cNvPr id="13" name="Text Placeholder 5">
            <a:extLst>
              <a:ext uri="{FF2B5EF4-FFF2-40B4-BE49-F238E27FC236}">
                <a16:creationId xmlns:a16="http://schemas.microsoft.com/office/drawing/2014/main" id="{555A8454-B9AA-B39F-DF21-4E54B92C5E28}"/>
              </a:ext>
            </a:extLst>
          </p:cNvPr>
          <p:cNvSpPr txBox="1">
            <a:spLocks/>
          </p:cNvSpPr>
          <p:nvPr/>
        </p:nvSpPr>
        <p:spPr>
          <a:xfrm>
            <a:off x="4775305" y="3623222"/>
            <a:ext cx="3695605" cy="367114"/>
          </a:xfrm>
          <a:prstGeom prst="rect">
            <a:avLst/>
          </a:prstGeom>
        </p:spPr>
        <p:txBody>
          <a:bodyPr/>
          <a:lstStyle>
            <a:lvl1pPr marL="274320" indent="-274320" algn="l" defTabSz="914400" rtl="0" eaLnBrk="1" latinLnBrk="0" hangingPunct="1">
              <a:lnSpc>
                <a:spcPct val="95000"/>
              </a:lnSpc>
              <a:spcBef>
                <a:spcPts val="1200"/>
              </a:spcBef>
              <a:buClr>
                <a:srgbClr val="AB162B"/>
              </a:buClr>
              <a:buFont typeface="Arial" pitchFamily="34" charset="0"/>
              <a:buChar char="•"/>
              <a:defRPr sz="2400" kern="1200">
                <a:solidFill>
                  <a:srgbClr val="272626"/>
                </a:solidFill>
                <a:latin typeface="Arial" panose="020B0604020202020204" pitchFamily="34" charset="0"/>
                <a:ea typeface="Verdana" pitchFamily="34" charset="0"/>
                <a:cs typeface="Arial" panose="020B0604020202020204" pitchFamily="34" charset="0"/>
              </a:defRPr>
            </a:lvl1pPr>
            <a:lvl2pPr marL="594360" indent="-274320" algn="l" defTabSz="914400" rtl="0" eaLnBrk="1" latinLnBrk="0" hangingPunct="1">
              <a:lnSpc>
                <a:spcPct val="95000"/>
              </a:lnSpc>
              <a:spcBef>
                <a:spcPts val="600"/>
              </a:spcBef>
              <a:buClr>
                <a:srgbClr val="AB162B"/>
              </a:buClr>
              <a:buFont typeface="Verdana" pitchFamily="34" charset="0"/>
              <a:buChar char="─"/>
              <a:defRPr sz="2000" kern="1200">
                <a:solidFill>
                  <a:srgbClr val="272626"/>
                </a:solidFill>
                <a:latin typeface="Arial" panose="020B0604020202020204" pitchFamily="34" charset="0"/>
                <a:ea typeface="Verdana" pitchFamily="34" charset="0"/>
                <a:cs typeface="Arial" panose="020B0604020202020204" pitchFamily="34" charset="0"/>
              </a:defRPr>
            </a:lvl2pPr>
            <a:lvl3pPr marL="868680" indent="-228600" algn="l" defTabSz="914400" rtl="0" eaLnBrk="1" latinLnBrk="0" hangingPunct="1">
              <a:lnSpc>
                <a:spcPct val="95000"/>
              </a:lnSpc>
              <a:spcBef>
                <a:spcPts val="600"/>
              </a:spcBef>
              <a:buClr>
                <a:srgbClr val="AB162B"/>
              </a:buClr>
              <a:buFont typeface="Wingdings" pitchFamily="2" charset="2"/>
              <a:buChar char="§"/>
              <a:defRPr sz="1800" kern="1200">
                <a:solidFill>
                  <a:srgbClr val="272626"/>
                </a:solidFill>
                <a:latin typeface="Arial" panose="020B0604020202020204" pitchFamily="34" charset="0"/>
                <a:ea typeface="Verdana" pitchFamily="34" charset="0"/>
                <a:cs typeface="Arial" panose="020B0604020202020204" pitchFamily="34" charset="0"/>
              </a:defRPr>
            </a:lvl3pPr>
            <a:lvl4pPr marL="1143000" indent="-228600" algn="l" defTabSz="914400" rtl="0" eaLnBrk="1" latinLnBrk="0" hangingPunct="1">
              <a:lnSpc>
                <a:spcPct val="95000"/>
              </a:lnSpc>
              <a:spcBef>
                <a:spcPts val="600"/>
              </a:spcBef>
              <a:buClr>
                <a:srgbClr val="AB162B"/>
              </a:buClr>
              <a:buFont typeface="Courier New" pitchFamily="49" charset="0"/>
              <a:buChar char="o"/>
              <a:defRPr sz="1600" kern="1200">
                <a:solidFill>
                  <a:srgbClr val="272626"/>
                </a:solidFill>
                <a:latin typeface="Arial" panose="020B0604020202020204" pitchFamily="34" charset="0"/>
                <a:ea typeface="Verdana" pitchFamily="34" charset="0"/>
                <a:cs typeface="Arial" panose="020B0604020202020204" pitchFamily="34" charset="0"/>
              </a:defRPr>
            </a:lvl4pPr>
            <a:lvl5pPr marL="1371600" indent="-228600" algn="l" defTabSz="914400" rtl="0" eaLnBrk="1" latinLnBrk="0" hangingPunct="1">
              <a:lnSpc>
                <a:spcPct val="95000"/>
              </a:lnSpc>
              <a:spcBef>
                <a:spcPts val="600"/>
              </a:spcBef>
              <a:buClr>
                <a:srgbClr val="AB162B"/>
              </a:buClr>
              <a:buFont typeface="Arial" pitchFamily="34" charset="0"/>
              <a:buChar char="•"/>
              <a:defRPr sz="1600" kern="1200" baseline="0">
                <a:solidFill>
                  <a:srgbClr val="272626"/>
                </a:solidFill>
                <a:latin typeface="Arial" panose="020B0604020202020204" pitchFamily="34" charset="0"/>
                <a:ea typeface="Verdana" pitchFamily="34" charset="0"/>
                <a:cs typeface="Arial" panose="020B0604020202020204" pitchFamily="34" charset="0"/>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a:lstStyle>
          <a:p>
            <a:pPr marL="0" indent="0" algn="ctr">
              <a:buNone/>
            </a:pPr>
            <a:r>
              <a:rPr lang="en-US" sz="1600" dirty="0"/>
              <a:t>FFT with Hanning Window</a:t>
            </a:r>
          </a:p>
        </p:txBody>
      </p:sp>
      <p:pic>
        <p:nvPicPr>
          <p:cNvPr id="7" name="Content Placeholder 5">
            <a:extLst>
              <a:ext uri="{FF2B5EF4-FFF2-40B4-BE49-F238E27FC236}">
                <a16:creationId xmlns:a16="http://schemas.microsoft.com/office/drawing/2014/main" id="{53AF7EAA-309A-3C67-2642-B5082A3800DF}"/>
              </a:ext>
            </a:extLst>
          </p:cNvPr>
          <p:cNvPicPr>
            <a:picLocks noChangeAspect="1"/>
          </p:cNvPicPr>
          <p:nvPr/>
        </p:nvPicPr>
        <p:blipFill>
          <a:blip r:embed="rId3">
            <a:extLst>
              <a:ext uri="{28A0092B-C50C-407E-A947-70E740481C1C}">
                <a14:useLocalDpi xmlns:a14="http://schemas.microsoft.com/office/drawing/2010/main" val="0"/>
              </a:ext>
            </a:extLst>
          </a:blip>
          <a:srcRect l="639" t="60167" r="49063" b="21113"/>
          <a:stretch>
            <a:fillRect/>
          </a:stretch>
        </p:blipFill>
        <p:spPr>
          <a:xfrm>
            <a:off x="4865163" y="4188976"/>
            <a:ext cx="3561592" cy="1902573"/>
          </a:xfrm>
          <a:prstGeom prst="rect">
            <a:avLst/>
          </a:prstGeom>
        </p:spPr>
      </p:pic>
      <p:sp>
        <p:nvSpPr>
          <p:cNvPr id="15" name="Text Placeholder 5">
            <a:extLst>
              <a:ext uri="{FF2B5EF4-FFF2-40B4-BE49-F238E27FC236}">
                <a16:creationId xmlns:a16="http://schemas.microsoft.com/office/drawing/2014/main" id="{5B02E39A-51E2-7D65-F0B4-2C17EC56688B}"/>
              </a:ext>
            </a:extLst>
          </p:cNvPr>
          <p:cNvSpPr txBox="1">
            <a:spLocks/>
          </p:cNvSpPr>
          <p:nvPr/>
        </p:nvSpPr>
        <p:spPr>
          <a:xfrm>
            <a:off x="4686301" y="6278829"/>
            <a:ext cx="3919316" cy="387428"/>
          </a:xfrm>
          <a:prstGeom prst="rect">
            <a:avLst/>
          </a:prstGeom>
        </p:spPr>
        <p:txBody>
          <a:bodyPr/>
          <a:lstStyle>
            <a:lvl1pPr marL="274320" indent="-274320" algn="l" defTabSz="914400" rtl="0" eaLnBrk="1" latinLnBrk="0" hangingPunct="1">
              <a:lnSpc>
                <a:spcPct val="95000"/>
              </a:lnSpc>
              <a:spcBef>
                <a:spcPts val="1200"/>
              </a:spcBef>
              <a:buClr>
                <a:srgbClr val="AB162B"/>
              </a:buClr>
              <a:buFont typeface="Arial" pitchFamily="34" charset="0"/>
              <a:buChar char="•"/>
              <a:defRPr sz="2400" kern="1200">
                <a:solidFill>
                  <a:srgbClr val="272626"/>
                </a:solidFill>
                <a:latin typeface="Arial" panose="020B0604020202020204" pitchFamily="34" charset="0"/>
                <a:ea typeface="Verdana" pitchFamily="34" charset="0"/>
                <a:cs typeface="Arial" panose="020B0604020202020204" pitchFamily="34" charset="0"/>
              </a:defRPr>
            </a:lvl1pPr>
            <a:lvl2pPr marL="594360" indent="-274320" algn="l" defTabSz="914400" rtl="0" eaLnBrk="1" latinLnBrk="0" hangingPunct="1">
              <a:lnSpc>
                <a:spcPct val="95000"/>
              </a:lnSpc>
              <a:spcBef>
                <a:spcPts val="600"/>
              </a:spcBef>
              <a:buClr>
                <a:srgbClr val="AB162B"/>
              </a:buClr>
              <a:buFont typeface="Verdana" pitchFamily="34" charset="0"/>
              <a:buChar char="─"/>
              <a:defRPr sz="2000" kern="1200">
                <a:solidFill>
                  <a:srgbClr val="272626"/>
                </a:solidFill>
                <a:latin typeface="Arial" panose="020B0604020202020204" pitchFamily="34" charset="0"/>
                <a:ea typeface="Verdana" pitchFamily="34" charset="0"/>
                <a:cs typeface="Arial" panose="020B0604020202020204" pitchFamily="34" charset="0"/>
              </a:defRPr>
            </a:lvl2pPr>
            <a:lvl3pPr marL="868680" indent="-228600" algn="l" defTabSz="914400" rtl="0" eaLnBrk="1" latinLnBrk="0" hangingPunct="1">
              <a:lnSpc>
                <a:spcPct val="95000"/>
              </a:lnSpc>
              <a:spcBef>
                <a:spcPts val="600"/>
              </a:spcBef>
              <a:buClr>
                <a:srgbClr val="AB162B"/>
              </a:buClr>
              <a:buFont typeface="Wingdings" pitchFamily="2" charset="2"/>
              <a:buChar char="§"/>
              <a:defRPr sz="1800" kern="1200">
                <a:solidFill>
                  <a:srgbClr val="272626"/>
                </a:solidFill>
                <a:latin typeface="Arial" panose="020B0604020202020204" pitchFamily="34" charset="0"/>
                <a:ea typeface="Verdana" pitchFamily="34" charset="0"/>
                <a:cs typeface="Arial" panose="020B0604020202020204" pitchFamily="34" charset="0"/>
              </a:defRPr>
            </a:lvl3pPr>
            <a:lvl4pPr marL="1143000" indent="-228600" algn="l" defTabSz="914400" rtl="0" eaLnBrk="1" latinLnBrk="0" hangingPunct="1">
              <a:lnSpc>
                <a:spcPct val="95000"/>
              </a:lnSpc>
              <a:spcBef>
                <a:spcPts val="600"/>
              </a:spcBef>
              <a:buClr>
                <a:srgbClr val="AB162B"/>
              </a:buClr>
              <a:buFont typeface="Courier New" pitchFamily="49" charset="0"/>
              <a:buChar char="o"/>
              <a:defRPr sz="1600" kern="1200">
                <a:solidFill>
                  <a:srgbClr val="272626"/>
                </a:solidFill>
                <a:latin typeface="Arial" panose="020B0604020202020204" pitchFamily="34" charset="0"/>
                <a:ea typeface="Verdana" pitchFamily="34" charset="0"/>
                <a:cs typeface="Arial" panose="020B0604020202020204" pitchFamily="34" charset="0"/>
              </a:defRPr>
            </a:lvl4pPr>
            <a:lvl5pPr marL="1371600" indent="-228600" algn="l" defTabSz="914400" rtl="0" eaLnBrk="1" latinLnBrk="0" hangingPunct="1">
              <a:lnSpc>
                <a:spcPct val="95000"/>
              </a:lnSpc>
              <a:spcBef>
                <a:spcPts val="600"/>
              </a:spcBef>
              <a:buClr>
                <a:srgbClr val="AB162B"/>
              </a:buClr>
              <a:buFont typeface="Arial" pitchFamily="34" charset="0"/>
              <a:buChar char="•"/>
              <a:defRPr sz="1600" kern="1200" baseline="0">
                <a:solidFill>
                  <a:srgbClr val="272626"/>
                </a:solidFill>
                <a:latin typeface="Arial" panose="020B0604020202020204" pitchFamily="34" charset="0"/>
                <a:ea typeface="Verdana" pitchFamily="34" charset="0"/>
                <a:cs typeface="Arial" panose="020B0604020202020204" pitchFamily="34" charset="0"/>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a:lstStyle>
          <a:p>
            <a:pPr marL="0" indent="0" algn="ctr">
              <a:buNone/>
            </a:pPr>
            <a:r>
              <a:rPr lang="en-US" sz="1600" dirty="0"/>
              <a:t>Noise + Distortion FFT</a:t>
            </a:r>
          </a:p>
        </p:txBody>
      </p:sp>
      <p:pic>
        <p:nvPicPr>
          <p:cNvPr id="11" name="Content Placeholder 5">
            <a:extLst>
              <a:ext uri="{FF2B5EF4-FFF2-40B4-BE49-F238E27FC236}">
                <a16:creationId xmlns:a16="http://schemas.microsoft.com/office/drawing/2014/main" id="{E2AE26F8-CA1F-1344-D025-69D8E560B7E1}"/>
              </a:ext>
            </a:extLst>
          </p:cNvPr>
          <p:cNvPicPr>
            <a:picLocks noChangeAspect="1"/>
          </p:cNvPicPr>
          <p:nvPr/>
        </p:nvPicPr>
        <p:blipFill>
          <a:blip r:embed="rId3">
            <a:extLst>
              <a:ext uri="{28A0092B-C50C-407E-A947-70E740481C1C}">
                <a14:useLocalDpi xmlns:a14="http://schemas.microsoft.com/office/drawing/2010/main" val="0"/>
              </a:ext>
            </a:extLst>
          </a:blip>
          <a:srcRect l="49919" t="40157" b="39608"/>
          <a:stretch>
            <a:fillRect/>
          </a:stretch>
        </p:blipFill>
        <p:spPr>
          <a:xfrm>
            <a:off x="8335767" y="1489051"/>
            <a:ext cx="3553814" cy="2099238"/>
          </a:xfrm>
          <a:prstGeom prst="rect">
            <a:avLst/>
          </a:prstGeom>
        </p:spPr>
      </p:pic>
      <p:sp>
        <p:nvSpPr>
          <p:cNvPr id="14" name="Text Placeholder 5">
            <a:extLst>
              <a:ext uri="{FF2B5EF4-FFF2-40B4-BE49-F238E27FC236}">
                <a16:creationId xmlns:a16="http://schemas.microsoft.com/office/drawing/2014/main" id="{17DA8CD3-A697-B379-6994-85C610B4B3C8}"/>
              </a:ext>
            </a:extLst>
          </p:cNvPr>
          <p:cNvSpPr txBox="1">
            <a:spLocks/>
          </p:cNvSpPr>
          <p:nvPr/>
        </p:nvSpPr>
        <p:spPr>
          <a:xfrm>
            <a:off x="8400745" y="3632022"/>
            <a:ext cx="3423855" cy="344735"/>
          </a:xfrm>
          <a:prstGeom prst="rect">
            <a:avLst/>
          </a:prstGeom>
        </p:spPr>
        <p:txBody>
          <a:bodyPr/>
          <a:lstStyle>
            <a:lvl1pPr marL="274320" indent="-274320" algn="l" defTabSz="914400" rtl="0" eaLnBrk="1" latinLnBrk="0" hangingPunct="1">
              <a:lnSpc>
                <a:spcPct val="95000"/>
              </a:lnSpc>
              <a:spcBef>
                <a:spcPts val="1200"/>
              </a:spcBef>
              <a:buClr>
                <a:srgbClr val="AB162B"/>
              </a:buClr>
              <a:buFont typeface="Arial" pitchFamily="34" charset="0"/>
              <a:buChar char="•"/>
              <a:defRPr sz="2400" kern="1200">
                <a:solidFill>
                  <a:srgbClr val="272626"/>
                </a:solidFill>
                <a:latin typeface="Arial" panose="020B0604020202020204" pitchFamily="34" charset="0"/>
                <a:ea typeface="Verdana" pitchFamily="34" charset="0"/>
                <a:cs typeface="Arial" panose="020B0604020202020204" pitchFamily="34" charset="0"/>
              </a:defRPr>
            </a:lvl1pPr>
            <a:lvl2pPr marL="594360" indent="-274320" algn="l" defTabSz="914400" rtl="0" eaLnBrk="1" latinLnBrk="0" hangingPunct="1">
              <a:lnSpc>
                <a:spcPct val="95000"/>
              </a:lnSpc>
              <a:spcBef>
                <a:spcPts val="600"/>
              </a:spcBef>
              <a:buClr>
                <a:srgbClr val="AB162B"/>
              </a:buClr>
              <a:buFont typeface="Verdana" pitchFamily="34" charset="0"/>
              <a:buChar char="─"/>
              <a:defRPr sz="2000" kern="1200">
                <a:solidFill>
                  <a:srgbClr val="272626"/>
                </a:solidFill>
                <a:latin typeface="Arial" panose="020B0604020202020204" pitchFamily="34" charset="0"/>
                <a:ea typeface="Verdana" pitchFamily="34" charset="0"/>
                <a:cs typeface="Arial" panose="020B0604020202020204" pitchFamily="34" charset="0"/>
              </a:defRPr>
            </a:lvl2pPr>
            <a:lvl3pPr marL="868680" indent="-228600" algn="l" defTabSz="914400" rtl="0" eaLnBrk="1" latinLnBrk="0" hangingPunct="1">
              <a:lnSpc>
                <a:spcPct val="95000"/>
              </a:lnSpc>
              <a:spcBef>
                <a:spcPts val="600"/>
              </a:spcBef>
              <a:buClr>
                <a:srgbClr val="AB162B"/>
              </a:buClr>
              <a:buFont typeface="Wingdings" pitchFamily="2" charset="2"/>
              <a:buChar char="§"/>
              <a:defRPr sz="1800" kern="1200">
                <a:solidFill>
                  <a:srgbClr val="272626"/>
                </a:solidFill>
                <a:latin typeface="Arial" panose="020B0604020202020204" pitchFamily="34" charset="0"/>
                <a:ea typeface="Verdana" pitchFamily="34" charset="0"/>
                <a:cs typeface="Arial" panose="020B0604020202020204" pitchFamily="34" charset="0"/>
              </a:defRPr>
            </a:lvl3pPr>
            <a:lvl4pPr marL="1143000" indent="-228600" algn="l" defTabSz="914400" rtl="0" eaLnBrk="1" latinLnBrk="0" hangingPunct="1">
              <a:lnSpc>
                <a:spcPct val="95000"/>
              </a:lnSpc>
              <a:spcBef>
                <a:spcPts val="600"/>
              </a:spcBef>
              <a:buClr>
                <a:srgbClr val="AB162B"/>
              </a:buClr>
              <a:buFont typeface="Courier New" pitchFamily="49" charset="0"/>
              <a:buChar char="o"/>
              <a:defRPr sz="1600" kern="1200">
                <a:solidFill>
                  <a:srgbClr val="272626"/>
                </a:solidFill>
                <a:latin typeface="Arial" panose="020B0604020202020204" pitchFamily="34" charset="0"/>
                <a:ea typeface="Verdana" pitchFamily="34" charset="0"/>
                <a:cs typeface="Arial" panose="020B0604020202020204" pitchFamily="34" charset="0"/>
              </a:defRPr>
            </a:lvl4pPr>
            <a:lvl5pPr marL="1371600" indent="-228600" algn="l" defTabSz="914400" rtl="0" eaLnBrk="1" latinLnBrk="0" hangingPunct="1">
              <a:lnSpc>
                <a:spcPct val="95000"/>
              </a:lnSpc>
              <a:spcBef>
                <a:spcPts val="600"/>
              </a:spcBef>
              <a:buClr>
                <a:srgbClr val="AB162B"/>
              </a:buClr>
              <a:buFont typeface="Arial" pitchFamily="34" charset="0"/>
              <a:buChar char="•"/>
              <a:defRPr sz="1600" kern="1200" baseline="0">
                <a:solidFill>
                  <a:srgbClr val="272626"/>
                </a:solidFill>
                <a:latin typeface="Arial" panose="020B0604020202020204" pitchFamily="34" charset="0"/>
                <a:ea typeface="Verdana" pitchFamily="34" charset="0"/>
                <a:cs typeface="Arial" panose="020B0604020202020204" pitchFamily="34" charset="0"/>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a:lstStyle>
          <a:p>
            <a:pPr marL="0" indent="0" algn="ctr">
              <a:buNone/>
            </a:pPr>
            <a:r>
              <a:rPr lang="en-US" sz="1600" dirty="0"/>
              <a:t>Estimated fundamental tone</a:t>
            </a:r>
          </a:p>
        </p:txBody>
      </p:sp>
      <p:pic>
        <p:nvPicPr>
          <p:cNvPr id="3" name="Content Placeholder 5">
            <a:extLst>
              <a:ext uri="{FF2B5EF4-FFF2-40B4-BE49-F238E27FC236}">
                <a16:creationId xmlns:a16="http://schemas.microsoft.com/office/drawing/2014/main" id="{64DB2E98-2EA8-9641-5D3D-6D0934A62A00}"/>
              </a:ext>
            </a:extLst>
          </p:cNvPr>
          <p:cNvPicPr>
            <a:picLocks noChangeAspect="1"/>
          </p:cNvPicPr>
          <p:nvPr/>
        </p:nvPicPr>
        <p:blipFill>
          <a:blip r:embed="rId3">
            <a:extLst>
              <a:ext uri="{28A0092B-C50C-407E-A947-70E740481C1C}">
                <a14:useLocalDpi xmlns:a14="http://schemas.microsoft.com/office/drawing/2010/main" val="0"/>
              </a:ext>
            </a:extLst>
          </a:blip>
          <a:srcRect l="50488" t="60026" b="19288"/>
          <a:stretch>
            <a:fillRect/>
          </a:stretch>
        </p:blipFill>
        <p:spPr>
          <a:xfrm>
            <a:off x="8383839" y="4160425"/>
            <a:ext cx="3508785" cy="2133744"/>
          </a:xfrm>
          <a:prstGeom prst="rect">
            <a:avLst/>
          </a:prstGeom>
        </p:spPr>
      </p:pic>
      <p:sp>
        <p:nvSpPr>
          <p:cNvPr id="16" name="Text Placeholder 5">
            <a:extLst>
              <a:ext uri="{FF2B5EF4-FFF2-40B4-BE49-F238E27FC236}">
                <a16:creationId xmlns:a16="http://schemas.microsoft.com/office/drawing/2014/main" id="{112C0E3D-9F13-D826-7963-8F65C556625D}"/>
              </a:ext>
            </a:extLst>
          </p:cNvPr>
          <p:cNvSpPr txBox="1">
            <a:spLocks/>
          </p:cNvSpPr>
          <p:nvPr/>
        </p:nvSpPr>
        <p:spPr>
          <a:xfrm>
            <a:off x="8278134" y="6286073"/>
            <a:ext cx="3720192" cy="372940"/>
          </a:xfrm>
          <a:prstGeom prst="rect">
            <a:avLst/>
          </a:prstGeom>
        </p:spPr>
        <p:txBody>
          <a:bodyPr/>
          <a:lstStyle>
            <a:lvl1pPr marL="274320" indent="-274320" algn="l" defTabSz="914400" rtl="0" eaLnBrk="1" latinLnBrk="0" hangingPunct="1">
              <a:lnSpc>
                <a:spcPct val="95000"/>
              </a:lnSpc>
              <a:spcBef>
                <a:spcPts val="1200"/>
              </a:spcBef>
              <a:buClr>
                <a:srgbClr val="AB162B"/>
              </a:buClr>
              <a:buFont typeface="Arial" pitchFamily="34" charset="0"/>
              <a:buChar char="•"/>
              <a:defRPr sz="2400" kern="1200">
                <a:solidFill>
                  <a:srgbClr val="272626"/>
                </a:solidFill>
                <a:latin typeface="Arial" panose="020B0604020202020204" pitchFamily="34" charset="0"/>
                <a:ea typeface="Verdana" pitchFamily="34" charset="0"/>
                <a:cs typeface="Arial" panose="020B0604020202020204" pitchFamily="34" charset="0"/>
              </a:defRPr>
            </a:lvl1pPr>
            <a:lvl2pPr marL="594360" indent="-274320" algn="l" defTabSz="914400" rtl="0" eaLnBrk="1" latinLnBrk="0" hangingPunct="1">
              <a:lnSpc>
                <a:spcPct val="95000"/>
              </a:lnSpc>
              <a:spcBef>
                <a:spcPts val="600"/>
              </a:spcBef>
              <a:buClr>
                <a:srgbClr val="AB162B"/>
              </a:buClr>
              <a:buFont typeface="Verdana" pitchFamily="34" charset="0"/>
              <a:buChar char="─"/>
              <a:defRPr sz="2000" kern="1200">
                <a:solidFill>
                  <a:srgbClr val="272626"/>
                </a:solidFill>
                <a:latin typeface="Arial" panose="020B0604020202020204" pitchFamily="34" charset="0"/>
                <a:ea typeface="Verdana" pitchFamily="34" charset="0"/>
                <a:cs typeface="Arial" panose="020B0604020202020204" pitchFamily="34" charset="0"/>
              </a:defRPr>
            </a:lvl2pPr>
            <a:lvl3pPr marL="868680" indent="-228600" algn="l" defTabSz="914400" rtl="0" eaLnBrk="1" latinLnBrk="0" hangingPunct="1">
              <a:lnSpc>
                <a:spcPct val="95000"/>
              </a:lnSpc>
              <a:spcBef>
                <a:spcPts val="600"/>
              </a:spcBef>
              <a:buClr>
                <a:srgbClr val="AB162B"/>
              </a:buClr>
              <a:buFont typeface="Wingdings" pitchFamily="2" charset="2"/>
              <a:buChar char="§"/>
              <a:defRPr sz="1800" kern="1200">
                <a:solidFill>
                  <a:srgbClr val="272626"/>
                </a:solidFill>
                <a:latin typeface="Arial" panose="020B0604020202020204" pitchFamily="34" charset="0"/>
                <a:ea typeface="Verdana" pitchFamily="34" charset="0"/>
                <a:cs typeface="Arial" panose="020B0604020202020204" pitchFamily="34" charset="0"/>
              </a:defRPr>
            </a:lvl3pPr>
            <a:lvl4pPr marL="1143000" indent="-228600" algn="l" defTabSz="914400" rtl="0" eaLnBrk="1" latinLnBrk="0" hangingPunct="1">
              <a:lnSpc>
                <a:spcPct val="95000"/>
              </a:lnSpc>
              <a:spcBef>
                <a:spcPts val="600"/>
              </a:spcBef>
              <a:buClr>
                <a:srgbClr val="AB162B"/>
              </a:buClr>
              <a:buFont typeface="Courier New" pitchFamily="49" charset="0"/>
              <a:buChar char="o"/>
              <a:defRPr sz="1600" kern="1200">
                <a:solidFill>
                  <a:srgbClr val="272626"/>
                </a:solidFill>
                <a:latin typeface="Arial" panose="020B0604020202020204" pitchFamily="34" charset="0"/>
                <a:ea typeface="Verdana" pitchFamily="34" charset="0"/>
                <a:cs typeface="Arial" panose="020B0604020202020204" pitchFamily="34" charset="0"/>
              </a:defRPr>
            </a:lvl4pPr>
            <a:lvl5pPr marL="1371600" indent="-228600" algn="l" defTabSz="914400" rtl="0" eaLnBrk="1" latinLnBrk="0" hangingPunct="1">
              <a:lnSpc>
                <a:spcPct val="95000"/>
              </a:lnSpc>
              <a:spcBef>
                <a:spcPts val="600"/>
              </a:spcBef>
              <a:buClr>
                <a:srgbClr val="AB162B"/>
              </a:buClr>
              <a:buFont typeface="Arial" pitchFamily="34" charset="0"/>
              <a:buChar char="•"/>
              <a:defRPr sz="1600" kern="1200" baseline="0">
                <a:solidFill>
                  <a:srgbClr val="272626"/>
                </a:solidFill>
                <a:latin typeface="Arial" panose="020B0604020202020204" pitchFamily="34" charset="0"/>
                <a:ea typeface="Verdana" pitchFamily="34" charset="0"/>
                <a:cs typeface="Arial" panose="020B0604020202020204" pitchFamily="34" charset="0"/>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a:lstStyle>
          <a:p>
            <a:pPr marL="0" indent="0" algn="ctr">
              <a:buNone/>
            </a:pPr>
            <a:r>
              <a:rPr lang="en-US" sz="1600" dirty="0"/>
              <a:t>Noise FFT</a:t>
            </a:r>
          </a:p>
        </p:txBody>
      </p:sp>
      <mc:AlternateContent xmlns:mc="http://schemas.openxmlformats.org/markup-compatibility/2006" xmlns:a14="http://schemas.microsoft.com/office/drawing/2010/main">
        <mc:Choice Requires="a14">
          <p:sp>
            <p:nvSpPr>
              <p:cNvPr id="24" name="Content Placeholder 2">
                <a:extLst>
                  <a:ext uri="{FF2B5EF4-FFF2-40B4-BE49-F238E27FC236}">
                    <a16:creationId xmlns:a16="http://schemas.microsoft.com/office/drawing/2014/main" id="{ED132649-D56C-5D89-ACA0-F2C05A47AEE2}"/>
                  </a:ext>
                </a:extLst>
              </p:cNvPr>
              <p:cNvSpPr>
                <a:spLocks noGrp="1"/>
              </p:cNvSpPr>
              <p:nvPr>
                <p:ph sz="half" idx="1"/>
              </p:nvPr>
            </p:nvSpPr>
            <p:spPr>
              <a:xfrm>
                <a:off x="78437" y="1830589"/>
                <a:ext cx="5283200" cy="4495800"/>
              </a:xfrm>
            </p:spPr>
            <p:txBody>
              <a:bodyPr>
                <a:normAutofit/>
              </a:bodyPr>
              <a:lstStyle/>
              <a:p>
                <a14:m>
                  <m:oMath xmlns:m="http://schemas.openxmlformats.org/officeDocument/2006/math">
                    <m:r>
                      <a:rPr lang="en-US" i="1" smtClean="0">
                        <a:latin typeface="Cambria Math" panose="02040503050406030204" pitchFamily="18" charset="0"/>
                      </a:rPr>
                      <m:t>𝑆</m:t>
                    </m:r>
                    <m:r>
                      <a:rPr lang="en-US" b="0" i="1" smtClean="0">
                        <a:latin typeface="Cambria Math" panose="02040503050406030204" pitchFamily="18" charset="0"/>
                      </a:rPr>
                      <m:t>𝑁𝑅</m:t>
                    </m:r>
                    <m:r>
                      <a:rPr lang="en-US" i="1">
                        <a:latin typeface="Cambria Math" panose="02040503050406030204" pitchFamily="18" charset="0"/>
                      </a:rPr>
                      <m:t>=20</m:t>
                    </m:r>
                    <m:r>
                      <m:rPr>
                        <m:sty m:val="p"/>
                      </m:rPr>
                      <a:rPr lang="en-US">
                        <a:latin typeface="Cambria Math" panose="02040503050406030204" pitchFamily="18" charset="0"/>
                      </a:rPr>
                      <m:t>log</m:t>
                    </m:r>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𝑠𝑖𝑔𝑛𝑎𝑙</m:t>
                            </m:r>
                            <m:r>
                              <a:rPr lang="en-US" b="0" i="1" smtClean="0">
                                <a:latin typeface="Cambria Math" panose="02040503050406030204" pitchFamily="18" charset="0"/>
                              </a:rPr>
                              <m:t>,   </m:t>
                            </m:r>
                            <m:r>
                              <a:rPr lang="en-US" i="1">
                                <a:latin typeface="Cambria Math" panose="02040503050406030204" pitchFamily="18" charset="0"/>
                              </a:rPr>
                              <m:t>𝑅𝑀𝑆</m:t>
                            </m:r>
                          </m:sub>
                        </m:sSub>
                      </m:num>
                      <m:den>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𝑛𝑜𝑖𝑠𝑒</m:t>
                            </m:r>
                            <m:r>
                              <a:rPr lang="en-US" b="0" i="1" smtClean="0">
                                <a:latin typeface="Cambria Math" panose="02040503050406030204" pitchFamily="18" charset="0"/>
                              </a:rPr>
                              <m:t>, </m:t>
                            </m:r>
                            <m:r>
                              <a:rPr lang="en-US" i="1">
                                <a:latin typeface="Cambria Math" panose="02040503050406030204" pitchFamily="18" charset="0"/>
                              </a:rPr>
                              <m:t>𝑅𝑀𝑆</m:t>
                            </m:r>
                          </m:sub>
                        </m:sSub>
                      </m:den>
                    </m:f>
                    <m:r>
                      <a:rPr lang="en-US" i="1">
                        <a:latin typeface="Cambria Math" panose="02040503050406030204" pitchFamily="18" charset="0"/>
                      </a:rPr>
                      <m:t>)</m:t>
                    </m:r>
                  </m:oMath>
                </a14:m>
                <a:endParaRPr lang="en-US" dirty="0"/>
              </a:p>
              <a:p>
                <a14:m>
                  <m:oMath xmlns:m="http://schemas.openxmlformats.org/officeDocument/2006/math">
                    <m:r>
                      <a:rPr lang="en-US" b="0" i="1" smtClean="0">
                        <a:latin typeface="Cambria Math" panose="02040503050406030204" pitchFamily="18" charset="0"/>
                      </a:rPr>
                      <m:t>𝑆𝐼𝑁𝐴𝐷</m:t>
                    </m:r>
                    <m:r>
                      <a:rPr lang="en-US" b="0" i="1" smtClean="0">
                        <a:latin typeface="Cambria Math" panose="02040503050406030204" pitchFamily="18" charset="0"/>
                      </a:rPr>
                      <m:t>=20</m:t>
                    </m:r>
                    <m:r>
                      <m:rPr>
                        <m:sty m:val="p"/>
                      </m:rPr>
                      <a:rPr lang="en-US">
                        <a:latin typeface="Cambria Math" panose="02040503050406030204" pitchFamily="18" charset="0"/>
                      </a:rPr>
                      <m:t>log</m:t>
                    </m:r>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b="0" i="1" smtClean="0">
                                <a:latin typeface="Cambria Math" panose="02040503050406030204" pitchFamily="18" charset="0"/>
                              </a:rPr>
                              <m:t>𝑠𝑖𝑔𝑛𝑎𝑙</m:t>
                            </m:r>
                            <m:r>
                              <a:rPr lang="en-US" b="0" i="1" smtClean="0">
                                <a:latin typeface="Cambria Math" panose="02040503050406030204" pitchFamily="18" charset="0"/>
                              </a:rPr>
                              <m:t>,   </m:t>
                            </m:r>
                            <m:r>
                              <a:rPr lang="en-US" b="0" i="1" smtClean="0">
                                <a:latin typeface="Cambria Math" panose="02040503050406030204" pitchFamily="18" charset="0"/>
                              </a:rPr>
                              <m:t>𝑅𝑀𝑆</m:t>
                            </m:r>
                          </m:sub>
                        </m:sSub>
                      </m:num>
                      <m:den>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b="0" i="1" smtClean="0">
                                <a:latin typeface="Cambria Math" panose="02040503050406030204" pitchFamily="18" charset="0"/>
                              </a:rPr>
                              <m:t>𝑛𝑜𝑖𝑠𝑒</m:t>
                            </m:r>
                            <m:r>
                              <a:rPr lang="en-US" b="0" i="1" smtClean="0">
                                <a:latin typeface="Cambria Math" panose="02040503050406030204" pitchFamily="18" charset="0"/>
                              </a:rPr>
                              <m:t>+</m:t>
                            </m:r>
                            <m:r>
                              <a:rPr lang="en-US" b="0" i="1" smtClean="0">
                                <a:latin typeface="Cambria Math" panose="02040503050406030204" pitchFamily="18" charset="0"/>
                              </a:rPr>
                              <m:t>𝑑𝑖𝑠𝑡𝑜𝑟𝑡𝑖𝑜𝑛</m:t>
                            </m:r>
                            <m:r>
                              <a:rPr lang="en-US" b="0" i="1" smtClean="0">
                                <a:latin typeface="Cambria Math" panose="02040503050406030204" pitchFamily="18" charset="0"/>
                              </a:rPr>
                              <m:t>,   </m:t>
                            </m:r>
                            <m:r>
                              <a:rPr lang="en-US" i="1">
                                <a:latin typeface="Cambria Math" panose="02040503050406030204" pitchFamily="18" charset="0"/>
                              </a:rPr>
                              <m:t>𝑅𝑀𝑆</m:t>
                            </m:r>
                          </m:sub>
                        </m:sSub>
                      </m:den>
                    </m:f>
                    <m:r>
                      <a:rPr lang="en-US" i="1">
                        <a:latin typeface="Cambria Math" panose="02040503050406030204" pitchFamily="18" charset="0"/>
                      </a:rPr>
                      <m:t>)</m:t>
                    </m:r>
                  </m:oMath>
                </a14:m>
                <a:endParaRPr lang="en-US" dirty="0"/>
              </a:p>
              <a:p>
                <a14:m>
                  <m:oMath xmlns:m="http://schemas.openxmlformats.org/officeDocument/2006/math">
                    <m:r>
                      <a:rPr lang="en-US" b="0" i="1" smtClean="0">
                        <a:latin typeface="Cambria Math" panose="02040503050406030204" pitchFamily="18" charset="0"/>
                      </a:rPr>
                      <m:t>𝑇𝐻𝐷</m:t>
                    </m:r>
                    <m:r>
                      <a:rPr lang="en-US" b="0" i="1" smtClean="0">
                        <a:latin typeface="Cambria Math" panose="02040503050406030204" pitchFamily="18" charset="0"/>
                      </a:rPr>
                      <m:t>=20</m:t>
                    </m:r>
                    <m:r>
                      <m:rPr>
                        <m:sty m:val="p"/>
                      </m:rPr>
                      <a:rPr lang="en-US" b="0" i="0" smtClean="0">
                        <a:latin typeface="Cambria Math" panose="02040503050406030204" pitchFamily="18" charset="0"/>
                      </a:rPr>
                      <m:t>log</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h𝑎𝑟𝑚𝑜𝑛𝑖𝑐</m:t>
                            </m:r>
                            <m:r>
                              <a:rPr lang="en-US" b="0" i="1" smtClean="0">
                                <a:latin typeface="Cambria Math" panose="02040503050406030204" pitchFamily="18" charset="0"/>
                              </a:rPr>
                              <m:t>,   </m:t>
                            </m:r>
                            <m:r>
                              <a:rPr lang="en-US" b="0" i="1" smtClean="0">
                                <a:latin typeface="Cambria Math" panose="02040503050406030204" pitchFamily="18" charset="0"/>
                              </a:rPr>
                              <m:t>𝑅𝑀𝑆</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𝑠𝑖𝑔𝑛𝑎𝑙</m:t>
                            </m:r>
                            <m:r>
                              <a:rPr lang="en-US" b="0" i="1" smtClean="0">
                                <a:latin typeface="Cambria Math" panose="02040503050406030204" pitchFamily="18" charset="0"/>
                              </a:rPr>
                              <m:t>,   </m:t>
                            </m:r>
                            <m:r>
                              <a:rPr lang="en-US" b="0" i="1" smtClean="0">
                                <a:latin typeface="Cambria Math" panose="02040503050406030204" pitchFamily="18" charset="0"/>
                              </a:rPr>
                              <m:t>𝑅𝑀𝑆</m:t>
                            </m:r>
                          </m:sub>
                        </m:sSub>
                      </m:den>
                    </m:f>
                    <m:r>
                      <a:rPr lang="en-US" b="0" i="1" smtClean="0">
                        <a:latin typeface="Cambria Math" panose="02040503050406030204" pitchFamily="18" charset="0"/>
                      </a:rPr>
                      <m:t>)</m:t>
                    </m:r>
                  </m:oMath>
                </a14:m>
                <a:endParaRPr lang="en-US" dirty="0"/>
              </a:p>
              <a:p>
                <a14:m>
                  <m:oMath xmlns:m="http://schemas.openxmlformats.org/officeDocument/2006/math">
                    <m:r>
                      <a:rPr lang="en-US" b="0" i="1" smtClean="0">
                        <a:latin typeface="Cambria Math" panose="02040503050406030204" pitchFamily="18" charset="0"/>
                      </a:rPr>
                      <m:t>𝐷𝑅</m:t>
                    </m:r>
                    <m:r>
                      <a:rPr lang="en-US" b="0" i="1" smtClean="0">
                        <a:latin typeface="Cambria Math" panose="02040503050406030204" pitchFamily="18" charset="0"/>
                      </a:rPr>
                      <m:t>=20</m:t>
                    </m:r>
                    <m:r>
                      <m:rPr>
                        <m:sty m:val="p"/>
                      </m:rPr>
                      <a:rPr lang="en-US" b="0" i="0" smtClean="0">
                        <a:latin typeface="Cambria Math" panose="02040503050406030204" pitchFamily="18" charset="0"/>
                      </a:rPr>
                      <m:t>log</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𝑠𝑖𝑔𝑛𝑎𝑙</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𝑛𝑜𝑖𝑠𝑒</m:t>
                            </m:r>
                            <m:r>
                              <a:rPr lang="en-US" b="0" i="1" smtClean="0">
                                <a:latin typeface="Cambria Math" panose="02040503050406030204" pitchFamily="18" charset="0"/>
                              </a:rPr>
                              <m:t>,   </m:t>
                            </m:r>
                            <m:r>
                              <a:rPr lang="en-US" b="0" i="1" smtClean="0">
                                <a:latin typeface="Cambria Math" panose="02040503050406030204" pitchFamily="18" charset="0"/>
                              </a:rPr>
                              <m:t>𝑅𝑀𝑆</m:t>
                            </m:r>
                          </m:sub>
                        </m:sSub>
                      </m:den>
                    </m:f>
                    <m:r>
                      <a:rPr lang="en-US" b="0" i="1" smtClean="0">
                        <a:latin typeface="Cambria Math" panose="02040503050406030204" pitchFamily="18" charset="0"/>
                      </a:rPr>
                      <m:t>)</m:t>
                    </m:r>
                  </m:oMath>
                </a14:m>
                <a:endParaRPr lang="en-US" dirty="0"/>
              </a:p>
              <a:p>
                <a14:m>
                  <m:oMath xmlns:m="http://schemas.openxmlformats.org/officeDocument/2006/math">
                    <m:r>
                      <a:rPr lang="en-US" b="0" i="1" smtClean="0">
                        <a:latin typeface="Cambria Math" panose="02040503050406030204" pitchFamily="18" charset="0"/>
                      </a:rPr>
                      <m:t>𝑆𝐹𝐷</m:t>
                    </m:r>
                    <m:r>
                      <a:rPr lang="en-US" i="1">
                        <a:latin typeface="Cambria Math" panose="02040503050406030204" pitchFamily="18" charset="0"/>
                      </a:rPr>
                      <m:t>𝑅</m:t>
                    </m:r>
                    <m:r>
                      <a:rPr lang="en-US" i="1">
                        <a:latin typeface="Cambria Math" panose="02040503050406030204" pitchFamily="18" charset="0"/>
                      </a:rPr>
                      <m:t>=20</m:t>
                    </m:r>
                    <m:r>
                      <m:rPr>
                        <m:sty m:val="p"/>
                      </m:rPr>
                      <a:rPr lang="en-US">
                        <a:latin typeface="Cambria Math" panose="02040503050406030204" pitchFamily="18" charset="0"/>
                      </a:rPr>
                      <m:t>log</m:t>
                    </m:r>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b="0" i="1" smtClean="0">
                                <a:latin typeface="Cambria Math" panose="02040503050406030204" pitchFamily="18" charset="0"/>
                              </a:rPr>
                              <m:t>𝑠𝑖𝑔𝑛𝑎𝑙</m:t>
                            </m:r>
                          </m:sub>
                        </m:sSub>
                      </m:num>
                      <m:den>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𝑠𝑝𝑢𝑟</m:t>
                            </m:r>
                            <m:r>
                              <a:rPr lang="en-US" i="1">
                                <a:latin typeface="Cambria Math" panose="02040503050406030204" pitchFamily="18" charset="0"/>
                              </a:rPr>
                              <m:t>,   </m:t>
                            </m:r>
                            <m:r>
                              <a:rPr lang="en-US" i="1">
                                <a:latin typeface="Cambria Math" panose="02040503050406030204" pitchFamily="18" charset="0"/>
                              </a:rPr>
                              <m:t>𝑚𝑎𝑥</m:t>
                            </m:r>
                          </m:sub>
                        </m:sSub>
                      </m:den>
                    </m:f>
                    <m:r>
                      <a:rPr lang="en-US" i="1">
                        <a:latin typeface="Cambria Math" panose="02040503050406030204" pitchFamily="18" charset="0"/>
                      </a:rPr>
                      <m:t>)</m:t>
                    </m:r>
                  </m:oMath>
                </a14:m>
                <a:endParaRPr lang="en-US" dirty="0"/>
              </a:p>
              <a:p>
                <a14:m>
                  <m:oMath xmlns:m="http://schemas.openxmlformats.org/officeDocument/2006/math">
                    <m:r>
                      <a:rPr lang="en-US" i="1">
                        <a:latin typeface="Cambria Math" panose="02040503050406030204" pitchFamily="18" charset="0"/>
                      </a:rPr>
                      <m:t>𝐸𝑁𝑂𝐵</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𝑆𝐼𝑁𝐴𝐷</m:t>
                        </m:r>
                        <m:r>
                          <a:rPr lang="en-US" i="1">
                            <a:latin typeface="Cambria Math" panose="02040503050406030204" pitchFamily="18" charset="0"/>
                          </a:rPr>
                          <m:t>−1.76</m:t>
                        </m:r>
                      </m:num>
                      <m:den>
                        <m:r>
                          <a:rPr lang="en-US" i="1">
                            <a:latin typeface="Cambria Math" panose="02040503050406030204" pitchFamily="18" charset="0"/>
                          </a:rPr>
                          <m:t>6.02</m:t>
                        </m:r>
                      </m:den>
                    </m:f>
                  </m:oMath>
                </a14:m>
                <a:endParaRPr lang="en-US" dirty="0" err="1"/>
              </a:p>
              <a:p>
                <a:pPr marL="0" indent="0">
                  <a:buNone/>
                </a:pPr>
                <a:endParaRPr lang="en-US" dirty="0"/>
              </a:p>
            </p:txBody>
          </p:sp>
        </mc:Choice>
        <mc:Fallback xmlns="">
          <p:sp>
            <p:nvSpPr>
              <p:cNvPr id="24" name="Content Placeholder 2">
                <a:extLst>
                  <a:ext uri="{FF2B5EF4-FFF2-40B4-BE49-F238E27FC236}">
                    <a16:creationId xmlns:a16="http://schemas.microsoft.com/office/drawing/2014/main" id="{ED132649-D56C-5D89-ACA0-F2C05A47AEE2}"/>
                  </a:ext>
                </a:extLst>
              </p:cNvPr>
              <p:cNvSpPr>
                <a:spLocks noGrp="1" noRot="1" noChangeAspect="1" noMove="1" noResize="1" noEditPoints="1" noAdjustHandles="1" noChangeArrowheads="1" noChangeShapeType="1" noTextEdit="1"/>
              </p:cNvSpPr>
              <p:nvPr>
                <p:ph sz="half" idx="1"/>
              </p:nvPr>
            </p:nvSpPr>
            <p:spPr>
              <a:xfrm>
                <a:off x="78437" y="1830589"/>
                <a:ext cx="5283200" cy="4495800"/>
              </a:xfrm>
              <a:blipFill>
                <a:blip r:embed="rId4"/>
                <a:stretch>
                  <a:fillRect/>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6CA8A191-5758-A073-CC8D-0E11195EDA93}"/>
              </a:ext>
            </a:extLst>
          </p:cNvPr>
          <p:cNvSpPr/>
          <p:nvPr/>
        </p:nvSpPr>
        <p:spPr bwMode="auto">
          <a:xfrm>
            <a:off x="5248275" y="1670051"/>
            <a:ext cx="3087491" cy="1619250"/>
          </a:xfrm>
          <a:prstGeom prst="rect">
            <a:avLst/>
          </a:prstGeom>
          <a:noFill/>
          <a:ln w="12700" cap="sq" algn="ctr">
            <a:solidFill>
              <a:schemeClr val="tx1"/>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10" name="Rectangle 9">
            <a:extLst>
              <a:ext uri="{FF2B5EF4-FFF2-40B4-BE49-F238E27FC236}">
                <a16:creationId xmlns:a16="http://schemas.microsoft.com/office/drawing/2014/main" id="{DF57C26E-C01A-699E-FD3A-38392256EE01}"/>
              </a:ext>
            </a:extLst>
          </p:cNvPr>
          <p:cNvSpPr/>
          <p:nvPr/>
        </p:nvSpPr>
        <p:spPr bwMode="auto">
          <a:xfrm>
            <a:off x="8755380" y="1670051"/>
            <a:ext cx="3087491" cy="1619250"/>
          </a:xfrm>
          <a:prstGeom prst="rect">
            <a:avLst/>
          </a:prstGeom>
          <a:noFill/>
          <a:ln w="12700" cap="sq" algn="ctr">
            <a:solidFill>
              <a:schemeClr val="tx1"/>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21" name="Rectangle 20">
            <a:extLst>
              <a:ext uri="{FF2B5EF4-FFF2-40B4-BE49-F238E27FC236}">
                <a16:creationId xmlns:a16="http://schemas.microsoft.com/office/drawing/2014/main" id="{A43F4012-DB32-1EA4-1ED8-EDD990F807BC}"/>
              </a:ext>
            </a:extLst>
          </p:cNvPr>
          <p:cNvSpPr/>
          <p:nvPr/>
        </p:nvSpPr>
        <p:spPr bwMode="auto">
          <a:xfrm>
            <a:off x="5248275" y="4332902"/>
            <a:ext cx="3087491" cy="1619250"/>
          </a:xfrm>
          <a:prstGeom prst="rect">
            <a:avLst/>
          </a:prstGeom>
          <a:noFill/>
          <a:ln w="12700" cap="sq" algn="ctr">
            <a:solidFill>
              <a:schemeClr val="tx1"/>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22" name="Rectangle 21">
            <a:extLst>
              <a:ext uri="{FF2B5EF4-FFF2-40B4-BE49-F238E27FC236}">
                <a16:creationId xmlns:a16="http://schemas.microsoft.com/office/drawing/2014/main" id="{5BCD94D5-5135-F3FA-11D0-1BBAAF507876}"/>
              </a:ext>
            </a:extLst>
          </p:cNvPr>
          <p:cNvSpPr/>
          <p:nvPr/>
        </p:nvSpPr>
        <p:spPr bwMode="auto">
          <a:xfrm>
            <a:off x="8755380" y="4332902"/>
            <a:ext cx="3087491" cy="1619250"/>
          </a:xfrm>
          <a:prstGeom prst="rect">
            <a:avLst/>
          </a:prstGeom>
          <a:noFill/>
          <a:ln w="12700" cap="sq" algn="ctr">
            <a:solidFill>
              <a:schemeClr val="tx1"/>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26" name="TextBox 25">
            <a:extLst>
              <a:ext uri="{FF2B5EF4-FFF2-40B4-BE49-F238E27FC236}">
                <a16:creationId xmlns:a16="http://schemas.microsoft.com/office/drawing/2014/main" id="{914BF127-C7DC-D9F2-C04E-6B65BE0C6519}"/>
              </a:ext>
            </a:extLst>
          </p:cNvPr>
          <p:cNvSpPr txBox="1"/>
          <p:nvPr/>
        </p:nvSpPr>
        <p:spPr>
          <a:xfrm>
            <a:off x="236306" y="6287784"/>
            <a:ext cx="544530" cy="380144"/>
          </a:xfrm>
          <a:prstGeom prst="rect">
            <a:avLst/>
          </a:prstGeom>
          <a:noFill/>
        </p:spPr>
        <p:txBody>
          <a:bodyPr wrap="square" rtlCol="0">
            <a:noAutofit/>
          </a:bodyPr>
          <a:lstStyle/>
          <a:p>
            <a:pPr algn="ctr"/>
            <a:r>
              <a:rPr lang="en-US" sz="1600" dirty="0"/>
              <a:t>22</a:t>
            </a:r>
          </a:p>
        </p:txBody>
      </p:sp>
    </p:spTree>
    <p:extLst>
      <p:ext uri="{BB962C8B-B14F-4D97-AF65-F5344CB8AC3E}">
        <p14:creationId xmlns:p14="http://schemas.microsoft.com/office/powerpoint/2010/main" val="36776617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F6271-7223-57C6-A822-083BC997A4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9A6A9F-556C-8FD9-85BB-9C6547B4185F}"/>
              </a:ext>
            </a:extLst>
          </p:cNvPr>
          <p:cNvSpPr>
            <a:spLocks noGrp="1"/>
          </p:cNvSpPr>
          <p:nvPr>
            <p:ph type="title"/>
          </p:nvPr>
        </p:nvSpPr>
        <p:spPr>
          <a:xfrm>
            <a:off x="609600" y="363090"/>
            <a:ext cx="10972800" cy="800100"/>
          </a:xfrm>
        </p:spPr>
        <p:txBody>
          <a:bodyPr vert="horz" lIns="0" tIns="45720" rIns="0" bIns="45720" rtlCol="0" anchor="b" anchorCtr="0">
            <a:normAutofit/>
          </a:bodyPr>
          <a:lstStyle/>
          <a:p>
            <a:r>
              <a:rPr lang="en-US" dirty="0"/>
              <a:t>Measured ENOB (Uncalibrated)</a:t>
            </a:r>
          </a:p>
        </p:txBody>
      </p:sp>
      <p:graphicFrame>
        <p:nvGraphicFramePr>
          <p:cNvPr id="6" name="Chart 5">
            <a:extLst>
              <a:ext uri="{FF2B5EF4-FFF2-40B4-BE49-F238E27FC236}">
                <a16:creationId xmlns:a16="http://schemas.microsoft.com/office/drawing/2014/main" id="{A20CADE8-7B5A-4FAB-91F7-C9E15D85BA20}"/>
              </a:ext>
            </a:extLst>
          </p:cNvPr>
          <p:cNvGraphicFramePr>
            <a:graphicFrameLocks/>
          </p:cNvGraphicFramePr>
          <p:nvPr>
            <p:extLst>
              <p:ext uri="{D42A27DB-BD31-4B8C-83A1-F6EECF244321}">
                <p14:modId xmlns:p14="http://schemas.microsoft.com/office/powerpoint/2010/main" val="2524036819"/>
              </p:ext>
            </p:extLst>
          </p:nvPr>
        </p:nvGraphicFramePr>
        <p:xfrm>
          <a:off x="6606338" y="1838254"/>
          <a:ext cx="4597467" cy="4133850"/>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327ECCC-CFEE-7630-9CEB-9679C3C3C1E9}"/>
                  </a:ext>
                </a:extLst>
              </p:cNvPr>
              <p:cNvSpPr txBox="1"/>
              <p:nvPr/>
            </p:nvSpPr>
            <p:spPr>
              <a:xfrm>
                <a:off x="9496539" y="363090"/>
                <a:ext cx="2346593" cy="572877"/>
              </a:xfrm>
              <a:prstGeom prst="rect">
                <a:avLst/>
              </a:prstGeom>
              <a:noFill/>
            </p:spPr>
            <p:txBody>
              <a:bodyPr wrap="none" lIns="0" tIns="0" rIns="0" bIns="0" rtlCol="0">
                <a:noAutofit/>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𝐸𝑁𝑂𝐵</m:t>
                      </m:r>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𝑆𝐼𝑁𝐴𝐷</m:t>
                          </m:r>
                          <m:r>
                            <a:rPr lang="en-US" sz="1600" b="0" i="1" smtClean="0">
                              <a:latin typeface="Cambria Math" panose="02040503050406030204" pitchFamily="18" charset="0"/>
                            </a:rPr>
                            <m:t>−1.76</m:t>
                          </m:r>
                        </m:num>
                        <m:den>
                          <m:r>
                            <a:rPr lang="en-US" sz="1600" b="0" i="1" smtClean="0">
                              <a:latin typeface="Cambria Math" panose="02040503050406030204" pitchFamily="18" charset="0"/>
                            </a:rPr>
                            <m:t>6.02</m:t>
                          </m:r>
                        </m:den>
                      </m:f>
                    </m:oMath>
                  </m:oMathPara>
                </a14:m>
                <a:endParaRPr lang="en-US" sz="1600" dirty="0" err="1"/>
              </a:p>
            </p:txBody>
          </p:sp>
        </mc:Choice>
        <mc:Fallback xmlns="">
          <p:sp>
            <p:nvSpPr>
              <p:cNvPr id="7" name="TextBox 6">
                <a:extLst>
                  <a:ext uri="{FF2B5EF4-FFF2-40B4-BE49-F238E27FC236}">
                    <a16:creationId xmlns:a16="http://schemas.microsoft.com/office/drawing/2014/main" id="{0327ECCC-CFEE-7630-9CEB-9679C3C3C1E9}"/>
                  </a:ext>
                </a:extLst>
              </p:cNvPr>
              <p:cNvSpPr txBox="1">
                <a:spLocks noRot="1" noChangeAspect="1" noMove="1" noResize="1" noEditPoints="1" noAdjustHandles="1" noChangeArrowheads="1" noChangeShapeType="1" noTextEdit="1"/>
              </p:cNvSpPr>
              <p:nvPr/>
            </p:nvSpPr>
            <p:spPr>
              <a:xfrm>
                <a:off x="9496539" y="363090"/>
                <a:ext cx="2346593" cy="572877"/>
              </a:xfrm>
              <a:prstGeom prst="rect">
                <a:avLst/>
              </a:prstGeom>
              <a:blipFill>
                <a:blip r:embed="rId4"/>
                <a:stretch>
                  <a:fillRect/>
                </a:stretch>
              </a:blipFill>
            </p:spPr>
            <p:txBody>
              <a:bodyPr/>
              <a:lstStyle/>
              <a:p>
                <a:r>
                  <a:rPr lang="en-US">
                    <a:noFill/>
                  </a:rPr>
                  <a:t> </a:t>
                </a:r>
              </a:p>
            </p:txBody>
          </p:sp>
        </mc:Fallback>
      </mc:AlternateContent>
      <p:graphicFrame>
        <p:nvGraphicFramePr>
          <p:cNvPr id="5" name="Chart 4">
            <a:extLst>
              <a:ext uri="{FF2B5EF4-FFF2-40B4-BE49-F238E27FC236}">
                <a16:creationId xmlns:a16="http://schemas.microsoft.com/office/drawing/2014/main" id="{A946D225-19B7-4C4A-A82F-7397FB5A56E0}"/>
              </a:ext>
            </a:extLst>
          </p:cNvPr>
          <p:cNvGraphicFramePr>
            <a:graphicFrameLocks/>
          </p:cNvGraphicFramePr>
          <p:nvPr>
            <p:extLst>
              <p:ext uri="{D42A27DB-BD31-4B8C-83A1-F6EECF244321}">
                <p14:modId xmlns:p14="http://schemas.microsoft.com/office/powerpoint/2010/main" val="3389374099"/>
              </p:ext>
            </p:extLst>
          </p:nvPr>
        </p:nvGraphicFramePr>
        <p:xfrm>
          <a:off x="988195" y="1807432"/>
          <a:ext cx="4480561" cy="4133850"/>
        </p:xfrm>
        <a:graphic>
          <a:graphicData uri="http://schemas.openxmlformats.org/drawingml/2006/chart">
            <c:chart xmlns:c="http://schemas.openxmlformats.org/drawingml/2006/chart" xmlns:r="http://schemas.openxmlformats.org/officeDocument/2006/relationships" r:id="rId5"/>
          </a:graphicData>
        </a:graphic>
      </p:graphicFrame>
      <p:sp>
        <p:nvSpPr>
          <p:cNvPr id="10" name="Rectangle 9">
            <a:extLst>
              <a:ext uri="{FF2B5EF4-FFF2-40B4-BE49-F238E27FC236}">
                <a16:creationId xmlns:a16="http://schemas.microsoft.com/office/drawing/2014/main" id="{B33B7192-7A67-CDA6-3A71-E27487E36E3D}"/>
              </a:ext>
            </a:extLst>
          </p:cNvPr>
          <p:cNvSpPr/>
          <p:nvPr/>
        </p:nvSpPr>
        <p:spPr bwMode="auto">
          <a:xfrm>
            <a:off x="1478958" y="2383604"/>
            <a:ext cx="3863083" cy="2753474"/>
          </a:xfrm>
          <a:prstGeom prst="rect">
            <a:avLst/>
          </a:prstGeom>
          <a:noFill/>
          <a:ln w="38100" cap="sq" algn="ctr">
            <a:solidFill>
              <a:schemeClr val="tx1"/>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12" name="Rectangle 11">
            <a:extLst>
              <a:ext uri="{FF2B5EF4-FFF2-40B4-BE49-F238E27FC236}">
                <a16:creationId xmlns:a16="http://schemas.microsoft.com/office/drawing/2014/main" id="{6809684B-7CFF-F707-566E-E1EC7430288C}"/>
              </a:ext>
            </a:extLst>
          </p:cNvPr>
          <p:cNvSpPr/>
          <p:nvPr/>
        </p:nvSpPr>
        <p:spPr bwMode="auto">
          <a:xfrm>
            <a:off x="7211938" y="2383604"/>
            <a:ext cx="3863083" cy="2753474"/>
          </a:xfrm>
          <a:prstGeom prst="rect">
            <a:avLst/>
          </a:prstGeom>
          <a:noFill/>
          <a:ln w="38100" cap="sq" algn="ctr">
            <a:solidFill>
              <a:schemeClr val="tx1"/>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3" name="TextBox 2">
            <a:extLst>
              <a:ext uri="{FF2B5EF4-FFF2-40B4-BE49-F238E27FC236}">
                <a16:creationId xmlns:a16="http://schemas.microsoft.com/office/drawing/2014/main" id="{803D3AB0-9CA1-8797-5DF5-E018BB9DBA3D}"/>
              </a:ext>
            </a:extLst>
          </p:cNvPr>
          <p:cNvSpPr txBox="1"/>
          <p:nvPr/>
        </p:nvSpPr>
        <p:spPr>
          <a:xfrm>
            <a:off x="236306" y="6287784"/>
            <a:ext cx="544530" cy="380144"/>
          </a:xfrm>
          <a:prstGeom prst="rect">
            <a:avLst/>
          </a:prstGeom>
          <a:noFill/>
        </p:spPr>
        <p:txBody>
          <a:bodyPr wrap="square" rtlCol="0">
            <a:noAutofit/>
          </a:bodyPr>
          <a:lstStyle/>
          <a:p>
            <a:pPr algn="ctr"/>
            <a:r>
              <a:rPr lang="en-US" sz="1600" dirty="0"/>
              <a:t>23</a:t>
            </a:r>
          </a:p>
        </p:txBody>
      </p:sp>
    </p:spTree>
    <p:extLst>
      <p:ext uri="{BB962C8B-B14F-4D97-AF65-F5344CB8AC3E}">
        <p14:creationId xmlns:p14="http://schemas.microsoft.com/office/powerpoint/2010/main" val="3733370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E5FBA-D27E-330B-A463-02C1AE36568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30C409F-53DE-9FA2-84CC-EC9B862942D6}"/>
              </a:ext>
            </a:extLst>
          </p:cNvPr>
          <p:cNvSpPr>
            <a:spLocks noGrp="1"/>
          </p:cNvSpPr>
          <p:nvPr>
            <p:ph type="subTitle" idx="1"/>
          </p:nvPr>
        </p:nvSpPr>
        <p:spPr/>
        <p:txBody>
          <a:bodyPr/>
          <a:lstStyle/>
          <a:p>
            <a:pPr marL="0" indent="0">
              <a:buNone/>
            </a:pPr>
            <a:endParaRPr lang="en-US" dirty="0"/>
          </a:p>
        </p:txBody>
      </p:sp>
      <p:sp>
        <p:nvSpPr>
          <p:cNvPr id="2" name="Title 1">
            <a:extLst>
              <a:ext uri="{FF2B5EF4-FFF2-40B4-BE49-F238E27FC236}">
                <a16:creationId xmlns:a16="http://schemas.microsoft.com/office/drawing/2014/main" id="{F570697F-BB90-C4D8-9B26-F57462470383}"/>
              </a:ext>
            </a:extLst>
          </p:cNvPr>
          <p:cNvSpPr>
            <a:spLocks noGrp="1"/>
          </p:cNvSpPr>
          <p:nvPr>
            <p:ph type="ctrTitle"/>
          </p:nvPr>
        </p:nvSpPr>
        <p:spPr/>
        <p:txBody>
          <a:bodyPr/>
          <a:lstStyle/>
          <a:p>
            <a:r>
              <a:rPr lang="en-US" dirty="0"/>
              <a:t>Static Characterization</a:t>
            </a:r>
          </a:p>
        </p:txBody>
      </p:sp>
      <p:sp>
        <p:nvSpPr>
          <p:cNvPr id="6" name="TextBox 5">
            <a:extLst>
              <a:ext uri="{FF2B5EF4-FFF2-40B4-BE49-F238E27FC236}">
                <a16:creationId xmlns:a16="http://schemas.microsoft.com/office/drawing/2014/main" id="{73C8662F-22B2-DA81-A551-56D4031589C6}"/>
              </a:ext>
            </a:extLst>
          </p:cNvPr>
          <p:cNvSpPr txBox="1"/>
          <p:nvPr/>
        </p:nvSpPr>
        <p:spPr>
          <a:xfrm>
            <a:off x="3901440" y="5953760"/>
            <a:ext cx="0" cy="0"/>
          </a:xfrm>
          <a:prstGeom prst="rect">
            <a:avLst/>
          </a:prstGeom>
          <a:noFill/>
        </p:spPr>
        <p:txBody>
          <a:bodyPr wrap="none" rtlCol="0">
            <a:noAutofit/>
          </a:bodyPr>
          <a:lstStyle/>
          <a:p>
            <a:pPr algn="ctr"/>
            <a:endParaRPr lang="en-US" sz="1600" dirty="0" err="1"/>
          </a:p>
        </p:txBody>
      </p:sp>
      <p:sp>
        <p:nvSpPr>
          <p:cNvPr id="4" name="TextBox 3">
            <a:extLst>
              <a:ext uri="{FF2B5EF4-FFF2-40B4-BE49-F238E27FC236}">
                <a16:creationId xmlns:a16="http://schemas.microsoft.com/office/drawing/2014/main" id="{43685A17-CDAD-21F1-04F1-1C3E946B74E1}"/>
              </a:ext>
            </a:extLst>
          </p:cNvPr>
          <p:cNvSpPr txBox="1"/>
          <p:nvPr/>
        </p:nvSpPr>
        <p:spPr>
          <a:xfrm>
            <a:off x="236306" y="6287784"/>
            <a:ext cx="544530" cy="380144"/>
          </a:xfrm>
          <a:prstGeom prst="rect">
            <a:avLst/>
          </a:prstGeom>
          <a:noFill/>
        </p:spPr>
        <p:txBody>
          <a:bodyPr wrap="square" rtlCol="0">
            <a:noAutofit/>
          </a:bodyPr>
          <a:lstStyle/>
          <a:p>
            <a:pPr algn="ctr"/>
            <a:endParaRPr lang="en-US" sz="1600" dirty="0"/>
          </a:p>
        </p:txBody>
      </p:sp>
    </p:spTree>
    <p:extLst>
      <p:ext uri="{BB962C8B-B14F-4D97-AF65-F5344CB8AC3E}">
        <p14:creationId xmlns:p14="http://schemas.microsoft.com/office/powerpoint/2010/main" val="10585754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CF2BE-4171-2FA3-5623-66548B6A45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966224-14B9-C376-C494-454841E127B7}"/>
              </a:ext>
            </a:extLst>
          </p:cNvPr>
          <p:cNvSpPr>
            <a:spLocks noGrp="1"/>
          </p:cNvSpPr>
          <p:nvPr>
            <p:ph type="title"/>
          </p:nvPr>
        </p:nvSpPr>
        <p:spPr>
          <a:xfrm>
            <a:off x="609600" y="363090"/>
            <a:ext cx="10972800" cy="800100"/>
          </a:xfrm>
        </p:spPr>
        <p:txBody>
          <a:bodyPr anchor="b">
            <a:normAutofit/>
          </a:bodyPr>
          <a:lstStyle/>
          <a:p>
            <a:r>
              <a:rPr lang="en-US" dirty="0"/>
              <a:t>Static Characterization Capture</a:t>
            </a:r>
          </a:p>
        </p:txBody>
      </p:sp>
      <p:pic>
        <p:nvPicPr>
          <p:cNvPr id="6" name="Content Placeholder 5">
            <a:extLst>
              <a:ext uri="{FF2B5EF4-FFF2-40B4-BE49-F238E27FC236}">
                <a16:creationId xmlns:a16="http://schemas.microsoft.com/office/drawing/2014/main" id="{4E23DB44-FFBA-7CA5-EFFB-51AC6FD2E07C}"/>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8890" b="15801"/>
          <a:stretch>
            <a:fillRect/>
          </a:stretch>
        </p:blipFill>
        <p:spPr>
          <a:xfrm>
            <a:off x="609600" y="1524000"/>
            <a:ext cx="10972800" cy="4648200"/>
          </a:xfrm>
          <a:prstGeom prst="rect">
            <a:avLst/>
          </a:prstGeom>
          <a:noFill/>
        </p:spPr>
      </p:pic>
      <p:sp>
        <p:nvSpPr>
          <p:cNvPr id="3" name="TextBox 2">
            <a:extLst>
              <a:ext uri="{FF2B5EF4-FFF2-40B4-BE49-F238E27FC236}">
                <a16:creationId xmlns:a16="http://schemas.microsoft.com/office/drawing/2014/main" id="{59CC97A6-20A1-F14B-33A2-C14E85E107A9}"/>
              </a:ext>
            </a:extLst>
          </p:cNvPr>
          <p:cNvSpPr txBox="1"/>
          <p:nvPr/>
        </p:nvSpPr>
        <p:spPr>
          <a:xfrm>
            <a:off x="236306" y="6287784"/>
            <a:ext cx="544530" cy="380144"/>
          </a:xfrm>
          <a:prstGeom prst="rect">
            <a:avLst/>
          </a:prstGeom>
          <a:noFill/>
        </p:spPr>
        <p:txBody>
          <a:bodyPr wrap="square" rtlCol="0">
            <a:noAutofit/>
          </a:bodyPr>
          <a:lstStyle/>
          <a:p>
            <a:pPr algn="ctr"/>
            <a:r>
              <a:rPr lang="en-US" sz="1600" dirty="0"/>
              <a:t>24</a:t>
            </a:r>
          </a:p>
        </p:txBody>
      </p:sp>
    </p:spTree>
    <p:extLst>
      <p:ext uri="{BB962C8B-B14F-4D97-AF65-F5344CB8AC3E}">
        <p14:creationId xmlns:p14="http://schemas.microsoft.com/office/powerpoint/2010/main" val="19974496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0403C-BDFD-F6F8-CE62-5C6744B0A2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432A6E-022A-856C-5D32-DDE8D0A4E17E}"/>
              </a:ext>
            </a:extLst>
          </p:cNvPr>
          <p:cNvSpPr>
            <a:spLocks noGrp="1"/>
          </p:cNvSpPr>
          <p:nvPr>
            <p:ph type="title"/>
          </p:nvPr>
        </p:nvSpPr>
        <p:spPr>
          <a:xfrm>
            <a:off x="609600" y="363090"/>
            <a:ext cx="10972800" cy="800100"/>
          </a:xfrm>
        </p:spPr>
        <p:txBody>
          <a:bodyPr anchor="b">
            <a:normAutofit/>
          </a:bodyPr>
          <a:lstStyle/>
          <a:p>
            <a:r>
              <a:rPr lang="en-US" dirty="0"/>
              <a:t>Static Characterization - Histogram Method</a:t>
            </a:r>
          </a:p>
        </p:txBody>
      </p:sp>
      <p:pic>
        <p:nvPicPr>
          <p:cNvPr id="2050" name="Picture 2">
            <a:extLst>
              <a:ext uri="{FF2B5EF4-FFF2-40B4-BE49-F238E27FC236}">
                <a16:creationId xmlns:a16="http://schemas.microsoft.com/office/drawing/2014/main" id="{57383DF5-E9E0-23BD-305E-8DCC97E6AEF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09600" y="2051304"/>
            <a:ext cx="10972800" cy="3593591"/>
          </a:xfrm>
          <a:prstGeom prst="rect">
            <a:avLst/>
          </a:prstGeom>
          <a:solidFill>
            <a:srgbClr val="FFFFFF"/>
          </a:solidFill>
        </p:spPr>
      </p:pic>
      <p:sp>
        <p:nvSpPr>
          <p:cNvPr id="3" name="TextBox 2">
            <a:extLst>
              <a:ext uri="{FF2B5EF4-FFF2-40B4-BE49-F238E27FC236}">
                <a16:creationId xmlns:a16="http://schemas.microsoft.com/office/drawing/2014/main" id="{13EAA047-A7F9-8E52-2E5F-12F16D60D4D0}"/>
              </a:ext>
            </a:extLst>
          </p:cNvPr>
          <p:cNvSpPr txBox="1"/>
          <p:nvPr/>
        </p:nvSpPr>
        <p:spPr>
          <a:xfrm>
            <a:off x="236306" y="6287784"/>
            <a:ext cx="544530" cy="380144"/>
          </a:xfrm>
          <a:prstGeom prst="rect">
            <a:avLst/>
          </a:prstGeom>
          <a:noFill/>
        </p:spPr>
        <p:txBody>
          <a:bodyPr wrap="square" rtlCol="0">
            <a:noAutofit/>
          </a:bodyPr>
          <a:lstStyle/>
          <a:p>
            <a:pPr algn="ctr"/>
            <a:r>
              <a:rPr lang="en-US" sz="1600" dirty="0"/>
              <a:t>25</a:t>
            </a:r>
          </a:p>
        </p:txBody>
      </p:sp>
    </p:spTree>
    <p:extLst>
      <p:ext uri="{BB962C8B-B14F-4D97-AF65-F5344CB8AC3E}">
        <p14:creationId xmlns:p14="http://schemas.microsoft.com/office/powerpoint/2010/main" val="2647306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B494A-CBE4-29FC-C896-B3FFE5D080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32F871-47D9-A42A-DC1C-B54C5515DE42}"/>
              </a:ext>
            </a:extLst>
          </p:cNvPr>
          <p:cNvSpPr>
            <a:spLocks noGrp="1"/>
          </p:cNvSpPr>
          <p:nvPr>
            <p:ph type="title"/>
          </p:nvPr>
        </p:nvSpPr>
        <p:spPr>
          <a:xfrm>
            <a:off x="609600" y="363090"/>
            <a:ext cx="10972800" cy="800100"/>
          </a:xfrm>
        </p:spPr>
        <p:txBody>
          <a:bodyPr anchor="b">
            <a:normAutofit/>
          </a:bodyPr>
          <a:lstStyle/>
          <a:p>
            <a:r>
              <a:rPr lang="en-US" dirty="0"/>
              <a:t>CTL Function (T[k])</a:t>
            </a:r>
          </a:p>
        </p:txBody>
      </p:sp>
      <p:pic>
        <p:nvPicPr>
          <p:cNvPr id="4104" name="Picture 8">
            <a:extLst>
              <a:ext uri="{FF2B5EF4-FFF2-40B4-BE49-F238E27FC236}">
                <a16:creationId xmlns:a16="http://schemas.microsoft.com/office/drawing/2014/main" id="{3F2A695D-5FAE-6353-B1B3-87529BBC05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100" y="1904539"/>
            <a:ext cx="5295900" cy="39338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554CB4C-F222-BF86-105E-5F4B90C345C5}"/>
              </a:ext>
            </a:extLst>
          </p:cNvPr>
          <p:cNvSpPr txBox="1"/>
          <p:nvPr/>
        </p:nvSpPr>
        <p:spPr>
          <a:xfrm>
            <a:off x="877798" y="5769088"/>
            <a:ext cx="5140503" cy="380144"/>
          </a:xfrm>
          <a:prstGeom prst="rect">
            <a:avLst/>
          </a:prstGeom>
          <a:noFill/>
        </p:spPr>
        <p:txBody>
          <a:bodyPr wrap="square" rtlCol="0">
            <a:noAutofit/>
          </a:bodyPr>
          <a:lstStyle/>
          <a:p>
            <a:pPr algn="ctr"/>
            <a:r>
              <a:rPr lang="en-US" sz="1600" dirty="0"/>
              <a:t>ADC Code (k)</a:t>
            </a:r>
          </a:p>
        </p:txBody>
      </p:sp>
      <p:sp>
        <p:nvSpPr>
          <p:cNvPr id="5" name="TextBox 4">
            <a:extLst>
              <a:ext uri="{FF2B5EF4-FFF2-40B4-BE49-F238E27FC236}">
                <a16:creationId xmlns:a16="http://schemas.microsoft.com/office/drawing/2014/main" id="{1343976B-4D58-7C2E-7F9E-DB9D5DD55808}"/>
              </a:ext>
            </a:extLst>
          </p:cNvPr>
          <p:cNvSpPr txBox="1"/>
          <p:nvPr/>
        </p:nvSpPr>
        <p:spPr>
          <a:xfrm rot="16200000">
            <a:off x="-867293" y="3535415"/>
            <a:ext cx="2786158" cy="380144"/>
          </a:xfrm>
          <a:prstGeom prst="rect">
            <a:avLst/>
          </a:prstGeom>
          <a:noFill/>
        </p:spPr>
        <p:txBody>
          <a:bodyPr wrap="square" rtlCol="0">
            <a:noAutofit/>
          </a:bodyPr>
          <a:lstStyle/>
          <a:p>
            <a:pPr algn="ctr"/>
            <a:r>
              <a:rPr lang="en-US" sz="1600" dirty="0"/>
              <a:t>Voltage (V)</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528CAA5-C882-65CC-7B64-7B4D304F93F6}"/>
                  </a:ext>
                </a:extLst>
              </p:cNvPr>
              <p:cNvSpPr txBox="1"/>
              <p:nvPr/>
            </p:nvSpPr>
            <p:spPr>
              <a:xfrm>
                <a:off x="6018301" y="2246727"/>
                <a:ext cx="6104194" cy="454632"/>
              </a:xfrm>
              <a:prstGeom prst="rect">
                <a:avLst/>
              </a:prstGeom>
              <a:noFill/>
            </p:spPr>
            <p:txBody>
              <a:bodyPr wrap="none" lIns="0" tIns="0" rIns="0" bIns="0" rtlCol="0">
                <a:noAutofit/>
              </a:bodyPr>
              <a:lstStyle/>
              <a:p>
                <a:pPr algn="ctr"/>
                <a14:m>
                  <m:oMath xmlns:m="http://schemas.openxmlformats.org/officeDocument/2006/math">
                    <m:r>
                      <a:rPr lang="en-US" sz="2400" b="0" i="1" smtClean="0">
                        <a:latin typeface="Cambria Math" panose="02040503050406030204" pitchFamily="18" charset="0"/>
                      </a:rPr>
                      <m:t>𝑇</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𝑘</m:t>
                        </m:r>
                      </m:e>
                    </m:d>
                    <m:r>
                      <a:rPr lang="en-US" sz="2400" b="0" i="1" smtClean="0">
                        <a:latin typeface="Cambria Math" panose="02040503050406030204" pitchFamily="18" charset="0"/>
                      </a:rPr>
                      <m:t>=</m:t>
                    </m:r>
                    <m:r>
                      <a:rPr lang="en-US" sz="2400" b="0" i="1" smtClean="0">
                        <a:latin typeface="Cambria Math" panose="02040503050406030204" pitchFamily="18" charset="0"/>
                      </a:rPr>
                      <m:t>𝐶</m:t>
                    </m:r>
                    <m:r>
                      <a:rPr lang="en-US" sz="2400" b="0" i="1" smtClean="0">
                        <a:latin typeface="Cambria Math" panose="02040503050406030204" pitchFamily="18" charset="0"/>
                      </a:rPr>
                      <m:t>+</m:t>
                    </m:r>
                    <m:r>
                      <a:rPr lang="en-US" sz="2400" b="0" i="1" smtClean="0">
                        <a:latin typeface="Cambria Math" panose="02040503050406030204" pitchFamily="18" charset="0"/>
                      </a:rPr>
                      <m:t>𝐺</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=0</m:t>
                        </m:r>
                      </m:sub>
                      <m:sup>
                        <m:r>
                          <a:rPr lang="en-US" sz="2400" b="0" i="1" smtClean="0">
                            <a:latin typeface="Cambria Math" panose="02040503050406030204" pitchFamily="18" charset="0"/>
                          </a:rPr>
                          <m:t>𝑘</m:t>
                        </m:r>
                        <m:r>
                          <a:rPr lang="en-US" sz="2400" b="0" i="1" smtClean="0">
                            <a:latin typeface="Cambria Math" panose="02040503050406030204" pitchFamily="18" charset="0"/>
                          </a:rPr>
                          <m:t>−1</m:t>
                        </m:r>
                      </m:sup>
                      <m:e>
                        <m:r>
                          <a:rPr lang="en-US" sz="2400" b="1" i="1" smtClean="0">
                            <a:latin typeface="Cambria Math" panose="02040503050406030204" pitchFamily="18" charset="0"/>
                          </a:rPr>
                          <m:t>𝑯</m:t>
                        </m:r>
                        <m:d>
                          <m:dPr>
                            <m:begChr m:val="["/>
                            <m:endChr m:val="]"/>
                            <m:ctrlPr>
                              <a:rPr lang="en-US" sz="2400" b="1" i="1" smtClean="0">
                                <a:latin typeface="Cambria Math" panose="02040503050406030204" pitchFamily="18" charset="0"/>
                              </a:rPr>
                            </m:ctrlPr>
                          </m:dPr>
                          <m:e>
                            <m:r>
                              <a:rPr lang="en-US" sz="2400" b="1" i="1" smtClean="0">
                                <a:latin typeface="Cambria Math" panose="02040503050406030204" pitchFamily="18" charset="0"/>
                              </a:rPr>
                              <m:t>𝒊</m:t>
                            </m:r>
                          </m:e>
                        </m:d>
                      </m:e>
                    </m:nary>
                    <m:r>
                      <a:rPr lang="en-US" sz="2400" b="0" i="1" smtClean="0">
                        <a:latin typeface="Cambria Math" panose="02040503050406030204" pitchFamily="18" charset="0"/>
                      </a:rPr>
                      <m:t>, </m:t>
                    </m:r>
                  </m:oMath>
                </a14:m>
                <a:r>
                  <a:rPr lang="en-US" sz="2000" dirty="0"/>
                  <a:t> for </a:t>
                </a:r>
                <a14:m>
                  <m:oMath xmlns:m="http://schemas.openxmlformats.org/officeDocument/2006/math">
                    <m:r>
                      <m:rPr>
                        <m:sty m:val="p"/>
                      </m:rPr>
                      <a:rPr lang="en-US" sz="2000" b="0" i="0" smtClean="0">
                        <a:latin typeface="Cambria Math" panose="02040503050406030204" pitchFamily="18" charset="0"/>
                      </a:rPr>
                      <m:t>k</m:t>
                    </m:r>
                    <m:r>
                      <a:rPr lang="en-US" sz="2000" b="0" i="0" smtClean="0">
                        <a:latin typeface="Cambria Math" panose="02040503050406030204" pitchFamily="18" charset="0"/>
                      </a:rPr>
                      <m:t>=1, 2,…</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2</m:t>
                        </m:r>
                      </m:e>
                      <m:sup>
                        <m:r>
                          <a:rPr lang="en-US" sz="2000" b="0" i="1" smtClean="0">
                            <a:latin typeface="Cambria Math" panose="02040503050406030204" pitchFamily="18" charset="0"/>
                          </a:rPr>
                          <m:t>𝑁</m:t>
                        </m:r>
                      </m:sup>
                    </m:sSup>
                    <m:r>
                      <a:rPr lang="en-US" sz="2000" b="0" i="1" smtClean="0">
                        <a:latin typeface="Cambria Math" panose="02040503050406030204" pitchFamily="18" charset="0"/>
                      </a:rPr>
                      <m:t>−1)</m:t>
                    </m:r>
                  </m:oMath>
                </a14:m>
                <a:endParaRPr lang="en-US" sz="2000" dirty="0" err="1"/>
              </a:p>
            </p:txBody>
          </p:sp>
        </mc:Choice>
        <mc:Fallback xmlns="">
          <p:sp>
            <p:nvSpPr>
              <p:cNvPr id="6" name="TextBox 5">
                <a:extLst>
                  <a:ext uri="{FF2B5EF4-FFF2-40B4-BE49-F238E27FC236}">
                    <a16:creationId xmlns:a16="http://schemas.microsoft.com/office/drawing/2014/main" id="{C528CAA5-C882-65CC-7B64-7B4D304F93F6}"/>
                  </a:ext>
                </a:extLst>
              </p:cNvPr>
              <p:cNvSpPr txBox="1">
                <a:spLocks noRot="1" noChangeAspect="1" noMove="1" noResize="1" noEditPoints="1" noAdjustHandles="1" noChangeArrowheads="1" noChangeShapeType="1" noTextEdit="1"/>
              </p:cNvSpPr>
              <p:nvPr/>
            </p:nvSpPr>
            <p:spPr>
              <a:xfrm>
                <a:off x="6018301" y="2246727"/>
                <a:ext cx="6104194" cy="454632"/>
              </a:xfrm>
              <a:prstGeom prst="rect">
                <a:avLst/>
              </a:prstGeom>
              <a:blipFill>
                <a:blip r:embed="rId4"/>
                <a:stretch>
                  <a:fillRect t="-1351" b="-1756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E295A8C-9CDE-5789-16BB-FD02ECD566AD}"/>
                  </a:ext>
                </a:extLst>
              </p:cNvPr>
              <p:cNvSpPr txBox="1"/>
              <p:nvPr/>
            </p:nvSpPr>
            <p:spPr>
              <a:xfrm>
                <a:off x="6730855" y="3787145"/>
                <a:ext cx="2702104" cy="633325"/>
              </a:xfrm>
              <a:prstGeom prst="rect">
                <a:avLst/>
              </a:prstGeom>
              <a:noFill/>
            </p:spPr>
            <p:txBody>
              <a:bodyPr wrap="none" lIns="0" tIns="0" rIns="0" bIns="0" rtlCol="0" anchor="ctr">
                <a:noAutofit/>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𝐺</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𝑟𝑒𝑓</m:t>
                              </m:r>
                              <m:r>
                                <a:rPr lang="en-US" sz="2400" i="1">
                                  <a:latin typeface="Cambria Math" panose="02040503050406030204" pitchFamily="18" charset="0"/>
                                </a:rPr>
                                <m:t> </m:t>
                              </m:r>
                              <m:r>
                                <a:rPr lang="en-US" sz="2400" i="1">
                                  <a:latin typeface="Cambria Math" panose="02040503050406030204" pitchFamily="18" charset="0"/>
                                </a:rPr>
                                <m:t>h𝑖𝑔h</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𝑟𝑒𝑓</m:t>
                              </m:r>
                              <m:r>
                                <a:rPr lang="en-US" sz="2400" i="1">
                                  <a:latin typeface="Cambria Math" panose="02040503050406030204" pitchFamily="18" charset="0"/>
                                </a:rPr>
                                <m:t> </m:t>
                              </m:r>
                              <m:r>
                                <a:rPr lang="en-US" sz="2400" i="1">
                                  <a:latin typeface="Cambria Math" panose="02040503050406030204" pitchFamily="18" charset="0"/>
                                </a:rPr>
                                <m:t>𝑙𝑜𝑤</m:t>
                              </m:r>
                            </m:sub>
                          </m:sSub>
                        </m:num>
                        <m:den>
                          <m:r>
                            <a:rPr lang="en-US" sz="2400" b="0" i="1" smtClean="0">
                              <a:latin typeface="Cambria Math" panose="02040503050406030204" pitchFamily="18" charset="0"/>
                            </a:rPr>
                            <m:t>𝑆</m:t>
                          </m:r>
                        </m:den>
                      </m:f>
                    </m:oMath>
                  </m:oMathPara>
                </a14:m>
                <a:endParaRPr lang="en-US" sz="2400" dirty="0" err="1"/>
              </a:p>
            </p:txBody>
          </p:sp>
        </mc:Choice>
        <mc:Fallback xmlns="">
          <p:sp>
            <p:nvSpPr>
              <p:cNvPr id="7" name="TextBox 6">
                <a:extLst>
                  <a:ext uri="{FF2B5EF4-FFF2-40B4-BE49-F238E27FC236}">
                    <a16:creationId xmlns:a16="http://schemas.microsoft.com/office/drawing/2014/main" id="{6E295A8C-9CDE-5789-16BB-FD02ECD566AD}"/>
                  </a:ext>
                </a:extLst>
              </p:cNvPr>
              <p:cNvSpPr txBox="1">
                <a:spLocks noRot="1" noChangeAspect="1" noMove="1" noResize="1" noEditPoints="1" noAdjustHandles="1" noChangeArrowheads="1" noChangeShapeType="1" noTextEdit="1"/>
              </p:cNvSpPr>
              <p:nvPr/>
            </p:nvSpPr>
            <p:spPr>
              <a:xfrm>
                <a:off x="6730855" y="3787145"/>
                <a:ext cx="2702104" cy="633325"/>
              </a:xfrm>
              <a:prstGeom prst="rect">
                <a:avLst/>
              </a:prstGeom>
              <a:blipFill>
                <a:blip r:embed="rId5"/>
                <a:stretch>
                  <a:fillRect r="-13093" b="-48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8F08C9B-35EF-97D0-9A14-339BA1A056AC}"/>
                  </a:ext>
                </a:extLst>
              </p:cNvPr>
              <p:cNvSpPr txBox="1"/>
              <p:nvPr/>
            </p:nvSpPr>
            <p:spPr>
              <a:xfrm>
                <a:off x="6730855" y="2942068"/>
                <a:ext cx="1335641" cy="588196"/>
              </a:xfrm>
              <a:prstGeom prst="rect">
                <a:avLst/>
              </a:prstGeom>
              <a:noFill/>
            </p:spPr>
            <p:txBody>
              <a:bodyPr wrap="none" lIns="0" tIns="0" rIns="0" bIns="0" rtlCol="0" anchor="ctr">
                <a:noAutofit/>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𝐶</m:t>
                      </m:r>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𝑟𝑒𝑓</m:t>
                          </m:r>
                          <m:r>
                            <a:rPr lang="en-US" sz="2400" i="1">
                              <a:latin typeface="Cambria Math" panose="02040503050406030204" pitchFamily="18" charset="0"/>
                            </a:rPr>
                            <m:t> </m:t>
                          </m:r>
                          <m:r>
                            <a:rPr lang="en-US" sz="2400" i="1">
                              <a:latin typeface="Cambria Math" panose="02040503050406030204" pitchFamily="18" charset="0"/>
                            </a:rPr>
                            <m:t>𝑙𝑜𝑤</m:t>
                          </m:r>
                        </m:sub>
                      </m:sSub>
                    </m:oMath>
                  </m:oMathPara>
                </a14:m>
                <a:endParaRPr lang="en-US" sz="2400" dirty="0" err="1"/>
              </a:p>
            </p:txBody>
          </p:sp>
        </mc:Choice>
        <mc:Fallback xmlns="">
          <p:sp>
            <p:nvSpPr>
              <p:cNvPr id="8" name="TextBox 7">
                <a:extLst>
                  <a:ext uri="{FF2B5EF4-FFF2-40B4-BE49-F238E27FC236}">
                    <a16:creationId xmlns:a16="http://schemas.microsoft.com/office/drawing/2014/main" id="{68F08C9B-35EF-97D0-9A14-339BA1A056AC}"/>
                  </a:ext>
                </a:extLst>
              </p:cNvPr>
              <p:cNvSpPr txBox="1">
                <a:spLocks noRot="1" noChangeAspect="1" noMove="1" noResize="1" noEditPoints="1" noAdjustHandles="1" noChangeArrowheads="1" noChangeShapeType="1" noTextEdit="1"/>
              </p:cNvSpPr>
              <p:nvPr/>
            </p:nvSpPr>
            <p:spPr>
              <a:xfrm>
                <a:off x="6730855" y="2942068"/>
                <a:ext cx="1335641" cy="588196"/>
              </a:xfrm>
              <a:prstGeom prst="rect">
                <a:avLst/>
              </a:prstGeom>
              <a:blipFill>
                <a:blip r:embed="rId6"/>
                <a:stretch>
                  <a:fillRect l="-7763" r="-23288" b="-2083"/>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5161C508-2548-B01D-704D-6CCAC114E605}"/>
              </a:ext>
            </a:extLst>
          </p:cNvPr>
          <p:cNvSpPr txBox="1"/>
          <p:nvPr/>
        </p:nvSpPr>
        <p:spPr>
          <a:xfrm>
            <a:off x="7131546" y="4616050"/>
            <a:ext cx="4450853" cy="588196"/>
          </a:xfrm>
          <a:prstGeom prst="rect">
            <a:avLst/>
          </a:prstGeom>
          <a:noFill/>
        </p:spPr>
        <p:txBody>
          <a:bodyPr wrap="none" lIns="0" tIns="0" rIns="0" bIns="0" rtlCol="0" anchor="ctr">
            <a:noAutofit/>
          </a:bodyPr>
          <a:lstStyle/>
          <a:p>
            <a:r>
              <a:rPr lang="en-US" sz="2000" dirty="0"/>
              <a:t>where </a:t>
            </a:r>
            <a:r>
              <a:rPr lang="en-US" sz="2000" b="1" dirty="0"/>
              <a:t>S</a:t>
            </a:r>
            <a:r>
              <a:rPr lang="en-US" sz="2000" dirty="0"/>
              <a:t> is the total number of samples</a:t>
            </a:r>
          </a:p>
        </p:txBody>
      </p:sp>
      <p:sp>
        <p:nvSpPr>
          <p:cNvPr id="14" name="TextBox 13">
            <a:extLst>
              <a:ext uri="{FF2B5EF4-FFF2-40B4-BE49-F238E27FC236}">
                <a16:creationId xmlns:a16="http://schemas.microsoft.com/office/drawing/2014/main" id="{0274F795-AC9E-85F9-8416-37BCC4152749}"/>
              </a:ext>
            </a:extLst>
          </p:cNvPr>
          <p:cNvSpPr txBox="1"/>
          <p:nvPr/>
        </p:nvSpPr>
        <p:spPr>
          <a:xfrm>
            <a:off x="236306" y="6287784"/>
            <a:ext cx="544530" cy="380144"/>
          </a:xfrm>
          <a:prstGeom prst="rect">
            <a:avLst/>
          </a:prstGeom>
          <a:noFill/>
        </p:spPr>
        <p:txBody>
          <a:bodyPr wrap="square" rtlCol="0">
            <a:noAutofit/>
          </a:bodyPr>
          <a:lstStyle/>
          <a:p>
            <a:pPr algn="ctr"/>
            <a:r>
              <a:rPr lang="en-US" sz="1600" dirty="0"/>
              <a:t>26</a:t>
            </a:r>
          </a:p>
        </p:txBody>
      </p:sp>
    </p:spTree>
    <p:extLst>
      <p:ext uri="{BB962C8B-B14F-4D97-AF65-F5344CB8AC3E}">
        <p14:creationId xmlns:p14="http://schemas.microsoft.com/office/powerpoint/2010/main" val="10148903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36609-A6F7-5888-620C-71DB857BB8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8A3FE-3F4C-9A13-4917-C5127ED3DBCA}"/>
              </a:ext>
            </a:extLst>
          </p:cNvPr>
          <p:cNvSpPr>
            <a:spLocks noGrp="1"/>
          </p:cNvSpPr>
          <p:nvPr>
            <p:ph type="title"/>
          </p:nvPr>
        </p:nvSpPr>
        <p:spPr>
          <a:xfrm>
            <a:off x="609600" y="363090"/>
            <a:ext cx="10972800" cy="800100"/>
          </a:xfrm>
        </p:spPr>
        <p:txBody>
          <a:bodyPr anchor="b">
            <a:normAutofit/>
          </a:bodyPr>
          <a:lstStyle/>
          <a:p>
            <a:r>
              <a:rPr lang="en-US" dirty="0"/>
              <a:t>Static Gain and Offset </a:t>
            </a:r>
            <a:r>
              <a:rPr lang="en-US" sz="1800" b="0" i="1" dirty="0"/>
              <a:t>(IEEE-1241)</a:t>
            </a:r>
            <a:endParaRPr lang="en-US" b="0" i="1" dirty="0"/>
          </a:p>
        </p:txBody>
      </p:sp>
      <p:pic>
        <p:nvPicPr>
          <p:cNvPr id="4098" name="Picture 2">
            <a:extLst>
              <a:ext uri="{FF2B5EF4-FFF2-40B4-BE49-F238E27FC236}">
                <a16:creationId xmlns:a16="http://schemas.microsoft.com/office/drawing/2014/main" id="{E6DCF5C9-1346-A9E7-18CA-07A54F56DE5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353"/>
          <a:stretch>
            <a:fillRect/>
          </a:stretch>
        </p:blipFill>
        <p:spPr bwMode="auto">
          <a:xfrm>
            <a:off x="813847" y="1593129"/>
            <a:ext cx="10564306" cy="325103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0FAD693-6C4B-415A-0EF3-56C85DE28E3C}"/>
              </a:ext>
            </a:extLst>
          </p:cNvPr>
          <p:cNvSpPr txBox="1"/>
          <p:nvPr/>
        </p:nvSpPr>
        <p:spPr>
          <a:xfrm>
            <a:off x="1179816" y="4986424"/>
            <a:ext cx="9832369" cy="1202076"/>
          </a:xfrm>
          <a:prstGeom prst="rect">
            <a:avLst/>
          </a:prstGeom>
          <a:noFill/>
        </p:spPr>
        <p:txBody>
          <a:bodyPr wrap="square" rtlCol="0">
            <a:noAutofit/>
          </a:bodyPr>
          <a:lstStyle/>
          <a:p>
            <a:pPr algn="ctr"/>
            <a:r>
              <a:rPr lang="en-US" sz="2400" i="1" dirty="0">
                <a:solidFill>
                  <a:srgbClr val="272626"/>
                </a:solidFill>
                <a:latin typeface="Arial" panose="020B0604020202020204" pitchFamily="34" charset="0"/>
                <a:ea typeface="Verdana" pitchFamily="34" charset="0"/>
                <a:cs typeface="Arial" panose="020B0604020202020204" pitchFamily="34" charset="0"/>
              </a:rPr>
              <a:t>“Values by which the input values are </a:t>
            </a:r>
            <a:r>
              <a:rPr lang="en-US" sz="2400" b="1" i="1" dirty="0">
                <a:solidFill>
                  <a:srgbClr val="272626"/>
                </a:solidFill>
                <a:latin typeface="Arial" panose="020B0604020202020204" pitchFamily="34" charset="0"/>
                <a:ea typeface="Verdana" pitchFamily="34" charset="0"/>
                <a:cs typeface="Arial" panose="020B0604020202020204" pitchFamily="34" charset="0"/>
              </a:rPr>
              <a:t>multiplied </a:t>
            </a:r>
            <a:r>
              <a:rPr lang="en-US" sz="2400" i="1" dirty="0">
                <a:solidFill>
                  <a:srgbClr val="272626"/>
                </a:solidFill>
                <a:latin typeface="Arial" panose="020B0604020202020204" pitchFamily="34" charset="0"/>
                <a:ea typeface="Verdana" pitchFamily="34" charset="0"/>
                <a:cs typeface="Arial" panose="020B0604020202020204" pitchFamily="34" charset="0"/>
              </a:rPr>
              <a:t>and then to which the input values are </a:t>
            </a:r>
            <a:r>
              <a:rPr lang="en-US" sz="2400" b="1" i="1" dirty="0">
                <a:solidFill>
                  <a:srgbClr val="272626"/>
                </a:solidFill>
                <a:latin typeface="Arial" panose="020B0604020202020204" pitchFamily="34" charset="0"/>
                <a:ea typeface="Verdana" pitchFamily="34" charset="0"/>
                <a:cs typeface="Arial" panose="020B0604020202020204" pitchFamily="34" charset="0"/>
              </a:rPr>
              <a:t>added</a:t>
            </a:r>
            <a:r>
              <a:rPr lang="en-US" sz="2400" i="1" dirty="0">
                <a:solidFill>
                  <a:srgbClr val="272626"/>
                </a:solidFill>
                <a:latin typeface="Arial" panose="020B0604020202020204" pitchFamily="34" charset="0"/>
                <a:ea typeface="Verdana" pitchFamily="34" charset="0"/>
                <a:cs typeface="Arial" panose="020B0604020202020204" pitchFamily="34" charset="0"/>
              </a:rPr>
              <a:t>, to cause the deviations from the output values to be </a:t>
            </a:r>
            <a:r>
              <a:rPr lang="en-US" sz="2400" b="1" i="1" dirty="0">
                <a:solidFill>
                  <a:srgbClr val="272626"/>
                </a:solidFill>
                <a:latin typeface="Arial" panose="020B0604020202020204" pitchFamily="34" charset="0"/>
                <a:ea typeface="Verdana" pitchFamily="34" charset="0"/>
                <a:cs typeface="Arial" panose="020B0604020202020204" pitchFamily="34" charset="0"/>
              </a:rPr>
              <a:t>zero at the terminal points</a:t>
            </a:r>
            <a:r>
              <a:rPr lang="en-US" sz="2400" i="1" dirty="0">
                <a:solidFill>
                  <a:srgbClr val="272626"/>
                </a:solidFill>
                <a:latin typeface="Arial" panose="020B0604020202020204" pitchFamily="34" charset="0"/>
                <a:ea typeface="Verdana" pitchFamily="34" charset="0"/>
                <a:cs typeface="Arial" panose="020B0604020202020204" pitchFamily="34" charset="0"/>
              </a:rPr>
              <a:t>”</a:t>
            </a:r>
          </a:p>
        </p:txBody>
      </p:sp>
      <p:sp>
        <p:nvSpPr>
          <p:cNvPr id="5" name="TextBox 4">
            <a:extLst>
              <a:ext uri="{FF2B5EF4-FFF2-40B4-BE49-F238E27FC236}">
                <a16:creationId xmlns:a16="http://schemas.microsoft.com/office/drawing/2014/main" id="{8966F39F-3F1C-E6DC-F6CB-DB68AF178573}"/>
              </a:ext>
            </a:extLst>
          </p:cNvPr>
          <p:cNvSpPr txBox="1"/>
          <p:nvPr/>
        </p:nvSpPr>
        <p:spPr>
          <a:xfrm>
            <a:off x="236306" y="6287784"/>
            <a:ext cx="544530" cy="380144"/>
          </a:xfrm>
          <a:prstGeom prst="rect">
            <a:avLst/>
          </a:prstGeom>
          <a:noFill/>
        </p:spPr>
        <p:txBody>
          <a:bodyPr wrap="square" rtlCol="0">
            <a:noAutofit/>
          </a:bodyPr>
          <a:lstStyle/>
          <a:p>
            <a:pPr algn="ctr"/>
            <a:r>
              <a:rPr lang="en-US" sz="1600" dirty="0"/>
              <a:t>27</a:t>
            </a:r>
          </a:p>
        </p:txBody>
      </p:sp>
    </p:spTree>
    <p:extLst>
      <p:ext uri="{BB962C8B-B14F-4D97-AF65-F5344CB8AC3E}">
        <p14:creationId xmlns:p14="http://schemas.microsoft.com/office/powerpoint/2010/main" val="41430603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B7815-59C2-2162-6246-5062C092277F}"/>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3CC29DB9-78AD-0DC2-5BDF-639890BA1083}"/>
              </a:ext>
            </a:extLst>
          </p:cNvPr>
          <p:cNvSpPr txBox="1">
            <a:spLocks/>
          </p:cNvSpPr>
          <p:nvPr/>
        </p:nvSpPr>
        <p:spPr>
          <a:xfrm>
            <a:off x="762000" y="515490"/>
            <a:ext cx="10972800" cy="800100"/>
          </a:xfrm>
          <a:prstGeom prst="rect">
            <a:avLst/>
          </a:prstGeom>
        </p:spPr>
        <p:txBody>
          <a:bodyPr vert="horz" lIns="0" tIns="45720" rIns="0" bIns="45720" rtlCol="0" anchor="b" anchorCtr="0">
            <a:normAutofit/>
          </a:bodyPr>
          <a:lstStyle>
            <a:lvl1pPr algn="l" defTabSz="914400" rtl="0" eaLnBrk="1" latinLnBrk="0" hangingPunct="1">
              <a:lnSpc>
                <a:spcPts val="3800"/>
              </a:lnSpc>
              <a:spcBef>
                <a:spcPct val="0"/>
              </a:spcBef>
              <a:buNone/>
              <a:defRPr sz="3600" b="1" kern="1200">
                <a:solidFill>
                  <a:srgbClr val="272626"/>
                </a:solidFill>
                <a:latin typeface="Arial" panose="020B0604020202020204" pitchFamily="34" charset="0"/>
                <a:ea typeface="Verdana" pitchFamily="34" charset="0"/>
                <a:cs typeface="Arial" panose="020B060402020202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Static Characterization - Results</a:t>
            </a:r>
          </a:p>
        </p:txBody>
      </p:sp>
      <p:pic>
        <p:nvPicPr>
          <p:cNvPr id="2" name="Picture 2">
            <a:extLst>
              <a:ext uri="{FF2B5EF4-FFF2-40B4-BE49-F238E27FC236}">
                <a16:creationId xmlns:a16="http://schemas.microsoft.com/office/drawing/2014/main" id="{66AC0A90-CC1B-2BC2-3B1C-10AF0DBA7C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553" y="1918819"/>
            <a:ext cx="6796546" cy="405046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18171BB-7ADA-987B-4D3A-A2C44D9D7B8C}"/>
              </a:ext>
            </a:extLst>
          </p:cNvPr>
          <p:cNvSpPr txBox="1"/>
          <p:nvPr/>
        </p:nvSpPr>
        <p:spPr>
          <a:xfrm>
            <a:off x="236306" y="6287784"/>
            <a:ext cx="544530" cy="380144"/>
          </a:xfrm>
          <a:prstGeom prst="rect">
            <a:avLst/>
          </a:prstGeom>
          <a:noFill/>
        </p:spPr>
        <p:txBody>
          <a:bodyPr wrap="square" rtlCol="0">
            <a:noAutofit/>
          </a:bodyPr>
          <a:lstStyle/>
          <a:p>
            <a:pPr algn="ctr"/>
            <a:r>
              <a:rPr lang="en-US" sz="1600" dirty="0"/>
              <a:t>28</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E09AC76-4BC4-FA86-E179-4DBBCAABC9E8}"/>
                  </a:ext>
                </a:extLst>
              </p:cNvPr>
              <p:cNvSpPr txBox="1"/>
              <p:nvPr/>
            </p:nvSpPr>
            <p:spPr>
              <a:xfrm>
                <a:off x="7523928" y="4642052"/>
                <a:ext cx="4448894" cy="800100"/>
              </a:xfrm>
              <a:prstGeom prst="rect">
                <a:avLst/>
              </a:prstGeom>
              <a:noFill/>
            </p:spPr>
            <p:txBody>
              <a:bodyPr wrap="none" lIns="0" tIns="0" rIns="0" bIns="0" rtlCol="0" anchor="ctr">
                <a:noAutofit/>
              </a:bodyPr>
              <a:lstStyle/>
              <a:p>
                <a:pPr algn="ct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𝐷</m:t>
                      </m:r>
                      <m:r>
                        <a:rPr lang="en-US" sz="1600" b="0" i="1" smtClean="0">
                          <a:latin typeface="Cambria Math" panose="02040503050406030204" pitchFamily="18" charset="0"/>
                        </a:rPr>
                        <m:t>𝑁𝐿</m:t>
                      </m:r>
                      <m:r>
                        <a:rPr lang="en-US" sz="1600" b="0" i="1" smtClean="0">
                          <a:latin typeface="Cambria Math" panose="02040503050406030204" pitchFamily="18" charset="0"/>
                        </a:rPr>
                        <m:t>[</m:t>
                      </m:r>
                      <m:r>
                        <a:rPr lang="en-US" sz="1600" b="0" i="1" smtClean="0">
                          <a:latin typeface="Cambria Math" panose="02040503050406030204" pitchFamily="18" charset="0"/>
                        </a:rPr>
                        <m:t>𝑘</m:t>
                      </m:r>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𝐵𝐼𝑁</m:t>
                              </m:r>
                              <m:r>
                                <a:rPr lang="en-US" sz="1600" b="0" i="1" smtClean="0">
                                  <a:latin typeface="Cambria Math" panose="02040503050406030204" pitchFamily="18" charset="0"/>
                                </a:rPr>
                                <m:t>_</m:t>
                              </m:r>
                              <m:r>
                                <a:rPr lang="en-US" sz="1600" b="0" i="1" smtClean="0">
                                  <a:latin typeface="Cambria Math" panose="02040503050406030204" pitchFamily="18" charset="0"/>
                                </a:rPr>
                                <m:t>𝑊𝐼𝐷𝑇𝐻</m:t>
                              </m:r>
                            </m:e>
                            <m:sub>
                              <m:r>
                                <a:rPr lang="en-US" sz="1600" b="0" i="1" smtClean="0">
                                  <a:latin typeface="Cambria Math" panose="02040503050406030204" pitchFamily="18" charset="0"/>
                                </a:rPr>
                                <m:t>𝑚𝑒𝑎𝑠𝑢𝑟𝑒𝑑</m:t>
                              </m:r>
                            </m:sub>
                          </m:sSub>
                          <m:r>
                            <a:rPr lang="en-US" sz="1600" b="0" i="1" smtClean="0">
                              <a:latin typeface="Cambria Math" panose="02040503050406030204" pitchFamily="18" charset="0"/>
                            </a:rPr>
                            <m:t>[</m:t>
                          </m:r>
                          <m:r>
                            <a:rPr lang="en-US" sz="1600" b="0" i="1" smtClean="0">
                              <a:latin typeface="Cambria Math" panose="02040503050406030204" pitchFamily="18" charset="0"/>
                            </a:rPr>
                            <m:t>𝑘</m:t>
                          </m:r>
                          <m:r>
                            <a:rPr lang="en-US" sz="1600" b="0" i="1" smtClean="0">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𝐵𝐼</m:t>
                              </m:r>
                              <m:sSub>
                                <m:sSubPr>
                                  <m:ctrlPr>
                                    <a:rPr lang="en-US" sz="1600" i="1">
                                      <a:latin typeface="Cambria Math" panose="02040503050406030204" pitchFamily="18" charset="0"/>
                                    </a:rPr>
                                  </m:ctrlPr>
                                </m:sSubPr>
                                <m:e>
                                  <m:r>
                                    <a:rPr lang="en-US" sz="1600" i="1">
                                      <a:latin typeface="Cambria Math" panose="02040503050406030204" pitchFamily="18" charset="0"/>
                                    </a:rPr>
                                    <m:t>𝑁</m:t>
                                  </m:r>
                                </m:e>
                                <m:sub>
                                  <m:r>
                                    <a:rPr lang="en-US" sz="1600" i="1">
                                      <a:latin typeface="Cambria Math" panose="02040503050406030204" pitchFamily="18" charset="0"/>
                                    </a:rPr>
                                    <m:t>𝑊𝐼𝐷𝑇𝐻</m:t>
                                  </m:r>
                                </m:sub>
                              </m:sSub>
                            </m:e>
                            <m:sub>
                              <m:r>
                                <a:rPr lang="en-US" sz="1600" b="0" i="1" smtClean="0">
                                  <a:latin typeface="Cambria Math" panose="02040503050406030204" pitchFamily="18" charset="0"/>
                                </a:rPr>
                                <m:t>𝑖𝑑𝑒𝑎𝑙</m:t>
                              </m:r>
                            </m:sub>
                          </m:sSub>
                          <m:r>
                            <a:rPr lang="en-US" sz="1600" b="0" i="1" smtClean="0">
                              <a:latin typeface="Cambria Math" panose="02040503050406030204" pitchFamily="18" charset="0"/>
                            </a:rPr>
                            <m:t>[</m:t>
                          </m:r>
                          <m:r>
                            <a:rPr lang="en-US" sz="1600" b="0" i="1" smtClean="0">
                              <a:latin typeface="Cambria Math" panose="02040503050406030204" pitchFamily="18" charset="0"/>
                            </a:rPr>
                            <m:t>𝑘</m:t>
                          </m:r>
                          <m:r>
                            <a:rPr lang="en-US" sz="1600" b="0" i="1" smtClean="0">
                              <a:latin typeface="Cambria Math" panose="02040503050406030204" pitchFamily="18" charset="0"/>
                            </a:rPr>
                            <m:t>]</m:t>
                          </m:r>
                        </m:num>
                        <m:den>
                          <m:sSub>
                            <m:sSubPr>
                              <m:ctrlPr>
                                <a:rPr lang="en-US" sz="1600" i="1">
                                  <a:latin typeface="Cambria Math" panose="02040503050406030204" pitchFamily="18" charset="0"/>
                                </a:rPr>
                              </m:ctrlPr>
                            </m:sSubPr>
                            <m:e>
                              <m:r>
                                <a:rPr lang="en-US" sz="1600" i="1">
                                  <a:latin typeface="Cambria Math" panose="02040503050406030204" pitchFamily="18" charset="0"/>
                                </a:rPr>
                                <m:t>𝐵𝐼𝑁</m:t>
                              </m:r>
                              <m:r>
                                <a:rPr lang="en-US" sz="1600" i="1">
                                  <a:latin typeface="Cambria Math" panose="02040503050406030204" pitchFamily="18" charset="0"/>
                                </a:rPr>
                                <m:t>_</m:t>
                              </m:r>
                              <m:r>
                                <a:rPr lang="en-US" sz="1600" i="1">
                                  <a:latin typeface="Cambria Math" panose="02040503050406030204" pitchFamily="18" charset="0"/>
                                </a:rPr>
                                <m:t>𝑊𝐼𝐷𝑇𝐻</m:t>
                              </m:r>
                            </m:e>
                            <m:sub>
                              <m:r>
                                <a:rPr lang="en-US" sz="1600" i="1">
                                  <a:latin typeface="Cambria Math" panose="02040503050406030204" pitchFamily="18" charset="0"/>
                                </a:rPr>
                                <m:t>𝑖𝑑𝑒𝑎𝑙</m:t>
                              </m:r>
                            </m:sub>
                          </m:sSub>
                          <m:r>
                            <a:rPr lang="en-US" sz="1600" b="0" i="1" smtClean="0">
                              <a:latin typeface="Cambria Math" panose="02040503050406030204" pitchFamily="18" charset="0"/>
                            </a:rPr>
                            <m:t>[</m:t>
                          </m:r>
                          <m:r>
                            <a:rPr lang="en-US" sz="1600" b="0" i="1" smtClean="0">
                              <a:latin typeface="Cambria Math" panose="02040503050406030204" pitchFamily="18" charset="0"/>
                            </a:rPr>
                            <m:t>𝑘</m:t>
                          </m:r>
                          <m:r>
                            <a:rPr lang="en-US" sz="1600" b="0" i="1" smtClean="0">
                              <a:latin typeface="Cambria Math" panose="02040503050406030204" pitchFamily="18" charset="0"/>
                            </a:rPr>
                            <m:t>]</m:t>
                          </m:r>
                        </m:den>
                      </m:f>
                    </m:oMath>
                  </m:oMathPara>
                </a14:m>
                <a:endParaRPr lang="en-US" sz="1600" dirty="0" err="1"/>
              </a:p>
            </p:txBody>
          </p:sp>
        </mc:Choice>
        <mc:Fallback xmlns="">
          <p:sp>
            <p:nvSpPr>
              <p:cNvPr id="5" name="TextBox 4">
                <a:extLst>
                  <a:ext uri="{FF2B5EF4-FFF2-40B4-BE49-F238E27FC236}">
                    <a16:creationId xmlns:a16="http://schemas.microsoft.com/office/drawing/2014/main" id="{9E09AC76-4BC4-FA86-E179-4DBBCAABC9E8}"/>
                  </a:ext>
                </a:extLst>
              </p:cNvPr>
              <p:cNvSpPr txBox="1">
                <a:spLocks noRot="1" noChangeAspect="1" noMove="1" noResize="1" noEditPoints="1" noAdjustHandles="1" noChangeArrowheads="1" noChangeShapeType="1" noTextEdit="1"/>
              </p:cNvSpPr>
              <p:nvPr/>
            </p:nvSpPr>
            <p:spPr>
              <a:xfrm>
                <a:off x="7523928" y="4642052"/>
                <a:ext cx="4448894" cy="800100"/>
              </a:xfrm>
              <a:prstGeom prst="rect">
                <a:avLst/>
              </a:prstGeom>
              <a:blipFill>
                <a:blip r:embed="rId4"/>
                <a:stretch>
                  <a:fillRect l="-4658" r="-34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11046E9-11FA-1B3A-966C-8A8ED3C398FB}"/>
                  </a:ext>
                </a:extLst>
              </p:cNvPr>
              <p:cNvSpPr txBox="1"/>
              <p:nvPr/>
            </p:nvSpPr>
            <p:spPr>
              <a:xfrm>
                <a:off x="7797906" y="2484481"/>
                <a:ext cx="3900939" cy="800100"/>
              </a:xfrm>
              <a:prstGeom prst="rect">
                <a:avLst/>
              </a:prstGeom>
              <a:noFill/>
            </p:spPr>
            <p:txBody>
              <a:bodyPr wrap="none" lIns="0" tIns="0" rIns="0" bIns="0" rtlCol="0" anchor="ctr">
                <a:noAutofit/>
              </a:bodyPr>
              <a:lstStyle/>
              <a:p>
                <a:pPr algn="ct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𝐼</m:t>
                      </m:r>
                      <m:r>
                        <a:rPr lang="en-US" sz="1600" b="0" i="1" smtClean="0">
                          <a:latin typeface="Cambria Math" panose="02040503050406030204" pitchFamily="18" charset="0"/>
                        </a:rPr>
                        <m:t>𝑁𝐿</m:t>
                      </m:r>
                      <m:r>
                        <a:rPr lang="en-US" sz="1600" b="0" i="1" smtClean="0">
                          <a:latin typeface="Cambria Math" panose="02040503050406030204" pitchFamily="18" charset="0"/>
                        </a:rPr>
                        <m:t>[</m:t>
                      </m:r>
                      <m:r>
                        <a:rPr lang="en-US" sz="1600" b="0" i="1" smtClean="0">
                          <a:latin typeface="Cambria Math" panose="02040503050406030204" pitchFamily="18" charset="0"/>
                        </a:rPr>
                        <m:t>𝑘</m:t>
                      </m:r>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𝐴</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𝑇</m:t>
                          </m:r>
                          <m:d>
                            <m:dPr>
                              <m:begChr m:val="["/>
                              <m:endChr m:val="]"/>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𝑘</m:t>
                              </m:r>
                            </m:e>
                          </m:d>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𝑉</m:t>
                              </m:r>
                            </m:e>
                            <m:sub>
                              <m:r>
                                <a:rPr lang="en-US" sz="1600" b="0" i="1" smtClean="0">
                                  <a:latin typeface="Cambria Math" panose="02040503050406030204" pitchFamily="18" charset="0"/>
                                  <a:ea typeface="Cambria Math" panose="02040503050406030204" pitchFamily="18" charset="0"/>
                                </a:rPr>
                                <m:t>𝑂𝑆</m:t>
                              </m:r>
                            </m:sub>
                          </m:sSub>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𝑇</m:t>
                              </m:r>
                            </m:e>
                            <m:sub>
                              <m:r>
                                <a:rPr lang="en-US" sz="1600" b="0" i="1" smtClean="0">
                                  <a:latin typeface="Cambria Math" panose="02040503050406030204" pitchFamily="18" charset="0"/>
                                  <a:ea typeface="Cambria Math" panose="02040503050406030204" pitchFamily="18" charset="0"/>
                                </a:rPr>
                                <m:t>𝑛𝑜𝑚</m:t>
                              </m:r>
                            </m:sub>
                          </m:sSub>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𝑘</m:t>
                          </m:r>
                          <m:r>
                            <a:rPr lang="en-US" sz="1600" b="0" i="1" smtClean="0">
                              <a:latin typeface="Cambria Math" panose="02040503050406030204" pitchFamily="18" charset="0"/>
                              <a:ea typeface="Cambria Math" panose="02040503050406030204" pitchFamily="18" charset="0"/>
                            </a:rPr>
                            <m:t>]</m:t>
                          </m:r>
                        </m:num>
                        <m:den>
                          <m:r>
                            <a:rPr lang="en-US" sz="1600" b="0" i="1" smtClean="0">
                              <a:latin typeface="Cambria Math" panose="02040503050406030204" pitchFamily="18" charset="0"/>
                            </a:rPr>
                            <m:t>𝑄</m:t>
                          </m:r>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𝑉</m:t>
                              </m:r>
                            </m:e>
                            <m:sub>
                              <m:r>
                                <a:rPr lang="en-US" sz="1600" b="0" i="1" smtClean="0">
                                  <a:latin typeface="Cambria Math" panose="02040503050406030204" pitchFamily="18" charset="0"/>
                                  <a:ea typeface="Cambria Math" panose="02040503050406030204" pitchFamily="18" charset="0"/>
                                </a:rPr>
                                <m:t>𝐹𝑆</m:t>
                              </m:r>
                            </m:sub>
                          </m:sSub>
                        </m:den>
                      </m:f>
                    </m:oMath>
                  </m:oMathPara>
                </a14:m>
                <a:endParaRPr lang="en-US" sz="1600" dirty="0" err="1"/>
              </a:p>
            </p:txBody>
          </p:sp>
        </mc:Choice>
        <mc:Fallback xmlns="">
          <p:sp>
            <p:nvSpPr>
              <p:cNvPr id="6" name="TextBox 5">
                <a:extLst>
                  <a:ext uri="{FF2B5EF4-FFF2-40B4-BE49-F238E27FC236}">
                    <a16:creationId xmlns:a16="http://schemas.microsoft.com/office/drawing/2014/main" id="{711046E9-11FA-1B3A-966C-8A8ED3C398FB}"/>
                  </a:ext>
                </a:extLst>
              </p:cNvPr>
              <p:cNvSpPr txBox="1">
                <a:spLocks noRot="1" noChangeAspect="1" noMove="1" noResize="1" noEditPoints="1" noAdjustHandles="1" noChangeArrowheads="1" noChangeShapeType="1" noTextEdit="1"/>
              </p:cNvSpPr>
              <p:nvPr/>
            </p:nvSpPr>
            <p:spPr>
              <a:xfrm>
                <a:off x="7797906" y="2484481"/>
                <a:ext cx="3900939" cy="800100"/>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114670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6BAE9-9084-2780-B223-B61A33D6F9C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AF42600-FD6E-CE2C-F8B8-EEA21CCC0B60}"/>
              </a:ext>
            </a:extLst>
          </p:cNvPr>
          <p:cNvSpPr>
            <a:spLocks noGrp="1"/>
          </p:cNvSpPr>
          <p:nvPr>
            <p:ph type="subTitle" idx="1"/>
          </p:nvPr>
        </p:nvSpPr>
        <p:spPr/>
        <p:txBody>
          <a:bodyPr/>
          <a:lstStyle/>
          <a:p>
            <a:pPr marL="0" indent="0">
              <a:buNone/>
            </a:pPr>
            <a:endParaRPr lang="en-US" dirty="0"/>
          </a:p>
        </p:txBody>
      </p:sp>
      <p:sp>
        <p:nvSpPr>
          <p:cNvPr id="2" name="Title 1">
            <a:extLst>
              <a:ext uri="{FF2B5EF4-FFF2-40B4-BE49-F238E27FC236}">
                <a16:creationId xmlns:a16="http://schemas.microsoft.com/office/drawing/2014/main" id="{95084108-9EC2-61CF-8EB4-191F3CE3E318}"/>
              </a:ext>
            </a:extLst>
          </p:cNvPr>
          <p:cNvSpPr>
            <a:spLocks noGrp="1"/>
          </p:cNvSpPr>
          <p:nvPr>
            <p:ph type="ctrTitle"/>
          </p:nvPr>
        </p:nvSpPr>
        <p:spPr/>
        <p:txBody>
          <a:bodyPr/>
          <a:lstStyle/>
          <a:p>
            <a:r>
              <a:rPr lang="en-US" dirty="0"/>
              <a:t>Results &amp; Comparison</a:t>
            </a:r>
          </a:p>
        </p:txBody>
      </p:sp>
      <p:sp>
        <p:nvSpPr>
          <p:cNvPr id="6" name="TextBox 5">
            <a:extLst>
              <a:ext uri="{FF2B5EF4-FFF2-40B4-BE49-F238E27FC236}">
                <a16:creationId xmlns:a16="http://schemas.microsoft.com/office/drawing/2014/main" id="{C9571DDD-1187-517B-49E5-C694FEE55815}"/>
              </a:ext>
            </a:extLst>
          </p:cNvPr>
          <p:cNvSpPr txBox="1"/>
          <p:nvPr/>
        </p:nvSpPr>
        <p:spPr>
          <a:xfrm>
            <a:off x="3901440" y="5953760"/>
            <a:ext cx="0" cy="0"/>
          </a:xfrm>
          <a:prstGeom prst="rect">
            <a:avLst/>
          </a:prstGeom>
          <a:noFill/>
        </p:spPr>
        <p:txBody>
          <a:bodyPr wrap="none" rtlCol="0">
            <a:noAutofit/>
          </a:bodyPr>
          <a:lstStyle/>
          <a:p>
            <a:pPr algn="ctr"/>
            <a:endParaRPr lang="en-US" sz="1600" dirty="0" err="1"/>
          </a:p>
        </p:txBody>
      </p:sp>
      <p:sp>
        <p:nvSpPr>
          <p:cNvPr id="4" name="TextBox 3">
            <a:extLst>
              <a:ext uri="{FF2B5EF4-FFF2-40B4-BE49-F238E27FC236}">
                <a16:creationId xmlns:a16="http://schemas.microsoft.com/office/drawing/2014/main" id="{6030F604-3AA0-8F7A-4041-7D8F67094E28}"/>
              </a:ext>
            </a:extLst>
          </p:cNvPr>
          <p:cNvSpPr txBox="1"/>
          <p:nvPr/>
        </p:nvSpPr>
        <p:spPr>
          <a:xfrm>
            <a:off x="236306" y="6287784"/>
            <a:ext cx="544530" cy="380144"/>
          </a:xfrm>
          <a:prstGeom prst="rect">
            <a:avLst/>
          </a:prstGeom>
          <a:noFill/>
        </p:spPr>
        <p:txBody>
          <a:bodyPr wrap="square" rtlCol="0">
            <a:noAutofit/>
          </a:bodyPr>
          <a:lstStyle/>
          <a:p>
            <a:pPr algn="ctr"/>
            <a:endParaRPr lang="en-US" sz="1600" dirty="0"/>
          </a:p>
        </p:txBody>
      </p:sp>
    </p:spTree>
    <p:extLst>
      <p:ext uri="{BB962C8B-B14F-4D97-AF65-F5344CB8AC3E}">
        <p14:creationId xmlns:p14="http://schemas.microsoft.com/office/powerpoint/2010/main" val="5055297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FDC6B-519C-5B5F-276F-7F73C8DEB4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869603-74ED-BC7A-C637-5ACB7E8A30A8}"/>
              </a:ext>
            </a:extLst>
          </p:cNvPr>
          <p:cNvSpPr>
            <a:spLocks noGrp="1"/>
          </p:cNvSpPr>
          <p:nvPr>
            <p:ph type="title"/>
          </p:nvPr>
        </p:nvSpPr>
        <p:spPr>
          <a:xfrm>
            <a:off x="609600" y="363090"/>
            <a:ext cx="10972800" cy="800100"/>
          </a:xfrm>
        </p:spPr>
        <p:txBody>
          <a:bodyPr anchor="b">
            <a:normAutofit/>
          </a:bodyPr>
          <a:lstStyle/>
          <a:p>
            <a:r>
              <a:rPr lang="en-US" dirty="0"/>
              <a:t>Comparison</a:t>
            </a:r>
            <a:endParaRPr lang="en-US" dirty="0">
              <a:solidFill>
                <a:srgbClr val="FF0000"/>
              </a:solidFill>
              <a:highlight>
                <a:srgbClr val="FFFF00"/>
              </a:highlight>
            </a:endParaRPr>
          </a:p>
        </p:txBody>
      </p:sp>
      <p:sp>
        <p:nvSpPr>
          <p:cNvPr id="17" name="TextBox 16">
            <a:extLst>
              <a:ext uri="{FF2B5EF4-FFF2-40B4-BE49-F238E27FC236}">
                <a16:creationId xmlns:a16="http://schemas.microsoft.com/office/drawing/2014/main" id="{A9E7E01E-0481-073B-7B1A-7A37113AFAB0}"/>
              </a:ext>
            </a:extLst>
          </p:cNvPr>
          <p:cNvSpPr txBox="1"/>
          <p:nvPr/>
        </p:nvSpPr>
        <p:spPr>
          <a:xfrm>
            <a:off x="236306" y="6287784"/>
            <a:ext cx="544530" cy="380144"/>
          </a:xfrm>
          <a:prstGeom prst="rect">
            <a:avLst/>
          </a:prstGeom>
          <a:noFill/>
        </p:spPr>
        <p:txBody>
          <a:bodyPr wrap="square" rtlCol="0">
            <a:noAutofit/>
          </a:bodyPr>
          <a:lstStyle/>
          <a:p>
            <a:pPr algn="ctr"/>
            <a:r>
              <a:rPr lang="en-US" sz="1600" dirty="0"/>
              <a:t>29</a:t>
            </a:r>
          </a:p>
        </p:txBody>
      </p:sp>
      <p:pic>
        <p:nvPicPr>
          <p:cNvPr id="22" name="Picture 21">
            <a:extLst>
              <a:ext uri="{FF2B5EF4-FFF2-40B4-BE49-F238E27FC236}">
                <a16:creationId xmlns:a16="http://schemas.microsoft.com/office/drawing/2014/main" id="{6BB9F8F9-4A06-BB77-7B7F-0B03B12702A9}"/>
              </a:ext>
            </a:extLst>
          </p:cNvPr>
          <p:cNvPicPr>
            <a:picLocks noChangeAspect="1"/>
          </p:cNvPicPr>
          <p:nvPr/>
        </p:nvPicPr>
        <p:blipFill>
          <a:blip r:embed="rId3"/>
          <a:stretch>
            <a:fillRect/>
          </a:stretch>
        </p:blipFill>
        <p:spPr>
          <a:xfrm>
            <a:off x="1737705" y="1857045"/>
            <a:ext cx="8716591" cy="4081418"/>
          </a:xfrm>
          <a:prstGeom prst="rect">
            <a:avLst/>
          </a:prstGeom>
        </p:spPr>
      </p:pic>
    </p:spTree>
    <p:extLst>
      <p:ext uri="{BB962C8B-B14F-4D97-AF65-F5344CB8AC3E}">
        <p14:creationId xmlns:p14="http://schemas.microsoft.com/office/powerpoint/2010/main" val="37309387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1850E-45D0-BBF0-FD7C-593D47D97CF9}"/>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F2A8D3F4-4089-5736-3853-72A34496084A}"/>
              </a:ext>
            </a:extLst>
          </p:cNvPr>
          <p:cNvPicPr>
            <a:picLocks noChangeAspect="1"/>
          </p:cNvPicPr>
          <p:nvPr/>
        </p:nvPicPr>
        <p:blipFill>
          <a:blip r:embed="rId3"/>
          <a:stretch>
            <a:fillRect/>
          </a:stretch>
        </p:blipFill>
        <p:spPr>
          <a:xfrm>
            <a:off x="1737705" y="1857045"/>
            <a:ext cx="8716591" cy="4081418"/>
          </a:xfrm>
          <a:prstGeom prst="rect">
            <a:avLst/>
          </a:prstGeom>
        </p:spPr>
      </p:pic>
      <p:sp>
        <p:nvSpPr>
          <p:cNvPr id="2" name="Title 1">
            <a:extLst>
              <a:ext uri="{FF2B5EF4-FFF2-40B4-BE49-F238E27FC236}">
                <a16:creationId xmlns:a16="http://schemas.microsoft.com/office/drawing/2014/main" id="{C52D8710-9462-5663-92DC-74674CFEF7CB}"/>
              </a:ext>
            </a:extLst>
          </p:cNvPr>
          <p:cNvSpPr>
            <a:spLocks noGrp="1"/>
          </p:cNvSpPr>
          <p:nvPr>
            <p:ph type="title"/>
          </p:nvPr>
        </p:nvSpPr>
        <p:spPr>
          <a:xfrm>
            <a:off x="609600" y="363090"/>
            <a:ext cx="10972800" cy="800100"/>
          </a:xfrm>
        </p:spPr>
        <p:txBody>
          <a:bodyPr anchor="b">
            <a:normAutofit/>
          </a:bodyPr>
          <a:lstStyle/>
          <a:p>
            <a:r>
              <a:rPr lang="en-US" dirty="0"/>
              <a:t>Comparison</a:t>
            </a:r>
          </a:p>
        </p:txBody>
      </p:sp>
      <p:sp>
        <p:nvSpPr>
          <p:cNvPr id="5" name="Rectangle 4">
            <a:extLst>
              <a:ext uri="{FF2B5EF4-FFF2-40B4-BE49-F238E27FC236}">
                <a16:creationId xmlns:a16="http://schemas.microsoft.com/office/drawing/2014/main" id="{112E6191-F8C6-6A73-8721-FEC78AE8FEDB}"/>
              </a:ext>
            </a:extLst>
          </p:cNvPr>
          <p:cNvSpPr/>
          <p:nvPr/>
        </p:nvSpPr>
        <p:spPr bwMode="auto">
          <a:xfrm>
            <a:off x="1740875" y="3410853"/>
            <a:ext cx="8778240" cy="281588"/>
          </a:xfrm>
          <a:prstGeom prst="rect">
            <a:avLst/>
          </a:prstGeom>
          <a:noFill/>
          <a:ln w="76200" cap="sq" algn="ctr">
            <a:solidFill>
              <a:schemeClr val="bg2"/>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10" name="TextBox 9">
            <a:extLst>
              <a:ext uri="{FF2B5EF4-FFF2-40B4-BE49-F238E27FC236}">
                <a16:creationId xmlns:a16="http://schemas.microsoft.com/office/drawing/2014/main" id="{85E6E821-FEE5-3464-84A0-4225E096EB19}"/>
              </a:ext>
            </a:extLst>
          </p:cNvPr>
          <p:cNvSpPr txBox="1"/>
          <p:nvPr/>
        </p:nvSpPr>
        <p:spPr>
          <a:xfrm>
            <a:off x="236306" y="6287784"/>
            <a:ext cx="544530" cy="380144"/>
          </a:xfrm>
          <a:prstGeom prst="rect">
            <a:avLst/>
          </a:prstGeom>
          <a:noFill/>
        </p:spPr>
        <p:txBody>
          <a:bodyPr wrap="square" rtlCol="0">
            <a:noAutofit/>
          </a:bodyPr>
          <a:lstStyle/>
          <a:p>
            <a:pPr algn="ctr"/>
            <a:r>
              <a:rPr lang="en-US" sz="1600" dirty="0"/>
              <a:t>30</a:t>
            </a:r>
          </a:p>
        </p:txBody>
      </p:sp>
    </p:spTree>
    <p:extLst>
      <p:ext uri="{BB962C8B-B14F-4D97-AF65-F5344CB8AC3E}">
        <p14:creationId xmlns:p14="http://schemas.microsoft.com/office/powerpoint/2010/main" val="14252914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5781D-1574-4818-2E08-024083DFF0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DEAFE0-DCB0-B3AD-7183-C42A0C0A7E1F}"/>
              </a:ext>
            </a:extLst>
          </p:cNvPr>
          <p:cNvSpPr>
            <a:spLocks noGrp="1"/>
          </p:cNvSpPr>
          <p:nvPr>
            <p:ph type="title"/>
          </p:nvPr>
        </p:nvSpPr>
        <p:spPr/>
        <p:txBody>
          <a:bodyPr/>
          <a:lstStyle/>
          <a:p>
            <a:r>
              <a:rPr lang="en-US" dirty="0"/>
              <a:t>Walden Figure of Merit</a:t>
            </a:r>
          </a:p>
        </p:txBody>
      </p:sp>
      <p:sp>
        <p:nvSpPr>
          <p:cNvPr id="5" name="Content Placeholder 2">
            <a:extLst>
              <a:ext uri="{FF2B5EF4-FFF2-40B4-BE49-F238E27FC236}">
                <a16:creationId xmlns:a16="http://schemas.microsoft.com/office/drawing/2014/main" id="{4CE80B42-7830-8F99-2879-7D945CBE08AC}"/>
              </a:ext>
            </a:extLst>
          </p:cNvPr>
          <p:cNvSpPr>
            <a:spLocks noGrp="1"/>
          </p:cNvSpPr>
          <p:nvPr>
            <p:ph idx="1"/>
          </p:nvPr>
        </p:nvSpPr>
        <p:spPr>
          <a:xfrm>
            <a:off x="609600" y="1524000"/>
            <a:ext cx="5372100" cy="4648200"/>
          </a:xfrm>
        </p:spPr>
        <p:txBody>
          <a:bodyPr>
            <a:normAutofit/>
          </a:bodyPr>
          <a:lstStyle/>
          <a:p>
            <a:pPr marL="320040" lvl="1" indent="0">
              <a:buNone/>
            </a:pPr>
            <a:r>
              <a:rPr lang="en-US" sz="3200" dirty="0"/>
              <a:t>There are many metrics to characterize ADC’s:</a:t>
            </a:r>
          </a:p>
          <a:p>
            <a:pPr lvl="2"/>
            <a:r>
              <a:rPr lang="en-US" sz="2800" b="1" dirty="0"/>
              <a:t>Power consumption</a:t>
            </a:r>
          </a:p>
          <a:p>
            <a:pPr lvl="2"/>
            <a:r>
              <a:rPr lang="en-US" sz="2800" dirty="0"/>
              <a:t>Aperture Bandwidth</a:t>
            </a:r>
            <a:endParaRPr lang="en-US" sz="2800" b="1" dirty="0"/>
          </a:p>
          <a:p>
            <a:pPr lvl="2"/>
            <a:r>
              <a:rPr lang="en-US" sz="2800" b="1" dirty="0"/>
              <a:t>Resolution</a:t>
            </a:r>
          </a:p>
          <a:p>
            <a:pPr lvl="2"/>
            <a:r>
              <a:rPr lang="en-US" sz="2800" dirty="0"/>
              <a:t>Size</a:t>
            </a:r>
          </a:p>
          <a:p>
            <a:pPr lvl="2"/>
            <a:r>
              <a:rPr lang="en-US" sz="2800" dirty="0"/>
              <a:t>CMRR</a:t>
            </a:r>
          </a:p>
          <a:p>
            <a:pPr lvl="2"/>
            <a:r>
              <a:rPr lang="en-US" sz="2800" dirty="0"/>
              <a:t>Yield</a:t>
            </a:r>
          </a:p>
          <a:p>
            <a:pPr lvl="2"/>
            <a:r>
              <a:rPr lang="en-US" sz="2800" b="1" dirty="0"/>
              <a:t>Speed</a:t>
            </a:r>
          </a:p>
        </p:txBody>
      </p:sp>
      <p:sp>
        <p:nvSpPr>
          <p:cNvPr id="6" name="Content Placeholder 2">
            <a:extLst>
              <a:ext uri="{FF2B5EF4-FFF2-40B4-BE49-F238E27FC236}">
                <a16:creationId xmlns:a16="http://schemas.microsoft.com/office/drawing/2014/main" id="{00957F9E-2F4C-DE42-E902-87B63D938C38}"/>
              </a:ext>
            </a:extLst>
          </p:cNvPr>
          <p:cNvSpPr txBox="1">
            <a:spLocks/>
          </p:cNvSpPr>
          <p:nvPr/>
        </p:nvSpPr>
        <p:spPr>
          <a:xfrm>
            <a:off x="6753225" y="1344734"/>
            <a:ext cx="4829175" cy="466725"/>
          </a:xfrm>
          <a:prstGeom prst="rect">
            <a:avLst/>
          </a:prstGeom>
        </p:spPr>
        <p:txBody>
          <a:bodyPr vert="horz" lIns="0" tIns="45720" rIns="0" bIns="45720" rtlCol="0" anchor="t" anchorCtr="0">
            <a:normAutofit/>
          </a:bodyPr>
          <a:lstStyle>
            <a:lvl1pPr marL="274320" indent="-274320" algn="l" defTabSz="914400" rtl="0" eaLnBrk="1" latinLnBrk="0" hangingPunct="1">
              <a:lnSpc>
                <a:spcPct val="95000"/>
              </a:lnSpc>
              <a:spcBef>
                <a:spcPts val="1200"/>
              </a:spcBef>
              <a:buClr>
                <a:srgbClr val="C4122F"/>
              </a:buClr>
              <a:buFont typeface="Arial" pitchFamily="34" charset="0"/>
              <a:buChar char="•"/>
              <a:defRPr sz="2400" kern="1200">
                <a:solidFill>
                  <a:srgbClr val="272626"/>
                </a:solidFill>
                <a:latin typeface="Arial" panose="020B0604020202020204" pitchFamily="34" charset="0"/>
                <a:ea typeface="Verdana" pitchFamily="34" charset="0"/>
                <a:cs typeface="Arial" panose="020B0604020202020204" pitchFamily="34" charset="0"/>
              </a:defRPr>
            </a:lvl1pPr>
            <a:lvl2pPr marL="594360" indent="-274320" algn="l" defTabSz="914400" rtl="0" eaLnBrk="1" latinLnBrk="0" hangingPunct="1">
              <a:lnSpc>
                <a:spcPct val="95000"/>
              </a:lnSpc>
              <a:spcBef>
                <a:spcPts val="600"/>
              </a:spcBef>
              <a:buClr>
                <a:srgbClr val="C4122F"/>
              </a:buClr>
              <a:buFont typeface="Verdana" pitchFamily="34" charset="0"/>
              <a:buChar char="─"/>
              <a:defRPr sz="2000" kern="1200">
                <a:solidFill>
                  <a:srgbClr val="272626"/>
                </a:solidFill>
                <a:latin typeface="Arial" panose="020B0604020202020204" pitchFamily="34" charset="0"/>
                <a:ea typeface="Verdana" pitchFamily="34" charset="0"/>
                <a:cs typeface="Arial" panose="020B0604020202020204" pitchFamily="34" charset="0"/>
              </a:defRPr>
            </a:lvl2pPr>
            <a:lvl3pPr marL="868680" indent="-228600" algn="l" defTabSz="914400" rtl="0" eaLnBrk="1" latinLnBrk="0" hangingPunct="1">
              <a:lnSpc>
                <a:spcPct val="95000"/>
              </a:lnSpc>
              <a:spcBef>
                <a:spcPts val="600"/>
              </a:spcBef>
              <a:buClr>
                <a:srgbClr val="C4122F"/>
              </a:buClr>
              <a:buFont typeface="Wingdings" pitchFamily="2" charset="2"/>
              <a:buChar char="§"/>
              <a:defRPr sz="1800" kern="1200">
                <a:solidFill>
                  <a:srgbClr val="272626"/>
                </a:solidFill>
                <a:latin typeface="Arial" panose="020B0604020202020204" pitchFamily="34" charset="0"/>
                <a:ea typeface="Verdana" pitchFamily="34" charset="0"/>
                <a:cs typeface="Arial" panose="020B0604020202020204" pitchFamily="34" charset="0"/>
              </a:defRPr>
            </a:lvl3pPr>
            <a:lvl4pPr marL="1143000" indent="-228600" algn="l" defTabSz="914400" rtl="0" eaLnBrk="1" latinLnBrk="0" hangingPunct="1">
              <a:lnSpc>
                <a:spcPct val="95000"/>
              </a:lnSpc>
              <a:spcBef>
                <a:spcPts val="600"/>
              </a:spcBef>
              <a:buClr>
                <a:srgbClr val="C4122F"/>
              </a:buClr>
              <a:buFont typeface="Courier New" pitchFamily="49" charset="0"/>
              <a:buChar char="o"/>
              <a:defRPr sz="1600" kern="1200">
                <a:solidFill>
                  <a:srgbClr val="272626"/>
                </a:solidFill>
                <a:latin typeface="Arial" panose="020B0604020202020204" pitchFamily="34" charset="0"/>
                <a:ea typeface="Verdana" pitchFamily="34" charset="0"/>
                <a:cs typeface="Arial" panose="020B0604020202020204" pitchFamily="34" charset="0"/>
              </a:defRPr>
            </a:lvl4pPr>
            <a:lvl5pPr marL="1371600" indent="-228600" algn="l" defTabSz="914400" rtl="0" eaLnBrk="1" latinLnBrk="0" hangingPunct="1">
              <a:lnSpc>
                <a:spcPct val="95000"/>
              </a:lnSpc>
              <a:spcBef>
                <a:spcPts val="600"/>
              </a:spcBef>
              <a:buClr>
                <a:srgbClr val="C4122F"/>
              </a:buClr>
              <a:buFont typeface="Arial" pitchFamily="34" charset="0"/>
              <a:buChar char="•"/>
              <a:defRPr sz="1600" kern="1200" baseline="0">
                <a:solidFill>
                  <a:srgbClr val="272626"/>
                </a:solidFill>
                <a:latin typeface="Arial" panose="020B0604020202020204" pitchFamily="34" charset="0"/>
                <a:ea typeface="Verdana" pitchFamily="34" charset="0"/>
                <a:cs typeface="Arial" panose="020B0604020202020204" pitchFamily="34" charset="0"/>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a:lstStyle>
          <a:p>
            <a:pPr marL="320040" lvl="1" indent="0" algn="ctr">
              <a:buFont typeface="Verdana" pitchFamily="34" charset="0"/>
              <a:buNone/>
            </a:pPr>
            <a:r>
              <a:rPr lang="en-US" sz="1800" dirty="0"/>
              <a:t>How much energy is used per code step?</a:t>
            </a:r>
            <a:endParaRPr lang="en-US" sz="1600" b="1"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BADDA2B-B59C-7B6D-B1A8-67061A2EAFC9}"/>
                  </a:ext>
                </a:extLst>
              </p:cNvPr>
              <p:cNvSpPr txBox="1"/>
              <p:nvPr/>
            </p:nvSpPr>
            <p:spPr>
              <a:xfrm>
                <a:off x="7424737" y="1964561"/>
                <a:ext cx="3486151" cy="763099"/>
              </a:xfrm>
              <a:prstGeom prst="rect">
                <a:avLst/>
              </a:prstGeom>
              <a:noFill/>
            </p:spPr>
            <p:txBody>
              <a:bodyPr wrap="none" lIns="0" tIns="0" rIns="0" bIns="0" rtlCol="0">
                <a:noAutofit/>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𝑃</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𝑑𝐸</m:t>
                          </m:r>
                        </m:num>
                        <m:den>
                          <m:r>
                            <a:rPr lang="en-US" sz="2000" b="0" i="1" smtClean="0">
                              <a:latin typeface="Cambria Math" panose="02040503050406030204" pitchFamily="18" charset="0"/>
                            </a:rPr>
                            <m:t>𝑑𝑡</m:t>
                          </m:r>
                        </m:den>
                      </m:f>
                    </m:oMath>
                  </m:oMathPara>
                </a14:m>
                <a:endParaRPr lang="en-US" sz="2000" dirty="0" err="1"/>
              </a:p>
            </p:txBody>
          </p:sp>
        </mc:Choice>
        <mc:Fallback xmlns="">
          <p:sp>
            <p:nvSpPr>
              <p:cNvPr id="8" name="TextBox 7">
                <a:extLst>
                  <a:ext uri="{FF2B5EF4-FFF2-40B4-BE49-F238E27FC236}">
                    <a16:creationId xmlns:a16="http://schemas.microsoft.com/office/drawing/2014/main" id="{8BADDA2B-B59C-7B6D-B1A8-67061A2EAFC9}"/>
                  </a:ext>
                </a:extLst>
              </p:cNvPr>
              <p:cNvSpPr txBox="1">
                <a:spLocks noRot="1" noChangeAspect="1" noMove="1" noResize="1" noEditPoints="1" noAdjustHandles="1" noChangeArrowheads="1" noChangeShapeType="1" noTextEdit="1"/>
              </p:cNvSpPr>
              <p:nvPr/>
            </p:nvSpPr>
            <p:spPr>
              <a:xfrm>
                <a:off x="7424737" y="1964561"/>
                <a:ext cx="3486151" cy="76309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17D1FC1-0477-5651-78A3-436340625F79}"/>
                  </a:ext>
                </a:extLst>
              </p:cNvPr>
              <p:cNvSpPr txBox="1"/>
              <p:nvPr/>
            </p:nvSpPr>
            <p:spPr>
              <a:xfrm>
                <a:off x="7424737" y="2880762"/>
                <a:ext cx="3486151" cy="1223107"/>
              </a:xfrm>
              <a:prstGeom prst="rect">
                <a:avLst/>
              </a:prstGeom>
              <a:noFill/>
            </p:spPr>
            <p:txBody>
              <a:bodyPr wrap="none" lIns="0" tIns="0" rIns="0" bIns="0" rtlCol="0">
                <a:noAutofit/>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𝑑𝐸</m:t>
                          </m:r>
                        </m:num>
                        <m:den>
                          <m:f>
                            <m:fPr>
                              <m:type m:val="skw"/>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𝑓</m:t>
                                  </m:r>
                                </m:e>
                                <m:sub>
                                  <m:r>
                                    <a:rPr lang="en-US" sz="2400" b="0" i="1" smtClean="0">
                                      <a:latin typeface="Cambria Math" panose="02040503050406030204" pitchFamily="18" charset="0"/>
                                    </a:rPr>
                                    <m:t>𝑠</m:t>
                                  </m:r>
                                </m:sub>
                              </m:sSub>
                            </m:den>
                          </m:f>
                        </m:den>
                      </m:f>
                    </m:oMath>
                  </m:oMathPara>
                </a14:m>
                <a:endParaRPr lang="en-US" sz="2400" dirty="0" err="1"/>
              </a:p>
            </p:txBody>
          </p:sp>
        </mc:Choice>
        <mc:Fallback xmlns="">
          <p:sp>
            <p:nvSpPr>
              <p:cNvPr id="9" name="TextBox 8">
                <a:extLst>
                  <a:ext uri="{FF2B5EF4-FFF2-40B4-BE49-F238E27FC236}">
                    <a16:creationId xmlns:a16="http://schemas.microsoft.com/office/drawing/2014/main" id="{B17D1FC1-0477-5651-78A3-436340625F79}"/>
                  </a:ext>
                </a:extLst>
              </p:cNvPr>
              <p:cNvSpPr txBox="1">
                <a:spLocks noRot="1" noChangeAspect="1" noMove="1" noResize="1" noEditPoints="1" noAdjustHandles="1" noChangeArrowheads="1" noChangeShapeType="1" noTextEdit="1"/>
              </p:cNvSpPr>
              <p:nvPr/>
            </p:nvSpPr>
            <p:spPr>
              <a:xfrm>
                <a:off x="7424737" y="2880762"/>
                <a:ext cx="3486151" cy="122310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31B249E-9524-DFE9-D529-2C991C2AB5E1}"/>
                  </a:ext>
                </a:extLst>
              </p:cNvPr>
              <p:cNvSpPr txBox="1"/>
              <p:nvPr/>
            </p:nvSpPr>
            <p:spPr>
              <a:xfrm>
                <a:off x="7424737" y="4256972"/>
                <a:ext cx="3486151" cy="923925"/>
              </a:xfrm>
              <a:prstGeom prst="rect">
                <a:avLst/>
              </a:prstGeom>
              <a:noFill/>
            </p:spPr>
            <p:txBody>
              <a:bodyPr wrap="none" lIns="0" tIns="0" rIns="0" bIns="0" rtlCol="0">
                <a:noAutofit/>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𝐸</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𝑃</m:t>
                          </m:r>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𝑓</m:t>
                              </m:r>
                            </m:e>
                            <m:sub>
                              <m:r>
                                <a:rPr lang="en-US" sz="2400" b="0" i="1" smtClean="0">
                                  <a:latin typeface="Cambria Math" panose="02040503050406030204" pitchFamily="18" charset="0"/>
                                </a:rPr>
                                <m:t>𝑠</m:t>
                              </m:r>
                            </m:sub>
                          </m:sSub>
                        </m:den>
                      </m:f>
                    </m:oMath>
                  </m:oMathPara>
                </a14:m>
                <a:endParaRPr lang="en-US" sz="2400" dirty="0" err="1"/>
              </a:p>
            </p:txBody>
          </p:sp>
        </mc:Choice>
        <mc:Fallback xmlns="">
          <p:sp>
            <p:nvSpPr>
              <p:cNvPr id="10" name="TextBox 9">
                <a:extLst>
                  <a:ext uri="{FF2B5EF4-FFF2-40B4-BE49-F238E27FC236}">
                    <a16:creationId xmlns:a16="http://schemas.microsoft.com/office/drawing/2014/main" id="{D31B249E-9524-DFE9-D529-2C991C2AB5E1}"/>
                  </a:ext>
                </a:extLst>
              </p:cNvPr>
              <p:cNvSpPr txBox="1">
                <a:spLocks noRot="1" noChangeAspect="1" noMove="1" noResize="1" noEditPoints="1" noAdjustHandles="1" noChangeArrowheads="1" noChangeShapeType="1" noTextEdit="1"/>
              </p:cNvSpPr>
              <p:nvPr/>
            </p:nvSpPr>
            <p:spPr>
              <a:xfrm>
                <a:off x="7424737" y="4256972"/>
                <a:ext cx="3486151" cy="923925"/>
              </a:xfrm>
              <a:prstGeom prst="rect">
                <a:avLst/>
              </a:prstGeom>
              <a:blipFill>
                <a:blip r:embed="rId5"/>
                <a:stretch>
                  <a:fillRect/>
                </a:stretch>
              </a:blipFill>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8A23CAE3-3215-E0DB-62EA-FB4B82BDF64C}"/>
              </a:ext>
            </a:extLst>
          </p:cNvPr>
          <p:cNvCxnSpPr>
            <a:cxnSpLocks/>
          </p:cNvCxnSpPr>
          <p:nvPr/>
        </p:nvCxnSpPr>
        <p:spPr>
          <a:xfrm>
            <a:off x="2714625" y="5676900"/>
            <a:ext cx="3267075" cy="1143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BA6A252-CB7B-941D-AD4C-054CE0F8C1AD}"/>
              </a:ext>
            </a:extLst>
          </p:cNvPr>
          <p:cNvCxnSpPr>
            <a:cxnSpLocks/>
          </p:cNvCxnSpPr>
          <p:nvPr/>
        </p:nvCxnSpPr>
        <p:spPr>
          <a:xfrm>
            <a:off x="3438525" y="3752850"/>
            <a:ext cx="2543175" cy="169584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B7669AB-0620-0986-D279-7743B01E47EA}"/>
              </a:ext>
            </a:extLst>
          </p:cNvPr>
          <p:cNvCxnSpPr>
            <a:cxnSpLocks/>
          </p:cNvCxnSpPr>
          <p:nvPr/>
        </p:nvCxnSpPr>
        <p:spPr>
          <a:xfrm>
            <a:off x="5073203" y="2880762"/>
            <a:ext cx="1261609" cy="241513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DC871E5-B721-11B2-8CB7-50693DEA6EDE}"/>
                  </a:ext>
                </a:extLst>
              </p:cNvPr>
              <p:cNvSpPr txBox="1"/>
              <p:nvPr/>
            </p:nvSpPr>
            <p:spPr>
              <a:xfrm>
                <a:off x="7424737" y="5334000"/>
                <a:ext cx="3486151" cy="923925"/>
              </a:xfrm>
              <a:prstGeom prst="rect">
                <a:avLst/>
              </a:prstGeom>
              <a:noFill/>
            </p:spPr>
            <p:txBody>
              <a:bodyPr wrap="none" lIns="0" tIns="0" rIns="0" bIns="0" rtlCol="0">
                <a:noAutofit/>
              </a:bodyPr>
              <a:lstStyle/>
              <a:p>
                <a:pPr algn="ctr"/>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𝐹𝑂𝑀</m:t>
                        </m:r>
                      </m:e>
                      <m:sub>
                        <m:r>
                          <a:rPr lang="en-US" sz="2800" b="0" i="1" smtClean="0">
                            <a:latin typeface="Cambria Math" panose="02040503050406030204" pitchFamily="18" charset="0"/>
                          </a:rPr>
                          <m:t>𝑊</m:t>
                        </m:r>
                      </m:sub>
                    </m:sSub>
                    <m:r>
                      <a:rPr lang="en-US" sz="2800" i="1" smtClean="0">
                        <a:latin typeface="Cambria Math" panose="02040503050406030204" pitchFamily="18" charset="0"/>
                      </a:rPr>
                      <m:t> </m:t>
                    </m:r>
                  </m:oMath>
                </a14:m>
                <a:r>
                  <a:rPr lang="en-US" sz="1600" b="0" i="1" dirty="0"/>
                  <a:t>(</a:t>
                </a:r>
                <a:r>
                  <a:rPr lang="en-US" sz="1600" b="0" i="1" dirty="0" err="1"/>
                  <a:t>fJ</a:t>
                </a:r>
                <a:r>
                  <a:rPr lang="en-US" sz="1600" b="0" i="1" dirty="0"/>
                  <a:t>/conv step)</a:t>
                </a:r>
                <a14:m>
                  <m:oMath xmlns:m="http://schemas.openxmlformats.org/officeDocument/2006/math">
                    <m:r>
                      <a:rPr lang="en-US" sz="2800" b="0" i="1" smtClean="0">
                        <a:latin typeface="Cambria Math" panose="02040503050406030204" pitchFamily="18" charset="0"/>
                      </a:rPr>
                      <m:t>=</m:t>
                    </m:r>
                    <m:r>
                      <a:rPr lang="en-US" sz="2800" b="0" i="1" smtClean="0">
                        <a:latin typeface="Cambria Math" panose="02040503050406030204" pitchFamily="18" charset="0"/>
                      </a:rPr>
                      <m:t>𝐸</m:t>
                    </m:r>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r>
                          <a:rPr lang="en-US" sz="2800" b="0" i="1" smtClean="0">
                            <a:latin typeface="Cambria Math" panose="02040503050406030204" pitchFamily="18" charset="0"/>
                          </a:rPr>
                          <m:t>𝐸𝑁𝑂𝐵</m:t>
                        </m:r>
                      </m:sup>
                    </m:sSup>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𝑃</m:t>
                        </m:r>
                      </m:num>
                      <m:den>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𝑓</m:t>
                            </m:r>
                          </m:e>
                          <m:sub>
                            <m:r>
                              <a:rPr lang="en-US" sz="2800" b="0" i="1" smtClean="0">
                                <a:latin typeface="Cambria Math" panose="02040503050406030204" pitchFamily="18" charset="0"/>
                              </a:rPr>
                              <m:t>𝑠</m:t>
                            </m:r>
                          </m:sub>
                        </m:sSub>
                        <m:r>
                          <a:rPr lang="en-US" sz="2800" i="1">
                            <a:latin typeface="Cambria Math" panose="02040503050406030204" pitchFamily="18" charset="0"/>
                            <a:ea typeface="Cambria Math" panose="02040503050406030204" pitchFamily="18" charset="0"/>
                          </a:rPr>
                          <m:t>∙</m:t>
                        </m:r>
                        <m:sSup>
                          <m:sSupPr>
                            <m:ctrlPr>
                              <a:rPr lang="en-US" sz="280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2</m:t>
                            </m:r>
                          </m:e>
                          <m:sup>
                            <m:r>
                              <a:rPr lang="en-US" sz="2800" b="0" i="1" smtClean="0">
                                <a:latin typeface="Cambria Math" panose="02040503050406030204" pitchFamily="18" charset="0"/>
                                <a:ea typeface="Cambria Math" panose="02040503050406030204" pitchFamily="18" charset="0"/>
                              </a:rPr>
                              <m:t>𝐸𝑁𝑂𝐵</m:t>
                            </m:r>
                          </m:sup>
                        </m:sSup>
                      </m:den>
                    </m:f>
                  </m:oMath>
                </a14:m>
                <a:endParaRPr lang="en-US" sz="2800" dirty="0" err="1"/>
              </a:p>
            </p:txBody>
          </p:sp>
        </mc:Choice>
        <mc:Fallback xmlns="">
          <p:sp>
            <p:nvSpPr>
              <p:cNvPr id="22" name="TextBox 21">
                <a:extLst>
                  <a:ext uri="{FF2B5EF4-FFF2-40B4-BE49-F238E27FC236}">
                    <a16:creationId xmlns:a16="http://schemas.microsoft.com/office/drawing/2014/main" id="{1DC871E5-B721-11B2-8CB7-50693DEA6EDE}"/>
                  </a:ext>
                </a:extLst>
              </p:cNvPr>
              <p:cNvSpPr txBox="1">
                <a:spLocks noRot="1" noChangeAspect="1" noMove="1" noResize="1" noEditPoints="1" noAdjustHandles="1" noChangeArrowheads="1" noChangeShapeType="1" noTextEdit="1"/>
              </p:cNvSpPr>
              <p:nvPr/>
            </p:nvSpPr>
            <p:spPr>
              <a:xfrm>
                <a:off x="7424737" y="5334000"/>
                <a:ext cx="3486151" cy="923925"/>
              </a:xfrm>
              <a:prstGeom prst="rect">
                <a:avLst/>
              </a:prstGeom>
              <a:blipFill>
                <a:blip r:embed="rId6"/>
                <a:stretch>
                  <a:fillRect l="-30070" r="-30245"/>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E4A780CD-0D18-D2BB-9BAD-A43E0A8779AE}"/>
              </a:ext>
            </a:extLst>
          </p:cNvPr>
          <p:cNvSpPr txBox="1"/>
          <p:nvPr/>
        </p:nvSpPr>
        <p:spPr>
          <a:xfrm>
            <a:off x="236306" y="6287784"/>
            <a:ext cx="544530" cy="380144"/>
          </a:xfrm>
          <a:prstGeom prst="rect">
            <a:avLst/>
          </a:prstGeom>
          <a:noFill/>
        </p:spPr>
        <p:txBody>
          <a:bodyPr wrap="square" rtlCol="0">
            <a:noAutofit/>
          </a:bodyPr>
          <a:lstStyle/>
          <a:p>
            <a:pPr algn="ctr"/>
            <a:r>
              <a:rPr lang="en-US" sz="1600" dirty="0"/>
              <a:t>31</a:t>
            </a:r>
          </a:p>
        </p:txBody>
      </p:sp>
    </p:spTree>
    <p:extLst>
      <p:ext uri="{BB962C8B-B14F-4D97-AF65-F5344CB8AC3E}">
        <p14:creationId xmlns:p14="http://schemas.microsoft.com/office/powerpoint/2010/main" val="19418542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A3464-FB3F-BD19-EA95-7FCBB0C4107A}"/>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E6B2AB5-AEAC-20DC-6EFE-1EC3F179421B}"/>
              </a:ext>
            </a:extLst>
          </p:cNvPr>
          <p:cNvPicPr>
            <a:picLocks noChangeAspect="1"/>
          </p:cNvPicPr>
          <p:nvPr/>
        </p:nvPicPr>
        <p:blipFill>
          <a:blip r:embed="rId3"/>
          <a:stretch>
            <a:fillRect/>
          </a:stretch>
        </p:blipFill>
        <p:spPr>
          <a:xfrm>
            <a:off x="1737705" y="1857045"/>
            <a:ext cx="8716591" cy="4081418"/>
          </a:xfrm>
          <a:prstGeom prst="rect">
            <a:avLst/>
          </a:prstGeom>
        </p:spPr>
      </p:pic>
      <p:sp>
        <p:nvSpPr>
          <p:cNvPr id="2" name="Title 1">
            <a:extLst>
              <a:ext uri="{FF2B5EF4-FFF2-40B4-BE49-F238E27FC236}">
                <a16:creationId xmlns:a16="http://schemas.microsoft.com/office/drawing/2014/main" id="{D9F67768-D729-945A-6673-0B3687191C31}"/>
              </a:ext>
            </a:extLst>
          </p:cNvPr>
          <p:cNvSpPr>
            <a:spLocks noGrp="1"/>
          </p:cNvSpPr>
          <p:nvPr>
            <p:ph type="title"/>
          </p:nvPr>
        </p:nvSpPr>
        <p:spPr>
          <a:xfrm>
            <a:off x="609600" y="363090"/>
            <a:ext cx="10972800" cy="800100"/>
          </a:xfrm>
        </p:spPr>
        <p:txBody>
          <a:bodyPr anchor="b">
            <a:normAutofit/>
          </a:bodyPr>
          <a:lstStyle/>
          <a:p>
            <a:r>
              <a:rPr lang="en-US" dirty="0"/>
              <a:t>Comparison</a:t>
            </a:r>
          </a:p>
        </p:txBody>
      </p:sp>
      <p:sp>
        <p:nvSpPr>
          <p:cNvPr id="4" name="Rectangle 3">
            <a:extLst>
              <a:ext uri="{FF2B5EF4-FFF2-40B4-BE49-F238E27FC236}">
                <a16:creationId xmlns:a16="http://schemas.microsoft.com/office/drawing/2014/main" id="{D6CBB715-7CA7-CAA5-9567-29CF00021822}"/>
              </a:ext>
            </a:extLst>
          </p:cNvPr>
          <p:cNvSpPr/>
          <p:nvPr/>
        </p:nvSpPr>
        <p:spPr bwMode="auto">
          <a:xfrm>
            <a:off x="1761423" y="5351647"/>
            <a:ext cx="8778240" cy="259886"/>
          </a:xfrm>
          <a:prstGeom prst="rect">
            <a:avLst/>
          </a:prstGeom>
          <a:noFill/>
          <a:ln w="76200" cap="sq" algn="ctr">
            <a:solidFill>
              <a:schemeClr val="bg2"/>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6" name="TextBox 5">
            <a:extLst>
              <a:ext uri="{FF2B5EF4-FFF2-40B4-BE49-F238E27FC236}">
                <a16:creationId xmlns:a16="http://schemas.microsoft.com/office/drawing/2014/main" id="{0055C318-F49E-8FF1-BBA3-AAC60CF18CAC}"/>
              </a:ext>
            </a:extLst>
          </p:cNvPr>
          <p:cNvSpPr txBox="1"/>
          <p:nvPr/>
        </p:nvSpPr>
        <p:spPr>
          <a:xfrm>
            <a:off x="236306" y="6287784"/>
            <a:ext cx="544530" cy="380144"/>
          </a:xfrm>
          <a:prstGeom prst="rect">
            <a:avLst/>
          </a:prstGeom>
          <a:noFill/>
        </p:spPr>
        <p:txBody>
          <a:bodyPr wrap="square" rtlCol="0">
            <a:noAutofit/>
          </a:bodyPr>
          <a:lstStyle/>
          <a:p>
            <a:pPr algn="ctr"/>
            <a:r>
              <a:rPr lang="en-US" sz="1600" dirty="0"/>
              <a:t>32</a:t>
            </a:r>
          </a:p>
        </p:txBody>
      </p:sp>
    </p:spTree>
    <p:extLst>
      <p:ext uri="{BB962C8B-B14F-4D97-AF65-F5344CB8AC3E}">
        <p14:creationId xmlns:p14="http://schemas.microsoft.com/office/powerpoint/2010/main" val="14845940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9C45C-0FF4-5384-C33D-4AB1B4E281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3A3CF2-4605-7B33-3C2D-98862ED9532A}"/>
              </a:ext>
            </a:extLst>
          </p:cNvPr>
          <p:cNvSpPr>
            <a:spLocks noGrp="1"/>
          </p:cNvSpPr>
          <p:nvPr>
            <p:ph type="title"/>
          </p:nvPr>
        </p:nvSpPr>
        <p:spPr/>
        <p:txBody>
          <a:bodyPr/>
          <a:lstStyle/>
          <a:p>
            <a:r>
              <a:rPr lang="en-US" dirty="0"/>
              <a:t>Schreier Figure of Merit</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4C2C406-BA69-5911-15C5-6FE847B27491}"/>
                  </a:ext>
                </a:extLst>
              </p:cNvPr>
              <p:cNvSpPr txBox="1"/>
              <p:nvPr/>
            </p:nvSpPr>
            <p:spPr>
              <a:xfrm>
                <a:off x="253641" y="2876656"/>
                <a:ext cx="6088226" cy="800100"/>
              </a:xfrm>
              <a:prstGeom prst="rect">
                <a:avLst/>
              </a:prstGeom>
              <a:noFill/>
            </p:spPr>
            <p:txBody>
              <a:bodyPr wrap="none" lIns="0" tIns="0" rIns="0" bIns="0" rtlCol="0">
                <a:noAutofit/>
              </a:bodyPr>
              <a:lstStyle/>
              <a:p>
                <a:pPr algn="ctr"/>
                <a14:m>
                  <m:oMath xmlns:m="http://schemas.openxmlformats.org/officeDocument/2006/math">
                    <m:sSub>
                      <m:sSubPr>
                        <m:ctrlPr>
                          <a:rPr lang="en-US" sz="2800" i="1" smtClean="0">
                            <a:latin typeface="Cambria Math" panose="02040503050406030204" pitchFamily="18" charset="0"/>
                          </a:rPr>
                        </m:ctrlPr>
                      </m:sSubPr>
                      <m:e>
                        <m:r>
                          <a:rPr lang="en-US" sz="2800" i="1">
                            <a:latin typeface="Cambria Math" panose="02040503050406030204" pitchFamily="18" charset="0"/>
                          </a:rPr>
                          <m:t>𝐹𝑂𝑀</m:t>
                        </m:r>
                      </m:e>
                      <m:sub>
                        <m:r>
                          <a:rPr lang="en-US" sz="2800" b="0" i="1" smtClean="0">
                            <a:latin typeface="Cambria Math" panose="02040503050406030204" pitchFamily="18" charset="0"/>
                          </a:rPr>
                          <m:t>𝑆</m:t>
                        </m:r>
                      </m:sub>
                    </m:sSub>
                    <m:r>
                      <a:rPr lang="en-US" sz="2800" i="1">
                        <a:latin typeface="Cambria Math" panose="02040503050406030204" pitchFamily="18" charset="0"/>
                      </a:rPr>
                      <m:t> </m:t>
                    </m:r>
                  </m:oMath>
                </a14:m>
                <a:r>
                  <a:rPr lang="en-US" i="1" dirty="0"/>
                  <a:t>(dB) </a:t>
                </a:r>
                <a14:m>
                  <m:oMath xmlns:m="http://schemas.openxmlformats.org/officeDocument/2006/math">
                    <m:r>
                      <a:rPr lang="en-US" sz="2800" b="0" i="1" smtClean="0">
                        <a:latin typeface="Cambria Math" panose="02040503050406030204" pitchFamily="18" charset="0"/>
                      </a:rPr>
                      <m:t>=</m:t>
                    </m:r>
                    <m:r>
                      <a:rPr lang="en-US" sz="2800" b="0" i="1" smtClean="0">
                        <a:latin typeface="Cambria Math" panose="02040503050406030204" pitchFamily="18" charset="0"/>
                      </a:rPr>
                      <m:t>𝑆𝐼𝑁𝐴𝐷</m:t>
                    </m:r>
                    <m:r>
                      <a:rPr lang="en-US" sz="2800" b="0" i="1" smtClean="0">
                        <a:latin typeface="Cambria Math" panose="02040503050406030204" pitchFamily="18" charset="0"/>
                      </a:rPr>
                      <m:t>+10</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f>
                          <m:fPr>
                            <m:ctrlPr>
                              <a:rPr lang="en-US" sz="2800" b="0" i="1" smtClean="0">
                                <a:latin typeface="Cambria Math" panose="02040503050406030204" pitchFamily="18" charset="0"/>
                              </a:rPr>
                            </m:ctrlPr>
                          </m:fPr>
                          <m:num>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𝐵𝑊</m:t>
                                </m:r>
                              </m:e>
                              <m:sub>
                                <m:r>
                                  <a:rPr lang="en-US" sz="2800" b="0" i="1" smtClean="0">
                                    <a:latin typeface="Cambria Math" panose="02040503050406030204" pitchFamily="18" charset="0"/>
                                  </a:rPr>
                                  <m:t>𝑛𝑦𝑞𝑢𝑖𝑠𝑡</m:t>
                                </m:r>
                              </m:sub>
                            </m:sSub>
                          </m:num>
                          <m:den>
                            <m:r>
                              <a:rPr lang="en-US" sz="2800" b="0" i="1" smtClean="0">
                                <a:latin typeface="Cambria Math" panose="02040503050406030204" pitchFamily="18" charset="0"/>
                              </a:rPr>
                              <m:t>𝑃</m:t>
                            </m:r>
                          </m:den>
                        </m:f>
                      </m:e>
                    </m:func>
                  </m:oMath>
                </a14:m>
                <a:endParaRPr lang="en-US" sz="2800" dirty="0" err="1"/>
              </a:p>
            </p:txBody>
          </p:sp>
        </mc:Choice>
        <mc:Fallback xmlns="">
          <p:sp>
            <p:nvSpPr>
              <p:cNvPr id="18" name="TextBox 17">
                <a:extLst>
                  <a:ext uri="{FF2B5EF4-FFF2-40B4-BE49-F238E27FC236}">
                    <a16:creationId xmlns:a16="http://schemas.microsoft.com/office/drawing/2014/main" id="{64C2C406-BA69-5911-15C5-6FE847B27491}"/>
                  </a:ext>
                </a:extLst>
              </p:cNvPr>
              <p:cNvSpPr txBox="1">
                <a:spLocks noRot="1" noChangeAspect="1" noMove="1" noResize="1" noEditPoints="1" noAdjustHandles="1" noChangeArrowheads="1" noChangeShapeType="1" noTextEdit="1"/>
              </p:cNvSpPr>
              <p:nvPr/>
            </p:nvSpPr>
            <p:spPr>
              <a:xfrm>
                <a:off x="253641" y="2876656"/>
                <a:ext cx="6088226" cy="80010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9AEB007-92F7-57B9-70D3-9466382C6199}"/>
                  </a:ext>
                </a:extLst>
              </p:cNvPr>
              <p:cNvSpPr txBox="1"/>
              <p:nvPr/>
            </p:nvSpPr>
            <p:spPr>
              <a:xfrm>
                <a:off x="0" y="4215269"/>
                <a:ext cx="6088226" cy="800100"/>
              </a:xfrm>
              <a:prstGeom prst="rect">
                <a:avLst/>
              </a:prstGeom>
              <a:noFill/>
            </p:spPr>
            <p:txBody>
              <a:bodyPr wrap="none" lIns="0" tIns="0" rIns="0" bIns="0" rtlCol="0">
                <a:noAutofit/>
              </a:bodyPr>
              <a:lstStyle/>
              <a:p>
                <a:pPr algn="ctr"/>
                <a14:m>
                  <m:oMath xmlns:m="http://schemas.openxmlformats.org/officeDocument/2006/math">
                    <m:sSub>
                      <m:sSubPr>
                        <m:ctrlPr>
                          <a:rPr lang="en-US" sz="2800" i="1" smtClean="0">
                            <a:latin typeface="Cambria Math" panose="02040503050406030204" pitchFamily="18" charset="0"/>
                          </a:rPr>
                        </m:ctrlPr>
                      </m:sSubPr>
                      <m:e>
                        <m:r>
                          <a:rPr lang="en-US" sz="2800" i="1">
                            <a:latin typeface="Cambria Math" panose="02040503050406030204" pitchFamily="18" charset="0"/>
                          </a:rPr>
                          <m:t>𝐹𝑂𝑀</m:t>
                        </m:r>
                      </m:e>
                      <m:sub>
                        <m:r>
                          <a:rPr lang="en-US" sz="2800" b="0" i="1" smtClean="0">
                            <a:latin typeface="Cambria Math" panose="02040503050406030204" pitchFamily="18" charset="0"/>
                          </a:rPr>
                          <m:t>𝑆</m:t>
                        </m:r>
                      </m:sub>
                    </m:sSub>
                    <m:r>
                      <a:rPr lang="en-US" sz="2800" i="1">
                        <a:latin typeface="Cambria Math" panose="02040503050406030204" pitchFamily="18" charset="0"/>
                      </a:rPr>
                      <m:t> </m:t>
                    </m:r>
                  </m:oMath>
                </a14:m>
                <a:r>
                  <a:rPr lang="en-US" i="1" dirty="0"/>
                  <a:t>(dB) </a:t>
                </a:r>
                <a14:m>
                  <m:oMath xmlns:m="http://schemas.openxmlformats.org/officeDocument/2006/math">
                    <m:r>
                      <a:rPr lang="en-US" sz="2800" b="0" i="1" smtClean="0">
                        <a:latin typeface="Cambria Math" panose="02040503050406030204" pitchFamily="18" charset="0"/>
                      </a:rPr>
                      <m:t>=</m:t>
                    </m:r>
                    <m:r>
                      <a:rPr lang="en-US" sz="2800" b="0" i="1" smtClean="0">
                        <a:latin typeface="Cambria Math" panose="02040503050406030204" pitchFamily="18" charset="0"/>
                      </a:rPr>
                      <m:t>𝐷𝑅</m:t>
                    </m:r>
                    <m:r>
                      <a:rPr lang="en-US" sz="2800" b="0" i="1" smtClean="0">
                        <a:latin typeface="Cambria Math" panose="02040503050406030204" pitchFamily="18" charset="0"/>
                      </a:rPr>
                      <m:t>+10</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f>
                          <m:fPr>
                            <m:ctrlPr>
                              <a:rPr lang="en-US" sz="2800" b="0" i="1" smtClean="0">
                                <a:latin typeface="Cambria Math" panose="02040503050406030204" pitchFamily="18" charset="0"/>
                              </a:rPr>
                            </m:ctrlPr>
                          </m:fPr>
                          <m:num>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𝐵𝑊</m:t>
                                </m:r>
                              </m:e>
                              <m:sub>
                                <m:r>
                                  <a:rPr lang="en-US" sz="2800" b="0" i="1" smtClean="0">
                                    <a:latin typeface="Cambria Math" panose="02040503050406030204" pitchFamily="18" charset="0"/>
                                  </a:rPr>
                                  <m:t>𝑛𝑦𝑞𝑢𝑖𝑠𝑡</m:t>
                                </m:r>
                              </m:sub>
                            </m:sSub>
                          </m:num>
                          <m:den>
                            <m:r>
                              <a:rPr lang="en-US" sz="2800" b="0" i="1" smtClean="0">
                                <a:latin typeface="Cambria Math" panose="02040503050406030204" pitchFamily="18" charset="0"/>
                              </a:rPr>
                              <m:t>𝑃</m:t>
                            </m:r>
                          </m:den>
                        </m:f>
                      </m:e>
                    </m:func>
                  </m:oMath>
                </a14:m>
                <a:endParaRPr lang="en-US" sz="2800" dirty="0" err="1"/>
              </a:p>
            </p:txBody>
          </p:sp>
        </mc:Choice>
        <mc:Fallback xmlns="">
          <p:sp>
            <p:nvSpPr>
              <p:cNvPr id="19" name="TextBox 18">
                <a:extLst>
                  <a:ext uri="{FF2B5EF4-FFF2-40B4-BE49-F238E27FC236}">
                    <a16:creationId xmlns:a16="http://schemas.microsoft.com/office/drawing/2014/main" id="{E9AEB007-92F7-57B9-70D3-9466382C6199}"/>
                  </a:ext>
                </a:extLst>
              </p:cNvPr>
              <p:cNvSpPr txBox="1">
                <a:spLocks noRot="1" noChangeAspect="1" noMove="1" noResize="1" noEditPoints="1" noAdjustHandles="1" noChangeArrowheads="1" noChangeShapeType="1" noTextEdit="1"/>
              </p:cNvSpPr>
              <p:nvPr/>
            </p:nvSpPr>
            <p:spPr>
              <a:xfrm>
                <a:off x="0" y="4215269"/>
                <a:ext cx="6088226" cy="800100"/>
              </a:xfrm>
              <a:prstGeom prst="rect">
                <a:avLst/>
              </a:prstGeom>
              <a:blipFill>
                <a:blip r:embed="rId4"/>
                <a:stretch>
                  <a:fillRect/>
                </a:stretch>
              </a:blipFill>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7A36F4CC-EA71-08E9-9EDD-11705135E8C8}"/>
              </a:ext>
            </a:extLst>
          </p:cNvPr>
          <p:cNvGrpSpPr/>
          <p:nvPr/>
        </p:nvGrpSpPr>
        <p:grpSpPr>
          <a:xfrm>
            <a:off x="6320409" y="2121793"/>
            <a:ext cx="5261991" cy="3660767"/>
            <a:chOff x="1410697" y="1496109"/>
            <a:chExt cx="3560461" cy="2496349"/>
          </a:xfrm>
        </p:grpSpPr>
        <p:pic>
          <p:nvPicPr>
            <p:cNvPr id="23" name="Content Placeholder 5">
              <a:extLst>
                <a:ext uri="{FF2B5EF4-FFF2-40B4-BE49-F238E27FC236}">
                  <a16:creationId xmlns:a16="http://schemas.microsoft.com/office/drawing/2014/main" id="{25E4E68C-A8E0-0791-1E88-5D74E2946FF0}"/>
                </a:ext>
              </a:extLst>
            </p:cNvPr>
            <p:cNvPicPr>
              <a:picLocks noChangeAspect="1"/>
            </p:cNvPicPr>
            <p:nvPr/>
          </p:nvPicPr>
          <p:blipFill>
            <a:blip r:embed="rId5">
              <a:extLst>
                <a:ext uri="{28A0092B-C50C-407E-A947-70E740481C1C}">
                  <a14:useLocalDpi xmlns:a14="http://schemas.microsoft.com/office/drawing/2010/main" val="0"/>
                </a:ext>
              </a:extLst>
            </a:blip>
            <a:srcRect t="40099" r="49729" b="40022"/>
            <a:stretch>
              <a:fillRect/>
            </a:stretch>
          </p:blipFill>
          <p:spPr>
            <a:xfrm>
              <a:off x="1462102" y="1496109"/>
              <a:ext cx="3457651" cy="1932891"/>
            </a:xfrm>
            <a:prstGeom prst="rect">
              <a:avLst/>
            </a:prstGeom>
          </p:spPr>
        </p:pic>
        <p:sp>
          <p:nvSpPr>
            <p:cNvPr id="24" name="Text Placeholder 5">
              <a:extLst>
                <a:ext uri="{FF2B5EF4-FFF2-40B4-BE49-F238E27FC236}">
                  <a16:creationId xmlns:a16="http://schemas.microsoft.com/office/drawing/2014/main" id="{0F6B6871-4691-E72A-D567-5F146F2B4BC8}"/>
                </a:ext>
              </a:extLst>
            </p:cNvPr>
            <p:cNvSpPr txBox="1">
              <a:spLocks/>
            </p:cNvSpPr>
            <p:nvPr/>
          </p:nvSpPr>
          <p:spPr>
            <a:xfrm>
              <a:off x="1410697" y="3645802"/>
              <a:ext cx="3560461" cy="346656"/>
            </a:xfrm>
            <a:prstGeom prst="rect">
              <a:avLst/>
            </a:prstGeom>
          </p:spPr>
          <p:txBody>
            <a:bodyPr/>
            <a:lstStyle>
              <a:lvl1pPr marL="274320" indent="-274320" algn="l" defTabSz="914400" rtl="0" eaLnBrk="1" latinLnBrk="0" hangingPunct="1">
                <a:lnSpc>
                  <a:spcPct val="95000"/>
                </a:lnSpc>
                <a:spcBef>
                  <a:spcPts val="1200"/>
                </a:spcBef>
                <a:buClr>
                  <a:srgbClr val="AB162B"/>
                </a:buClr>
                <a:buFont typeface="Arial" pitchFamily="34" charset="0"/>
                <a:buChar char="•"/>
                <a:defRPr sz="2400" kern="1200">
                  <a:solidFill>
                    <a:srgbClr val="272626"/>
                  </a:solidFill>
                  <a:latin typeface="Arial" panose="020B0604020202020204" pitchFamily="34" charset="0"/>
                  <a:ea typeface="Verdana" pitchFamily="34" charset="0"/>
                  <a:cs typeface="Arial" panose="020B0604020202020204" pitchFamily="34" charset="0"/>
                </a:defRPr>
              </a:lvl1pPr>
              <a:lvl2pPr marL="594360" indent="-274320" algn="l" defTabSz="914400" rtl="0" eaLnBrk="1" latinLnBrk="0" hangingPunct="1">
                <a:lnSpc>
                  <a:spcPct val="95000"/>
                </a:lnSpc>
                <a:spcBef>
                  <a:spcPts val="600"/>
                </a:spcBef>
                <a:buClr>
                  <a:srgbClr val="AB162B"/>
                </a:buClr>
                <a:buFont typeface="Verdana" pitchFamily="34" charset="0"/>
                <a:buChar char="─"/>
                <a:defRPr sz="2000" kern="1200">
                  <a:solidFill>
                    <a:srgbClr val="272626"/>
                  </a:solidFill>
                  <a:latin typeface="Arial" panose="020B0604020202020204" pitchFamily="34" charset="0"/>
                  <a:ea typeface="Verdana" pitchFamily="34" charset="0"/>
                  <a:cs typeface="Arial" panose="020B0604020202020204" pitchFamily="34" charset="0"/>
                </a:defRPr>
              </a:lvl2pPr>
              <a:lvl3pPr marL="868680" indent="-228600" algn="l" defTabSz="914400" rtl="0" eaLnBrk="1" latinLnBrk="0" hangingPunct="1">
                <a:lnSpc>
                  <a:spcPct val="95000"/>
                </a:lnSpc>
                <a:spcBef>
                  <a:spcPts val="600"/>
                </a:spcBef>
                <a:buClr>
                  <a:srgbClr val="AB162B"/>
                </a:buClr>
                <a:buFont typeface="Wingdings" pitchFamily="2" charset="2"/>
                <a:buChar char="§"/>
                <a:defRPr sz="1800" kern="1200">
                  <a:solidFill>
                    <a:srgbClr val="272626"/>
                  </a:solidFill>
                  <a:latin typeface="Arial" panose="020B0604020202020204" pitchFamily="34" charset="0"/>
                  <a:ea typeface="Verdana" pitchFamily="34" charset="0"/>
                  <a:cs typeface="Arial" panose="020B0604020202020204" pitchFamily="34" charset="0"/>
                </a:defRPr>
              </a:lvl3pPr>
              <a:lvl4pPr marL="1143000" indent="-228600" algn="l" defTabSz="914400" rtl="0" eaLnBrk="1" latinLnBrk="0" hangingPunct="1">
                <a:lnSpc>
                  <a:spcPct val="95000"/>
                </a:lnSpc>
                <a:spcBef>
                  <a:spcPts val="600"/>
                </a:spcBef>
                <a:buClr>
                  <a:srgbClr val="AB162B"/>
                </a:buClr>
                <a:buFont typeface="Courier New" pitchFamily="49" charset="0"/>
                <a:buChar char="o"/>
                <a:defRPr sz="1600" kern="1200">
                  <a:solidFill>
                    <a:srgbClr val="272626"/>
                  </a:solidFill>
                  <a:latin typeface="Arial" panose="020B0604020202020204" pitchFamily="34" charset="0"/>
                  <a:ea typeface="Verdana" pitchFamily="34" charset="0"/>
                  <a:cs typeface="Arial" panose="020B0604020202020204" pitchFamily="34" charset="0"/>
                </a:defRPr>
              </a:lvl4pPr>
              <a:lvl5pPr marL="1371600" indent="-228600" algn="l" defTabSz="914400" rtl="0" eaLnBrk="1" latinLnBrk="0" hangingPunct="1">
                <a:lnSpc>
                  <a:spcPct val="95000"/>
                </a:lnSpc>
                <a:spcBef>
                  <a:spcPts val="600"/>
                </a:spcBef>
                <a:buClr>
                  <a:srgbClr val="AB162B"/>
                </a:buClr>
                <a:buFont typeface="Arial" pitchFamily="34" charset="0"/>
                <a:buChar char="•"/>
                <a:defRPr sz="1600" kern="1200" baseline="0">
                  <a:solidFill>
                    <a:srgbClr val="272626"/>
                  </a:solidFill>
                  <a:latin typeface="Arial" panose="020B0604020202020204" pitchFamily="34" charset="0"/>
                  <a:ea typeface="Verdana" pitchFamily="34" charset="0"/>
                  <a:cs typeface="Arial" panose="020B0604020202020204" pitchFamily="34" charset="0"/>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a:lstStyle>
            <a:p>
              <a:pPr marL="0" indent="0" algn="ctr">
                <a:buNone/>
              </a:pPr>
              <a:r>
                <a:rPr lang="en-US" sz="1600" dirty="0"/>
                <a:t>FFT with Hanning Window</a:t>
              </a:r>
            </a:p>
          </p:txBody>
        </p:sp>
      </p:grpSp>
      <p:sp>
        <p:nvSpPr>
          <p:cNvPr id="3" name="TextBox 2">
            <a:extLst>
              <a:ext uri="{FF2B5EF4-FFF2-40B4-BE49-F238E27FC236}">
                <a16:creationId xmlns:a16="http://schemas.microsoft.com/office/drawing/2014/main" id="{417280E3-CF3F-3714-69E5-AE333E101A84}"/>
              </a:ext>
            </a:extLst>
          </p:cNvPr>
          <p:cNvSpPr txBox="1"/>
          <p:nvPr/>
        </p:nvSpPr>
        <p:spPr>
          <a:xfrm>
            <a:off x="236306" y="6287784"/>
            <a:ext cx="544530" cy="380144"/>
          </a:xfrm>
          <a:prstGeom prst="rect">
            <a:avLst/>
          </a:prstGeom>
          <a:noFill/>
        </p:spPr>
        <p:txBody>
          <a:bodyPr wrap="square" rtlCol="0">
            <a:noAutofit/>
          </a:bodyPr>
          <a:lstStyle/>
          <a:p>
            <a:pPr algn="ctr"/>
            <a:r>
              <a:rPr lang="en-US" sz="1600" dirty="0"/>
              <a:t>33</a:t>
            </a:r>
          </a:p>
        </p:txBody>
      </p:sp>
    </p:spTree>
    <p:extLst>
      <p:ext uri="{BB962C8B-B14F-4D97-AF65-F5344CB8AC3E}">
        <p14:creationId xmlns:p14="http://schemas.microsoft.com/office/powerpoint/2010/main" val="26122785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EFDF0-E8FB-896F-A798-E3D398A89ECB}"/>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ECA333E0-8DB3-95A5-056E-9EECB55E1789}"/>
              </a:ext>
            </a:extLst>
          </p:cNvPr>
          <p:cNvPicPr>
            <a:picLocks noChangeAspect="1"/>
          </p:cNvPicPr>
          <p:nvPr/>
        </p:nvPicPr>
        <p:blipFill>
          <a:blip r:embed="rId3"/>
          <a:stretch>
            <a:fillRect/>
          </a:stretch>
        </p:blipFill>
        <p:spPr>
          <a:xfrm>
            <a:off x="1737705" y="1857045"/>
            <a:ext cx="8716591" cy="4081418"/>
          </a:xfrm>
          <a:prstGeom prst="rect">
            <a:avLst/>
          </a:prstGeom>
        </p:spPr>
      </p:pic>
      <p:sp>
        <p:nvSpPr>
          <p:cNvPr id="2" name="Title 1">
            <a:extLst>
              <a:ext uri="{FF2B5EF4-FFF2-40B4-BE49-F238E27FC236}">
                <a16:creationId xmlns:a16="http://schemas.microsoft.com/office/drawing/2014/main" id="{4BA16CCB-B259-781B-3060-1DB97491687C}"/>
              </a:ext>
            </a:extLst>
          </p:cNvPr>
          <p:cNvSpPr>
            <a:spLocks noGrp="1"/>
          </p:cNvSpPr>
          <p:nvPr>
            <p:ph type="title"/>
          </p:nvPr>
        </p:nvSpPr>
        <p:spPr>
          <a:xfrm>
            <a:off x="609600" y="363090"/>
            <a:ext cx="10972800" cy="800100"/>
          </a:xfrm>
        </p:spPr>
        <p:txBody>
          <a:bodyPr anchor="b">
            <a:normAutofit/>
          </a:bodyPr>
          <a:lstStyle/>
          <a:p>
            <a:r>
              <a:rPr lang="en-US" dirty="0"/>
              <a:t>Comparison</a:t>
            </a:r>
          </a:p>
        </p:txBody>
      </p:sp>
      <p:sp>
        <p:nvSpPr>
          <p:cNvPr id="4" name="Rectangle 3">
            <a:extLst>
              <a:ext uri="{FF2B5EF4-FFF2-40B4-BE49-F238E27FC236}">
                <a16:creationId xmlns:a16="http://schemas.microsoft.com/office/drawing/2014/main" id="{4350E447-2744-38A1-E192-14CA4CD23ED0}"/>
              </a:ext>
            </a:extLst>
          </p:cNvPr>
          <p:cNvSpPr/>
          <p:nvPr/>
        </p:nvSpPr>
        <p:spPr bwMode="auto">
          <a:xfrm>
            <a:off x="1761423" y="5591629"/>
            <a:ext cx="8778240" cy="259886"/>
          </a:xfrm>
          <a:prstGeom prst="rect">
            <a:avLst/>
          </a:prstGeom>
          <a:noFill/>
          <a:ln w="76200" cap="sq" algn="ctr">
            <a:solidFill>
              <a:schemeClr val="bg2"/>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7" name="TextBox 6">
            <a:extLst>
              <a:ext uri="{FF2B5EF4-FFF2-40B4-BE49-F238E27FC236}">
                <a16:creationId xmlns:a16="http://schemas.microsoft.com/office/drawing/2014/main" id="{2491C5A6-BBBA-F38A-DB03-54CEF816FE93}"/>
              </a:ext>
            </a:extLst>
          </p:cNvPr>
          <p:cNvSpPr txBox="1"/>
          <p:nvPr/>
        </p:nvSpPr>
        <p:spPr>
          <a:xfrm>
            <a:off x="236306" y="6287784"/>
            <a:ext cx="544530" cy="380144"/>
          </a:xfrm>
          <a:prstGeom prst="rect">
            <a:avLst/>
          </a:prstGeom>
          <a:noFill/>
        </p:spPr>
        <p:txBody>
          <a:bodyPr wrap="square" rtlCol="0">
            <a:noAutofit/>
          </a:bodyPr>
          <a:lstStyle/>
          <a:p>
            <a:pPr algn="ctr"/>
            <a:r>
              <a:rPr lang="en-US" sz="1600" dirty="0"/>
              <a:t>34</a:t>
            </a:r>
          </a:p>
        </p:txBody>
      </p:sp>
    </p:spTree>
    <p:extLst>
      <p:ext uri="{BB962C8B-B14F-4D97-AF65-F5344CB8AC3E}">
        <p14:creationId xmlns:p14="http://schemas.microsoft.com/office/powerpoint/2010/main" val="24429115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7F310-3871-11E1-EA79-9D2C4C79A1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69F55E-452D-1FB5-16C6-47DE7D20CF32}"/>
              </a:ext>
            </a:extLst>
          </p:cNvPr>
          <p:cNvSpPr>
            <a:spLocks noGrp="1"/>
          </p:cNvSpPr>
          <p:nvPr>
            <p:ph type="title"/>
          </p:nvPr>
        </p:nvSpPr>
        <p:spPr>
          <a:xfrm>
            <a:off x="609600" y="363090"/>
            <a:ext cx="10972800" cy="800100"/>
          </a:xfrm>
        </p:spPr>
        <p:txBody>
          <a:bodyPr anchor="b">
            <a:normAutofit/>
          </a:bodyPr>
          <a:lstStyle/>
          <a:p>
            <a:r>
              <a:rPr lang="en-US" dirty="0"/>
              <a:t>Schreier Figure of Merit</a:t>
            </a:r>
          </a:p>
        </p:txBody>
      </p:sp>
      <p:grpSp>
        <p:nvGrpSpPr>
          <p:cNvPr id="5184" name="Group 5183">
            <a:extLst>
              <a:ext uri="{FF2B5EF4-FFF2-40B4-BE49-F238E27FC236}">
                <a16:creationId xmlns:a16="http://schemas.microsoft.com/office/drawing/2014/main" id="{54635041-4092-3FF3-99A0-72DC0EF4AE8C}"/>
              </a:ext>
            </a:extLst>
          </p:cNvPr>
          <p:cNvGrpSpPr/>
          <p:nvPr/>
        </p:nvGrpSpPr>
        <p:grpSpPr>
          <a:xfrm>
            <a:off x="898216" y="1513726"/>
            <a:ext cx="7437112" cy="4648200"/>
            <a:chOff x="2377444" y="1524000"/>
            <a:chExt cx="7437112" cy="4648200"/>
          </a:xfrm>
        </p:grpSpPr>
        <p:pic>
          <p:nvPicPr>
            <p:cNvPr id="5122" name="Picture 2">
              <a:extLst>
                <a:ext uri="{FF2B5EF4-FFF2-40B4-BE49-F238E27FC236}">
                  <a16:creationId xmlns:a16="http://schemas.microsoft.com/office/drawing/2014/main" id="{6766144E-4021-B1E7-EDF9-9720FDA3235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377444" y="1524000"/>
              <a:ext cx="7437112" cy="4648200"/>
            </a:xfrm>
            <a:prstGeom prst="rect">
              <a:avLst/>
            </a:prstGeom>
            <a:solidFill>
              <a:srgbClr val="FFFFFF"/>
            </a:solidFill>
          </p:spPr>
        </p:pic>
        <p:sp>
          <p:nvSpPr>
            <p:cNvPr id="3" name="Rectangle 2">
              <a:extLst>
                <a:ext uri="{FF2B5EF4-FFF2-40B4-BE49-F238E27FC236}">
                  <a16:creationId xmlns:a16="http://schemas.microsoft.com/office/drawing/2014/main" id="{6C7175EC-6691-6962-9F96-1C72D4898A92}"/>
                </a:ext>
              </a:extLst>
            </p:cNvPr>
            <p:cNvSpPr/>
            <p:nvPr/>
          </p:nvSpPr>
          <p:spPr bwMode="auto">
            <a:xfrm>
              <a:off x="6889750" y="4000500"/>
              <a:ext cx="2743200" cy="1473200"/>
            </a:xfrm>
            <a:prstGeom prst="rect">
              <a:avLst/>
            </a:prstGeom>
            <a:solidFill>
              <a:schemeClr val="bg1"/>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4" name="Rectangle 3">
              <a:extLst>
                <a:ext uri="{FF2B5EF4-FFF2-40B4-BE49-F238E27FC236}">
                  <a16:creationId xmlns:a16="http://schemas.microsoft.com/office/drawing/2014/main" id="{C7511978-5CDE-BF92-C11C-7105D657A545}"/>
                </a:ext>
              </a:extLst>
            </p:cNvPr>
            <p:cNvSpPr/>
            <p:nvPr/>
          </p:nvSpPr>
          <p:spPr bwMode="auto">
            <a:xfrm>
              <a:off x="7152799" y="3688571"/>
              <a:ext cx="51954" cy="1826404"/>
            </a:xfrm>
            <a:prstGeom prst="rect">
              <a:avLst/>
            </a:prstGeom>
            <a:solidFill>
              <a:srgbClr val="B0B0B0"/>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9" name="Rectangle 8">
              <a:extLst>
                <a:ext uri="{FF2B5EF4-FFF2-40B4-BE49-F238E27FC236}">
                  <a16:creationId xmlns:a16="http://schemas.microsoft.com/office/drawing/2014/main" id="{A9CCA708-2816-1CF8-D55D-DB02DFE0A890}"/>
                </a:ext>
              </a:extLst>
            </p:cNvPr>
            <p:cNvSpPr/>
            <p:nvPr/>
          </p:nvSpPr>
          <p:spPr bwMode="auto">
            <a:xfrm>
              <a:off x="7168360" y="3688556"/>
              <a:ext cx="51954" cy="1826420"/>
            </a:xfrm>
            <a:prstGeom prst="rect">
              <a:avLst/>
            </a:prstGeom>
            <a:solidFill>
              <a:schemeClr val="bg1"/>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grpSp>
          <p:nvGrpSpPr>
            <p:cNvPr id="16" name="Group 15">
              <a:extLst>
                <a:ext uri="{FF2B5EF4-FFF2-40B4-BE49-F238E27FC236}">
                  <a16:creationId xmlns:a16="http://schemas.microsoft.com/office/drawing/2014/main" id="{13DD15AE-24A5-304C-7146-D4AE9F7FFD77}"/>
                </a:ext>
              </a:extLst>
            </p:cNvPr>
            <p:cNvGrpSpPr/>
            <p:nvPr/>
          </p:nvGrpSpPr>
          <p:grpSpPr>
            <a:xfrm>
              <a:off x="8120068" y="3881428"/>
              <a:ext cx="58855" cy="1633548"/>
              <a:chOff x="8120068" y="3881428"/>
              <a:chExt cx="58855" cy="1633548"/>
            </a:xfrm>
          </p:grpSpPr>
          <p:sp>
            <p:nvSpPr>
              <p:cNvPr id="10" name="Rectangle 9">
                <a:extLst>
                  <a:ext uri="{FF2B5EF4-FFF2-40B4-BE49-F238E27FC236}">
                    <a16:creationId xmlns:a16="http://schemas.microsoft.com/office/drawing/2014/main" id="{58F90DC6-F10E-CC4F-556C-E4BA766CC8C6}"/>
                  </a:ext>
                </a:extLst>
              </p:cNvPr>
              <p:cNvSpPr/>
              <p:nvPr/>
            </p:nvSpPr>
            <p:spPr bwMode="auto">
              <a:xfrm>
                <a:off x="8120068" y="3881428"/>
                <a:ext cx="46468" cy="1633548"/>
              </a:xfrm>
              <a:prstGeom prst="rect">
                <a:avLst/>
              </a:prstGeom>
              <a:solidFill>
                <a:srgbClr val="B0B0B0"/>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11" name="Rectangle 10">
                <a:extLst>
                  <a:ext uri="{FF2B5EF4-FFF2-40B4-BE49-F238E27FC236}">
                    <a16:creationId xmlns:a16="http://schemas.microsoft.com/office/drawing/2014/main" id="{86B5C5AF-BF6F-FCAD-7D09-45D313DE4D34}"/>
                  </a:ext>
                </a:extLst>
              </p:cNvPr>
              <p:cNvSpPr/>
              <p:nvPr/>
            </p:nvSpPr>
            <p:spPr bwMode="auto">
              <a:xfrm>
                <a:off x="8132455" y="3881438"/>
                <a:ext cx="46468" cy="1633538"/>
              </a:xfrm>
              <a:prstGeom prst="rect">
                <a:avLst/>
              </a:prstGeom>
              <a:solidFill>
                <a:schemeClr val="bg1"/>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grpSp>
        <p:grpSp>
          <p:nvGrpSpPr>
            <p:cNvPr id="15" name="Group 14">
              <a:extLst>
                <a:ext uri="{FF2B5EF4-FFF2-40B4-BE49-F238E27FC236}">
                  <a16:creationId xmlns:a16="http://schemas.microsoft.com/office/drawing/2014/main" id="{EE345DD8-DF82-3D80-7E4D-EE89C6EA4549}"/>
                </a:ext>
              </a:extLst>
            </p:cNvPr>
            <p:cNvGrpSpPr/>
            <p:nvPr/>
          </p:nvGrpSpPr>
          <p:grpSpPr>
            <a:xfrm>
              <a:off x="9088432" y="3881427"/>
              <a:ext cx="84142" cy="1633549"/>
              <a:chOff x="9088432" y="3881427"/>
              <a:chExt cx="84142" cy="1633549"/>
            </a:xfrm>
          </p:grpSpPr>
          <p:sp>
            <p:nvSpPr>
              <p:cNvPr id="12" name="Rectangle 11">
                <a:extLst>
                  <a:ext uri="{FF2B5EF4-FFF2-40B4-BE49-F238E27FC236}">
                    <a16:creationId xmlns:a16="http://schemas.microsoft.com/office/drawing/2014/main" id="{5895C77C-A52B-3116-4744-BD26366E0B90}"/>
                  </a:ext>
                </a:extLst>
              </p:cNvPr>
              <p:cNvSpPr/>
              <p:nvPr/>
            </p:nvSpPr>
            <p:spPr bwMode="auto">
              <a:xfrm>
                <a:off x="9088432" y="3881427"/>
                <a:ext cx="46468" cy="1633548"/>
              </a:xfrm>
              <a:prstGeom prst="rect">
                <a:avLst/>
              </a:prstGeom>
              <a:solidFill>
                <a:srgbClr val="B0B0B0"/>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13" name="Rectangle 12">
                <a:extLst>
                  <a:ext uri="{FF2B5EF4-FFF2-40B4-BE49-F238E27FC236}">
                    <a16:creationId xmlns:a16="http://schemas.microsoft.com/office/drawing/2014/main" id="{AE8CE022-2184-4B07-EB38-4D8EAFEA323B}"/>
                  </a:ext>
                </a:extLst>
              </p:cNvPr>
              <p:cNvSpPr/>
              <p:nvPr/>
            </p:nvSpPr>
            <p:spPr bwMode="auto">
              <a:xfrm>
                <a:off x="9101611" y="3881428"/>
                <a:ext cx="70963" cy="1633548"/>
              </a:xfrm>
              <a:prstGeom prst="rect">
                <a:avLst/>
              </a:prstGeom>
              <a:solidFill>
                <a:schemeClr val="bg1"/>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grpSp>
        <p:grpSp>
          <p:nvGrpSpPr>
            <p:cNvPr id="43" name="Group 42">
              <a:extLst>
                <a:ext uri="{FF2B5EF4-FFF2-40B4-BE49-F238E27FC236}">
                  <a16:creationId xmlns:a16="http://schemas.microsoft.com/office/drawing/2014/main" id="{8991B0B7-8FD9-D822-7129-9CC723157816}"/>
                </a:ext>
              </a:extLst>
            </p:cNvPr>
            <p:cNvGrpSpPr/>
            <p:nvPr/>
          </p:nvGrpSpPr>
          <p:grpSpPr>
            <a:xfrm>
              <a:off x="6889749" y="4174415"/>
              <a:ext cx="2743199" cy="350524"/>
              <a:chOff x="6889749" y="4174415"/>
              <a:chExt cx="2743199" cy="350524"/>
            </a:xfrm>
          </p:grpSpPr>
          <p:grpSp>
            <p:nvGrpSpPr>
              <p:cNvPr id="31" name="Group 30">
                <a:extLst>
                  <a:ext uri="{FF2B5EF4-FFF2-40B4-BE49-F238E27FC236}">
                    <a16:creationId xmlns:a16="http://schemas.microsoft.com/office/drawing/2014/main" id="{7BEFB401-EA06-0D29-3679-4B5911C460CC}"/>
                  </a:ext>
                </a:extLst>
              </p:cNvPr>
              <p:cNvGrpSpPr/>
              <p:nvPr/>
            </p:nvGrpSpPr>
            <p:grpSpPr>
              <a:xfrm rot="5400000">
                <a:off x="8231921" y="2832243"/>
                <a:ext cx="58855" cy="2743199"/>
                <a:chOff x="8120068" y="3881428"/>
                <a:chExt cx="58855" cy="1633548"/>
              </a:xfrm>
            </p:grpSpPr>
            <p:sp>
              <p:nvSpPr>
                <p:cNvPr id="32" name="Rectangle 31">
                  <a:extLst>
                    <a:ext uri="{FF2B5EF4-FFF2-40B4-BE49-F238E27FC236}">
                      <a16:creationId xmlns:a16="http://schemas.microsoft.com/office/drawing/2014/main" id="{B1F71ED9-AF21-13FE-4DD6-2C535420EB6A}"/>
                    </a:ext>
                  </a:extLst>
                </p:cNvPr>
                <p:cNvSpPr/>
                <p:nvPr/>
              </p:nvSpPr>
              <p:spPr bwMode="auto">
                <a:xfrm>
                  <a:off x="8120068" y="3881428"/>
                  <a:ext cx="46468" cy="1633548"/>
                </a:xfrm>
                <a:prstGeom prst="rect">
                  <a:avLst/>
                </a:prstGeom>
                <a:solidFill>
                  <a:srgbClr val="B0B0B0"/>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33" name="Rectangle 32">
                  <a:extLst>
                    <a:ext uri="{FF2B5EF4-FFF2-40B4-BE49-F238E27FC236}">
                      <a16:creationId xmlns:a16="http://schemas.microsoft.com/office/drawing/2014/main" id="{5D470059-31EA-6F87-3F4D-4B706E794D16}"/>
                    </a:ext>
                  </a:extLst>
                </p:cNvPr>
                <p:cNvSpPr/>
                <p:nvPr/>
              </p:nvSpPr>
              <p:spPr bwMode="auto">
                <a:xfrm>
                  <a:off x="8132455" y="3881438"/>
                  <a:ext cx="46468" cy="1633538"/>
                </a:xfrm>
                <a:prstGeom prst="rect">
                  <a:avLst/>
                </a:prstGeom>
                <a:solidFill>
                  <a:schemeClr val="bg1"/>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grpSp>
          <p:grpSp>
            <p:nvGrpSpPr>
              <p:cNvPr id="34" name="Group 33">
                <a:extLst>
                  <a:ext uri="{FF2B5EF4-FFF2-40B4-BE49-F238E27FC236}">
                    <a16:creationId xmlns:a16="http://schemas.microsoft.com/office/drawing/2014/main" id="{F464704B-6EDB-55F1-65F6-89D700431EE1}"/>
                  </a:ext>
                </a:extLst>
              </p:cNvPr>
              <p:cNvGrpSpPr/>
              <p:nvPr/>
            </p:nvGrpSpPr>
            <p:grpSpPr>
              <a:xfrm>
                <a:off x="8120068" y="4186802"/>
                <a:ext cx="58855" cy="338137"/>
                <a:chOff x="8120068" y="3881428"/>
                <a:chExt cx="58855" cy="1633548"/>
              </a:xfrm>
            </p:grpSpPr>
            <p:sp>
              <p:nvSpPr>
                <p:cNvPr id="35" name="Rectangle 34">
                  <a:extLst>
                    <a:ext uri="{FF2B5EF4-FFF2-40B4-BE49-F238E27FC236}">
                      <a16:creationId xmlns:a16="http://schemas.microsoft.com/office/drawing/2014/main" id="{CBBAF3DA-D79B-A600-EDD0-57AE2E465B34}"/>
                    </a:ext>
                  </a:extLst>
                </p:cNvPr>
                <p:cNvSpPr/>
                <p:nvPr/>
              </p:nvSpPr>
              <p:spPr bwMode="auto">
                <a:xfrm>
                  <a:off x="8120068" y="3881428"/>
                  <a:ext cx="46468" cy="1633548"/>
                </a:xfrm>
                <a:prstGeom prst="rect">
                  <a:avLst/>
                </a:prstGeom>
                <a:solidFill>
                  <a:srgbClr val="B0B0B0"/>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36" name="Rectangle 35">
                  <a:extLst>
                    <a:ext uri="{FF2B5EF4-FFF2-40B4-BE49-F238E27FC236}">
                      <a16:creationId xmlns:a16="http://schemas.microsoft.com/office/drawing/2014/main" id="{EF7ACF83-AA27-1562-42B9-09FAF6347969}"/>
                    </a:ext>
                  </a:extLst>
                </p:cNvPr>
                <p:cNvSpPr/>
                <p:nvPr/>
              </p:nvSpPr>
              <p:spPr bwMode="auto">
                <a:xfrm>
                  <a:off x="8132455" y="3881438"/>
                  <a:ext cx="46468" cy="1633538"/>
                </a:xfrm>
                <a:prstGeom prst="rect">
                  <a:avLst/>
                </a:prstGeom>
                <a:solidFill>
                  <a:schemeClr val="bg1"/>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grpSp>
          <p:grpSp>
            <p:nvGrpSpPr>
              <p:cNvPr id="37" name="Group 36">
                <a:extLst>
                  <a:ext uri="{FF2B5EF4-FFF2-40B4-BE49-F238E27FC236}">
                    <a16:creationId xmlns:a16="http://schemas.microsoft.com/office/drawing/2014/main" id="{C3811602-BB06-EBAF-B13F-603D5167F9FE}"/>
                  </a:ext>
                </a:extLst>
              </p:cNvPr>
              <p:cNvGrpSpPr/>
              <p:nvPr/>
            </p:nvGrpSpPr>
            <p:grpSpPr>
              <a:xfrm>
                <a:off x="9088432" y="4186802"/>
                <a:ext cx="58855" cy="338137"/>
                <a:chOff x="8120068" y="3881428"/>
                <a:chExt cx="58855" cy="1633548"/>
              </a:xfrm>
            </p:grpSpPr>
            <p:sp>
              <p:nvSpPr>
                <p:cNvPr id="38" name="Rectangle 37">
                  <a:extLst>
                    <a:ext uri="{FF2B5EF4-FFF2-40B4-BE49-F238E27FC236}">
                      <a16:creationId xmlns:a16="http://schemas.microsoft.com/office/drawing/2014/main" id="{F47A9DBF-E898-79E6-AD32-E647C3D08680}"/>
                    </a:ext>
                  </a:extLst>
                </p:cNvPr>
                <p:cNvSpPr/>
                <p:nvPr/>
              </p:nvSpPr>
              <p:spPr bwMode="auto">
                <a:xfrm>
                  <a:off x="8120068" y="3881428"/>
                  <a:ext cx="46468" cy="1633548"/>
                </a:xfrm>
                <a:prstGeom prst="rect">
                  <a:avLst/>
                </a:prstGeom>
                <a:solidFill>
                  <a:srgbClr val="B0B0B0"/>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39" name="Rectangle 38">
                  <a:extLst>
                    <a:ext uri="{FF2B5EF4-FFF2-40B4-BE49-F238E27FC236}">
                      <a16:creationId xmlns:a16="http://schemas.microsoft.com/office/drawing/2014/main" id="{00E4DF88-4785-74C6-0BA1-FD8F453C215D}"/>
                    </a:ext>
                  </a:extLst>
                </p:cNvPr>
                <p:cNvSpPr/>
                <p:nvPr/>
              </p:nvSpPr>
              <p:spPr bwMode="auto">
                <a:xfrm>
                  <a:off x="8132455" y="3881438"/>
                  <a:ext cx="46468" cy="1633538"/>
                </a:xfrm>
                <a:prstGeom prst="rect">
                  <a:avLst/>
                </a:prstGeom>
                <a:solidFill>
                  <a:schemeClr val="bg1"/>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grpSp>
          <p:grpSp>
            <p:nvGrpSpPr>
              <p:cNvPr id="40" name="Group 39">
                <a:extLst>
                  <a:ext uri="{FF2B5EF4-FFF2-40B4-BE49-F238E27FC236}">
                    <a16:creationId xmlns:a16="http://schemas.microsoft.com/office/drawing/2014/main" id="{AA7B8D1A-A939-C28C-E168-8E03D94E1431}"/>
                  </a:ext>
                </a:extLst>
              </p:cNvPr>
              <p:cNvGrpSpPr/>
              <p:nvPr/>
            </p:nvGrpSpPr>
            <p:grpSpPr>
              <a:xfrm>
                <a:off x="7154316" y="4186802"/>
                <a:ext cx="58855" cy="338137"/>
                <a:chOff x="8120068" y="3881428"/>
                <a:chExt cx="58855" cy="1633548"/>
              </a:xfrm>
            </p:grpSpPr>
            <p:sp>
              <p:nvSpPr>
                <p:cNvPr id="41" name="Rectangle 40">
                  <a:extLst>
                    <a:ext uri="{FF2B5EF4-FFF2-40B4-BE49-F238E27FC236}">
                      <a16:creationId xmlns:a16="http://schemas.microsoft.com/office/drawing/2014/main" id="{1479D1C3-2B6F-ADBC-1D8A-597077685991}"/>
                    </a:ext>
                  </a:extLst>
                </p:cNvPr>
                <p:cNvSpPr/>
                <p:nvPr/>
              </p:nvSpPr>
              <p:spPr bwMode="auto">
                <a:xfrm>
                  <a:off x="8120068" y="3881428"/>
                  <a:ext cx="46468" cy="1633548"/>
                </a:xfrm>
                <a:prstGeom prst="rect">
                  <a:avLst/>
                </a:prstGeom>
                <a:solidFill>
                  <a:srgbClr val="B0B0B0"/>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42" name="Rectangle 41">
                  <a:extLst>
                    <a:ext uri="{FF2B5EF4-FFF2-40B4-BE49-F238E27FC236}">
                      <a16:creationId xmlns:a16="http://schemas.microsoft.com/office/drawing/2014/main" id="{12ABF5D1-96B5-C69D-0F1E-F372D4072658}"/>
                    </a:ext>
                  </a:extLst>
                </p:cNvPr>
                <p:cNvSpPr/>
                <p:nvPr/>
              </p:nvSpPr>
              <p:spPr bwMode="auto">
                <a:xfrm>
                  <a:off x="8132455" y="3881438"/>
                  <a:ext cx="46468" cy="1633538"/>
                </a:xfrm>
                <a:prstGeom prst="rect">
                  <a:avLst/>
                </a:prstGeom>
                <a:solidFill>
                  <a:schemeClr val="bg1"/>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grpSp>
        </p:grpSp>
        <p:grpSp>
          <p:nvGrpSpPr>
            <p:cNvPr id="5143" name="Group 5142">
              <a:extLst>
                <a:ext uri="{FF2B5EF4-FFF2-40B4-BE49-F238E27FC236}">
                  <a16:creationId xmlns:a16="http://schemas.microsoft.com/office/drawing/2014/main" id="{A1890521-DCDD-E0B7-AAE0-7BDB374D5487}"/>
                </a:ext>
              </a:extLst>
            </p:cNvPr>
            <p:cNvGrpSpPr/>
            <p:nvPr/>
          </p:nvGrpSpPr>
          <p:grpSpPr>
            <a:xfrm>
              <a:off x="6889750" y="4686296"/>
              <a:ext cx="2743199" cy="350524"/>
              <a:chOff x="6889749" y="4174415"/>
              <a:chExt cx="2743199" cy="350524"/>
            </a:xfrm>
          </p:grpSpPr>
          <p:grpSp>
            <p:nvGrpSpPr>
              <p:cNvPr id="5144" name="Group 5143">
                <a:extLst>
                  <a:ext uri="{FF2B5EF4-FFF2-40B4-BE49-F238E27FC236}">
                    <a16:creationId xmlns:a16="http://schemas.microsoft.com/office/drawing/2014/main" id="{5A935EFB-E8D3-3844-079A-B070D219F77F}"/>
                  </a:ext>
                </a:extLst>
              </p:cNvPr>
              <p:cNvGrpSpPr/>
              <p:nvPr/>
            </p:nvGrpSpPr>
            <p:grpSpPr>
              <a:xfrm rot="5400000">
                <a:off x="8231921" y="2832243"/>
                <a:ext cx="58855" cy="2743199"/>
                <a:chOff x="8120068" y="3881428"/>
                <a:chExt cx="58855" cy="1633548"/>
              </a:xfrm>
            </p:grpSpPr>
            <p:sp>
              <p:nvSpPr>
                <p:cNvPr id="5154" name="Rectangle 5153">
                  <a:extLst>
                    <a:ext uri="{FF2B5EF4-FFF2-40B4-BE49-F238E27FC236}">
                      <a16:creationId xmlns:a16="http://schemas.microsoft.com/office/drawing/2014/main" id="{5F83B89C-66A0-C9B8-BBE9-F8ED8B5C775E}"/>
                    </a:ext>
                  </a:extLst>
                </p:cNvPr>
                <p:cNvSpPr/>
                <p:nvPr/>
              </p:nvSpPr>
              <p:spPr bwMode="auto">
                <a:xfrm>
                  <a:off x="8120068" y="3881428"/>
                  <a:ext cx="46468" cy="1633548"/>
                </a:xfrm>
                <a:prstGeom prst="rect">
                  <a:avLst/>
                </a:prstGeom>
                <a:solidFill>
                  <a:srgbClr val="B0B0B0"/>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5155" name="Rectangle 5154">
                  <a:extLst>
                    <a:ext uri="{FF2B5EF4-FFF2-40B4-BE49-F238E27FC236}">
                      <a16:creationId xmlns:a16="http://schemas.microsoft.com/office/drawing/2014/main" id="{251DD411-606E-B5CE-3893-58E11C644B10}"/>
                    </a:ext>
                  </a:extLst>
                </p:cNvPr>
                <p:cNvSpPr/>
                <p:nvPr/>
              </p:nvSpPr>
              <p:spPr bwMode="auto">
                <a:xfrm>
                  <a:off x="8132455" y="3881438"/>
                  <a:ext cx="46468" cy="1633538"/>
                </a:xfrm>
                <a:prstGeom prst="rect">
                  <a:avLst/>
                </a:prstGeom>
                <a:solidFill>
                  <a:schemeClr val="bg1"/>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grpSp>
          <p:grpSp>
            <p:nvGrpSpPr>
              <p:cNvPr id="5145" name="Group 5144">
                <a:extLst>
                  <a:ext uri="{FF2B5EF4-FFF2-40B4-BE49-F238E27FC236}">
                    <a16:creationId xmlns:a16="http://schemas.microsoft.com/office/drawing/2014/main" id="{41B9C3B2-07DB-F82A-E191-5C43E74EC757}"/>
                  </a:ext>
                </a:extLst>
              </p:cNvPr>
              <p:cNvGrpSpPr/>
              <p:nvPr/>
            </p:nvGrpSpPr>
            <p:grpSpPr>
              <a:xfrm>
                <a:off x="8120068" y="4186802"/>
                <a:ext cx="58855" cy="338137"/>
                <a:chOff x="8120068" y="3881428"/>
                <a:chExt cx="58855" cy="1633548"/>
              </a:xfrm>
            </p:grpSpPr>
            <p:sp>
              <p:nvSpPr>
                <p:cNvPr id="5152" name="Rectangle 5151">
                  <a:extLst>
                    <a:ext uri="{FF2B5EF4-FFF2-40B4-BE49-F238E27FC236}">
                      <a16:creationId xmlns:a16="http://schemas.microsoft.com/office/drawing/2014/main" id="{4F48E0FE-62BD-8326-082F-3CDF3F4DAB66}"/>
                    </a:ext>
                  </a:extLst>
                </p:cNvPr>
                <p:cNvSpPr/>
                <p:nvPr/>
              </p:nvSpPr>
              <p:spPr bwMode="auto">
                <a:xfrm>
                  <a:off x="8120068" y="3881428"/>
                  <a:ext cx="46468" cy="1633548"/>
                </a:xfrm>
                <a:prstGeom prst="rect">
                  <a:avLst/>
                </a:prstGeom>
                <a:solidFill>
                  <a:srgbClr val="B0B0B0"/>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5153" name="Rectangle 5152">
                  <a:extLst>
                    <a:ext uri="{FF2B5EF4-FFF2-40B4-BE49-F238E27FC236}">
                      <a16:creationId xmlns:a16="http://schemas.microsoft.com/office/drawing/2014/main" id="{333B25D7-3E75-FE9D-EAB0-67943B9EB0B8}"/>
                    </a:ext>
                  </a:extLst>
                </p:cNvPr>
                <p:cNvSpPr/>
                <p:nvPr/>
              </p:nvSpPr>
              <p:spPr bwMode="auto">
                <a:xfrm>
                  <a:off x="8132455" y="3881438"/>
                  <a:ext cx="46468" cy="1633538"/>
                </a:xfrm>
                <a:prstGeom prst="rect">
                  <a:avLst/>
                </a:prstGeom>
                <a:solidFill>
                  <a:schemeClr val="bg1"/>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grpSp>
          <p:grpSp>
            <p:nvGrpSpPr>
              <p:cNvPr id="5146" name="Group 5145">
                <a:extLst>
                  <a:ext uri="{FF2B5EF4-FFF2-40B4-BE49-F238E27FC236}">
                    <a16:creationId xmlns:a16="http://schemas.microsoft.com/office/drawing/2014/main" id="{9B1DD2D2-E89F-2CD9-4112-BEAAE02C9C1F}"/>
                  </a:ext>
                </a:extLst>
              </p:cNvPr>
              <p:cNvGrpSpPr/>
              <p:nvPr/>
            </p:nvGrpSpPr>
            <p:grpSpPr>
              <a:xfrm>
                <a:off x="9088432" y="4186802"/>
                <a:ext cx="58855" cy="338137"/>
                <a:chOff x="8120068" y="3881428"/>
                <a:chExt cx="58855" cy="1633548"/>
              </a:xfrm>
            </p:grpSpPr>
            <p:sp>
              <p:nvSpPr>
                <p:cNvPr id="5150" name="Rectangle 5149">
                  <a:extLst>
                    <a:ext uri="{FF2B5EF4-FFF2-40B4-BE49-F238E27FC236}">
                      <a16:creationId xmlns:a16="http://schemas.microsoft.com/office/drawing/2014/main" id="{FA77A938-F79A-BA71-5A22-C7CD60D20639}"/>
                    </a:ext>
                  </a:extLst>
                </p:cNvPr>
                <p:cNvSpPr/>
                <p:nvPr/>
              </p:nvSpPr>
              <p:spPr bwMode="auto">
                <a:xfrm>
                  <a:off x="8120068" y="3881428"/>
                  <a:ext cx="46468" cy="1633548"/>
                </a:xfrm>
                <a:prstGeom prst="rect">
                  <a:avLst/>
                </a:prstGeom>
                <a:solidFill>
                  <a:srgbClr val="B0B0B0"/>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5151" name="Rectangle 5150">
                  <a:extLst>
                    <a:ext uri="{FF2B5EF4-FFF2-40B4-BE49-F238E27FC236}">
                      <a16:creationId xmlns:a16="http://schemas.microsoft.com/office/drawing/2014/main" id="{6EDC3EF6-0A0A-18B3-113B-F40859EDB7FE}"/>
                    </a:ext>
                  </a:extLst>
                </p:cNvPr>
                <p:cNvSpPr/>
                <p:nvPr/>
              </p:nvSpPr>
              <p:spPr bwMode="auto">
                <a:xfrm>
                  <a:off x="8132455" y="3881438"/>
                  <a:ext cx="46468" cy="1633538"/>
                </a:xfrm>
                <a:prstGeom prst="rect">
                  <a:avLst/>
                </a:prstGeom>
                <a:solidFill>
                  <a:schemeClr val="bg1"/>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grpSp>
          <p:grpSp>
            <p:nvGrpSpPr>
              <p:cNvPr id="5147" name="Group 5146">
                <a:extLst>
                  <a:ext uri="{FF2B5EF4-FFF2-40B4-BE49-F238E27FC236}">
                    <a16:creationId xmlns:a16="http://schemas.microsoft.com/office/drawing/2014/main" id="{8B9A247A-117F-4CD1-E59D-937E3EFA730B}"/>
                  </a:ext>
                </a:extLst>
              </p:cNvPr>
              <p:cNvGrpSpPr/>
              <p:nvPr/>
            </p:nvGrpSpPr>
            <p:grpSpPr>
              <a:xfrm>
                <a:off x="7154316" y="4186802"/>
                <a:ext cx="58855" cy="338137"/>
                <a:chOff x="8120068" y="3881428"/>
                <a:chExt cx="58855" cy="1633548"/>
              </a:xfrm>
            </p:grpSpPr>
            <p:sp>
              <p:nvSpPr>
                <p:cNvPr id="5148" name="Rectangle 5147">
                  <a:extLst>
                    <a:ext uri="{FF2B5EF4-FFF2-40B4-BE49-F238E27FC236}">
                      <a16:creationId xmlns:a16="http://schemas.microsoft.com/office/drawing/2014/main" id="{B126A59A-F1DF-A216-9D28-0F2DE6015396}"/>
                    </a:ext>
                  </a:extLst>
                </p:cNvPr>
                <p:cNvSpPr/>
                <p:nvPr/>
              </p:nvSpPr>
              <p:spPr bwMode="auto">
                <a:xfrm>
                  <a:off x="8120068" y="3881428"/>
                  <a:ext cx="46468" cy="1633548"/>
                </a:xfrm>
                <a:prstGeom prst="rect">
                  <a:avLst/>
                </a:prstGeom>
                <a:solidFill>
                  <a:srgbClr val="B0B0B0"/>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5149" name="Rectangle 5148">
                  <a:extLst>
                    <a:ext uri="{FF2B5EF4-FFF2-40B4-BE49-F238E27FC236}">
                      <a16:creationId xmlns:a16="http://schemas.microsoft.com/office/drawing/2014/main" id="{3DE3098F-35AB-AD67-13E1-458E8BBD9CE1}"/>
                    </a:ext>
                  </a:extLst>
                </p:cNvPr>
                <p:cNvSpPr/>
                <p:nvPr/>
              </p:nvSpPr>
              <p:spPr bwMode="auto">
                <a:xfrm>
                  <a:off x="8132455" y="3881438"/>
                  <a:ext cx="46468" cy="1633538"/>
                </a:xfrm>
                <a:prstGeom prst="rect">
                  <a:avLst/>
                </a:prstGeom>
                <a:solidFill>
                  <a:schemeClr val="bg1"/>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grpSp>
        </p:grpSp>
        <p:grpSp>
          <p:nvGrpSpPr>
            <p:cNvPr id="5171" name="Group 5170">
              <a:extLst>
                <a:ext uri="{FF2B5EF4-FFF2-40B4-BE49-F238E27FC236}">
                  <a16:creationId xmlns:a16="http://schemas.microsoft.com/office/drawing/2014/main" id="{DB570F76-B83A-C086-A78F-FA39C8B650FF}"/>
                </a:ext>
              </a:extLst>
            </p:cNvPr>
            <p:cNvGrpSpPr/>
            <p:nvPr/>
          </p:nvGrpSpPr>
          <p:grpSpPr>
            <a:xfrm rot="5400000">
              <a:off x="8234752" y="3851990"/>
              <a:ext cx="53191" cy="2743199"/>
              <a:chOff x="8120068" y="3881428"/>
              <a:chExt cx="58855" cy="1633548"/>
            </a:xfrm>
          </p:grpSpPr>
          <p:sp>
            <p:nvSpPr>
              <p:cNvPr id="5181" name="Rectangle 5180">
                <a:extLst>
                  <a:ext uri="{FF2B5EF4-FFF2-40B4-BE49-F238E27FC236}">
                    <a16:creationId xmlns:a16="http://schemas.microsoft.com/office/drawing/2014/main" id="{9B9A390F-3C2D-842F-F63E-C303A5BAC80D}"/>
                  </a:ext>
                </a:extLst>
              </p:cNvPr>
              <p:cNvSpPr/>
              <p:nvPr/>
            </p:nvSpPr>
            <p:spPr bwMode="auto">
              <a:xfrm>
                <a:off x="8120068" y="3881428"/>
                <a:ext cx="46468" cy="1633548"/>
              </a:xfrm>
              <a:prstGeom prst="rect">
                <a:avLst/>
              </a:prstGeom>
              <a:solidFill>
                <a:srgbClr val="B0B0B0"/>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5182" name="Rectangle 5181">
                <a:extLst>
                  <a:ext uri="{FF2B5EF4-FFF2-40B4-BE49-F238E27FC236}">
                    <a16:creationId xmlns:a16="http://schemas.microsoft.com/office/drawing/2014/main" id="{A085B8CF-A43E-BF00-1349-B71D06EB4457}"/>
                  </a:ext>
                </a:extLst>
              </p:cNvPr>
              <p:cNvSpPr/>
              <p:nvPr/>
            </p:nvSpPr>
            <p:spPr bwMode="auto">
              <a:xfrm>
                <a:off x="8132455" y="3881438"/>
                <a:ext cx="46468" cy="1633538"/>
              </a:xfrm>
              <a:prstGeom prst="rect">
                <a:avLst/>
              </a:prstGeom>
              <a:solidFill>
                <a:schemeClr val="bg1"/>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grpSp>
        <p:grpSp>
          <p:nvGrpSpPr>
            <p:cNvPr id="5172" name="Group 5171">
              <a:extLst>
                <a:ext uri="{FF2B5EF4-FFF2-40B4-BE49-F238E27FC236}">
                  <a16:creationId xmlns:a16="http://schemas.microsoft.com/office/drawing/2014/main" id="{7851D299-03AB-2F5C-902D-EC043CBB181A}"/>
                </a:ext>
              </a:extLst>
            </p:cNvPr>
            <p:cNvGrpSpPr/>
            <p:nvPr/>
          </p:nvGrpSpPr>
          <p:grpSpPr>
            <a:xfrm>
              <a:off x="8120069" y="5209382"/>
              <a:ext cx="58855" cy="305594"/>
              <a:chOff x="8120068" y="3881428"/>
              <a:chExt cx="58855" cy="1633548"/>
            </a:xfrm>
          </p:grpSpPr>
          <p:sp>
            <p:nvSpPr>
              <p:cNvPr id="5179" name="Rectangle 5178">
                <a:extLst>
                  <a:ext uri="{FF2B5EF4-FFF2-40B4-BE49-F238E27FC236}">
                    <a16:creationId xmlns:a16="http://schemas.microsoft.com/office/drawing/2014/main" id="{CCAEBE19-4312-B0EA-07AE-1D5A1D67DEC4}"/>
                  </a:ext>
                </a:extLst>
              </p:cNvPr>
              <p:cNvSpPr/>
              <p:nvPr/>
            </p:nvSpPr>
            <p:spPr bwMode="auto">
              <a:xfrm>
                <a:off x="8120068" y="3881428"/>
                <a:ext cx="46468" cy="1633548"/>
              </a:xfrm>
              <a:prstGeom prst="rect">
                <a:avLst/>
              </a:prstGeom>
              <a:solidFill>
                <a:srgbClr val="B0B0B0"/>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5180" name="Rectangle 5179">
                <a:extLst>
                  <a:ext uri="{FF2B5EF4-FFF2-40B4-BE49-F238E27FC236}">
                    <a16:creationId xmlns:a16="http://schemas.microsoft.com/office/drawing/2014/main" id="{16C684A5-47C0-4708-258A-6457D12D8F87}"/>
                  </a:ext>
                </a:extLst>
              </p:cNvPr>
              <p:cNvSpPr/>
              <p:nvPr/>
            </p:nvSpPr>
            <p:spPr bwMode="auto">
              <a:xfrm>
                <a:off x="8132455" y="3881438"/>
                <a:ext cx="46468" cy="1633538"/>
              </a:xfrm>
              <a:prstGeom prst="rect">
                <a:avLst/>
              </a:prstGeom>
              <a:solidFill>
                <a:schemeClr val="bg1"/>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grpSp>
        <p:grpSp>
          <p:nvGrpSpPr>
            <p:cNvPr id="5173" name="Group 5172">
              <a:extLst>
                <a:ext uri="{FF2B5EF4-FFF2-40B4-BE49-F238E27FC236}">
                  <a16:creationId xmlns:a16="http://schemas.microsoft.com/office/drawing/2014/main" id="{796AAE81-DB23-12A6-8CE6-B6936C76343E}"/>
                </a:ext>
              </a:extLst>
            </p:cNvPr>
            <p:cNvGrpSpPr/>
            <p:nvPr/>
          </p:nvGrpSpPr>
          <p:grpSpPr>
            <a:xfrm>
              <a:off x="9088433" y="5209382"/>
              <a:ext cx="58855" cy="305594"/>
              <a:chOff x="8120068" y="3881428"/>
              <a:chExt cx="58855" cy="1633548"/>
            </a:xfrm>
          </p:grpSpPr>
          <p:sp>
            <p:nvSpPr>
              <p:cNvPr id="5177" name="Rectangle 5176">
                <a:extLst>
                  <a:ext uri="{FF2B5EF4-FFF2-40B4-BE49-F238E27FC236}">
                    <a16:creationId xmlns:a16="http://schemas.microsoft.com/office/drawing/2014/main" id="{F3E0593E-1969-D748-416D-7BCAAE9ED41B}"/>
                  </a:ext>
                </a:extLst>
              </p:cNvPr>
              <p:cNvSpPr/>
              <p:nvPr/>
            </p:nvSpPr>
            <p:spPr bwMode="auto">
              <a:xfrm>
                <a:off x="8120068" y="3881428"/>
                <a:ext cx="46468" cy="1633548"/>
              </a:xfrm>
              <a:prstGeom prst="rect">
                <a:avLst/>
              </a:prstGeom>
              <a:solidFill>
                <a:srgbClr val="B0B0B0"/>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5178" name="Rectangle 5177">
                <a:extLst>
                  <a:ext uri="{FF2B5EF4-FFF2-40B4-BE49-F238E27FC236}">
                    <a16:creationId xmlns:a16="http://schemas.microsoft.com/office/drawing/2014/main" id="{050D20F3-7871-C1CE-1853-5E273CE24680}"/>
                  </a:ext>
                </a:extLst>
              </p:cNvPr>
              <p:cNvSpPr/>
              <p:nvPr/>
            </p:nvSpPr>
            <p:spPr bwMode="auto">
              <a:xfrm>
                <a:off x="8132455" y="3881438"/>
                <a:ext cx="46468" cy="1633538"/>
              </a:xfrm>
              <a:prstGeom prst="rect">
                <a:avLst/>
              </a:prstGeom>
              <a:solidFill>
                <a:schemeClr val="bg1"/>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grpSp>
        <p:grpSp>
          <p:nvGrpSpPr>
            <p:cNvPr id="5174" name="Group 5173">
              <a:extLst>
                <a:ext uri="{FF2B5EF4-FFF2-40B4-BE49-F238E27FC236}">
                  <a16:creationId xmlns:a16="http://schemas.microsoft.com/office/drawing/2014/main" id="{0C155987-AD11-3810-D33C-5A59FB0A07B4}"/>
                </a:ext>
              </a:extLst>
            </p:cNvPr>
            <p:cNvGrpSpPr/>
            <p:nvPr/>
          </p:nvGrpSpPr>
          <p:grpSpPr>
            <a:xfrm>
              <a:off x="7154317" y="5209382"/>
              <a:ext cx="58855" cy="305594"/>
              <a:chOff x="8120068" y="3881428"/>
              <a:chExt cx="58855" cy="1633548"/>
            </a:xfrm>
          </p:grpSpPr>
          <p:sp>
            <p:nvSpPr>
              <p:cNvPr id="5175" name="Rectangle 5174">
                <a:extLst>
                  <a:ext uri="{FF2B5EF4-FFF2-40B4-BE49-F238E27FC236}">
                    <a16:creationId xmlns:a16="http://schemas.microsoft.com/office/drawing/2014/main" id="{6DC1B139-A7F1-D4EC-AC48-06CE0264AD16}"/>
                  </a:ext>
                </a:extLst>
              </p:cNvPr>
              <p:cNvSpPr/>
              <p:nvPr/>
            </p:nvSpPr>
            <p:spPr bwMode="auto">
              <a:xfrm>
                <a:off x="8120068" y="3881428"/>
                <a:ext cx="46468" cy="1633548"/>
              </a:xfrm>
              <a:prstGeom prst="rect">
                <a:avLst/>
              </a:prstGeom>
              <a:solidFill>
                <a:srgbClr val="B0B0B0"/>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5176" name="Rectangle 5175">
                <a:extLst>
                  <a:ext uri="{FF2B5EF4-FFF2-40B4-BE49-F238E27FC236}">
                    <a16:creationId xmlns:a16="http://schemas.microsoft.com/office/drawing/2014/main" id="{B100A86B-BFAA-5BED-18E7-E4D34E4B3B01}"/>
                  </a:ext>
                </a:extLst>
              </p:cNvPr>
              <p:cNvSpPr/>
              <p:nvPr/>
            </p:nvSpPr>
            <p:spPr bwMode="auto">
              <a:xfrm>
                <a:off x="8132455" y="3881438"/>
                <a:ext cx="46468" cy="1633538"/>
              </a:xfrm>
              <a:prstGeom prst="rect">
                <a:avLst/>
              </a:prstGeom>
              <a:solidFill>
                <a:schemeClr val="bg1"/>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grpSp>
      </p:grpSp>
      <p:pic>
        <p:nvPicPr>
          <p:cNvPr id="5183" name="Picture 2">
            <a:extLst>
              <a:ext uri="{FF2B5EF4-FFF2-40B4-BE49-F238E27FC236}">
                <a16:creationId xmlns:a16="http://schemas.microsoft.com/office/drawing/2014/main" id="{8F6CE2C5-8546-1D83-953A-93C456A0E7D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62986" t="56448" r="3330" b="16506"/>
          <a:stretch>
            <a:fillRect/>
          </a:stretch>
        </p:blipFill>
        <p:spPr bwMode="auto">
          <a:xfrm>
            <a:off x="9235082" y="4228889"/>
            <a:ext cx="2505076" cy="1257175"/>
          </a:xfrm>
          <a:prstGeom prst="rect">
            <a:avLst/>
          </a:prstGeom>
          <a:solidFill>
            <a:srgbClr val="FFFFFF"/>
          </a:solidFill>
        </p:spPr>
      </p:pic>
      <p:sp>
        <p:nvSpPr>
          <p:cNvPr id="7" name="Star: 5 Points 6">
            <a:extLst>
              <a:ext uri="{FF2B5EF4-FFF2-40B4-BE49-F238E27FC236}">
                <a16:creationId xmlns:a16="http://schemas.microsoft.com/office/drawing/2014/main" id="{08485D36-C329-94B4-D80C-3CB057DB2D55}"/>
              </a:ext>
            </a:extLst>
          </p:cNvPr>
          <p:cNvSpPr/>
          <p:nvPr/>
        </p:nvSpPr>
        <p:spPr bwMode="auto">
          <a:xfrm>
            <a:off x="12443110" y="3120017"/>
            <a:ext cx="558265" cy="558265"/>
          </a:xfrm>
          <a:prstGeom prst="star5">
            <a:avLst/>
          </a:prstGeom>
          <a:solidFill>
            <a:srgbClr val="FFFF00"/>
          </a:solidFill>
          <a:ln w="28575" cap="sq" algn="ctr">
            <a:solidFill>
              <a:schemeClr val="tx1"/>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5185" name="TextBox 5184">
            <a:extLst>
              <a:ext uri="{FF2B5EF4-FFF2-40B4-BE49-F238E27FC236}">
                <a16:creationId xmlns:a16="http://schemas.microsoft.com/office/drawing/2014/main" id="{25C1872F-2B20-EFF8-F27A-9F44AB1B9774}"/>
              </a:ext>
            </a:extLst>
          </p:cNvPr>
          <p:cNvSpPr txBox="1"/>
          <p:nvPr/>
        </p:nvSpPr>
        <p:spPr>
          <a:xfrm>
            <a:off x="508571" y="6477856"/>
            <a:ext cx="3847672" cy="339602"/>
          </a:xfrm>
          <a:prstGeom prst="rect">
            <a:avLst/>
          </a:prstGeom>
          <a:noFill/>
        </p:spPr>
        <p:txBody>
          <a:bodyPr wrap="square" rtlCol="0" anchor="ctr">
            <a:noAutofit/>
          </a:bodyPr>
          <a:lstStyle/>
          <a:p>
            <a:pPr algn="ctr"/>
            <a:r>
              <a:rPr lang="en-US" sz="1100" i="1" dirty="0"/>
              <a:t>(Boris Murmann, University of Hawaii, ADC Survey)</a:t>
            </a:r>
          </a:p>
        </p:txBody>
      </p:sp>
      <p:sp>
        <p:nvSpPr>
          <p:cNvPr id="5186" name="TextBox 5185">
            <a:extLst>
              <a:ext uri="{FF2B5EF4-FFF2-40B4-BE49-F238E27FC236}">
                <a16:creationId xmlns:a16="http://schemas.microsoft.com/office/drawing/2014/main" id="{54226D4A-8DD8-C3CE-6D82-A023A7D828F1}"/>
              </a:ext>
            </a:extLst>
          </p:cNvPr>
          <p:cNvSpPr txBox="1"/>
          <p:nvPr/>
        </p:nvSpPr>
        <p:spPr>
          <a:xfrm>
            <a:off x="236306" y="6287784"/>
            <a:ext cx="544530" cy="380144"/>
          </a:xfrm>
          <a:prstGeom prst="rect">
            <a:avLst/>
          </a:prstGeom>
          <a:noFill/>
        </p:spPr>
        <p:txBody>
          <a:bodyPr wrap="square" rtlCol="0">
            <a:noAutofit/>
          </a:bodyPr>
          <a:lstStyle/>
          <a:p>
            <a:pPr algn="ctr"/>
            <a:r>
              <a:rPr lang="en-US" sz="1600" dirty="0"/>
              <a:t>35</a:t>
            </a:r>
          </a:p>
        </p:txBody>
      </p:sp>
    </p:spTree>
    <p:extLst>
      <p:ext uri="{BB962C8B-B14F-4D97-AF65-F5344CB8AC3E}">
        <p14:creationId xmlns:p14="http://schemas.microsoft.com/office/powerpoint/2010/main" val="2633605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3177 -0.06713 L 0.03177 -0.06713 C 0.03424 -0.07963 0.03763 -0.09166 0.03932 -0.10463 C 0.04102 -0.11782 0.04089 -0.13171 0.04193 -0.14514 C 0.04258 -0.15509 0.04362 -0.16504 0.0444 -0.175 C 0.04466 -0.18356 0.04479 -0.19213 0.04531 -0.20046 C 0.0457 -0.20856 0.047 -0.21643 0.047 -0.22454 C 0.047 -0.25254 0.04635 -0.28055 0.04531 -0.30833 C 0.04492 -0.31643 0.04375 -0.32454 0.04271 -0.33241 C 0.04206 -0.3375 0.04128 -0.34259 0.04023 -0.34722 C 0.03789 -0.35764 0.0345 -0.36805 0.03008 -0.37569 C 0.02578 -0.38333 0.01875 -0.38796 0.01328 -0.39074 C 0.00208 -0.39629 -0.01276 -0.39954 -0.02383 -0.40116 C -0.02969 -0.40208 -0.03568 -0.40231 -0.04154 -0.40278 C -0.04857 -0.40116 -0.05573 -0.40116 -0.06263 -0.39838 C -0.06901 -0.3956 -0.075 -0.39074 -0.08112 -0.38634 C -0.103 -0.3706 -0.11953 -0.35671 -0.1401 -0.33379 C -0.15938 -0.3125 -0.17786 -0.28912 -0.19661 -0.26643 C -0.21328 -0.24629 -0.24427 -0.20879 -0.25807 -0.18704 C -0.2931 -0.13194 -0.33047 -0.06898 -0.37109 -0.02824 C -0.38398 -0.01528 -0.39622 0.00023 -0.40977 0.01065 C -0.45143 0.04283 -0.48854 0.04584 -0.53451 0.05718 C -0.60547 0.07454 -0.58893 0.07084 -0.65339 0.07824 C -0.68633 0.07523 -0.72331 0.07709 -0.75625 0.06158 C -0.77943 0.0507 -0.79675 0.04051 -0.81432 0.01227 C -0.81966 0.00371 -0.82409 -0.00694 -0.82786 -0.01782 C -0.8349 -0.03796 -0.84258 -0.0743 -0.84557 -0.09722 C -0.84792 -0.11528 -0.84896 -0.13403 -0.85052 -0.15254 C -0.84896 -0.17754 -0.84922 -0.20324 -0.84557 -0.22754 C -0.84245 -0.24768 -0.81992 -0.27245 -0.81354 -0.27986 C -0.80703 -0.2875 -0.80013 -0.29421 -0.79323 -0.30092 C -0.78815 -0.30602 -0.77201 -0.31991 -0.76628 -0.32338 C -0.76354 -0.325 -0.76068 -0.32546 -0.75794 -0.32639 C -0.74922 -0.32477 -0.74036 -0.32454 -0.73177 -0.32176 C -0.72148 -0.31852 -0.71133 -0.31412 -0.70143 -0.30833 C -0.69805 -0.30648 -0.69466 -0.30463 -0.69128 -0.30231 C -0.68867 -0.30069 -0.68164 -0.29491 -0.67865 -0.2919 C -0.67175 -0.28518 -0.67617 -0.28842 -0.66771 -0.27847 C -0.66523 -0.27546 -0.66263 -0.27268 -0.66016 -0.26944 C -0.64857 -0.25463 -0.64701 -0.24722 -0.62982 -0.23495 C -0.62005 -0.22801 -0.61615 -0.22454 -0.60781 -0.21991 C -0.60508 -0.21852 -0.60234 -0.21666 -0.59948 -0.21551 C -0.59661 -0.21435 -0.59375 -0.21366 -0.59102 -0.2125 C -0.58255 -0.20903 -0.57435 -0.20393 -0.56576 -0.20208 C -0.55898 -0.20046 -0.55234 -0.19838 -0.54557 -0.19745 C -0.53828 -0.19653 -0.53086 -0.19653 -0.52357 -0.19606 C -0.51849 -0.1956 -0.51354 -0.19491 -0.50846 -0.19444 C -0.49089 -0.1956 -0.43372 -0.19282 -0.4056 -0.20648 C -0.39948 -0.20949 -0.39388 -0.21551 -0.38789 -0.21991 C -0.38372 -0.22639 -0.37917 -0.23241 -0.37526 -0.23935 C -0.36602 -0.25602 -0.35677 -0.27639 -0.35 -0.29629 C -0.34701 -0.30509 -0.34492 -0.31435 -0.34245 -0.32338 C -0.34271 -0.33287 -0.34219 -0.34259 -0.34323 -0.35185 C -0.34401 -0.3581 -0.34596 -0.36389 -0.34753 -0.36991 C -0.34883 -0.37477 -0.35 -0.38009 -0.35169 -0.38472 C -0.35469 -0.39305 -0.36081 -0.40231 -0.3651 -0.40717 C -0.37839 -0.42245 -0.38724 -0.42824 -0.40313 -0.43565 C -0.41367 -0.44074 -0.42435 -0.44514 -0.43516 -0.44768 C -0.44714 -0.45069 -0.45925 -0.45069 -0.47135 -0.45208 C -0.48372 -0.45116 -0.49609 -0.45208 -0.50846 -0.4493 C -0.53099 -0.44398 -0.56432 -0.42662 -0.58425 -0.41018 C -0.59479 -0.40162 -0.61055 -0.39028 -0.62057 -0.37731 C -0.62448 -0.37199 -0.62773 -0.36504 -0.63151 -0.35926 C -0.6375 -0.35 -0.6444 -0.34236 -0.65 -0.33241 C -0.65482 -0.32384 -0.6582 -0.31296 -0.66263 -0.30393 C -0.66628 -0.29653 -0.67083 -0.29051 -0.67448 -0.28287 C -0.68021 -0.27083 -0.68724 -0.25185 -0.6905 -0.23657 C -0.69206 -0.22916 -0.69271 -0.22153 -0.69388 -0.21389 C -0.69271 -0.19491 -0.69258 -0.17569 -0.6905 -0.15717 C -0.68919 -0.14606 -0.68633 -0.13588 -0.68372 -0.12569 C -0.68034 -0.1118 -0.67318 -0.0912 -0.66693 -0.08217 L -0.65755 -0.06875 C -0.65091 -0.05903 -0.64622 -0.05254 -0.63737 -0.04467 C -0.6306 -0.03866 -0.62409 -0.03194 -0.61719 -0.02662 C -0.60925 -0.02083 -0.60443 -0.01782 -0.59688 -0.01018 C -0.59102 -0.0044 -0.58086 0.00857 -0.57591 0.01528 C -0.56823 0.02546 -0.56094 0.03681 -0.55313 0.04676 C -0.54388 0.0581 -0.53411 0.06852 -0.52526 0.08125 C -0.52253 0.08519 -0.51979 0.08935 -0.5168 0.09306 C -0.51107 0.10023 -0.50156 0.10834 -0.49583 0.11412 C -0.49154 0.11852 -0.48711 0.12246 -0.4832 0.12755 C -0.46888 0.14653 -0.49362 0.11412 -0.47474 0.13658 C -0.47201 0.13982 -0.47005 0.14445 -0.46719 0.14699 C -0.46328 0.15046 -0.46315 0.15 -0.45951 0.15602 C -0.4569 0.16042 -0.45378 0.16412 -0.45195 0.16945 C -0.45117 0.17199 -0.45039 0.17454 -0.44948 0.17709 C -0.44271 0.19398 -0.44857 0.17847 -0.4444 0.1875 C -0.44349 0.18935 -0.44284 0.19167 -0.4418 0.19352 C -0.42461 0.22685 -0.44154 0.19074 -0.43255 0.21296 C -0.43216 0.21412 -0.43138 0.21482 -0.43086 0.21597 C -0.42865 0.22199 -0.42969 0.22084 -0.42839 0.22639 C -0.42721 0.23148 -0.42578 0.23519 -0.42422 0.24005 C -0.42383 0.24236 -0.4237 0.24491 -0.42331 0.24746 C -0.42279 0.25046 -0.42161 0.25324 -0.42161 0.25648 L -0.42161 0.26852 L -0.41823 0.27153 " pathEditMode="relative" ptsTypes="AAAAAAAAAAAAAAAAAAAAAAAAAAAAAAAAAAAAAAAAAAAAAAAAAAAAAAAAAAAAAAAAAAAAAAAAAAAAAAAAAAAAAAAAAAAAAAAA">
                                      <p:cBhvr>
                                        <p:cTn id="6" dur="2000" fill="hold"/>
                                        <p:tgtEl>
                                          <p:spTgt spid="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6998E-4962-156C-08BB-B30EBD7D5B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0E0869-2757-4478-E73C-95C2B0FE1937}"/>
              </a:ext>
            </a:extLst>
          </p:cNvPr>
          <p:cNvSpPr>
            <a:spLocks noGrp="1"/>
          </p:cNvSpPr>
          <p:nvPr>
            <p:ph type="ctrTitle"/>
          </p:nvPr>
        </p:nvSpPr>
        <p:spPr/>
        <p:txBody>
          <a:bodyPr/>
          <a:lstStyle/>
          <a:p>
            <a:r>
              <a:rPr lang="en-US" dirty="0"/>
              <a:t>Conclusions</a:t>
            </a:r>
          </a:p>
        </p:txBody>
      </p:sp>
      <p:sp>
        <p:nvSpPr>
          <p:cNvPr id="6" name="TextBox 5">
            <a:extLst>
              <a:ext uri="{FF2B5EF4-FFF2-40B4-BE49-F238E27FC236}">
                <a16:creationId xmlns:a16="http://schemas.microsoft.com/office/drawing/2014/main" id="{F77AB820-7033-BA5F-50ED-C55B1D1BC7C8}"/>
              </a:ext>
            </a:extLst>
          </p:cNvPr>
          <p:cNvSpPr txBox="1"/>
          <p:nvPr/>
        </p:nvSpPr>
        <p:spPr>
          <a:xfrm>
            <a:off x="3901440" y="5953760"/>
            <a:ext cx="0" cy="0"/>
          </a:xfrm>
          <a:prstGeom prst="rect">
            <a:avLst/>
          </a:prstGeom>
          <a:noFill/>
        </p:spPr>
        <p:txBody>
          <a:bodyPr wrap="none" rtlCol="0">
            <a:noAutofit/>
          </a:bodyPr>
          <a:lstStyle/>
          <a:p>
            <a:pPr algn="ctr"/>
            <a:endParaRPr lang="en-US" sz="1600" dirty="0" err="1"/>
          </a:p>
        </p:txBody>
      </p:sp>
      <p:sp>
        <p:nvSpPr>
          <p:cNvPr id="3" name="TextBox 2">
            <a:extLst>
              <a:ext uri="{FF2B5EF4-FFF2-40B4-BE49-F238E27FC236}">
                <a16:creationId xmlns:a16="http://schemas.microsoft.com/office/drawing/2014/main" id="{3B0B8E95-95D1-772C-EF68-204E76087F71}"/>
              </a:ext>
            </a:extLst>
          </p:cNvPr>
          <p:cNvSpPr txBox="1"/>
          <p:nvPr/>
        </p:nvSpPr>
        <p:spPr>
          <a:xfrm>
            <a:off x="236306" y="6287784"/>
            <a:ext cx="544530" cy="380144"/>
          </a:xfrm>
          <a:prstGeom prst="rect">
            <a:avLst/>
          </a:prstGeom>
          <a:noFill/>
        </p:spPr>
        <p:txBody>
          <a:bodyPr wrap="square" rtlCol="0">
            <a:noAutofit/>
          </a:bodyPr>
          <a:lstStyle/>
          <a:p>
            <a:pPr algn="ctr"/>
            <a:endParaRPr lang="en-US" sz="1600" dirty="0"/>
          </a:p>
        </p:txBody>
      </p:sp>
    </p:spTree>
    <p:extLst>
      <p:ext uri="{BB962C8B-B14F-4D97-AF65-F5344CB8AC3E}">
        <p14:creationId xmlns:p14="http://schemas.microsoft.com/office/powerpoint/2010/main" val="28361827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4DBA6-FCD9-61F5-1681-5CC77F0C99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6C35C7-21B6-9905-EC56-CC7853710F6A}"/>
              </a:ext>
            </a:extLst>
          </p:cNvPr>
          <p:cNvSpPr>
            <a:spLocks noGrp="1"/>
          </p:cNvSpPr>
          <p:nvPr>
            <p:ph type="title"/>
          </p:nvPr>
        </p:nvSpPr>
        <p:spPr>
          <a:xfrm>
            <a:off x="609600" y="363090"/>
            <a:ext cx="10972800" cy="800100"/>
          </a:xfrm>
        </p:spPr>
        <p:txBody>
          <a:bodyPr anchor="b">
            <a:normAutofit/>
          </a:bodyPr>
          <a:lstStyle/>
          <a:p>
            <a:r>
              <a:rPr lang="en-US" dirty="0"/>
              <a:t>Reflection</a:t>
            </a:r>
          </a:p>
        </p:txBody>
      </p:sp>
      <p:sp>
        <p:nvSpPr>
          <p:cNvPr id="9" name="Content Placeholder 2">
            <a:extLst>
              <a:ext uri="{FF2B5EF4-FFF2-40B4-BE49-F238E27FC236}">
                <a16:creationId xmlns:a16="http://schemas.microsoft.com/office/drawing/2014/main" id="{B86514CE-D62B-C75A-6360-A5BC4396DB50}"/>
              </a:ext>
            </a:extLst>
          </p:cNvPr>
          <p:cNvSpPr>
            <a:spLocks noGrp="1"/>
          </p:cNvSpPr>
          <p:nvPr>
            <p:ph idx="1"/>
          </p:nvPr>
        </p:nvSpPr>
        <p:spPr>
          <a:xfrm>
            <a:off x="609600" y="1795464"/>
            <a:ext cx="4141304" cy="4189412"/>
          </a:xfrm>
        </p:spPr>
        <p:txBody>
          <a:bodyPr/>
          <a:lstStyle/>
          <a:p>
            <a:r>
              <a:rPr lang="en-US" dirty="0"/>
              <a:t>Why was resolution limited but power exceptional?</a:t>
            </a:r>
          </a:p>
          <a:p>
            <a:pPr lvl="1"/>
            <a:r>
              <a:rPr lang="en-US" dirty="0"/>
              <a:t>General Flash ADC limitations</a:t>
            </a:r>
          </a:p>
          <a:p>
            <a:pPr lvl="1"/>
            <a:r>
              <a:rPr lang="en-US" dirty="0"/>
              <a:t>Resistor ladder</a:t>
            </a:r>
          </a:p>
          <a:p>
            <a:pPr lvl="1"/>
            <a:r>
              <a:rPr lang="en-US" dirty="0"/>
              <a:t>Comparator ladder</a:t>
            </a:r>
          </a:p>
          <a:p>
            <a:pPr lvl="2"/>
            <a:r>
              <a:rPr lang="en-US" dirty="0"/>
              <a:t>Skipped codes from offset mismatch</a:t>
            </a:r>
          </a:p>
        </p:txBody>
      </p:sp>
      <p:pic>
        <p:nvPicPr>
          <p:cNvPr id="6" name="Graphic 5">
            <a:extLst>
              <a:ext uri="{FF2B5EF4-FFF2-40B4-BE49-F238E27FC236}">
                <a16:creationId xmlns:a16="http://schemas.microsoft.com/office/drawing/2014/main" id="{1D82BEDE-620E-D63F-3496-24430A8BD2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78947" y="2054831"/>
            <a:ext cx="7613053" cy="3323869"/>
          </a:xfrm>
          <a:prstGeom prst="rect">
            <a:avLst/>
          </a:prstGeom>
        </p:spPr>
      </p:pic>
      <p:sp>
        <p:nvSpPr>
          <p:cNvPr id="3" name="TextBox 2">
            <a:extLst>
              <a:ext uri="{FF2B5EF4-FFF2-40B4-BE49-F238E27FC236}">
                <a16:creationId xmlns:a16="http://schemas.microsoft.com/office/drawing/2014/main" id="{3A9AFA7D-3A67-D4DD-E1D5-AE034C01FE35}"/>
              </a:ext>
            </a:extLst>
          </p:cNvPr>
          <p:cNvSpPr txBox="1"/>
          <p:nvPr/>
        </p:nvSpPr>
        <p:spPr>
          <a:xfrm>
            <a:off x="236306" y="6287784"/>
            <a:ext cx="544530" cy="380144"/>
          </a:xfrm>
          <a:prstGeom prst="rect">
            <a:avLst/>
          </a:prstGeom>
          <a:noFill/>
        </p:spPr>
        <p:txBody>
          <a:bodyPr wrap="square" rtlCol="0">
            <a:noAutofit/>
          </a:bodyPr>
          <a:lstStyle/>
          <a:p>
            <a:pPr algn="ctr"/>
            <a:r>
              <a:rPr lang="en-US" sz="1600" dirty="0"/>
              <a:t>36</a:t>
            </a:r>
          </a:p>
        </p:txBody>
      </p:sp>
    </p:spTree>
    <p:extLst>
      <p:ext uri="{BB962C8B-B14F-4D97-AF65-F5344CB8AC3E}">
        <p14:creationId xmlns:p14="http://schemas.microsoft.com/office/powerpoint/2010/main" val="39635154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E7F4C-054F-3256-647A-C720E0548C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917D97-05DF-4012-E85B-2F43D3DB7807}"/>
              </a:ext>
            </a:extLst>
          </p:cNvPr>
          <p:cNvSpPr>
            <a:spLocks noGrp="1"/>
          </p:cNvSpPr>
          <p:nvPr>
            <p:ph type="title"/>
          </p:nvPr>
        </p:nvSpPr>
        <p:spPr>
          <a:xfrm>
            <a:off x="609600" y="363090"/>
            <a:ext cx="10972800" cy="800100"/>
          </a:xfrm>
        </p:spPr>
        <p:txBody>
          <a:bodyPr anchor="b">
            <a:normAutofit/>
          </a:bodyPr>
          <a:lstStyle/>
          <a:p>
            <a:r>
              <a:rPr lang="en-US" dirty="0"/>
              <a:t>Limitations &amp; Hindsight</a:t>
            </a:r>
          </a:p>
        </p:txBody>
      </p:sp>
      <p:sp>
        <p:nvSpPr>
          <p:cNvPr id="3" name="Content Placeholder 2">
            <a:extLst>
              <a:ext uri="{FF2B5EF4-FFF2-40B4-BE49-F238E27FC236}">
                <a16:creationId xmlns:a16="http://schemas.microsoft.com/office/drawing/2014/main" id="{2F142491-07FA-CE63-26E7-043B87CB1D6A}"/>
              </a:ext>
            </a:extLst>
          </p:cNvPr>
          <p:cNvSpPr>
            <a:spLocks noGrp="1"/>
          </p:cNvSpPr>
          <p:nvPr>
            <p:ph idx="1"/>
          </p:nvPr>
        </p:nvSpPr>
        <p:spPr>
          <a:xfrm>
            <a:off x="609600" y="1795464"/>
            <a:ext cx="3578225" cy="4189412"/>
          </a:xfrm>
        </p:spPr>
        <p:txBody>
          <a:bodyPr anchor="ctr">
            <a:normAutofit/>
          </a:bodyPr>
          <a:lstStyle/>
          <a:p>
            <a:pPr lvl="1"/>
            <a:r>
              <a:rPr lang="en-US" sz="2400" dirty="0"/>
              <a:t>Unaccounted noise error</a:t>
            </a:r>
          </a:p>
          <a:p>
            <a:pPr lvl="2"/>
            <a:endParaRPr lang="en-US" sz="2400" dirty="0"/>
          </a:p>
          <a:p>
            <a:pPr lvl="1"/>
            <a:r>
              <a:rPr lang="en-US" sz="2400" dirty="0"/>
              <a:t>Improvements Python GUI</a:t>
            </a:r>
          </a:p>
          <a:p>
            <a:pPr lvl="1"/>
            <a:endParaRPr lang="en-US" sz="2400" dirty="0"/>
          </a:p>
          <a:p>
            <a:pPr lvl="1"/>
            <a:r>
              <a:rPr lang="en-US" sz="2400" dirty="0"/>
              <a:t>Background/ Foreground calibration</a:t>
            </a:r>
          </a:p>
        </p:txBody>
      </p:sp>
      <p:pic>
        <p:nvPicPr>
          <p:cNvPr id="5" name="Picture 4">
            <a:extLst>
              <a:ext uri="{FF2B5EF4-FFF2-40B4-BE49-F238E27FC236}">
                <a16:creationId xmlns:a16="http://schemas.microsoft.com/office/drawing/2014/main" id="{E016E211-E37E-D0DA-B78A-FD9BB2B7F04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79820" y="1799550"/>
            <a:ext cx="3145234" cy="2012950"/>
          </a:xfrm>
          <a:prstGeom prst="rect">
            <a:avLst/>
          </a:prstGeom>
          <a:noFill/>
        </p:spPr>
      </p:pic>
      <p:pic>
        <p:nvPicPr>
          <p:cNvPr id="9" name="Picture Placeholder 8">
            <a:extLst>
              <a:ext uri="{FF2B5EF4-FFF2-40B4-BE49-F238E27FC236}">
                <a16:creationId xmlns:a16="http://schemas.microsoft.com/office/drawing/2014/main" id="{49CF822A-5E76-1D50-C44B-E775EF01CF86}"/>
              </a:ext>
            </a:extLst>
          </p:cNvPr>
          <p:cNvPicPr>
            <a:picLocks noGrp="1" noChangeAspect="1"/>
          </p:cNvPicPr>
          <p:nvPr>
            <p:ph type="pic" sz="quarter" idx="11"/>
          </p:nvPr>
        </p:nvPicPr>
        <p:blipFill>
          <a:blip r:embed="rId4"/>
          <a:srcRect l="326" r="-795"/>
          <a:stretch>
            <a:fillRect/>
          </a:stretch>
        </p:blipFill>
        <p:spPr>
          <a:xfrm>
            <a:off x="4913944" y="3971926"/>
            <a:ext cx="6180462" cy="2012950"/>
          </a:xfrm>
          <a:prstGeom prst="rect">
            <a:avLst/>
          </a:prstGeom>
        </p:spPr>
      </p:pic>
      <p:pic>
        <p:nvPicPr>
          <p:cNvPr id="7" name="Picture Placeholder 6">
            <a:extLst>
              <a:ext uri="{FF2B5EF4-FFF2-40B4-BE49-F238E27FC236}">
                <a16:creationId xmlns:a16="http://schemas.microsoft.com/office/drawing/2014/main" id="{62D4A1BA-86AA-DB65-C376-4EA124F45EAA}"/>
              </a:ext>
            </a:extLst>
          </p:cNvPr>
          <p:cNvPicPr>
            <a:picLocks noGrp="1" noChangeAspect="1"/>
          </p:cNvPicPr>
          <p:nvPr>
            <p:ph type="pic" sz="quarter" idx="12"/>
          </p:nvPr>
        </p:nvPicPr>
        <p:blipFill>
          <a:blip r:embed="rId5"/>
          <a:srcRect l="3516" r="3516"/>
          <a:stretch/>
        </p:blipFill>
        <p:spPr>
          <a:prstGeom prst="rect">
            <a:avLst/>
          </a:prstGeom>
        </p:spPr>
      </p:pic>
      <p:sp>
        <p:nvSpPr>
          <p:cNvPr id="4" name="TextBox 3">
            <a:extLst>
              <a:ext uri="{FF2B5EF4-FFF2-40B4-BE49-F238E27FC236}">
                <a16:creationId xmlns:a16="http://schemas.microsoft.com/office/drawing/2014/main" id="{B5574116-5587-15D3-AFB9-6F98CF453C6A}"/>
              </a:ext>
            </a:extLst>
          </p:cNvPr>
          <p:cNvSpPr txBox="1"/>
          <p:nvPr/>
        </p:nvSpPr>
        <p:spPr>
          <a:xfrm>
            <a:off x="236306" y="6287784"/>
            <a:ext cx="544530" cy="380144"/>
          </a:xfrm>
          <a:prstGeom prst="rect">
            <a:avLst/>
          </a:prstGeom>
          <a:noFill/>
        </p:spPr>
        <p:txBody>
          <a:bodyPr wrap="square" rtlCol="0">
            <a:noAutofit/>
          </a:bodyPr>
          <a:lstStyle/>
          <a:p>
            <a:pPr algn="ctr"/>
            <a:r>
              <a:rPr lang="en-US" sz="1600" dirty="0"/>
              <a:t>37</a:t>
            </a:r>
          </a:p>
        </p:txBody>
      </p:sp>
    </p:spTree>
    <p:extLst>
      <p:ext uri="{BB962C8B-B14F-4D97-AF65-F5344CB8AC3E}">
        <p14:creationId xmlns:p14="http://schemas.microsoft.com/office/powerpoint/2010/main" val="30746461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A26B0-0622-B6AB-1176-12A2211E99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CAC047-140B-9149-0CD6-0BB758B1D25E}"/>
              </a:ext>
            </a:extLst>
          </p:cNvPr>
          <p:cNvSpPr>
            <a:spLocks noGrp="1"/>
          </p:cNvSpPr>
          <p:nvPr>
            <p:ph type="title"/>
          </p:nvPr>
        </p:nvSpPr>
        <p:spPr>
          <a:xfrm>
            <a:off x="609600" y="363090"/>
            <a:ext cx="10972800" cy="800100"/>
          </a:xfrm>
        </p:spPr>
        <p:txBody>
          <a:bodyPr anchor="b">
            <a:normAutofit/>
          </a:bodyPr>
          <a:lstStyle/>
          <a:p>
            <a:r>
              <a:rPr lang="en-US" dirty="0"/>
              <a:t>Next Steps</a:t>
            </a:r>
          </a:p>
        </p:txBody>
      </p:sp>
      <p:graphicFrame>
        <p:nvGraphicFramePr>
          <p:cNvPr id="5" name="Content Placeholder 2">
            <a:extLst>
              <a:ext uri="{FF2B5EF4-FFF2-40B4-BE49-F238E27FC236}">
                <a16:creationId xmlns:a16="http://schemas.microsoft.com/office/drawing/2014/main" id="{98607F64-B706-E207-0F09-393100A8D871}"/>
              </a:ext>
            </a:extLst>
          </p:cNvPr>
          <p:cNvGraphicFramePr>
            <a:graphicFrameLocks noGrp="1"/>
          </p:cNvGraphicFramePr>
          <p:nvPr>
            <p:ph sz="half" idx="2"/>
            <p:extLst>
              <p:ext uri="{D42A27DB-BD31-4B8C-83A1-F6EECF244321}">
                <p14:modId xmlns:p14="http://schemas.microsoft.com/office/powerpoint/2010/main" val="3663051268"/>
              </p:ext>
            </p:extLst>
          </p:nvPr>
        </p:nvGraphicFramePr>
        <p:xfrm>
          <a:off x="6299202" y="1527048"/>
          <a:ext cx="5283200" cy="4495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Oval 7">
            <a:extLst>
              <a:ext uri="{FF2B5EF4-FFF2-40B4-BE49-F238E27FC236}">
                <a16:creationId xmlns:a16="http://schemas.microsoft.com/office/drawing/2014/main" id="{53935E71-0ECF-3216-F6EB-3DFE7F7D6B2C}"/>
              </a:ext>
            </a:extLst>
          </p:cNvPr>
          <p:cNvSpPr/>
          <p:nvPr/>
        </p:nvSpPr>
        <p:spPr bwMode="auto">
          <a:xfrm>
            <a:off x="1091154" y="1795242"/>
            <a:ext cx="3959412" cy="3959412"/>
          </a:xfrm>
          <a:prstGeom prst="ellipse">
            <a:avLst/>
          </a:prstGeom>
          <a:solidFill>
            <a:schemeClr val="tx1"/>
          </a:solidFill>
          <a:ln w="76200" cap="sq" algn="ctr">
            <a:solidFill>
              <a:schemeClr val="bg2"/>
            </a:solidFill>
            <a:miter lim="800000"/>
            <a:headEnd/>
            <a:tailEnd/>
          </a:ln>
          <a:effectLst/>
        </p:spPr>
        <p:txBody>
          <a:bodyPr wrap="none" rtlCol="0" anchor="ctr"/>
          <a:lstStyle/>
          <a:p>
            <a:pPr algn="ctr"/>
            <a:endParaRPr lang="en-US" sz="1600" dirty="0">
              <a:solidFill>
                <a:schemeClr val="bg1"/>
              </a:solidFill>
              <a:latin typeface="+mn-lt"/>
            </a:endParaRPr>
          </a:p>
        </p:txBody>
      </p:sp>
      <p:pic>
        <p:nvPicPr>
          <p:cNvPr id="6" name="Picture 5">
            <a:extLst>
              <a:ext uri="{FF2B5EF4-FFF2-40B4-BE49-F238E27FC236}">
                <a16:creationId xmlns:a16="http://schemas.microsoft.com/office/drawing/2014/main" id="{23A6C663-E987-F069-F3EB-F69DE0C9B904}"/>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5192" b="89988" l="7471" r="91249">
                        <a14:foregroundMark x1="7684" y1="28554" x2="7684" y2="28554"/>
                        <a14:foregroundMark x1="8645" y1="28801" x2="9819" y2="28925"/>
                        <a14:foregroundMark x1="91249" y1="24969" x2="91142" y2="25711"/>
                        <a14:foregroundMark x1="46105" y1="37948" x2="47705" y2="36959"/>
                        <a14:foregroundMark x1="57951" y1="33004" x2="58911" y2="34363"/>
                        <a14:foregroundMark x1="60619" y1="43758" x2="59338" y2="44499"/>
                        <a14:foregroundMark x1="52935" y1="44129" x2="52401" y2="41904"/>
                        <a14:foregroundMark x1="49840" y1="52287" x2="47919" y2="51051"/>
                        <a14:foregroundMark x1="38847" y1="46601" x2="38954" y2="44376"/>
                        <a14:foregroundMark x1="39915" y1="28430" x2="39168" y2="29543"/>
                        <a14:foregroundMark x1="51441" y1="22497" x2="51121" y2="23733"/>
                        <a14:foregroundMark x1="70331" y1="9642" x2="70651" y2="9271"/>
                        <a14:foregroundMark x1="72679" y1="5192" x2="72679" y2="5192"/>
                        <a14:foregroundMark x1="12380" y1="78492" x2="12380" y2="78492"/>
                        <a14:foregroundMark x1="18356" y1="81335" x2="18356" y2="81335"/>
                        <a14:foregroundMark x1="26041" y1="80964" x2="26041" y2="80964"/>
                        <a14:foregroundMark x1="30843" y1="83066" x2="30843" y2="83066"/>
                        <a14:foregroundMark x1="37780" y1="80593" x2="37780" y2="80593"/>
                        <a14:foregroundMark x1="48239" y1="80470" x2="48239" y2="80470"/>
                        <a14:foregroundMark x1="57311" y1="81459" x2="57311" y2="81459"/>
                        <a14:foregroundMark x1="63927" y1="80964" x2="63927" y2="80964"/>
                        <a14:foregroundMark x1="70758" y1="81953" x2="70758" y2="81953"/>
                        <a14:foregroundMark x1="75240" y1="83189" x2="75240" y2="83189"/>
                        <a14:foregroundMark x1="83671" y1="80717" x2="83671" y2="80717"/>
                        <a14:backgroundMark x1="48239" y1="19654" x2="48239" y2="19654"/>
                        <a14:backgroundMark x1="43757" y1="21632" x2="47065" y2="23857"/>
                        <a14:backgroundMark x1="59658" y1="32509" x2="59658" y2="32509"/>
                        <a14:backgroundMark x1="53255" y1="23486" x2="53255" y2="23486"/>
                        <a14:backgroundMark x1="46318" y1="34734" x2="46318" y2="34734"/>
                        <a14:backgroundMark x1="36393" y1="28307" x2="36393" y2="28307"/>
                        <a14:backgroundMark x1="36926" y1="45117" x2="36926" y2="45117"/>
                        <a14:backgroundMark x1="50480" y1="43016" x2="50480" y2="43016"/>
                        <a14:backgroundMark x1="47385" y1="54512" x2="47385" y2="54512"/>
                        <a14:backgroundMark x1="61153" y1="46601" x2="61153" y2="46601"/>
                        <a14:backgroundMark x1="73106" y1="38195" x2="73106" y2="38195"/>
                        <a14:backgroundMark x1="79829" y1="35723" x2="79829" y2="35723"/>
                        <a14:backgroundMark x1="89221" y1="24722" x2="89221" y2="24722"/>
                        <a14:backgroundMark x1="71825" y1="51174" x2="71825" y2="51174"/>
                        <a14:backgroundMark x1="59658" y1="60198" x2="59658" y2="60198"/>
                        <a14:backgroundMark x1="32017" y1="80346" x2="32017" y2="80346"/>
                        <a14:backgroundMark x1="34152" y1="57726" x2="34152" y2="57726"/>
                        <a14:backgroundMark x1="33618" y1="57478" x2="34578" y2="58344"/>
                      </a14:backgroundRemoval>
                    </a14:imgEffect>
                  </a14:imgLayer>
                </a14:imgProps>
              </a:ext>
            </a:extLst>
          </a:blip>
          <a:stretch>
            <a:fillRect/>
          </a:stretch>
        </p:blipFill>
        <p:spPr>
          <a:xfrm>
            <a:off x="1470660" y="2183206"/>
            <a:ext cx="3200400" cy="2763206"/>
          </a:xfrm>
          <a:prstGeom prst="rect">
            <a:avLst/>
          </a:prstGeom>
        </p:spPr>
      </p:pic>
      <p:sp>
        <p:nvSpPr>
          <p:cNvPr id="10" name="TextBox 9">
            <a:extLst>
              <a:ext uri="{FF2B5EF4-FFF2-40B4-BE49-F238E27FC236}">
                <a16:creationId xmlns:a16="http://schemas.microsoft.com/office/drawing/2014/main" id="{6E4F96CC-EC12-DDD4-9B9E-E75B988C86CC}"/>
              </a:ext>
            </a:extLst>
          </p:cNvPr>
          <p:cNvSpPr txBox="1"/>
          <p:nvPr/>
        </p:nvSpPr>
        <p:spPr>
          <a:xfrm>
            <a:off x="2103120" y="4763532"/>
            <a:ext cx="1927860" cy="365760"/>
          </a:xfrm>
          <a:prstGeom prst="rect">
            <a:avLst/>
          </a:prstGeom>
          <a:noFill/>
        </p:spPr>
        <p:txBody>
          <a:bodyPr wrap="square" rtlCol="0">
            <a:noAutofit/>
          </a:bodyPr>
          <a:lstStyle/>
          <a:p>
            <a:pPr algn="ctr"/>
            <a:r>
              <a:rPr lang="en-US" sz="2000" b="1" dirty="0">
                <a:solidFill>
                  <a:schemeClr val="bg1"/>
                </a:solidFill>
                <a:latin typeface="+mj-lt"/>
              </a:rPr>
              <a:t>S T U D I O</a:t>
            </a:r>
          </a:p>
        </p:txBody>
      </p:sp>
      <p:sp>
        <p:nvSpPr>
          <p:cNvPr id="3" name="TextBox 2">
            <a:extLst>
              <a:ext uri="{FF2B5EF4-FFF2-40B4-BE49-F238E27FC236}">
                <a16:creationId xmlns:a16="http://schemas.microsoft.com/office/drawing/2014/main" id="{AC0241A2-7463-AE23-991A-572833D3A4BC}"/>
              </a:ext>
            </a:extLst>
          </p:cNvPr>
          <p:cNvSpPr txBox="1"/>
          <p:nvPr/>
        </p:nvSpPr>
        <p:spPr>
          <a:xfrm>
            <a:off x="236306" y="6287784"/>
            <a:ext cx="544530" cy="380144"/>
          </a:xfrm>
          <a:prstGeom prst="rect">
            <a:avLst/>
          </a:prstGeom>
          <a:noFill/>
        </p:spPr>
        <p:txBody>
          <a:bodyPr wrap="square" rtlCol="0">
            <a:noAutofit/>
          </a:bodyPr>
          <a:lstStyle/>
          <a:p>
            <a:pPr algn="ctr"/>
            <a:r>
              <a:rPr lang="en-US" sz="1600" dirty="0"/>
              <a:t>38</a:t>
            </a:r>
          </a:p>
        </p:txBody>
      </p:sp>
    </p:spTree>
    <p:extLst>
      <p:ext uri="{BB962C8B-B14F-4D97-AF65-F5344CB8AC3E}">
        <p14:creationId xmlns:p14="http://schemas.microsoft.com/office/powerpoint/2010/main" val="40657266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4379F-DF6B-4B65-0338-9FE36F27B9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E9F487-46F2-8CF0-7FCB-39109D5DC53F}"/>
              </a:ext>
            </a:extLst>
          </p:cNvPr>
          <p:cNvSpPr>
            <a:spLocks noGrp="1"/>
          </p:cNvSpPr>
          <p:nvPr>
            <p:ph type="ctrTitle"/>
          </p:nvPr>
        </p:nvSpPr>
        <p:spPr/>
        <p:txBody>
          <a:bodyPr/>
          <a:lstStyle/>
          <a:p>
            <a:r>
              <a:rPr lang="en-US" dirty="0"/>
              <a:t>Thank you!</a:t>
            </a:r>
          </a:p>
        </p:txBody>
      </p:sp>
      <p:sp>
        <p:nvSpPr>
          <p:cNvPr id="6" name="TextBox 5">
            <a:extLst>
              <a:ext uri="{FF2B5EF4-FFF2-40B4-BE49-F238E27FC236}">
                <a16:creationId xmlns:a16="http://schemas.microsoft.com/office/drawing/2014/main" id="{83B02A6A-C82C-E7B5-7ED4-EC85928B32E9}"/>
              </a:ext>
            </a:extLst>
          </p:cNvPr>
          <p:cNvSpPr txBox="1"/>
          <p:nvPr/>
        </p:nvSpPr>
        <p:spPr>
          <a:xfrm>
            <a:off x="3901440" y="5953760"/>
            <a:ext cx="0" cy="0"/>
          </a:xfrm>
          <a:prstGeom prst="rect">
            <a:avLst/>
          </a:prstGeom>
          <a:noFill/>
        </p:spPr>
        <p:txBody>
          <a:bodyPr wrap="none" rtlCol="0">
            <a:noAutofit/>
          </a:bodyPr>
          <a:lstStyle/>
          <a:p>
            <a:pPr algn="ctr"/>
            <a:endParaRPr lang="en-US" sz="1600" dirty="0" err="1"/>
          </a:p>
        </p:txBody>
      </p:sp>
      <p:pic>
        <p:nvPicPr>
          <p:cNvPr id="2050" name="Picture 2" descr="Ibrahim Bozyel">
            <a:extLst>
              <a:ext uri="{FF2B5EF4-FFF2-40B4-BE49-F238E27FC236}">
                <a16:creationId xmlns:a16="http://schemas.microsoft.com/office/drawing/2014/main" id="{2C987F79-D302-9E53-9001-5BDE9B9051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2412" y="2687516"/>
            <a:ext cx="1955801" cy="1955801"/>
          </a:xfrm>
          <a:prstGeom prst="rect">
            <a:avLst/>
          </a:prstGeom>
          <a:ln w="127000"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pic>
        <p:nvPicPr>
          <p:cNvPr id="2052" name="Picture 4" descr="Suat Ay Headshot">
            <a:extLst>
              <a:ext uri="{FF2B5EF4-FFF2-40B4-BE49-F238E27FC236}">
                <a16:creationId xmlns:a16="http://schemas.microsoft.com/office/drawing/2014/main" id="{259B023E-9C25-5F6B-4FB2-4925CF41AC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75699" y="2687516"/>
            <a:ext cx="1955801" cy="1955801"/>
          </a:xfrm>
          <a:prstGeom prst="rect">
            <a:avLst/>
          </a:prstGeom>
          <a:ln w="127000"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DCC8D0E-5B03-DD7A-F215-BDEFE4CF3BB3}"/>
              </a:ext>
            </a:extLst>
          </p:cNvPr>
          <p:cNvSpPr txBox="1"/>
          <p:nvPr/>
        </p:nvSpPr>
        <p:spPr>
          <a:xfrm>
            <a:off x="5332412" y="5232400"/>
            <a:ext cx="1955801" cy="850900"/>
          </a:xfrm>
          <a:prstGeom prst="rect">
            <a:avLst/>
          </a:prstGeom>
          <a:noFill/>
        </p:spPr>
        <p:txBody>
          <a:bodyPr wrap="square" rtlCol="0">
            <a:noAutofit/>
          </a:bodyPr>
          <a:lstStyle/>
          <a:p>
            <a:pPr algn="ctr"/>
            <a:r>
              <a:rPr lang="en-US" sz="1600" b="1" dirty="0"/>
              <a:t>Ibrahim Boyzel</a:t>
            </a:r>
          </a:p>
          <a:p>
            <a:pPr algn="ctr"/>
            <a:r>
              <a:rPr lang="en-US" sz="1600" b="1" dirty="0"/>
              <a:t>Co-Advisor</a:t>
            </a:r>
          </a:p>
        </p:txBody>
      </p:sp>
      <p:sp>
        <p:nvSpPr>
          <p:cNvPr id="4" name="TextBox 3">
            <a:extLst>
              <a:ext uri="{FF2B5EF4-FFF2-40B4-BE49-F238E27FC236}">
                <a16:creationId xmlns:a16="http://schemas.microsoft.com/office/drawing/2014/main" id="{81B1DD71-EB0D-7832-FE81-C038F0724E5D}"/>
              </a:ext>
            </a:extLst>
          </p:cNvPr>
          <p:cNvSpPr txBox="1"/>
          <p:nvPr/>
        </p:nvSpPr>
        <p:spPr>
          <a:xfrm>
            <a:off x="8775698" y="5232400"/>
            <a:ext cx="1955801" cy="850900"/>
          </a:xfrm>
          <a:prstGeom prst="rect">
            <a:avLst/>
          </a:prstGeom>
          <a:noFill/>
        </p:spPr>
        <p:txBody>
          <a:bodyPr wrap="square" rtlCol="0">
            <a:noAutofit/>
          </a:bodyPr>
          <a:lstStyle/>
          <a:p>
            <a:pPr algn="ctr"/>
            <a:r>
              <a:rPr lang="en-US" sz="1600" b="1" dirty="0"/>
              <a:t>Suat Ay</a:t>
            </a:r>
          </a:p>
          <a:p>
            <a:pPr algn="ctr"/>
            <a:r>
              <a:rPr lang="en-US" sz="1600" b="1" dirty="0"/>
              <a:t>Major Advisor</a:t>
            </a:r>
          </a:p>
        </p:txBody>
      </p:sp>
      <p:sp>
        <p:nvSpPr>
          <p:cNvPr id="5" name="TextBox 4">
            <a:extLst>
              <a:ext uri="{FF2B5EF4-FFF2-40B4-BE49-F238E27FC236}">
                <a16:creationId xmlns:a16="http://schemas.microsoft.com/office/drawing/2014/main" id="{BECF3007-A25A-8B3A-25BB-518F180B0F68}"/>
              </a:ext>
            </a:extLst>
          </p:cNvPr>
          <p:cNvSpPr txBox="1"/>
          <p:nvPr/>
        </p:nvSpPr>
        <p:spPr>
          <a:xfrm>
            <a:off x="236306" y="6287784"/>
            <a:ext cx="544530" cy="380144"/>
          </a:xfrm>
          <a:prstGeom prst="rect">
            <a:avLst/>
          </a:prstGeom>
          <a:noFill/>
        </p:spPr>
        <p:txBody>
          <a:bodyPr wrap="square" rtlCol="0">
            <a:noAutofit/>
          </a:bodyPr>
          <a:lstStyle/>
          <a:p>
            <a:pPr algn="ctr"/>
            <a:r>
              <a:rPr lang="en-US" sz="1600" dirty="0"/>
              <a:t>39</a:t>
            </a:r>
          </a:p>
        </p:txBody>
      </p:sp>
    </p:spTree>
    <p:extLst>
      <p:ext uri="{BB962C8B-B14F-4D97-AF65-F5344CB8AC3E}">
        <p14:creationId xmlns:p14="http://schemas.microsoft.com/office/powerpoint/2010/main" val="6798701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5E230-F051-9B69-FB81-E97171AAE1F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4EC938F-0E52-27AC-33A1-714B7600A589}"/>
              </a:ext>
            </a:extLst>
          </p:cNvPr>
          <p:cNvSpPr>
            <a:spLocks noGrp="1"/>
          </p:cNvSpPr>
          <p:nvPr>
            <p:ph type="subTitle" idx="1"/>
          </p:nvPr>
        </p:nvSpPr>
        <p:spPr/>
        <p:txBody>
          <a:bodyPr/>
          <a:lstStyle/>
          <a:p>
            <a:pPr marL="0" indent="0">
              <a:buNone/>
            </a:pPr>
            <a:r>
              <a:rPr lang="en-US" dirty="0"/>
              <a:t>Any Questions?</a:t>
            </a:r>
          </a:p>
        </p:txBody>
      </p:sp>
      <p:sp>
        <p:nvSpPr>
          <p:cNvPr id="2" name="Title 1">
            <a:extLst>
              <a:ext uri="{FF2B5EF4-FFF2-40B4-BE49-F238E27FC236}">
                <a16:creationId xmlns:a16="http://schemas.microsoft.com/office/drawing/2014/main" id="{9C257276-F16D-62FD-8501-2FB0348A2813}"/>
              </a:ext>
            </a:extLst>
          </p:cNvPr>
          <p:cNvSpPr>
            <a:spLocks noGrp="1"/>
          </p:cNvSpPr>
          <p:nvPr>
            <p:ph type="ctrTitle"/>
          </p:nvPr>
        </p:nvSpPr>
        <p:spPr/>
        <p:txBody>
          <a:bodyPr/>
          <a:lstStyle/>
          <a:p>
            <a:r>
              <a:rPr lang="en-US" dirty="0"/>
              <a:t>Thank you!</a:t>
            </a:r>
          </a:p>
        </p:txBody>
      </p:sp>
      <p:sp>
        <p:nvSpPr>
          <p:cNvPr id="6" name="TextBox 5">
            <a:extLst>
              <a:ext uri="{FF2B5EF4-FFF2-40B4-BE49-F238E27FC236}">
                <a16:creationId xmlns:a16="http://schemas.microsoft.com/office/drawing/2014/main" id="{3815503F-4DB5-E1EE-72EC-77613AC0E48D}"/>
              </a:ext>
            </a:extLst>
          </p:cNvPr>
          <p:cNvSpPr txBox="1"/>
          <p:nvPr/>
        </p:nvSpPr>
        <p:spPr>
          <a:xfrm>
            <a:off x="3901440" y="5953760"/>
            <a:ext cx="0" cy="0"/>
          </a:xfrm>
          <a:prstGeom prst="rect">
            <a:avLst/>
          </a:prstGeom>
          <a:noFill/>
        </p:spPr>
        <p:txBody>
          <a:bodyPr wrap="none" rtlCol="0">
            <a:noAutofit/>
          </a:bodyPr>
          <a:lstStyle/>
          <a:p>
            <a:pPr algn="ctr"/>
            <a:endParaRPr lang="en-US" sz="1600" dirty="0" err="1"/>
          </a:p>
        </p:txBody>
      </p:sp>
      <p:sp>
        <p:nvSpPr>
          <p:cNvPr id="4" name="TextBox 3">
            <a:extLst>
              <a:ext uri="{FF2B5EF4-FFF2-40B4-BE49-F238E27FC236}">
                <a16:creationId xmlns:a16="http://schemas.microsoft.com/office/drawing/2014/main" id="{C417FC16-5146-6F5E-8B54-E9C8AA7D89CE}"/>
              </a:ext>
            </a:extLst>
          </p:cNvPr>
          <p:cNvSpPr txBox="1"/>
          <p:nvPr/>
        </p:nvSpPr>
        <p:spPr>
          <a:xfrm>
            <a:off x="236306" y="6287784"/>
            <a:ext cx="544530" cy="380144"/>
          </a:xfrm>
          <a:prstGeom prst="rect">
            <a:avLst/>
          </a:prstGeom>
          <a:noFill/>
        </p:spPr>
        <p:txBody>
          <a:bodyPr wrap="square" rtlCol="0">
            <a:noAutofit/>
          </a:bodyPr>
          <a:lstStyle/>
          <a:p>
            <a:pPr algn="ctr"/>
            <a:r>
              <a:rPr lang="en-US" sz="1600" dirty="0"/>
              <a:t>40</a:t>
            </a:r>
          </a:p>
        </p:txBody>
      </p:sp>
    </p:spTree>
    <p:extLst>
      <p:ext uri="{BB962C8B-B14F-4D97-AF65-F5344CB8AC3E}">
        <p14:creationId xmlns:p14="http://schemas.microsoft.com/office/powerpoint/2010/main" val="15992351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23DD8-C3B4-7637-301A-6536A74180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6BD783-320F-1726-F9C8-AF1E0A00AAFA}"/>
              </a:ext>
            </a:extLst>
          </p:cNvPr>
          <p:cNvSpPr>
            <a:spLocks noGrp="1"/>
          </p:cNvSpPr>
          <p:nvPr>
            <p:ph type="title"/>
          </p:nvPr>
        </p:nvSpPr>
        <p:spPr>
          <a:xfrm>
            <a:off x="609600" y="363090"/>
            <a:ext cx="10972800" cy="800100"/>
          </a:xfrm>
        </p:spPr>
        <p:txBody>
          <a:bodyPr anchor="b">
            <a:normAutofit/>
          </a:bodyPr>
          <a:lstStyle/>
          <a:p>
            <a:r>
              <a:rPr lang="en-US" dirty="0"/>
              <a:t>Serializer</a:t>
            </a:r>
          </a:p>
        </p:txBody>
      </p:sp>
      <p:pic>
        <p:nvPicPr>
          <p:cNvPr id="41" name="Picture 40">
            <a:extLst>
              <a:ext uri="{FF2B5EF4-FFF2-40B4-BE49-F238E27FC236}">
                <a16:creationId xmlns:a16="http://schemas.microsoft.com/office/drawing/2014/main" id="{2FF7B1C8-D137-9046-C923-932D8CEC0D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89950" y="1524000"/>
            <a:ext cx="7812100" cy="4648200"/>
          </a:xfrm>
          <a:prstGeom prst="rect">
            <a:avLst/>
          </a:prstGeom>
          <a:noFill/>
        </p:spPr>
      </p:pic>
    </p:spTree>
    <p:extLst>
      <p:ext uri="{BB962C8B-B14F-4D97-AF65-F5344CB8AC3E}">
        <p14:creationId xmlns:p14="http://schemas.microsoft.com/office/powerpoint/2010/main" val="32345188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450B6-AB5F-4A8A-4001-E130EFBCF4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3F40A5-FBFE-1AF3-DB51-8ED5ED4FC40C}"/>
              </a:ext>
            </a:extLst>
          </p:cNvPr>
          <p:cNvSpPr>
            <a:spLocks noGrp="1"/>
          </p:cNvSpPr>
          <p:nvPr>
            <p:ph type="title"/>
          </p:nvPr>
        </p:nvSpPr>
        <p:spPr/>
        <p:txBody>
          <a:bodyPr/>
          <a:lstStyle/>
          <a:p>
            <a:r>
              <a:rPr lang="en-US" dirty="0"/>
              <a:t>Current Bias Scan Chain Registers</a:t>
            </a:r>
          </a:p>
        </p:txBody>
      </p:sp>
      <p:pic>
        <p:nvPicPr>
          <p:cNvPr id="4" name="Picture 3">
            <a:extLst>
              <a:ext uri="{FF2B5EF4-FFF2-40B4-BE49-F238E27FC236}">
                <a16:creationId xmlns:a16="http://schemas.microsoft.com/office/drawing/2014/main" id="{93AA4A25-4955-5047-FDC8-6017CED7B59A}"/>
              </a:ext>
            </a:extLst>
          </p:cNvPr>
          <p:cNvPicPr>
            <a:picLocks noChangeAspect="1"/>
          </p:cNvPicPr>
          <p:nvPr/>
        </p:nvPicPr>
        <p:blipFill>
          <a:blip r:embed="rId3"/>
          <a:stretch>
            <a:fillRect/>
          </a:stretch>
        </p:blipFill>
        <p:spPr>
          <a:xfrm>
            <a:off x="6890742" y="1817563"/>
            <a:ext cx="3954400" cy="4537469"/>
          </a:xfrm>
          <a:prstGeom prst="rect">
            <a:avLst/>
          </a:prstGeom>
        </p:spPr>
      </p:pic>
      <p:pic>
        <p:nvPicPr>
          <p:cNvPr id="5" name="Picture 4">
            <a:extLst>
              <a:ext uri="{FF2B5EF4-FFF2-40B4-BE49-F238E27FC236}">
                <a16:creationId xmlns:a16="http://schemas.microsoft.com/office/drawing/2014/main" id="{F05D8735-286D-6468-1370-B0C9E477FE88}"/>
              </a:ext>
            </a:extLst>
          </p:cNvPr>
          <p:cNvPicPr>
            <a:picLocks noChangeAspect="1"/>
          </p:cNvPicPr>
          <p:nvPr/>
        </p:nvPicPr>
        <p:blipFill>
          <a:blip r:embed="rId4"/>
          <a:stretch>
            <a:fillRect/>
          </a:stretch>
        </p:blipFill>
        <p:spPr>
          <a:xfrm>
            <a:off x="1117599" y="1741625"/>
            <a:ext cx="4305737" cy="4746776"/>
          </a:xfrm>
          <a:prstGeom prst="rect">
            <a:avLst/>
          </a:prstGeom>
        </p:spPr>
      </p:pic>
    </p:spTree>
    <p:extLst>
      <p:ext uri="{BB962C8B-B14F-4D97-AF65-F5344CB8AC3E}">
        <p14:creationId xmlns:p14="http://schemas.microsoft.com/office/powerpoint/2010/main" val="32594607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4A319-C1C9-EE4B-403A-21E9AB5AB1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CDC76B-50C1-AC1F-9250-5673985B6D8C}"/>
              </a:ext>
            </a:extLst>
          </p:cNvPr>
          <p:cNvSpPr>
            <a:spLocks noGrp="1"/>
          </p:cNvSpPr>
          <p:nvPr>
            <p:ph type="title"/>
          </p:nvPr>
        </p:nvSpPr>
        <p:spPr>
          <a:xfrm>
            <a:off x="609600" y="363090"/>
            <a:ext cx="10972800" cy="800100"/>
          </a:xfrm>
        </p:spPr>
        <p:txBody>
          <a:bodyPr anchor="b">
            <a:normAutofit/>
          </a:bodyPr>
          <a:lstStyle/>
          <a:p>
            <a:r>
              <a:rPr lang="en-US" dirty="0"/>
              <a:t>Coherent Sampling Setup</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26AC657-8FB4-6E7D-3781-478EA2F663DA}"/>
                  </a:ext>
                </a:extLst>
              </p:cNvPr>
              <p:cNvSpPr txBox="1"/>
              <p:nvPr/>
            </p:nvSpPr>
            <p:spPr>
              <a:xfrm>
                <a:off x="3808396" y="1852058"/>
                <a:ext cx="4575208" cy="1699664"/>
              </a:xfrm>
              <a:prstGeom prst="rect">
                <a:avLst/>
              </a:prstGeom>
              <a:noFill/>
            </p:spPr>
            <p:txBody>
              <a:bodyPr wrap="none" lIns="0" tIns="0" rIns="0" bIns="0" rtlCol="0">
                <a:noAutofit/>
              </a:bodyPr>
              <a:lstStyle/>
              <a:p>
                <a:pPr algn="ctr"/>
                <a14:m>
                  <m:oMathPara xmlns:m="http://schemas.openxmlformats.org/officeDocument/2006/math">
                    <m:oMathParaPr>
                      <m:jc m:val="centerGroup"/>
                    </m:oMathParaPr>
                    <m:oMath xmlns:m="http://schemas.openxmlformats.org/officeDocument/2006/math">
                      <m:sSub>
                        <m:sSubPr>
                          <m:ctrlPr>
                            <a:rPr lang="en-US" sz="7200" i="1" smtClean="0">
                              <a:latin typeface="Cambria Math" panose="02040503050406030204" pitchFamily="18" charset="0"/>
                            </a:rPr>
                          </m:ctrlPr>
                        </m:sSubPr>
                        <m:e>
                          <m:r>
                            <a:rPr lang="en-US" sz="7200" b="0" i="1" smtClean="0">
                              <a:latin typeface="Cambria Math" panose="02040503050406030204" pitchFamily="18" charset="0"/>
                            </a:rPr>
                            <m:t>𝑇</m:t>
                          </m:r>
                        </m:e>
                        <m:sub>
                          <m:r>
                            <a:rPr lang="en-US" sz="7200" b="0" i="1" smtClean="0">
                              <a:latin typeface="Cambria Math" panose="02040503050406030204" pitchFamily="18" charset="0"/>
                            </a:rPr>
                            <m:t>𝑆</m:t>
                          </m:r>
                        </m:sub>
                      </m:sSub>
                      <m:r>
                        <a:rPr lang="en-US" sz="7200" b="0" i="1" smtClean="0">
                          <a:latin typeface="Cambria Math" panose="02040503050406030204" pitchFamily="18" charset="0"/>
                        </a:rPr>
                        <m:t>𝑀</m:t>
                      </m:r>
                      <m:r>
                        <a:rPr lang="en-US" sz="7200" b="0" i="1" smtClean="0">
                          <a:latin typeface="Cambria Math" panose="02040503050406030204" pitchFamily="18" charset="0"/>
                        </a:rPr>
                        <m:t>=</m:t>
                      </m:r>
                      <m:sSub>
                        <m:sSubPr>
                          <m:ctrlPr>
                            <a:rPr lang="en-US" sz="7200" b="0" i="1" smtClean="0">
                              <a:latin typeface="Cambria Math" panose="02040503050406030204" pitchFamily="18" charset="0"/>
                            </a:rPr>
                          </m:ctrlPr>
                        </m:sSubPr>
                        <m:e>
                          <m:r>
                            <a:rPr lang="en-US" sz="7200" b="0" i="1" smtClean="0">
                              <a:latin typeface="Cambria Math" panose="02040503050406030204" pitchFamily="18" charset="0"/>
                            </a:rPr>
                            <m:t>𝑇</m:t>
                          </m:r>
                        </m:e>
                        <m:sub>
                          <m:r>
                            <a:rPr lang="en-US" sz="7200" b="0" i="1" smtClean="0">
                              <a:latin typeface="Cambria Math" panose="02040503050406030204" pitchFamily="18" charset="0"/>
                            </a:rPr>
                            <m:t>𝑖</m:t>
                          </m:r>
                        </m:sub>
                      </m:sSub>
                      <m:r>
                        <a:rPr lang="en-US" sz="7200" b="0" i="1" smtClean="0">
                          <a:latin typeface="Cambria Math" panose="02040503050406030204" pitchFamily="18" charset="0"/>
                        </a:rPr>
                        <m:t> </m:t>
                      </m:r>
                      <m:r>
                        <a:rPr lang="en-US" sz="7200" b="0" i="1" smtClean="0">
                          <a:latin typeface="Cambria Math" panose="02040503050406030204" pitchFamily="18" charset="0"/>
                        </a:rPr>
                        <m:t>𝐽</m:t>
                      </m:r>
                    </m:oMath>
                  </m:oMathPara>
                </a14:m>
                <a:endParaRPr lang="en-US" sz="7200" dirty="0" err="1"/>
              </a:p>
            </p:txBody>
          </p:sp>
        </mc:Choice>
        <mc:Fallback xmlns="">
          <p:sp>
            <p:nvSpPr>
              <p:cNvPr id="6" name="TextBox 5">
                <a:extLst>
                  <a:ext uri="{FF2B5EF4-FFF2-40B4-BE49-F238E27FC236}">
                    <a16:creationId xmlns:a16="http://schemas.microsoft.com/office/drawing/2014/main" id="{826AC657-8FB4-6E7D-3781-478EA2F663DA}"/>
                  </a:ext>
                </a:extLst>
              </p:cNvPr>
              <p:cNvSpPr txBox="1">
                <a:spLocks noRot="1" noChangeAspect="1" noMove="1" noResize="1" noEditPoints="1" noAdjustHandles="1" noChangeArrowheads="1" noChangeShapeType="1" noTextEdit="1"/>
              </p:cNvSpPr>
              <p:nvPr/>
            </p:nvSpPr>
            <p:spPr>
              <a:xfrm>
                <a:off x="3808396" y="1852058"/>
                <a:ext cx="4575208" cy="169966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4A4F3539-5294-A76B-3399-C226854C1873}"/>
                  </a:ext>
                </a:extLst>
              </p:cNvPr>
              <p:cNvSpPr txBox="1">
                <a:spLocks/>
              </p:cNvSpPr>
              <p:nvPr/>
            </p:nvSpPr>
            <p:spPr>
              <a:xfrm>
                <a:off x="609600" y="4326920"/>
                <a:ext cx="6955857" cy="1756246"/>
              </a:xfrm>
              <a:prstGeom prst="rect">
                <a:avLst/>
              </a:prstGeom>
            </p:spPr>
            <p:txBody>
              <a:bodyPr vert="horz" lIns="0" tIns="45720" rIns="0" bIns="45720" rtlCol="0" anchor="t" anchorCtr="0">
                <a:normAutofit fontScale="70000" lnSpcReduction="20000"/>
              </a:bodyPr>
              <a:lstStyle>
                <a:lvl1pPr marL="274320" indent="-274320" algn="l" defTabSz="914400" rtl="0" eaLnBrk="1" latinLnBrk="0" hangingPunct="1">
                  <a:lnSpc>
                    <a:spcPct val="95000"/>
                  </a:lnSpc>
                  <a:spcBef>
                    <a:spcPts val="1200"/>
                  </a:spcBef>
                  <a:buClr>
                    <a:srgbClr val="C4122F"/>
                  </a:buClr>
                  <a:buFont typeface="Arial" pitchFamily="34" charset="0"/>
                  <a:buChar char="•"/>
                  <a:defRPr sz="2400" kern="1200">
                    <a:solidFill>
                      <a:srgbClr val="272626"/>
                    </a:solidFill>
                    <a:latin typeface="Arial" panose="020B0604020202020204" pitchFamily="34" charset="0"/>
                    <a:ea typeface="Verdana" pitchFamily="34" charset="0"/>
                    <a:cs typeface="Arial" panose="020B0604020202020204" pitchFamily="34" charset="0"/>
                  </a:defRPr>
                </a:lvl1pPr>
                <a:lvl2pPr marL="594360" indent="-274320" algn="l" defTabSz="914400" rtl="0" eaLnBrk="1" latinLnBrk="0" hangingPunct="1">
                  <a:lnSpc>
                    <a:spcPct val="95000"/>
                  </a:lnSpc>
                  <a:spcBef>
                    <a:spcPts val="600"/>
                  </a:spcBef>
                  <a:buClr>
                    <a:srgbClr val="C4122F"/>
                  </a:buClr>
                  <a:buFont typeface="Verdana" pitchFamily="34" charset="0"/>
                  <a:buChar char="─"/>
                  <a:defRPr sz="2000" kern="1200">
                    <a:solidFill>
                      <a:srgbClr val="272626"/>
                    </a:solidFill>
                    <a:latin typeface="Arial" panose="020B0604020202020204" pitchFamily="34" charset="0"/>
                    <a:ea typeface="Verdana" pitchFamily="34" charset="0"/>
                    <a:cs typeface="Arial" panose="020B0604020202020204" pitchFamily="34" charset="0"/>
                  </a:defRPr>
                </a:lvl2pPr>
                <a:lvl3pPr marL="868680" indent="-228600" algn="l" defTabSz="914400" rtl="0" eaLnBrk="1" latinLnBrk="0" hangingPunct="1">
                  <a:lnSpc>
                    <a:spcPct val="95000"/>
                  </a:lnSpc>
                  <a:spcBef>
                    <a:spcPts val="600"/>
                  </a:spcBef>
                  <a:buClr>
                    <a:srgbClr val="C4122F"/>
                  </a:buClr>
                  <a:buFont typeface="Wingdings" pitchFamily="2" charset="2"/>
                  <a:buChar char="§"/>
                  <a:defRPr sz="1800" kern="1200">
                    <a:solidFill>
                      <a:srgbClr val="272626"/>
                    </a:solidFill>
                    <a:latin typeface="Arial" panose="020B0604020202020204" pitchFamily="34" charset="0"/>
                    <a:ea typeface="Verdana" pitchFamily="34" charset="0"/>
                    <a:cs typeface="Arial" panose="020B0604020202020204" pitchFamily="34" charset="0"/>
                  </a:defRPr>
                </a:lvl3pPr>
                <a:lvl4pPr marL="1143000" indent="-228600" algn="l" defTabSz="914400" rtl="0" eaLnBrk="1" latinLnBrk="0" hangingPunct="1">
                  <a:lnSpc>
                    <a:spcPct val="95000"/>
                  </a:lnSpc>
                  <a:spcBef>
                    <a:spcPts val="600"/>
                  </a:spcBef>
                  <a:buClr>
                    <a:srgbClr val="C4122F"/>
                  </a:buClr>
                  <a:buFont typeface="Courier New" pitchFamily="49" charset="0"/>
                  <a:buChar char="o"/>
                  <a:defRPr sz="1600" kern="1200">
                    <a:solidFill>
                      <a:srgbClr val="272626"/>
                    </a:solidFill>
                    <a:latin typeface="Arial" panose="020B0604020202020204" pitchFamily="34" charset="0"/>
                    <a:ea typeface="Verdana" pitchFamily="34" charset="0"/>
                    <a:cs typeface="Arial" panose="020B0604020202020204" pitchFamily="34" charset="0"/>
                  </a:defRPr>
                </a:lvl4pPr>
                <a:lvl5pPr marL="1371600" indent="-228600" algn="l" defTabSz="914400" rtl="0" eaLnBrk="1" latinLnBrk="0" hangingPunct="1">
                  <a:lnSpc>
                    <a:spcPct val="95000"/>
                  </a:lnSpc>
                  <a:spcBef>
                    <a:spcPts val="600"/>
                  </a:spcBef>
                  <a:buClr>
                    <a:srgbClr val="C4122F"/>
                  </a:buClr>
                  <a:buFont typeface="Arial" pitchFamily="34" charset="0"/>
                  <a:buChar char="•"/>
                  <a:defRPr sz="1600" kern="1200" baseline="0">
                    <a:solidFill>
                      <a:srgbClr val="272626"/>
                    </a:solidFill>
                    <a:latin typeface="Arial" panose="020B0604020202020204" pitchFamily="34" charset="0"/>
                    <a:ea typeface="Verdana" pitchFamily="34" charset="0"/>
                    <a:cs typeface="Arial" panose="020B0604020202020204" pitchFamily="34" charset="0"/>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a:lstStyle>
              <a:p>
                <a:pPr marL="320040" lvl="1" indent="0">
                  <a:buNone/>
                </a:pP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𝑇</m:t>
                        </m:r>
                      </m:e>
                      <m:sub>
                        <m:r>
                          <a:rPr lang="en-US" sz="3200" i="1">
                            <a:latin typeface="Cambria Math" panose="02040503050406030204" pitchFamily="18" charset="0"/>
                          </a:rPr>
                          <m:t>𝑆</m:t>
                        </m:r>
                      </m:sub>
                    </m:sSub>
                  </m:oMath>
                </a14:m>
                <a:r>
                  <a:rPr lang="en-US" sz="3200" i="1" dirty="0"/>
                  <a:t> - </a:t>
                </a:r>
                <a:r>
                  <a:rPr lang="en-US" sz="3200" dirty="0"/>
                  <a:t>Sampling period</a:t>
                </a:r>
              </a:p>
              <a:p>
                <a:pPr marL="320040" lvl="1" indent="0">
                  <a:buNone/>
                </a:pPr>
                <a:r>
                  <a:rPr lang="en-US" sz="3200" dirty="0">
                    <a:latin typeface="Cambria Math" panose="02040503050406030204" pitchFamily="18" charset="0"/>
                  </a:rPr>
                  <a:t>M – Number of samples in waveform epoch</a:t>
                </a:r>
                <a:endParaRPr lang="en-US" sz="3200" dirty="0"/>
              </a:p>
              <a:p>
                <a:pPr marL="320040" lvl="1" indent="0">
                  <a:buNone/>
                </a:pPr>
                <a:endParaRPr lang="en-US" sz="3200" i="1" dirty="0">
                  <a:latin typeface="Cambria Math" panose="02040503050406030204" pitchFamily="18" charset="0"/>
                </a:endParaRPr>
              </a:p>
              <a:p>
                <a:pPr marL="320040" lvl="1" indent="0">
                  <a:buNone/>
                </a:pPr>
                <a14:m>
                  <m:oMath xmlns:m="http://schemas.openxmlformats.org/officeDocument/2006/math">
                    <m:sSub>
                      <m:sSubPr>
                        <m:ctrlPr>
                          <a:rPr lang="en-US" sz="3200" i="1" smtClean="0">
                            <a:latin typeface="Cambria Math" panose="02040503050406030204" pitchFamily="18" charset="0"/>
                          </a:rPr>
                        </m:ctrlPr>
                      </m:sSubPr>
                      <m:e>
                        <m:r>
                          <a:rPr lang="en-US" sz="3200" b="0" i="1" smtClean="0">
                            <a:latin typeface="Cambria Math" panose="02040503050406030204" pitchFamily="18" charset="0"/>
                          </a:rPr>
                          <m:t>𝑇</m:t>
                        </m:r>
                      </m:e>
                      <m:sub>
                        <m:r>
                          <a:rPr lang="en-US" sz="3200" b="0" i="1" smtClean="0">
                            <a:latin typeface="Cambria Math" panose="02040503050406030204" pitchFamily="18" charset="0"/>
                          </a:rPr>
                          <m:t>𝑖</m:t>
                        </m:r>
                      </m:sub>
                    </m:sSub>
                  </m:oMath>
                </a14:m>
                <a:r>
                  <a:rPr lang="en-US" sz="3200" i="1" dirty="0">
                    <a:latin typeface="Cambria Math" panose="02040503050406030204" pitchFamily="18" charset="0"/>
                  </a:rPr>
                  <a:t> - </a:t>
                </a:r>
                <a:r>
                  <a:rPr lang="en-US" sz="3200" dirty="0">
                    <a:latin typeface="Cambria Math" panose="02040503050406030204" pitchFamily="18" charset="0"/>
                  </a:rPr>
                  <a:t>Input period</a:t>
                </a:r>
              </a:p>
              <a:p>
                <a:pPr marL="320040" lvl="1" indent="0">
                  <a:buNone/>
                </a:pPr>
                <a:r>
                  <a:rPr lang="en-US" sz="3200" dirty="0">
                    <a:latin typeface="Cambria Math" panose="02040503050406030204" pitchFamily="18" charset="0"/>
                  </a:rPr>
                  <a:t>J – Integer number of cycles of the signal in the epoch</a:t>
                </a:r>
              </a:p>
            </p:txBody>
          </p:sp>
        </mc:Choice>
        <mc:Fallback xmlns="">
          <p:sp>
            <p:nvSpPr>
              <p:cNvPr id="9" name="Content Placeholder 2">
                <a:extLst>
                  <a:ext uri="{FF2B5EF4-FFF2-40B4-BE49-F238E27FC236}">
                    <a16:creationId xmlns:a16="http://schemas.microsoft.com/office/drawing/2014/main" id="{4A4F3539-5294-A76B-3399-C226854C1873}"/>
                  </a:ext>
                </a:extLst>
              </p:cNvPr>
              <p:cNvSpPr txBox="1">
                <a:spLocks noRot="1" noChangeAspect="1" noMove="1" noResize="1" noEditPoints="1" noAdjustHandles="1" noChangeArrowheads="1" noChangeShapeType="1" noTextEdit="1"/>
              </p:cNvSpPr>
              <p:nvPr/>
            </p:nvSpPr>
            <p:spPr>
              <a:xfrm>
                <a:off x="609600" y="4326920"/>
                <a:ext cx="6955857" cy="1756246"/>
              </a:xfrm>
              <a:prstGeom prst="rect">
                <a:avLst/>
              </a:prstGeom>
              <a:blipFill>
                <a:blip r:embed="rId4"/>
                <a:stretch>
                  <a:fillRect t="-6944" b="-1042"/>
                </a:stretch>
              </a:blipFill>
            </p:spPr>
            <p:txBody>
              <a:bodyPr/>
              <a:lstStyle/>
              <a:p>
                <a:r>
                  <a:rPr lang="en-US">
                    <a:noFill/>
                  </a:rPr>
                  <a:t> </a:t>
                </a:r>
              </a:p>
            </p:txBody>
          </p:sp>
        </mc:Fallback>
      </mc:AlternateContent>
    </p:spTree>
    <p:extLst>
      <p:ext uri="{BB962C8B-B14F-4D97-AF65-F5344CB8AC3E}">
        <p14:creationId xmlns:p14="http://schemas.microsoft.com/office/powerpoint/2010/main" val="13253616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CCE66-EE98-4B72-4DAB-835CB3339F16}"/>
            </a:ext>
          </a:extLst>
        </p:cNvPr>
        <p:cNvGrpSpPr/>
        <p:nvPr/>
      </p:nvGrpSpPr>
      <p:grpSpPr>
        <a:xfrm>
          <a:off x="0" y="0"/>
          <a:ext cx="0" cy="0"/>
          <a:chOff x="0" y="0"/>
          <a:chExt cx="0" cy="0"/>
        </a:xfrm>
      </p:grpSpPr>
      <p:sp>
        <p:nvSpPr>
          <p:cNvPr id="46" name="TextBox 45">
            <a:extLst>
              <a:ext uri="{FF2B5EF4-FFF2-40B4-BE49-F238E27FC236}">
                <a16:creationId xmlns:a16="http://schemas.microsoft.com/office/drawing/2014/main" id="{893DEDAE-6A3A-1BA8-17E9-801B5501DC6A}"/>
              </a:ext>
            </a:extLst>
          </p:cNvPr>
          <p:cNvSpPr txBox="1"/>
          <p:nvPr/>
        </p:nvSpPr>
        <p:spPr>
          <a:xfrm>
            <a:off x="9175262" y="6596185"/>
            <a:ext cx="0" cy="0"/>
          </a:xfrm>
          <a:prstGeom prst="rect">
            <a:avLst/>
          </a:prstGeom>
          <a:noFill/>
        </p:spPr>
        <p:txBody>
          <a:bodyPr wrap="none" rtlCol="0">
            <a:noAutofit/>
          </a:bodyPr>
          <a:lstStyle/>
          <a:p>
            <a:pPr algn="ctr"/>
            <a:endParaRPr lang="en-US" sz="1600" dirty="0" err="1"/>
          </a:p>
        </p:txBody>
      </p:sp>
    </p:spTree>
    <p:extLst>
      <p:ext uri="{BB962C8B-B14F-4D97-AF65-F5344CB8AC3E}">
        <p14:creationId xmlns:p14="http://schemas.microsoft.com/office/powerpoint/2010/main" val="39922798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BAEED-8C86-BED0-AC24-739CA1F932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B83F4C-B90A-8169-6278-7B76A0386528}"/>
              </a:ext>
            </a:extLst>
          </p:cNvPr>
          <p:cNvSpPr>
            <a:spLocks noGrp="1"/>
          </p:cNvSpPr>
          <p:nvPr>
            <p:ph type="title"/>
          </p:nvPr>
        </p:nvSpPr>
        <p:spPr/>
        <p:txBody>
          <a:bodyPr/>
          <a:lstStyle/>
          <a:p>
            <a:r>
              <a:rPr lang="en-US" dirty="0"/>
              <a:t>Extra Slides</a:t>
            </a:r>
          </a:p>
        </p:txBody>
      </p:sp>
      <p:sp>
        <p:nvSpPr>
          <p:cNvPr id="3" name="Content Placeholder 2">
            <a:extLst>
              <a:ext uri="{FF2B5EF4-FFF2-40B4-BE49-F238E27FC236}">
                <a16:creationId xmlns:a16="http://schemas.microsoft.com/office/drawing/2014/main" id="{1DE83B48-F795-1C6C-EA1F-843048549948}"/>
              </a:ext>
            </a:extLst>
          </p:cNvPr>
          <p:cNvSpPr>
            <a:spLocks noGrp="1"/>
          </p:cNvSpPr>
          <p:nvPr>
            <p:ph idx="1"/>
          </p:nvPr>
        </p:nvSpPr>
        <p:spPr/>
        <p:txBody>
          <a:bodyPr>
            <a:normAutofit fontScale="92500" lnSpcReduction="20000"/>
          </a:bodyPr>
          <a:lstStyle/>
          <a:p>
            <a:r>
              <a:rPr lang="en-US" dirty="0"/>
              <a:t>Schematic of SH </a:t>
            </a:r>
            <a:r>
              <a:rPr lang="en-US" dirty="0" err="1"/>
              <a:t>opamp</a:t>
            </a:r>
            <a:endParaRPr lang="en-US" dirty="0"/>
          </a:p>
          <a:p>
            <a:r>
              <a:rPr lang="en-US" dirty="0"/>
              <a:t>Schematic of ADC </a:t>
            </a:r>
            <a:r>
              <a:rPr lang="en-US" dirty="0" err="1"/>
              <a:t>opamp</a:t>
            </a:r>
            <a:endParaRPr lang="en-US" dirty="0"/>
          </a:p>
          <a:p>
            <a:r>
              <a:rPr lang="en-US" dirty="0"/>
              <a:t>What if you reference voltages change? Would the resolution be better?</a:t>
            </a:r>
          </a:p>
          <a:p>
            <a:r>
              <a:rPr lang="en-US" dirty="0"/>
              <a:t>Why can’t you get a super specific sampling rate?</a:t>
            </a:r>
          </a:p>
          <a:p>
            <a:r>
              <a:rPr lang="en-US" dirty="0"/>
              <a:t>What is a </a:t>
            </a:r>
            <a:r>
              <a:rPr lang="en-US" b="1" dirty="0"/>
              <a:t>Hanning window?</a:t>
            </a:r>
          </a:p>
          <a:p>
            <a:r>
              <a:rPr lang="en-US" dirty="0"/>
              <a:t>What is DNL and INL?</a:t>
            </a:r>
          </a:p>
          <a:p>
            <a:r>
              <a:rPr lang="en-US" dirty="0"/>
              <a:t>Can you explain coherent sampling better?</a:t>
            </a:r>
          </a:p>
          <a:p>
            <a:r>
              <a:rPr lang="en-US" dirty="0"/>
              <a:t>How did you measure power? I know your shunt is fake news!</a:t>
            </a:r>
          </a:p>
          <a:p>
            <a:r>
              <a:rPr lang="en-US" dirty="0"/>
              <a:t>Did you try lower input frequency?</a:t>
            </a:r>
          </a:p>
          <a:p>
            <a:r>
              <a:rPr lang="en-US" dirty="0"/>
              <a:t>Resolution limitation makes sense for flash, but why was the speed so limited?</a:t>
            </a:r>
          </a:p>
          <a:p>
            <a:r>
              <a:rPr lang="en-US" dirty="0"/>
              <a:t>Different types of </a:t>
            </a:r>
            <a:r>
              <a:rPr lang="en-US" dirty="0" err="1"/>
              <a:t>hanning</a:t>
            </a:r>
            <a:r>
              <a:rPr lang="en-US" dirty="0"/>
              <a:t> window</a:t>
            </a:r>
          </a:p>
        </p:txBody>
      </p:sp>
    </p:spTree>
    <p:extLst>
      <p:ext uri="{BB962C8B-B14F-4D97-AF65-F5344CB8AC3E}">
        <p14:creationId xmlns:p14="http://schemas.microsoft.com/office/powerpoint/2010/main" val="31535786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986C1-653F-37E0-8275-E161192A4490}"/>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B93C6E74-9980-8EE4-032D-2D0BB4A79821}"/>
              </a:ext>
            </a:extLst>
          </p:cNvPr>
          <p:cNvPicPr>
            <a:picLocks noChangeAspect="1"/>
          </p:cNvPicPr>
          <p:nvPr/>
        </p:nvPicPr>
        <p:blipFill>
          <a:blip r:embed="rId3">
            <a:extLst>
              <a:ext uri="{28A0092B-C50C-407E-A947-70E740481C1C}">
                <a14:useLocalDpi xmlns:a14="http://schemas.microsoft.com/office/drawing/2010/main" val="0"/>
              </a:ext>
            </a:extLst>
          </a:blip>
          <a:srcRect l="3289" r="9974"/>
          <a:stretch>
            <a:fillRect/>
          </a:stretch>
        </p:blipFill>
        <p:spPr>
          <a:xfrm rot="16200000">
            <a:off x="3569970" y="188650"/>
            <a:ext cx="5052060" cy="7372240"/>
          </a:xfrm>
          <a:prstGeom prst="rect">
            <a:avLst/>
          </a:prstGeom>
        </p:spPr>
      </p:pic>
      <p:sp>
        <p:nvSpPr>
          <p:cNvPr id="2" name="Title 1">
            <a:extLst>
              <a:ext uri="{FF2B5EF4-FFF2-40B4-BE49-F238E27FC236}">
                <a16:creationId xmlns:a16="http://schemas.microsoft.com/office/drawing/2014/main" id="{1921C30E-507C-8552-EB00-3A8A043D2722}"/>
              </a:ext>
            </a:extLst>
          </p:cNvPr>
          <p:cNvSpPr>
            <a:spLocks noGrp="1"/>
          </p:cNvSpPr>
          <p:nvPr>
            <p:ph type="title"/>
          </p:nvPr>
        </p:nvSpPr>
        <p:spPr>
          <a:xfrm>
            <a:off x="609600" y="363090"/>
            <a:ext cx="10972800" cy="800100"/>
          </a:xfrm>
        </p:spPr>
        <p:txBody>
          <a:bodyPr anchor="b">
            <a:normAutofit/>
          </a:bodyPr>
          <a:lstStyle/>
          <a:p>
            <a:r>
              <a:rPr lang="en-US" dirty="0"/>
              <a:t>FADC Layout</a:t>
            </a:r>
          </a:p>
        </p:txBody>
      </p:sp>
      <p:sp>
        <p:nvSpPr>
          <p:cNvPr id="25" name="Oval 24">
            <a:extLst>
              <a:ext uri="{FF2B5EF4-FFF2-40B4-BE49-F238E27FC236}">
                <a16:creationId xmlns:a16="http://schemas.microsoft.com/office/drawing/2014/main" id="{DF6C7596-642F-0EE8-2B6C-416FB761EA3B}"/>
              </a:ext>
            </a:extLst>
          </p:cNvPr>
          <p:cNvSpPr/>
          <p:nvPr/>
        </p:nvSpPr>
        <p:spPr bwMode="auto">
          <a:xfrm>
            <a:off x="1678181" y="3874769"/>
            <a:ext cx="173254" cy="173254"/>
          </a:xfrm>
          <a:prstGeom prst="ellipse">
            <a:avLst/>
          </a:prstGeom>
          <a:solidFill>
            <a:schemeClr val="tx1"/>
          </a:solidFill>
          <a:ln w="12700" cap="sq" algn="ctr">
            <a:solidFill>
              <a:schemeClr val="tx1"/>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26" name="Oval 25">
            <a:extLst>
              <a:ext uri="{FF2B5EF4-FFF2-40B4-BE49-F238E27FC236}">
                <a16:creationId xmlns:a16="http://schemas.microsoft.com/office/drawing/2014/main" id="{C1FBE4E5-92DF-E339-796E-18C827460B61}"/>
              </a:ext>
            </a:extLst>
          </p:cNvPr>
          <p:cNvSpPr/>
          <p:nvPr/>
        </p:nvSpPr>
        <p:spPr bwMode="auto">
          <a:xfrm>
            <a:off x="1045449" y="3874769"/>
            <a:ext cx="173254" cy="173254"/>
          </a:xfrm>
          <a:prstGeom prst="ellipse">
            <a:avLst/>
          </a:prstGeom>
          <a:solidFill>
            <a:schemeClr val="tx1"/>
          </a:solidFill>
          <a:ln w="12700" cap="sq" algn="ctr">
            <a:solidFill>
              <a:schemeClr val="tx1"/>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27" name="Oval 26">
            <a:extLst>
              <a:ext uri="{FF2B5EF4-FFF2-40B4-BE49-F238E27FC236}">
                <a16:creationId xmlns:a16="http://schemas.microsoft.com/office/drawing/2014/main" id="{F5092C24-2815-7856-4CD8-8AF03F7C65B3}"/>
              </a:ext>
            </a:extLst>
          </p:cNvPr>
          <p:cNvSpPr/>
          <p:nvPr/>
        </p:nvSpPr>
        <p:spPr bwMode="auto">
          <a:xfrm>
            <a:off x="412717" y="3874769"/>
            <a:ext cx="173254" cy="173254"/>
          </a:xfrm>
          <a:prstGeom prst="ellipse">
            <a:avLst/>
          </a:prstGeom>
          <a:solidFill>
            <a:schemeClr val="tx1"/>
          </a:solidFill>
          <a:ln w="12700" cap="sq" algn="ctr">
            <a:solidFill>
              <a:schemeClr val="tx1"/>
            </a:solidFill>
            <a:miter lim="800000"/>
            <a:headEnd/>
            <a:tailEnd/>
          </a:ln>
          <a:effectLst/>
        </p:spPr>
        <p:txBody>
          <a:bodyPr wrap="none" rtlCol="0" anchor="ctr"/>
          <a:lstStyle/>
          <a:p>
            <a:pPr algn="ctr"/>
            <a:endParaRPr lang="en-US" sz="1600" dirty="0">
              <a:solidFill>
                <a:schemeClr val="bg1"/>
              </a:solidFill>
              <a:latin typeface="+mn-lt"/>
            </a:endParaRPr>
          </a:p>
        </p:txBody>
      </p:sp>
    </p:spTree>
    <p:extLst>
      <p:ext uri="{BB962C8B-B14F-4D97-AF65-F5344CB8AC3E}">
        <p14:creationId xmlns:p14="http://schemas.microsoft.com/office/powerpoint/2010/main" val="23989854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C7A22-C861-27AA-7FFE-651DCFEE488C}"/>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113E211-DCB6-A3CA-A67E-BB4F664E6482}"/>
              </a:ext>
            </a:extLst>
          </p:cNvPr>
          <p:cNvPicPr>
            <a:picLocks noChangeAspect="1"/>
          </p:cNvPicPr>
          <p:nvPr/>
        </p:nvPicPr>
        <p:blipFill>
          <a:blip r:embed="rId3">
            <a:extLst>
              <a:ext uri="{28A0092B-C50C-407E-A947-70E740481C1C}">
                <a14:useLocalDpi xmlns:a14="http://schemas.microsoft.com/office/drawing/2010/main" val="0"/>
              </a:ext>
            </a:extLst>
          </a:blip>
          <a:srcRect r="9975"/>
          <a:stretch>
            <a:fillRect/>
          </a:stretch>
        </p:blipFill>
        <p:spPr>
          <a:xfrm rot="16200000">
            <a:off x="3474206" y="284414"/>
            <a:ext cx="5243588" cy="7372240"/>
          </a:xfrm>
          <a:prstGeom prst="rect">
            <a:avLst/>
          </a:prstGeom>
        </p:spPr>
      </p:pic>
      <p:sp>
        <p:nvSpPr>
          <p:cNvPr id="2" name="Title 1">
            <a:extLst>
              <a:ext uri="{FF2B5EF4-FFF2-40B4-BE49-F238E27FC236}">
                <a16:creationId xmlns:a16="http://schemas.microsoft.com/office/drawing/2014/main" id="{27D92CBD-8B3B-392E-095C-387EA1A8D401}"/>
              </a:ext>
            </a:extLst>
          </p:cNvPr>
          <p:cNvSpPr>
            <a:spLocks noGrp="1"/>
          </p:cNvSpPr>
          <p:nvPr>
            <p:ph type="title"/>
          </p:nvPr>
        </p:nvSpPr>
        <p:spPr>
          <a:xfrm>
            <a:off x="609600" y="363090"/>
            <a:ext cx="10972800" cy="800100"/>
          </a:xfrm>
        </p:spPr>
        <p:txBody>
          <a:bodyPr anchor="b">
            <a:normAutofit/>
          </a:bodyPr>
          <a:lstStyle/>
          <a:p>
            <a:r>
              <a:rPr lang="en-US" dirty="0"/>
              <a:t>FADC Layout</a:t>
            </a:r>
          </a:p>
        </p:txBody>
      </p:sp>
      <p:sp>
        <p:nvSpPr>
          <p:cNvPr id="6" name="Rectangle 5">
            <a:extLst>
              <a:ext uri="{FF2B5EF4-FFF2-40B4-BE49-F238E27FC236}">
                <a16:creationId xmlns:a16="http://schemas.microsoft.com/office/drawing/2014/main" id="{5EFC437C-CAC7-A07C-4126-926635224CCD}"/>
              </a:ext>
            </a:extLst>
          </p:cNvPr>
          <p:cNvSpPr/>
          <p:nvPr/>
        </p:nvSpPr>
        <p:spPr bwMode="auto">
          <a:xfrm>
            <a:off x="2225522" y="5509260"/>
            <a:ext cx="4301881" cy="1046471"/>
          </a:xfrm>
          <a:prstGeom prst="rect">
            <a:avLst/>
          </a:prstGeom>
          <a:solidFill>
            <a:srgbClr val="AB192D">
              <a:alpha val="9020"/>
            </a:srgbClr>
          </a:solidFill>
          <a:ln w="57150" cap="sq" algn="ctr">
            <a:solidFill>
              <a:schemeClr val="tx1"/>
            </a:solidFill>
            <a:miter lim="800000"/>
            <a:headEnd/>
            <a:tailEnd/>
          </a:ln>
          <a:effectLst/>
        </p:spPr>
        <p:txBody>
          <a:bodyPr wrap="none" rtlCol="0" anchor="ctr"/>
          <a:lstStyle/>
          <a:p>
            <a:pPr algn="ctr"/>
            <a:r>
              <a:rPr lang="en-US" sz="2400" b="1" dirty="0"/>
              <a:t>RESISTOR NETWORK</a:t>
            </a:r>
          </a:p>
        </p:txBody>
      </p:sp>
      <p:sp>
        <p:nvSpPr>
          <p:cNvPr id="10" name="Rectangle 9">
            <a:extLst>
              <a:ext uri="{FF2B5EF4-FFF2-40B4-BE49-F238E27FC236}">
                <a16:creationId xmlns:a16="http://schemas.microsoft.com/office/drawing/2014/main" id="{2F500074-E608-06F5-844E-3E607B5CBD64}"/>
              </a:ext>
            </a:extLst>
          </p:cNvPr>
          <p:cNvSpPr/>
          <p:nvPr/>
        </p:nvSpPr>
        <p:spPr bwMode="auto">
          <a:xfrm>
            <a:off x="2225524" y="2618072"/>
            <a:ext cx="4301880" cy="1021904"/>
          </a:xfrm>
          <a:prstGeom prst="rect">
            <a:avLst/>
          </a:prstGeom>
          <a:solidFill>
            <a:srgbClr val="AB192D">
              <a:alpha val="9020"/>
            </a:srgbClr>
          </a:solidFill>
          <a:ln w="57150" cap="sq" algn="ctr">
            <a:solidFill>
              <a:schemeClr val="tx1"/>
            </a:solidFill>
            <a:miter lim="800000"/>
            <a:headEnd/>
            <a:tailEnd/>
          </a:ln>
          <a:effectLst/>
        </p:spPr>
        <p:txBody>
          <a:bodyPr wrap="none" rtlCol="0" anchor="ctr"/>
          <a:lstStyle/>
          <a:p>
            <a:pPr algn="ctr"/>
            <a:r>
              <a:rPr lang="en-US" sz="2400" b="1" dirty="0">
                <a:latin typeface="+mn-lt"/>
              </a:rPr>
              <a:t>ROM ENCODER</a:t>
            </a:r>
          </a:p>
        </p:txBody>
      </p:sp>
      <p:sp>
        <p:nvSpPr>
          <p:cNvPr id="11" name="Rectangle 10">
            <a:extLst>
              <a:ext uri="{FF2B5EF4-FFF2-40B4-BE49-F238E27FC236}">
                <a16:creationId xmlns:a16="http://schemas.microsoft.com/office/drawing/2014/main" id="{49B1CAF1-1742-92E6-6737-6310F8874929}"/>
              </a:ext>
            </a:extLst>
          </p:cNvPr>
          <p:cNvSpPr/>
          <p:nvPr/>
        </p:nvSpPr>
        <p:spPr bwMode="auto">
          <a:xfrm>
            <a:off x="6769413" y="3311092"/>
            <a:ext cx="3012707" cy="2358184"/>
          </a:xfrm>
          <a:prstGeom prst="rect">
            <a:avLst/>
          </a:prstGeom>
          <a:solidFill>
            <a:srgbClr val="AB192D">
              <a:alpha val="9020"/>
            </a:srgbClr>
          </a:solidFill>
          <a:ln w="57150" cap="sq" algn="ctr">
            <a:solidFill>
              <a:schemeClr val="tx1"/>
            </a:solidFill>
            <a:miter lim="800000"/>
            <a:headEnd/>
            <a:tailEnd/>
          </a:ln>
          <a:effectLst/>
        </p:spPr>
        <p:txBody>
          <a:bodyPr wrap="none" rtlCol="0" anchor="ctr"/>
          <a:lstStyle/>
          <a:p>
            <a:pPr algn="ctr"/>
            <a:r>
              <a:rPr lang="en-US" sz="3200" b="1" dirty="0"/>
              <a:t>S/H OPAMP</a:t>
            </a:r>
          </a:p>
        </p:txBody>
      </p:sp>
      <p:sp>
        <p:nvSpPr>
          <p:cNvPr id="12" name="Rectangle 11">
            <a:extLst>
              <a:ext uri="{FF2B5EF4-FFF2-40B4-BE49-F238E27FC236}">
                <a16:creationId xmlns:a16="http://schemas.microsoft.com/office/drawing/2014/main" id="{3B30FFB0-A6A5-9DA7-BAF8-6AFD905241D4}"/>
              </a:ext>
            </a:extLst>
          </p:cNvPr>
          <p:cNvSpPr/>
          <p:nvPr/>
        </p:nvSpPr>
        <p:spPr bwMode="auto">
          <a:xfrm>
            <a:off x="6769412" y="1946451"/>
            <a:ext cx="3012708" cy="1364641"/>
          </a:xfrm>
          <a:prstGeom prst="rect">
            <a:avLst/>
          </a:prstGeom>
          <a:solidFill>
            <a:srgbClr val="AB192D">
              <a:alpha val="9020"/>
            </a:srgbClr>
          </a:solidFill>
          <a:ln w="57150" cap="sq" algn="ctr">
            <a:solidFill>
              <a:schemeClr val="tx1"/>
            </a:solidFill>
            <a:miter lim="800000"/>
            <a:headEnd/>
            <a:tailEnd/>
          </a:ln>
          <a:effectLst/>
        </p:spPr>
        <p:txBody>
          <a:bodyPr wrap="none" rtlCol="0" anchor="ctr"/>
          <a:lstStyle/>
          <a:p>
            <a:pPr algn="ctr"/>
            <a:r>
              <a:rPr lang="en-US" sz="1600" b="1" dirty="0"/>
              <a:t>S/H CURRENT BIAS</a:t>
            </a:r>
          </a:p>
        </p:txBody>
      </p:sp>
      <p:sp>
        <p:nvSpPr>
          <p:cNvPr id="13" name="Rectangle 12">
            <a:extLst>
              <a:ext uri="{FF2B5EF4-FFF2-40B4-BE49-F238E27FC236}">
                <a16:creationId xmlns:a16="http://schemas.microsoft.com/office/drawing/2014/main" id="{9D85ADD0-2F0D-65D2-EB35-18B5728F7259}"/>
              </a:ext>
            </a:extLst>
          </p:cNvPr>
          <p:cNvSpPr/>
          <p:nvPr/>
        </p:nvSpPr>
        <p:spPr bwMode="auto">
          <a:xfrm>
            <a:off x="2225524" y="3676575"/>
            <a:ext cx="4301880" cy="387860"/>
          </a:xfrm>
          <a:prstGeom prst="rect">
            <a:avLst/>
          </a:prstGeom>
          <a:solidFill>
            <a:srgbClr val="AB192D">
              <a:alpha val="9020"/>
            </a:srgbClr>
          </a:solidFill>
          <a:ln w="57150" cap="sq" algn="ctr">
            <a:solidFill>
              <a:schemeClr val="tx1"/>
            </a:solidFill>
            <a:miter lim="800000"/>
            <a:headEnd/>
            <a:tailEnd/>
          </a:ln>
          <a:effectLst/>
        </p:spPr>
        <p:txBody>
          <a:bodyPr wrap="none" rtlCol="0" anchor="ctr"/>
          <a:lstStyle/>
          <a:p>
            <a:pPr algn="ctr"/>
            <a:r>
              <a:rPr lang="en-US" sz="1100" b="1" dirty="0">
                <a:latin typeface="+mn-lt"/>
              </a:rPr>
              <a:t>Thermometer to One Hot Encoder</a:t>
            </a:r>
          </a:p>
        </p:txBody>
      </p:sp>
      <p:sp>
        <p:nvSpPr>
          <p:cNvPr id="14" name="Rectangle 13">
            <a:extLst>
              <a:ext uri="{FF2B5EF4-FFF2-40B4-BE49-F238E27FC236}">
                <a16:creationId xmlns:a16="http://schemas.microsoft.com/office/drawing/2014/main" id="{ABCA2C0A-92E5-6215-C70B-F102EFF050D5}"/>
              </a:ext>
            </a:extLst>
          </p:cNvPr>
          <p:cNvSpPr/>
          <p:nvPr/>
        </p:nvSpPr>
        <p:spPr bwMode="auto">
          <a:xfrm>
            <a:off x="2225524" y="4064435"/>
            <a:ext cx="4301880" cy="1408227"/>
          </a:xfrm>
          <a:prstGeom prst="rect">
            <a:avLst/>
          </a:prstGeom>
          <a:solidFill>
            <a:srgbClr val="AB192D">
              <a:alpha val="9020"/>
            </a:srgbClr>
          </a:solidFill>
          <a:ln w="57150" cap="sq" algn="ctr">
            <a:solidFill>
              <a:schemeClr val="tx1"/>
            </a:solidFill>
            <a:miter lim="800000"/>
            <a:headEnd/>
            <a:tailEnd/>
          </a:ln>
          <a:effectLst/>
        </p:spPr>
        <p:txBody>
          <a:bodyPr wrap="none" rtlCol="0" anchor="ctr"/>
          <a:lstStyle/>
          <a:p>
            <a:pPr algn="ctr"/>
            <a:r>
              <a:rPr lang="en-US" sz="2400" b="1" dirty="0"/>
              <a:t>Comparator Ladder</a:t>
            </a:r>
          </a:p>
        </p:txBody>
      </p:sp>
      <p:sp>
        <p:nvSpPr>
          <p:cNvPr id="15" name="Rectangle 14">
            <a:extLst>
              <a:ext uri="{FF2B5EF4-FFF2-40B4-BE49-F238E27FC236}">
                <a16:creationId xmlns:a16="http://schemas.microsoft.com/office/drawing/2014/main" id="{683CADD6-2FD2-1E9E-CEB4-08208042A0AD}"/>
              </a:ext>
            </a:extLst>
          </p:cNvPr>
          <p:cNvSpPr/>
          <p:nvPr/>
        </p:nvSpPr>
        <p:spPr bwMode="auto">
          <a:xfrm>
            <a:off x="4911726" y="1385338"/>
            <a:ext cx="1615678" cy="1222677"/>
          </a:xfrm>
          <a:prstGeom prst="rect">
            <a:avLst/>
          </a:prstGeom>
          <a:solidFill>
            <a:srgbClr val="AB192D">
              <a:alpha val="9020"/>
            </a:srgbClr>
          </a:solidFill>
          <a:ln w="57150" cap="sq" algn="ctr">
            <a:solidFill>
              <a:schemeClr val="tx1"/>
            </a:solidFill>
            <a:miter lim="800000"/>
            <a:headEnd/>
            <a:tailEnd/>
          </a:ln>
          <a:effectLst/>
        </p:spPr>
        <p:txBody>
          <a:bodyPr wrap="none" rtlCol="0" anchor="ctr"/>
          <a:lstStyle/>
          <a:p>
            <a:pPr algn="ctr"/>
            <a:r>
              <a:rPr lang="en-US" sz="1600" b="1" dirty="0"/>
              <a:t>FADC </a:t>
            </a:r>
          </a:p>
          <a:p>
            <a:pPr algn="ctr"/>
            <a:r>
              <a:rPr lang="en-US" sz="1600" b="1" dirty="0"/>
              <a:t>Scan-chain</a:t>
            </a:r>
          </a:p>
        </p:txBody>
      </p:sp>
      <p:sp>
        <p:nvSpPr>
          <p:cNvPr id="16" name="Rectangle 15">
            <a:extLst>
              <a:ext uri="{FF2B5EF4-FFF2-40B4-BE49-F238E27FC236}">
                <a16:creationId xmlns:a16="http://schemas.microsoft.com/office/drawing/2014/main" id="{5AD1A628-8165-A936-B0E0-2B4749F16C88}"/>
              </a:ext>
            </a:extLst>
          </p:cNvPr>
          <p:cNvSpPr/>
          <p:nvPr/>
        </p:nvSpPr>
        <p:spPr bwMode="auto">
          <a:xfrm>
            <a:off x="2225522" y="1385338"/>
            <a:ext cx="2686204" cy="1222677"/>
          </a:xfrm>
          <a:prstGeom prst="rect">
            <a:avLst/>
          </a:prstGeom>
          <a:solidFill>
            <a:srgbClr val="AB192D">
              <a:alpha val="9020"/>
            </a:srgbClr>
          </a:solidFill>
          <a:ln w="57150" cap="sq" algn="ctr">
            <a:solidFill>
              <a:schemeClr val="tx1"/>
            </a:solidFill>
            <a:miter lim="800000"/>
            <a:headEnd/>
            <a:tailEnd/>
          </a:ln>
          <a:effectLst/>
        </p:spPr>
        <p:txBody>
          <a:bodyPr wrap="none" rtlCol="0" anchor="ctr"/>
          <a:lstStyle/>
          <a:p>
            <a:pPr algn="ctr"/>
            <a:r>
              <a:rPr lang="en-US" sz="1600" b="1" dirty="0"/>
              <a:t>FADC Current Bias</a:t>
            </a:r>
          </a:p>
        </p:txBody>
      </p:sp>
      <p:sp>
        <p:nvSpPr>
          <p:cNvPr id="17" name="Rectangle 16">
            <a:extLst>
              <a:ext uri="{FF2B5EF4-FFF2-40B4-BE49-F238E27FC236}">
                <a16:creationId xmlns:a16="http://schemas.microsoft.com/office/drawing/2014/main" id="{375C7176-946E-69B7-0FE9-DC504852163C}"/>
              </a:ext>
            </a:extLst>
          </p:cNvPr>
          <p:cNvSpPr/>
          <p:nvPr/>
        </p:nvSpPr>
        <p:spPr bwMode="auto">
          <a:xfrm>
            <a:off x="6769412" y="1385338"/>
            <a:ext cx="3012708" cy="561113"/>
          </a:xfrm>
          <a:prstGeom prst="rect">
            <a:avLst/>
          </a:prstGeom>
          <a:solidFill>
            <a:srgbClr val="AB192D">
              <a:alpha val="9020"/>
            </a:srgbClr>
          </a:solidFill>
          <a:ln w="57150" cap="sq" algn="ctr">
            <a:solidFill>
              <a:schemeClr val="tx1"/>
            </a:solidFill>
            <a:miter lim="800000"/>
            <a:headEnd/>
            <a:tailEnd/>
          </a:ln>
          <a:effectLst/>
        </p:spPr>
        <p:txBody>
          <a:bodyPr wrap="none" rtlCol="0" anchor="ctr"/>
          <a:lstStyle/>
          <a:p>
            <a:pPr algn="ctr"/>
            <a:r>
              <a:rPr lang="en-US" sz="1600" b="1" dirty="0"/>
              <a:t>FADC </a:t>
            </a:r>
          </a:p>
          <a:p>
            <a:pPr algn="ctr"/>
            <a:r>
              <a:rPr lang="en-US" sz="1600" b="1" dirty="0"/>
              <a:t>Scan-chain</a:t>
            </a:r>
          </a:p>
        </p:txBody>
      </p:sp>
      <p:sp>
        <p:nvSpPr>
          <p:cNvPr id="23" name="Oval 22">
            <a:extLst>
              <a:ext uri="{FF2B5EF4-FFF2-40B4-BE49-F238E27FC236}">
                <a16:creationId xmlns:a16="http://schemas.microsoft.com/office/drawing/2014/main" id="{6240BFF8-ECEE-4C8C-AB24-1EF3BE1D15F1}"/>
              </a:ext>
            </a:extLst>
          </p:cNvPr>
          <p:cNvSpPr/>
          <p:nvPr/>
        </p:nvSpPr>
        <p:spPr bwMode="auto">
          <a:xfrm>
            <a:off x="1678181" y="3874769"/>
            <a:ext cx="173254" cy="173254"/>
          </a:xfrm>
          <a:prstGeom prst="ellipse">
            <a:avLst/>
          </a:prstGeom>
          <a:solidFill>
            <a:schemeClr val="tx1"/>
          </a:solidFill>
          <a:ln w="12700" cap="sq" algn="ctr">
            <a:solidFill>
              <a:schemeClr val="tx1"/>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24" name="Oval 23">
            <a:extLst>
              <a:ext uri="{FF2B5EF4-FFF2-40B4-BE49-F238E27FC236}">
                <a16:creationId xmlns:a16="http://schemas.microsoft.com/office/drawing/2014/main" id="{FC0CCEFE-C6D6-8F13-7E08-6BCA2FFADED8}"/>
              </a:ext>
            </a:extLst>
          </p:cNvPr>
          <p:cNvSpPr/>
          <p:nvPr/>
        </p:nvSpPr>
        <p:spPr bwMode="auto">
          <a:xfrm>
            <a:off x="1045449" y="3874769"/>
            <a:ext cx="173254" cy="173254"/>
          </a:xfrm>
          <a:prstGeom prst="ellipse">
            <a:avLst/>
          </a:prstGeom>
          <a:solidFill>
            <a:schemeClr val="tx1"/>
          </a:solidFill>
          <a:ln w="12700" cap="sq" algn="ctr">
            <a:solidFill>
              <a:schemeClr val="tx1"/>
            </a:solidFill>
            <a:miter lim="800000"/>
            <a:headEnd/>
            <a:tailEnd/>
          </a:ln>
          <a:effectLst/>
        </p:spPr>
        <p:txBody>
          <a:bodyPr wrap="none" rtlCol="0" anchor="ctr"/>
          <a:lstStyle/>
          <a:p>
            <a:pPr algn="ctr"/>
            <a:endParaRPr lang="en-US" sz="1600" dirty="0">
              <a:solidFill>
                <a:schemeClr val="bg1"/>
              </a:solidFill>
              <a:latin typeface="+mn-lt"/>
            </a:endParaRPr>
          </a:p>
        </p:txBody>
      </p:sp>
      <p:sp>
        <p:nvSpPr>
          <p:cNvPr id="25" name="Oval 24">
            <a:extLst>
              <a:ext uri="{FF2B5EF4-FFF2-40B4-BE49-F238E27FC236}">
                <a16:creationId xmlns:a16="http://schemas.microsoft.com/office/drawing/2014/main" id="{F7E6189E-2269-322F-08BC-CEF084C45C61}"/>
              </a:ext>
            </a:extLst>
          </p:cNvPr>
          <p:cNvSpPr/>
          <p:nvPr/>
        </p:nvSpPr>
        <p:spPr bwMode="auto">
          <a:xfrm>
            <a:off x="412717" y="3874769"/>
            <a:ext cx="173254" cy="173254"/>
          </a:xfrm>
          <a:prstGeom prst="ellipse">
            <a:avLst/>
          </a:prstGeom>
          <a:solidFill>
            <a:schemeClr val="tx1"/>
          </a:solidFill>
          <a:ln w="12700" cap="sq" algn="ctr">
            <a:solidFill>
              <a:schemeClr val="tx1"/>
            </a:solidFill>
            <a:miter lim="800000"/>
            <a:headEnd/>
            <a:tailEnd/>
          </a:ln>
          <a:effectLst/>
        </p:spPr>
        <p:txBody>
          <a:bodyPr wrap="none" rtlCol="0" anchor="ctr"/>
          <a:lstStyle/>
          <a:p>
            <a:pPr algn="ctr"/>
            <a:endParaRPr lang="en-US" sz="1600" dirty="0">
              <a:solidFill>
                <a:schemeClr val="bg1"/>
              </a:solidFill>
              <a:latin typeface="+mn-lt"/>
            </a:endParaRPr>
          </a:p>
        </p:txBody>
      </p:sp>
    </p:spTree>
    <p:extLst>
      <p:ext uri="{BB962C8B-B14F-4D97-AF65-F5344CB8AC3E}">
        <p14:creationId xmlns:p14="http://schemas.microsoft.com/office/powerpoint/2010/main" val="21017352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4B903-92B2-FC56-FB33-A3E9D38146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733B8-9B33-8EB3-8C33-5DCE93F62FF3}"/>
              </a:ext>
            </a:extLst>
          </p:cNvPr>
          <p:cNvSpPr>
            <a:spLocks noGrp="1"/>
          </p:cNvSpPr>
          <p:nvPr>
            <p:ph type="title"/>
          </p:nvPr>
        </p:nvSpPr>
        <p:spPr>
          <a:xfrm>
            <a:off x="609600" y="363090"/>
            <a:ext cx="10972800" cy="800100"/>
          </a:xfrm>
        </p:spPr>
        <p:txBody>
          <a:bodyPr anchor="b">
            <a:normAutofit/>
          </a:bodyPr>
          <a:lstStyle/>
          <a:p>
            <a:r>
              <a:rPr lang="en-US" dirty="0"/>
              <a:t>ROM Encoder Layout</a:t>
            </a:r>
          </a:p>
        </p:txBody>
      </p:sp>
      <p:pic>
        <p:nvPicPr>
          <p:cNvPr id="18" name="Picture 17">
            <a:extLst>
              <a:ext uri="{FF2B5EF4-FFF2-40B4-BE49-F238E27FC236}">
                <a16:creationId xmlns:a16="http://schemas.microsoft.com/office/drawing/2014/main" id="{60E36616-5272-3320-2FBB-38AF45C43A3E}"/>
              </a:ext>
            </a:extLst>
          </p:cNvPr>
          <p:cNvPicPr>
            <a:picLocks noChangeAspect="1"/>
          </p:cNvPicPr>
          <p:nvPr/>
        </p:nvPicPr>
        <p:blipFill>
          <a:blip r:embed="rId3"/>
          <a:stretch>
            <a:fillRect/>
          </a:stretch>
        </p:blipFill>
        <p:spPr>
          <a:xfrm>
            <a:off x="2825146" y="1428750"/>
            <a:ext cx="2358582" cy="5210651"/>
          </a:xfrm>
          <a:prstGeom prst="rect">
            <a:avLst/>
          </a:prstGeom>
        </p:spPr>
      </p:pic>
      <p:pic>
        <p:nvPicPr>
          <p:cNvPr id="4" name="Picture 3">
            <a:extLst>
              <a:ext uri="{FF2B5EF4-FFF2-40B4-BE49-F238E27FC236}">
                <a16:creationId xmlns:a16="http://schemas.microsoft.com/office/drawing/2014/main" id="{5B53061E-71C7-05E9-33D8-E2BB6AF1A71D}"/>
              </a:ext>
            </a:extLst>
          </p:cNvPr>
          <p:cNvPicPr>
            <a:picLocks noChangeAspect="1"/>
          </p:cNvPicPr>
          <p:nvPr/>
        </p:nvPicPr>
        <p:blipFill>
          <a:blip r:embed="rId4"/>
          <a:stretch>
            <a:fillRect/>
          </a:stretch>
        </p:blipFill>
        <p:spPr>
          <a:xfrm>
            <a:off x="7126284" y="1428750"/>
            <a:ext cx="2543554" cy="5210651"/>
          </a:xfrm>
          <a:prstGeom prst="rect">
            <a:avLst/>
          </a:prstGeom>
        </p:spPr>
      </p:pic>
    </p:spTree>
    <p:extLst>
      <p:ext uri="{BB962C8B-B14F-4D97-AF65-F5344CB8AC3E}">
        <p14:creationId xmlns:p14="http://schemas.microsoft.com/office/powerpoint/2010/main" val="18012940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07FF5-321E-EC65-2BC8-DFF9917B53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A06D7A-E57F-660F-D143-73CA717A212F}"/>
              </a:ext>
            </a:extLst>
          </p:cNvPr>
          <p:cNvSpPr>
            <a:spLocks noGrp="1"/>
          </p:cNvSpPr>
          <p:nvPr>
            <p:ph type="title"/>
          </p:nvPr>
        </p:nvSpPr>
        <p:spPr>
          <a:xfrm>
            <a:off x="609600" y="363090"/>
            <a:ext cx="10972800" cy="800100"/>
          </a:xfrm>
        </p:spPr>
        <p:txBody>
          <a:bodyPr anchor="b">
            <a:normAutofit/>
          </a:bodyPr>
          <a:lstStyle/>
          <a:p>
            <a:r>
              <a:rPr lang="en-US" dirty="0"/>
              <a:t>Python Waveform Monitor</a:t>
            </a:r>
          </a:p>
        </p:txBody>
      </p:sp>
      <p:pic>
        <p:nvPicPr>
          <p:cNvPr id="2050" name="Picture 2" descr="alt text">
            <a:extLst>
              <a:ext uri="{FF2B5EF4-FFF2-40B4-BE49-F238E27FC236}">
                <a16:creationId xmlns:a16="http://schemas.microsoft.com/office/drawing/2014/main" id="{112C63DC-B8F2-0CA8-CFD6-E8C12D7848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4188" r="5209"/>
          <a:stretch>
            <a:fillRect/>
          </a:stretch>
        </p:blipFill>
        <p:spPr bwMode="auto">
          <a:xfrm>
            <a:off x="5119688" y="1795463"/>
            <a:ext cx="6462712" cy="4189412"/>
          </a:xfrm>
          <a:prstGeom prst="rect">
            <a:avLst/>
          </a:prstGeom>
          <a:solidFill>
            <a:srgbClr val="FFFFFF"/>
          </a:solidFill>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5AED8B8-7053-926B-14A0-BD7D8F8140FA}"/>
                  </a:ext>
                </a:extLst>
              </p:cNvPr>
              <p:cNvSpPr txBox="1"/>
              <p:nvPr/>
            </p:nvSpPr>
            <p:spPr>
              <a:xfrm>
                <a:off x="0" y="6163805"/>
                <a:ext cx="6516304" cy="529390"/>
              </a:xfrm>
              <a:prstGeom prst="rect">
                <a:avLst/>
              </a:prstGeom>
              <a:noFill/>
            </p:spPr>
            <p:txBody>
              <a:bodyPr wrap="none" lIns="0" tIns="0" rIns="0" bIns="0" rtlCol="0">
                <a:noAutofit/>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𝐴</m:t>
                      </m:r>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m:t>
                          </m:r>
                          <m:r>
                            <a:rPr lang="en-US" sz="1600" b="0" i="1" smtClean="0">
                              <a:latin typeface="Cambria Math" panose="02040503050406030204" pitchFamily="18" charset="0"/>
                            </a:rPr>
                            <m:t>𝐺</m:t>
                          </m:r>
                          <m:r>
                            <a:rPr lang="en-US" sz="1600" b="0" i="1" smtClean="0">
                              <a:latin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𝑘</m:t>
                              </m:r>
                            </m:e>
                            <m:sub>
                              <m:r>
                                <a:rPr lang="en-US" sz="1600" i="1">
                                  <a:latin typeface="Cambria Math" panose="02040503050406030204" pitchFamily="18" charset="0"/>
                                  <a:ea typeface="Cambria Math" panose="02040503050406030204" pitchFamily="18" charset="0"/>
                                </a:rPr>
                                <m:t>𝑚𝑎𝑥</m:t>
                              </m:r>
                            </m:sub>
                          </m:sSub>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rPr>
                            <m:t>|</m:t>
                          </m:r>
                        </m:num>
                        <m:den>
                          <m:r>
                            <a:rPr lang="en-US" sz="1600" b="0" i="1" smtClean="0">
                              <a:latin typeface="Cambria Math" panose="02040503050406030204" pitchFamily="18" charset="0"/>
                            </a:rPr>
                            <m:t>𝑁</m:t>
                          </m:r>
                        </m:den>
                      </m:f>
                      <m:f>
                        <m:fPr>
                          <m:ctrlPr>
                            <a:rPr lang="en-US" sz="1600" b="0" i="1" smtClean="0">
                              <a:latin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𝜋</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𝑓</m:t>
                          </m:r>
                          <m:r>
                            <a:rPr lang="en-US" sz="1600" b="0" i="1" smtClean="0">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𝑘</m:t>
                              </m:r>
                            </m:e>
                            <m:sub>
                              <m:r>
                                <a:rPr lang="en-US" sz="1600" i="1">
                                  <a:latin typeface="Cambria Math" panose="02040503050406030204" pitchFamily="18" charset="0"/>
                                  <a:ea typeface="Cambria Math" panose="02040503050406030204" pitchFamily="18" charset="0"/>
                                </a:rPr>
                                <m:t>𝑚𝑎𝑥</m:t>
                              </m:r>
                            </m:sub>
                          </m:sSub>
                          <m:r>
                            <a:rPr lang="en-US" sz="1600" b="0" i="1" smtClean="0">
                              <a:latin typeface="Cambria Math" panose="02040503050406030204" pitchFamily="18" charset="0"/>
                              <a:ea typeface="Cambria Math" panose="02040503050406030204" pitchFamily="18" charset="0"/>
                            </a:rPr>
                            <m:t>)</m:t>
                          </m:r>
                        </m:num>
                        <m:den>
                          <m:r>
                            <m:rPr>
                              <m:sty m:val="p"/>
                            </m:rPr>
                            <a:rPr lang="en-US" sz="1600" b="0" i="0" smtClean="0">
                              <a:latin typeface="Cambria Math" panose="02040503050406030204" pitchFamily="18" charset="0"/>
                            </a:rPr>
                            <m:t>sin</m:t>
                          </m:r>
                          <m:r>
                            <a:rPr lang="en-US" sz="1600" b="0" i="1" smtClean="0">
                              <a:latin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𝜋</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𝑓</m:t>
                          </m:r>
                          <m:r>
                            <a:rPr lang="en-US" sz="1600" b="0" i="1" smtClean="0">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𝑘</m:t>
                              </m:r>
                            </m:e>
                            <m:sub>
                              <m:r>
                                <a:rPr lang="en-US" sz="1600" i="1">
                                  <a:latin typeface="Cambria Math" panose="02040503050406030204" pitchFamily="18" charset="0"/>
                                  <a:ea typeface="Cambria Math" panose="02040503050406030204" pitchFamily="18" charset="0"/>
                                </a:rPr>
                                <m:t>𝑚𝑎𝑥</m:t>
                              </m:r>
                            </m:sub>
                          </m:sSub>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rPr>
                            <m:t>)</m:t>
                          </m:r>
                        </m:den>
                      </m:f>
                      <m:r>
                        <a:rPr lang="en-US"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𝑓</m:t>
                      </m:r>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𝑘</m:t>
                          </m:r>
                        </m:e>
                        <m:sub>
                          <m:r>
                            <a:rPr lang="en-US" sz="1600" i="1">
                              <a:latin typeface="Cambria Math" panose="02040503050406030204" pitchFamily="18" charset="0"/>
                              <a:ea typeface="Cambria Math" panose="02040503050406030204" pitchFamily="18" charset="0"/>
                            </a:rPr>
                            <m:t>𝑚𝑎𝑥</m:t>
                          </m:r>
                        </m:sub>
                      </m:sSub>
                      <m:r>
                        <a:rPr lang="en-US" sz="1600" b="0" i="1" smtClean="0">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1</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𝑓</m:t>
                      </m:r>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𝑘</m:t>
                          </m:r>
                        </m:e>
                        <m:sub>
                          <m:r>
                            <a:rPr lang="en-US" sz="1600" b="0" i="1" smtClean="0">
                              <a:latin typeface="Cambria Math" panose="02040503050406030204" pitchFamily="18" charset="0"/>
                              <a:ea typeface="Cambria Math" panose="02040503050406030204" pitchFamily="18" charset="0"/>
                            </a:rPr>
                            <m:t>𝑚𝑎𝑥</m:t>
                          </m:r>
                        </m:sub>
                      </m:sSub>
                      <m:r>
                        <a:rPr lang="en-US" sz="1600" b="0" i="1" smtClean="0">
                          <a:latin typeface="Cambria Math" panose="02040503050406030204" pitchFamily="18" charset="0"/>
                          <a:ea typeface="Cambria Math" panose="02040503050406030204" pitchFamily="18" charset="0"/>
                        </a:rPr>
                        <m:t>+1)</m:t>
                      </m:r>
                    </m:oMath>
                  </m:oMathPara>
                </a14:m>
                <a:endParaRPr lang="en-US" sz="1600" dirty="0" err="1"/>
              </a:p>
            </p:txBody>
          </p:sp>
        </mc:Choice>
        <mc:Fallback xmlns="">
          <p:sp>
            <p:nvSpPr>
              <p:cNvPr id="3" name="TextBox 2">
                <a:extLst>
                  <a:ext uri="{FF2B5EF4-FFF2-40B4-BE49-F238E27FC236}">
                    <a16:creationId xmlns:a16="http://schemas.microsoft.com/office/drawing/2014/main" id="{45AED8B8-7053-926B-14A0-BD7D8F8140FA}"/>
                  </a:ext>
                </a:extLst>
              </p:cNvPr>
              <p:cNvSpPr txBox="1">
                <a:spLocks noRot="1" noChangeAspect="1" noMove="1" noResize="1" noEditPoints="1" noAdjustHandles="1" noChangeArrowheads="1" noChangeShapeType="1" noTextEdit="1"/>
              </p:cNvSpPr>
              <p:nvPr/>
            </p:nvSpPr>
            <p:spPr>
              <a:xfrm>
                <a:off x="0" y="6163805"/>
                <a:ext cx="6516304" cy="52939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6A521F5-AE3B-F1D2-1973-E54513F68CA0}"/>
                  </a:ext>
                </a:extLst>
              </p:cNvPr>
              <p:cNvSpPr txBox="1"/>
              <p:nvPr/>
            </p:nvSpPr>
            <p:spPr>
              <a:xfrm>
                <a:off x="0" y="5483145"/>
                <a:ext cx="3763479" cy="529390"/>
              </a:xfrm>
              <a:prstGeom prst="rect">
                <a:avLst/>
              </a:prstGeom>
              <a:noFill/>
            </p:spPr>
            <p:txBody>
              <a:bodyPr wrap="none" lIns="0" tIns="0" rIns="0" bIns="0" rtlCol="0">
                <a:noAutofit/>
              </a:bodyPr>
              <a:lstStyle/>
              <a:p>
                <a:pPr algn="ct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𝑃</m:t>
                          </m:r>
                        </m:e>
                        <m:sub>
                          <m:r>
                            <a:rPr lang="en-US" sz="1600" b="0" i="1" smtClean="0">
                              <a:latin typeface="Cambria Math" panose="02040503050406030204" pitchFamily="18" charset="0"/>
                            </a:rPr>
                            <m:t>𝑜</m:t>
                          </m:r>
                        </m:sub>
                      </m:sSub>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2</m:t>
                          </m:r>
                          <m:r>
                            <a:rPr lang="en-US" sz="1600" b="0" i="1" smtClean="0">
                              <a:latin typeface="Cambria Math" panose="02040503050406030204" pitchFamily="18" charset="0"/>
                              <a:ea typeface="Cambria Math" panose="02040503050406030204" pitchFamily="18" charset="0"/>
                            </a:rPr>
                            <m:t>𝜋</m:t>
                          </m:r>
                        </m:den>
                      </m:f>
                      <m:r>
                        <a:rPr lang="en-US" sz="1600" b="0" i="1" smtClean="0">
                          <a:latin typeface="Cambria Math" panose="02040503050406030204" pitchFamily="18" charset="0"/>
                        </a:rPr>
                        <m:t>𝐴𝑟𝑔</m:t>
                      </m:r>
                      <m:r>
                        <a:rPr lang="en-US" sz="1600" b="0" i="1" smtClean="0">
                          <a:latin typeface="Cambria Math" panose="02040503050406030204" pitchFamily="18" charset="0"/>
                        </a:rPr>
                        <m:t>(</m:t>
                      </m:r>
                      <m:r>
                        <a:rPr lang="en-US" sz="1600" b="0" i="1" smtClean="0">
                          <a:latin typeface="Cambria Math" panose="02040503050406030204" pitchFamily="18" charset="0"/>
                        </a:rPr>
                        <m:t>𝐺</m:t>
                      </m:r>
                      <m:r>
                        <a:rPr lang="en-US" sz="1600" b="0" i="1" smtClean="0">
                          <a:latin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𝑘</m:t>
                          </m:r>
                        </m:e>
                        <m:sub>
                          <m:r>
                            <a:rPr lang="en-US" sz="1600" i="1">
                              <a:latin typeface="Cambria Math" panose="02040503050406030204" pitchFamily="18" charset="0"/>
                              <a:ea typeface="Cambria Math" panose="02040503050406030204" pitchFamily="18" charset="0"/>
                            </a:rPr>
                            <m:t>𝑚𝑎𝑥</m:t>
                          </m:r>
                        </m:sub>
                      </m:sSub>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𝑒</m:t>
                          </m:r>
                        </m:e>
                        <m:sup>
                          <m:r>
                            <a:rPr lang="en-US" sz="1600" b="0" i="1" smtClean="0">
                              <a:latin typeface="Cambria Math" panose="02040503050406030204" pitchFamily="18" charset="0"/>
                            </a:rPr>
                            <m:t>−</m:t>
                          </m:r>
                          <m:r>
                            <a:rPr lang="en-US" sz="1600" b="0" i="1" smtClean="0">
                              <a:latin typeface="Cambria Math" panose="02040503050406030204" pitchFamily="18" charset="0"/>
                            </a:rPr>
                            <m:t>𝑗</m:t>
                          </m:r>
                          <m:r>
                            <a:rPr lang="en-US" sz="1600" b="0" i="1" smtClean="0">
                              <a:latin typeface="Cambria Math" panose="02040503050406030204" pitchFamily="18" charset="0"/>
                              <a:ea typeface="Cambria Math" panose="02040503050406030204" pitchFamily="18" charset="0"/>
                            </a:rPr>
                            <m:t>𝜋</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𝑓</m:t>
                          </m:r>
                          <m:r>
                            <a:rPr lang="en-US" sz="1600" b="0" i="1" smtClean="0">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𝑘</m:t>
                              </m:r>
                            </m:e>
                            <m:sub>
                              <m:r>
                                <a:rPr lang="en-US" sz="1600" i="1">
                                  <a:latin typeface="Cambria Math" panose="02040503050406030204" pitchFamily="18" charset="0"/>
                                  <a:ea typeface="Cambria Math" panose="02040503050406030204" pitchFamily="18" charset="0"/>
                                </a:rPr>
                                <m:t>𝑚𝑎𝑥</m:t>
                              </m:r>
                            </m:sub>
                          </m:sSub>
                          <m:r>
                            <a:rPr lang="en-US" sz="1600" b="0" i="1" smtClean="0">
                              <a:latin typeface="Cambria Math" panose="02040503050406030204" pitchFamily="18" charset="0"/>
                              <a:ea typeface="Cambria Math" panose="02040503050406030204" pitchFamily="18" charset="0"/>
                            </a:rPr>
                            <m:t>)</m:t>
                          </m:r>
                        </m:sup>
                      </m:sSup>
                      <m:r>
                        <a:rPr lang="en-US" sz="1600" b="0" i="1" smtClean="0">
                          <a:latin typeface="Cambria Math" panose="02040503050406030204" pitchFamily="18" charset="0"/>
                        </a:rPr>
                        <m:t>)</m:t>
                      </m:r>
                    </m:oMath>
                  </m:oMathPara>
                </a14:m>
                <a:endParaRPr lang="en-US" sz="1600" dirty="0" err="1"/>
              </a:p>
            </p:txBody>
          </p:sp>
        </mc:Choice>
        <mc:Fallback xmlns="">
          <p:sp>
            <p:nvSpPr>
              <p:cNvPr id="4" name="TextBox 3">
                <a:extLst>
                  <a:ext uri="{FF2B5EF4-FFF2-40B4-BE49-F238E27FC236}">
                    <a16:creationId xmlns:a16="http://schemas.microsoft.com/office/drawing/2014/main" id="{A6A521F5-AE3B-F1D2-1973-E54513F68CA0}"/>
                  </a:ext>
                </a:extLst>
              </p:cNvPr>
              <p:cNvSpPr txBox="1">
                <a:spLocks noRot="1" noChangeAspect="1" noMove="1" noResize="1" noEditPoints="1" noAdjustHandles="1" noChangeArrowheads="1" noChangeShapeType="1" noTextEdit="1"/>
              </p:cNvSpPr>
              <p:nvPr/>
            </p:nvSpPr>
            <p:spPr>
              <a:xfrm>
                <a:off x="0" y="5483145"/>
                <a:ext cx="3763479" cy="529390"/>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822681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193679C-7B81-3C65-E1C1-5FDEFB2EE145}"/>
              </a:ext>
            </a:extLst>
          </p:cNvPr>
          <p:cNvSpPr>
            <a:spLocks noGrp="1"/>
          </p:cNvSpPr>
          <p:nvPr>
            <p:ph type="subTitle" idx="1"/>
          </p:nvPr>
        </p:nvSpPr>
        <p:spPr/>
        <p:txBody>
          <a:bodyPr/>
          <a:lstStyle/>
          <a:p>
            <a:pPr marL="0" indent="0">
              <a:buNone/>
            </a:pPr>
            <a:r>
              <a:rPr lang="en-US" dirty="0"/>
              <a:t>Divider Subtext, Arial 28pt</a:t>
            </a:r>
          </a:p>
        </p:txBody>
      </p:sp>
      <p:sp>
        <p:nvSpPr>
          <p:cNvPr id="2" name="Title 1">
            <a:extLst>
              <a:ext uri="{FF2B5EF4-FFF2-40B4-BE49-F238E27FC236}">
                <a16:creationId xmlns:a16="http://schemas.microsoft.com/office/drawing/2014/main" id="{952D17E8-3E65-2E43-D2BE-48731D1046DE}"/>
              </a:ext>
            </a:extLst>
          </p:cNvPr>
          <p:cNvSpPr>
            <a:spLocks noGrp="1"/>
          </p:cNvSpPr>
          <p:nvPr>
            <p:ph type="ctrTitle"/>
          </p:nvPr>
        </p:nvSpPr>
        <p:spPr/>
        <p:txBody>
          <a:bodyPr/>
          <a:lstStyle/>
          <a:p>
            <a:r>
              <a:rPr lang="en-US" dirty="0"/>
              <a:t>Section Divider, Arial Bold 40pt</a:t>
            </a:r>
          </a:p>
        </p:txBody>
      </p:sp>
      <p:sp>
        <p:nvSpPr>
          <p:cNvPr id="6" name="TextBox 5">
            <a:extLst>
              <a:ext uri="{FF2B5EF4-FFF2-40B4-BE49-F238E27FC236}">
                <a16:creationId xmlns:a16="http://schemas.microsoft.com/office/drawing/2014/main" id="{D37F0FC0-FD01-5567-A204-9C0212A6C9BE}"/>
              </a:ext>
            </a:extLst>
          </p:cNvPr>
          <p:cNvSpPr txBox="1"/>
          <p:nvPr/>
        </p:nvSpPr>
        <p:spPr>
          <a:xfrm>
            <a:off x="3901440" y="5953760"/>
            <a:ext cx="0" cy="0"/>
          </a:xfrm>
          <a:prstGeom prst="rect">
            <a:avLst/>
          </a:prstGeom>
          <a:noFill/>
        </p:spPr>
        <p:txBody>
          <a:bodyPr wrap="none" rtlCol="0">
            <a:noAutofit/>
          </a:bodyPr>
          <a:lstStyle/>
          <a:p>
            <a:pPr algn="ctr"/>
            <a:endParaRPr lang="en-US" sz="1600" dirty="0" err="1"/>
          </a:p>
        </p:txBody>
      </p:sp>
    </p:spTree>
    <p:extLst>
      <p:ext uri="{BB962C8B-B14F-4D97-AF65-F5344CB8AC3E}">
        <p14:creationId xmlns:p14="http://schemas.microsoft.com/office/powerpoint/2010/main" val="42703410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0357B-5831-2FCE-127E-9D2BDE22B4C3}"/>
              </a:ext>
            </a:extLst>
          </p:cNvPr>
          <p:cNvSpPr>
            <a:spLocks noGrp="1"/>
          </p:cNvSpPr>
          <p:nvPr>
            <p:ph type="title"/>
          </p:nvPr>
        </p:nvSpPr>
        <p:spPr/>
        <p:txBody>
          <a:bodyPr/>
          <a:lstStyle/>
          <a:p>
            <a:r>
              <a:rPr lang="en-US" dirty="0"/>
              <a:t>Layout: One Column Content</a:t>
            </a:r>
            <a:br>
              <a:rPr lang="en-US" dirty="0"/>
            </a:br>
            <a:r>
              <a:rPr lang="en-US" dirty="0"/>
              <a:t>Arial Bold 36pt</a:t>
            </a:r>
          </a:p>
        </p:txBody>
      </p:sp>
      <p:sp>
        <p:nvSpPr>
          <p:cNvPr id="3" name="Content Placeholder 2">
            <a:extLst>
              <a:ext uri="{FF2B5EF4-FFF2-40B4-BE49-F238E27FC236}">
                <a16:creationId xmlns:a16="http://schemas.microsoft.com/office/drawing/2014/main" id="{E93EB6D3-9EC2-E36B-BECD-A53684E6465A}"/>
              </a:ext>
            </a:extLst>
          </p:cNvPr>
          <p:cNvSpPr>
            <a:spLocks noGrp="1"/>
          </p:cNvSpPr>
          <p:nvPr>
            <p:ph idx="1"/>
          </p:nvPr>
        </p:nvSpPr>
        <p:spPr/>
        <p:txBody>
          <a:bodyPr>
            <a:normAutofit/>
          </a:bodyPr>
          <a:lstStyle/>
          <a:p>
            <a:r>
              <a:rPr lang="en-US" dirty="0"/>
              <a:t>First level bullet text, Arial 24pt</a:t>
            </a:r>
          </a:p>
          <a:p>
            <a:r>
              <a:rPr lang="en-US" dirty="0"/>
              <a:t>Line spacing, before paragraph 12pt</a:t>
            </a:r>
          </a:p>
          <a:p>
            <a:r>
              <a:rPr lang="en-US" dirty="0"/>
              <a:t>Left justified</a:t>
            </a:r>
          </a:p>
          <a:p>
            <a:r>
              <a:rPr lang="en-US" dirty="0"/>
              <a:t>Sentence case </a:t>
            </a:r>
          </a:p>
          <a:p>
            <a:r>
              <a:rPr lang="en-US" dirty="0"/>
              <a:t>First level bullet text, Arial 24pt</a:t>
            </a:r>
          </a:p>
          <a:p>
            <a:pPr lvl="1"/>
            <a:r>
              <a:rPr lang="en-US" dirty="0"/>
              <a:t>Second level bullet, Arial 20pt</a:t>
            </a:r>
          </a:p>
          <a:p>
            <a:pPr lvl="1"/>
            <a:r>
              <a:rPr lang="en-US" dirty="0"/>
              <a:t>Line spacing, before paragraph 6pt</a:t>
            </a:r>
          </a:p>
          <a:p>
            <a:pPr lvl="2"/>
            <a:r>
              <a:rPr lang="en-US" dirty="0"/>
              <a:t>Third level bullet, Arial 18pt</a:t>
            </a:r>
          </a:p>
          <a:p>
            <a:pPr lvl="2"/>
            <a:r>
              <a:rPr lang="en-US" dirty="0"/>
              <a:t>Line spacing, before paragraph 6pt</a:t>
            </a:r>
          </a:p>
        </p:txBody>
      </p:sp>
    </p:spTree>
    <p:extLst>
      <p:ext uri="{BB962C8B-B14F-4D97-AF65-F5344CB8AC3E}">
        <p14:creationId xmlns:p14="http://schemas.microsoft.com/office/powerpoint/2010/main" val="2224552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B167CA0-F406-EADA-F18C-93CC08B04F97}"/>
              </a:ext>
            </a:extLst>
          </p:cNvPr>
          <p:cNvSpPr>
            <a:spLocks noGrp="1"/>
          </p:cNvSpPr>
          <p:nvPr>
            <p:ph type="title"/>
          </p:nvPr>
        </p:nvSpPr>
        <p:spPr/>
        <p:txBody>
          <a:bodyPr/>
          <a:lstStyle/>
          <a:p>
            <a:r>
              <a:rPr lang="en-US" dirty="0"/>
              <a:t>Layout: Two Column Content</a:t>
            </a:r>
            <a:br>
              <a:rPr lang="en-US" dirty="0"/>
            </a:br>
            <a:r>
              <a:rPr lang="en-US" dirty="0"/>
              <a:t>Arial Bold 36pt</a:t>
            </a:r>
          </a:p>
        </p:txBody>
      </p:sp>
      <p:sp>
        <p:nvSpPr>
          <p:cNvPr id="3" name="Content Placeholder 2">
            <a:extLst>
              <a:ext uri="{FF2B5EF4-FFF2-40B4-BE49-F238E27FC236}">
                <a16:creationId xmlns:a16="http://schemas.microsoft.com/office/drawing/2014/main" id="{322BAB32-BC71-9BC2-F50E-13B334297508}"/>
              </a:ext>
            </a:extLst>
          </p:cNvPr>
          <p:cNvSpPr>
            <a:spLocks noGrp="1"/>
          </p:cNvSpPr>
          <p:nvPr>
            <p:ph sz="half" idx="1"/>
          </p:nvPr>
        </p:nvSpPr>
        <p:spPr/>
        <p:txBody>
          <a:bodyPr/>
          <a:lstStyle/>
          <a:p>
            <a:r>
              <a:rPr lang="en-US" dirty="0"/>
              <a:t>First level bullet text, Arial 24pt</a:t>
            </a:r>
          </a:p>
          <a:p>
            <a:r>
              <a:rPr lang="en-US" dirty="0"/>
              <a:t>Line spacing, before paragraph 12pt</a:t>
            </a:r>
          </a:p>
          <a:p>
            <a:r>
              <a:rPr lang="en-US" dirty="0"/>
              <a:t>Left justified</a:t>
            </a:r>
          </a:p>
          <a:p>
            <a:r>
              <a:rPr lang="en-US" dirty="0"/>
              <a:t>Sentence case </a:t>
            </a:r>
          </a:p>
          <a:p>
            <a:r>
              <a:rPr lang="en-US" dirty="0"/>
              <a:t>First level bullet text, Arial 24pt</a:t>
            </a:r>
          </a:p>
          <a:p>
            <a:pPr lvl="1"/>
            <a:r>
              <a:rPr lang="en-US" dirty="0"/>
              <a:t>Second level bullet, Arial 20pt</a:t>
            </a:r>
          </a:p>
          <a:p>
            <a:pPr lvl="1"/>
            <a:r>
              <a:rPr lang="en-US" dirty="0"/>
              <a:t>Line spacing, before paragraph 6pt</a:t>
            </a:r>
          </a:p>
          <a:p>
            <a:pPr lvl="2"/>
            <a:r>
              <a:rPr lang="en-US" dirty="0"/>
              <a:t>Third level bullet, Arial 18pt</a:t>
            </a:r>
          </a:p>
          <a:p>
            <a:pPr lvl="2"/>
            <a:r>
              <a:rPr lang="en-US" dirty="0"/>
              <a:t>Line spacing, before paragraph 6pt</a:t>
            </a:r>
          </a:p>
        </p:txBody>
      </p:sp>
      <p:sp>
        <p:nvSpPr>
          <p:cNvPr id="4" name="Content Placeholder 3">
            <a:extLst>
              <a:ext uri="{FF2B5EF4-FFF2-40B4-BE49-F238E27FC236}">
                <a16:creationId xmlns:a16="http://schemas.microsoft.com/office/drawing/2014/main" id="{41DBE0CF-AADA-2D8B-CBEC-E3DF41027A4E}"/>
              </a:ext>
            </a:extLst>
          </p:cNvPr>
          <p:cNvSpPr>
            <a:spLocks noGrp="1"/>
          </p:cNvSpPr>
          <p:nvPr>
            <p:ph sz="half" idx="2"/>
          </p:nvPr>
        </p:nvSpPr>
        <p:spPr/>
        <p:txBody>
          <a:bodyPr/>
          <a:lstStyle/>
          <a:p>
            <a:r>
              <a:rPr lang="en-US" dirty="0"/>
              <a:t>First level bullet text, Arial 24pt</a:t>
            </a:r>
          </a:p>
          <a:p>
            <a:r>
              <a:rPr lang="en-US" dirty="0"/>
              <a:t>Line spacing, before paragraph 12pt</a:t>
            </a:r>
          </a:p>
          <a:p>
            <a:r>
              <a:rPr lang="en-US" dirty="0"/>
              <a:t>Left justified</a:t>
            </a:r>
          </a:p>
          <a:p>
            <a:r>
              <a:rPr lang="en-US" dirty="0"/>
              <a:t>Sentence case </a:t>
            </a:r>
          </a:p>
          <a:p>
            <a:r>
              <a:rPr lang="en-US" dirty="0"/>
              <a:t>First level bullet text, Arial 24pt</a:t>
            </a:r>
          </a:p>
          <a:p>
            <a:pPr lvl="1"/>
            <a:r>
              <a:rPr lang="en-US" dirty="0"/>
              <a:t>Second level bullet, Arial 20pt</a:t>
            </a:r>
          </a:p>
          <a:p>
            <a:pPr lvl="1"/>
            <a:r>
              <a:rPr lang="en-US" dirty="0"/>
              <a:t>Line spacing, before paragraph 6pt</a:t>
            </a:r>
          </a:p>
          <a:p>
            <a:pPr lvl="2"/>
            <a:r>
              <a:rPr lang="en-US" dirty="0"/>
              <a:t>Third level bullet, Arial 18pt</a:t>
            </a:r>
          </a:p>
          <a:p>
            <a:pPr lvl="2"/>
            <a:r>
              <a:rPr lang="en-US" dirty="0"/>
              <a:t>Line spacing, before paragraph 6pt</a:t>
            </a:r>
          </a:p>
        </p:txBody>
      </p:sp>
    </p:spTree>
    <p:extLst>
      <p:ext uri="{BB962C8B-B14F-4D97-AF65-F5344CB8AC3E}">
        <p14:creationId xmlns:p14="http://schemas.microsoft.com/office/powerpoint/2010/main" val="9648398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F630415-6201-B078-494F-ABE7A2DDFF65}"/>
              </a:ext>
            </a:extLst>
          </p:cNvPr>
          <p:cNvSpPr>
            <a:spLocks noGrp="1"/>
          </p:cNvSpPr>
          <p:nvPr>
            <p:ph type="title"/>
          </p:nvPr>
        </p:nvSpPr>
        <p:spPr/>
        <p:txBody>
          <a:bodyPr/>
          <a:lstStyle/>
          <a:p>
            <a:r>
              <a:rPr lang="en-US" dirty="0"/>
              <a:t>Layout: 6 Photos</a:t>
            </a:r>
            <a:br>
              <a:rPr lang="en-US" dirty="0"/>
            </a:br>
            <a:r>
              <a:rPr lang="en-US" dirty="0"/>
              <a:t>Arial Bold 36pt</a:t>
            </a:r>
          </a:p>
        </p:txBody>
      </p:sp>
      <p:sp>
        <p:nvSpPr>
          <p:cNvPr id="56" name="Picture Placeholder 55">
            <a:extLst>
              <a:ext uri="{FF2B5EF4-FFF2-40B4-BE49-F238E27FC236}">
                <a16:creationId xmlns:a16="http://schemas.microsoft.com/office/drawing/2014/main" id="{90AF52BC-5503-696C-9D73-F7CA21288EAA}"/>
              </a:ext>
            </a:extLst>
          </p:cNvPr>
          <p:cNvSpPr>
            <a:spLocks noGrp="1"/>
          </p:cNvSpPr>
          <p:nvPr>
            <p:ph type="pic" sz="quarter" idx="10"/>
          </p:nvPr>
        </p:nvSpPr>
        <p:spPr/>
        <p:txBody>
          <a:bodyPr/>
          <a:lstStyle/>
          <a:p>
            <a:endParaRPr lang="en-US"/>
          </a:p>
        </p:txBody>
      </p:sp>
      <p:sp>
        <p:nvSpPr>
          <p:cNvPr id="57" name="Picture Placeholder 56">
            <a:extLst>
              <a:ext uri="{FF2B5EF4-FFF2-40B4-BE49-F238E27FC236}">
                <a16:creationId xmlns:a16="http://schemas.microsoft.com/office/drawing/2014/main" id="{B6D572CA-F990-3EFD-2268-E503EB22191E}"/>
              </a:ext>
            </a:extLst>
          </p:cNvPr>
          <p:cNvSpPr>
            <a:spLocks noGrp="1"/>
          </p:cNvSpPr>
          <p:nvPr>
            <p:ph type="pic" sz="quarter" idx="11"/>
          </p:nvPr>
        </p:nvSpPr>
        <p:spPr/>
        <p:txBody>
          <a:bodyPr/>
          <a:lstStyle/>
          <a:p>
            <a:endParaRPr lang="en-US"/>
          </a:p>
        </p:txBody>
      </p:sp>
      <p:sp>
        <p:nvSpPr>
          <p:cNvPr id="58" name="Picture Placeholder 57">
            <a:extLst>
              <a:ext uri="{FF2B5EF4-FFF2-40B4-BE49-F238E27FC236}">
                <a16:creationId xmlns:a16="http://schemas.microsoft.com/office/drawing/2014/main" id="{1A91BA3F-0ECB-3B47-8E7B-D4A5C08237A7}"/>
              </a:ext>
            </a:extLst>
          </p:cNvPr>
          <p:cNvSpPr>
            <a:spLocks noGrp="1"/>
          </p:cNvSpPr>
          <p:nvPr>
            <p:ph type="pic" sz="quarter" idx="12"/>
          </p:nvPr>
        </p:nvSpPr>
        <p:spPr/>
        <p:txBody>
          <a:bodyPr/>
          <a:lstStyle/>
          <a:p>
            <a:endParaRPr lang="en-US"/>
          </a:p>
        </p:txBody>
      </p:sp>
      <p:sp>
        <p:nvSpPr>
          <p:cNvPr id="59" name="Picture Placeholder 58">
            <a:extLst>
              <a:ext uri="{FF2B5EF4-FFF2-40B4-BE49-F238E27FC236}">
                <a16:creationId xmlns:a16="http://schemas.microsoft.com/office/drawing/2014/main" id="{09B5D99A-9B99-3AF6-652F-08298DE6988A}"/>
              </a:ext>
            </a:extLst>
          </p:cNvPr>
          <p:cNvSpPr>
            <a:spLocks noGrp="1"/>
          </p:cNvSpPr>
          <p:nvPr>
            <p:ph type="pic" sz="quarter" idx="13"/>
          </p:nvPr>
        </p:nvSpPr>
        <p:spPr/>
        <p:txBody>
          <a:bodyPr/>
          <a:lstStyle/>
          <a:p>
            <a:endParaRPr lang="en-US"/>
          </a:p>
        </p:txBody>
      </p:sp>
      <p:sp>
        <p:nvSpPr>
          <p:cNvPr id="60" name="Picture Placeholder 59">
            <a:extLst>
              <a:ext uri="{FF2B5EF4-FFF2-40B4-BE49-F238E27FC236}">
                <a16:creationId xmlns:a16="http://schemas.microsoft.com/office/drawing/2014/main" id="{140BCBC4-04A2-DCEA-A62E-0B492B1A16A4}"/>
              </a:ext>
            </a:extLst>
          </p:cNvPr>
          <p:cNvSpPr>
            <a:spLocks noGrp="1"/>
          </p:cNvSpPr>
          <p:nvPr>
            <p:ph type="pic" sz="quarter" idx="14"/>
          </p:nvPr>
        </p:nvSpPr>
        <p:spPr/>
        <p:txBody>
          <a:bodyPr/>
          <a:lstStyle/>
          <a:p>
            <a:endParaRPr lang="en-US"/>
          </a:p>
        </p:txBody>
      </p:sp>
      <p:sp>
        <p:nvSpPr>
          <p:cNvPr id="61" name="Picture Placeholder 60">
            <a:extLst>
              <a:ext uri="{FF2B5EF4-FFF2-40B4-BE49-F238E27FC236}">
                <a16:creationId xmlns:a16="http://schemas.microsoft.com/office/drawing/2014/main" id="{2404E2F9-CB79-20B9-C0A8-4740B658C514}"/>
              </a:ext>
            </a:extLst>
          </p:cNvPr>
          <p:cNvSpPr>
            <a:spLocks noGrp="1"/>
          </p:cNvSpPr>
          <p:nvPr>
            <p:ph type="pic" sz="quarter" idx="15"/>
          </p:nvPr>
        </p:nvSpPr>
        <p:spPr/>
        <p:txBody>
          <a:bodyPr/>
          <a:lstStyle/>
          <a:p>
            <a:endParaRPr lang="en-US"/>
          </a:p>
        </p:txBody>
      </p:sp>
    </p:spTree>
    <p:extLst>
      <p:ext uri="{BB962C8B-B14F-4D97-AF65-F5344CB8AC3E}">
        <p14:creationId xmlns:p14="http://schemas.microsoft.com/office/powerpoint/2010/main" val="37200119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8024D-7C1A-B954-BE6E-3A4800A39D4E}"/>
              </a:ext>
            </a:extLst>
          </p:cNvPr>
          <p:cNvSpPr>
            <a:spLocks noGrp="1"/>
          </p:cNvSpPr>
          <p:nvPr>
            <p:ph type="title"/>
          </p:nvPr>
        </p:nvSpPr>
        <p:spPr/>
        <p:txBody>
          <a:bodyPr/>
          <a:lstStyle/>
          <a:p>
            <a:r>
              <a:rPr lang="en-US" dirty="0"/>
              <a:t>Layout: Content Left and Photo</a:t>
            </a:r>
            <a:br>
              <a:rPr lang="en-US" dirty="0"/>
            </a:br>
            <a:r>
              <a:rPr lang="en-US" dirty="0"/>
              <a:t>Arial Bold 36pt</a:t>
            </a:r>
          </a:p>
        </p:txBody>
      </p:sp>
      <p:sp>
        <p:nvSpPr>
          <p:cNvPr id="5" name="Content Placeholder 4">
            <a:extLst>
              <a:ext uri="{FF2B5EF4-FFF2-40B4-BE49-F238E27FC236}">
                <a16:creationId xmlns:a16="http://schemas.microsoft.com/office/drawing/2014/main" id="{A9636375-5112-BB1A-44D2-B0E44C69B09B}"/>
              </a:ext>
            </a:extLst>
          </p:cNvPr>
          <p:cNvSpPr>
            <a:spLocks noGrp="1"/>
          </p:cNvSpPr>
          <p:nvPr>
            <p:ph idx="1"/>
          </p:nvPr>
        </p:nvSpPr>
        <p:spPr/>
        <p:txBody>
          <a:bodyPr>
            <a:normAutofit/>
          </a:bodyPr>
          <a:lstStyle/>
          <a:p>
            <a:r>
              <a:rPr lang="en-US" dirty="0"/>
              <a:t>First level bullet text, Arial 24pt</a:t>
            </a:r>
          </a:p>
          <a:p>
            <a:r>
              <a:rPr lang="en-US" dirty="0"/>
              <a:t>Line spacing, before paragraph 12pt</a:t>
            </a:r>
          </a:p>
          <a:p>
            <a:r>
              <a:rPr lang="en-US" dirty="0"/>
              <a:t>Left justified</a:t>
            </a:r>
          </a:p>
          <a:p>
            <a:r>
              <a:rPr lang="en-US" dirty="0"/>
              <a:t>Sentence case </a:t>
            </a:r>
          </a:p>
        </p:txBody>
      </p:sp>
      <p:sp>
        <p:nvSpPr>
          <p:cNvPr id="8" name="Picture Placeholder 7">
            <a:extLst>
              <a:ext uri="{FF2B5EF4-FFF2-40B4-BE49-F238E27FC236}">
                <a16:creationId xmlns:a16="http://schemas.microsoft.com/office/drawing/2014/main" id="{53EF92B7-ECA5-A5D0-49A7-10DB0D8557C3}"/>
              </a:ext>
            </a:extLst>
          </p:cNvPr>
          <p:cNvSpPr>
            <a:spLocks noGrp="1"/>
          </p:cNvSpPr>
          <p:nvPr>
            <p:ph type="pic" sz="quarter" idx="4294967295"/>
          </p:nvPr>
        </p:nvSpPr>
        <p:spPr>
          <a:xfrm>
            <a:off x="5119688" y="1795463"/>
            <a:ext cx="6462712" cy="4189412"/>
          </a:xfrm>
        </p:spPr>
        <p:txBody>
          <a:bodyPr/>
          <a:lstStyle/>
          <a:p>
            <a:endParaRPr lang="en-US"/>
          </a:p>
        </p:txBody>
      </p:sp>
    </p:spTree>
    <p:extLst>
      <p:ext uri="{BB962C8B-B14F-4D97-AF65-F5344CB8AC3E}">
        <p14:creationId xmlns:p14="http://schemas.microsoft.com/office/powerpoint/2010/main" val="23887488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8024D-7C1A-B954-BE6E-3A4800A39D4E}"/>
              </a:ext>
            </a:extLst>
          </p:cNvPr>
          <p:cNvSpPr>
            <a:spLocks noGrp="1"/>
          </p:cNvSpPr>
          <p:nvPr>
            <p:ph type="title"/>
          </p:nvPr>
        </p:nvSpPr>
        <p:spPr/>
        <p:txBody>
          <a:bodyPr/>
          <a:lstStyle/>
          <a:p>
            <a:r>
              <a:rPr lang="en-US" dirty="0"/>
              <a:t>Layout: Content Right and Photo</a:t>
            </a:r>
            <a:br>
              <a:rPr lang="en-US" dirty="0"/>
            </a:br>
            <a:r>
              <a:rPr lang="en-US" dirty="0"/>
              <a:t>Arial Bold 36pt</a:t>
            </a:r>
          </a:p>
        </p:txBody>
      </p:sp>
      <p:sp>
        <p:nvSpPr>
          <p:cNvPr id="5" name="Content Placeholder 4">
            <a:extLst>
              <a:ext uri="{FF2B5EF4-FFF2-40B4-BE49-F238E27FC236}">
                <a16:creationId xmlns:a16="http://schemas.microsoft.com/office/drawing/2014/main" id="{A9636375-5112-BB1A-44D2-B0E44C69B09B}"/>
              </a:ext>
            </a:extLst>
          </p:cNvPr>
          <p:cNvSpPr>
            <a:spLocks noGrp="1"/>
          </p:cNvSpPr>
          <p:nvPr>
            <p:ph idx="1"/>
          </p:nvPr>
        </p:nvSpPr>
        <p:spPr/>
        <p:txBody>
          <a:bodyPr/>
          <a:lstStyle/>
          <a:p>
            <a:r>
              <a:rPr lang="en-US" dirty="0"/>
              <a:t>First level bullet text, Arial 24pt</a:t>
            </a:r>
          </a:p>
          <a:p>
            <a:r>
              <a:rPr lang="en-US" dirty="0"/>
              <a:t>Line spacing, before paragraph 12pt</a:t>
            </a:r>
          </a:p>
          <a:p>
            <a:r>
              <a:rPr lang="en-US" dirty="0"/>
              <a:t>Left justified</a:t>
            </a:r>
          </a:p>
          <a:p>
            <a:r>
              <a:rPr lang="en-US" dirty="0"/>
              <a:t>Sentence case </a:t>
            </a:r>
          </a:p>
        </p:txBody>
      </p:sp>
      <p:sp>
        <p:nvSpPr>
          <p:cNvPr id="9" name="Picture Placeholder 8">
            <a:extLst>
              <a:ext uri="{FF2B5EF4-FFF2-40B4-BE49-F238E27FC236}">
                <a16:creationId xmlns:a16="http://schemas.microsoft.com/office/drawing/2014/main" id="{6FB126B9-EB0E-3661-0571-9787ACFB82EE}"/>
              </a:ext>
            </a:extLst>
          </p:cNvPr>
          <p:cNvSpPr>
            <a:spLocks noGrp="1"/>
          </p:cNvSpPr>
          <p:nvPr>
            <p:ph type="pic" sz="quarter" idx="10"/>
          </p:nvPr>
        </p:nvSpPr>
        <p:spPr/>
        <p:txBody>
          <a:bodyPr/>
          <a:lstStyle/>
          <a:p>
            <a:endParaRPr lang="en-US"/>
          </a:p>
        </p:txBody>
      </p:sp>
    </p:spTree>
    <p:extLst>
      <p:ext uri="{BB962C8B-B14F-4D97-AF65-F5344CB8AC3E}">
        <p14:creationId xmlns:p14="http://schemas.microsoft.com/office/powerpoint/2010/main" val="34102819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CFC35-87C6-3902-53AB-D3ECDE6E2772}"/>
              </a:ext>
            </a:extLst>
          </p:cNvPr>
          <p:cNvSpPr>
            <a:spLocks noGrp="1"/>
          </p:cNvSpPr>
          <p:nvPr>
            <p:ph type="title"/>
          </p:nvPr>
        </p:nvSpPr>
        <p:spPr/>
        <p:txBody>
          <a:bodyPr/>
          <a:lstStyle/>
          <a:p>
            <a:r>
              <a:rPr lang="en-US" dirty="0"/>
              <a:t>Layout: Content Left and 4 Photos</a:t>
            </a:r>
            <a:br>
              <a:rPr lang="en-US" dirty="0"/>
            </a:br>
            <a:r>
              <a:rPr lang="en-US" dirty="0"/>
              <a:t>Arial Bold 36pt</a:t>
            </a:r>
          </a:p>
        </p:txBody>
      </p:sp>
      <p:sp>
        <p:nvSpPr>
          <p:cNvPr id="3" name="Content Placeholder 2">
            <a:extLst>
              <a:ext uri="{FF2B5EF4-FFF2-40B4-BE49-F238E27FC236}">
                <a16:creationId xmlns:a16="http://schemas.microsoft.com/office/drawing/2014/main" id="{C59B58BE-4089-6363-203D-672051094A1E}"/>
              </a:ext>
            </a:extLst>
          </p:cNvPr>
          <p:cNvSpPr>
            <a:spLocks noGrp="1"/>
          </p:cNvSpPr>
          <p:nvPr>
            <p:ph idx="1"/>
          </p:nvPr>
        </p:nvSpPr>
        <p:spPr/>
        <p:txBody>
          <a:bodyPr anchor="ctr" anchorCtr="0"/>
          <a:lstStyle/>
          <a:p>
            <a:r>
              <a:rPr lang="en-US" dirty="0"/>
              <a:t>First level bullet text, Arial 24pt</a:t>
            </a:r>
          </a:p>
          <a:p>
            <a:r>
              <a:rPr lang="en-US" dirty="0"/>
              <a:t>Line spacing, before paragraph 12pt</a:t>
            </a:r>
          </a:p>
          <a:p>
            <a:r>
              <a:rPr lang="en-US" dirty="0"/>
              <a:t>Left justified</a:t>
            </a:r>
          </a:p>
          <a:p>
            <a:r>
              <a:rPr lang="en-US" dirty="0"/>
              <a:t>Sentence case </a:t>
            </a:r>
          </a:p>
        </p:txBody>
      </p:sp>
      <p:sp>
        <p:nvSpPr>
          <p:cNvPr id="6" name="Picture Placeholder 5">
            <a:extLst>
              <a:ext uri="{FF2B5EF4-FFF2-40B4-BE49-F238E27FC236}">
                <a16:creationId xmlns:a16="http://schemas.microsoft.com/office/drawing/2014/main" id="{DCFDA4E7-2709-B741-E0FF-DECE97C7FE25}"/>
              </a:ext>
            </a:extLst>
          </p:cNvPr>
          <p:cNvSpPr>
            <a:spLocks noGrp="1"/>
          </p:cNvSpPr>
          <p:nvPr>
            <p:ph type="pic" sz="quarter" idx="10"/>
          </p:nvPr>
        </p:nvSpPr>
        <p:spPr/>
        <p:txBody>
          <a:bodyPr/>
          <a:lstStyle/>
          <a:p>
            <a:endParaRPr lang="en-US"/>
          </a:p>
        </p:txBody>
      </p:sp>
      <p:sp>
        <p:nvSpPr>
          <p:cNvPr id="7" name="Picture Placeholder 6">
            <a:extLst>
              <a:ext uri="{FF2B5EF4-FFF2-40B4-BE49-F238E27FC236}">
                <a16:creationId xmlns:a16="http://schemas.microsoft.com/office/drawing/2014/main" id="{58F378DE-575D-619E-253F-25379857976D}"/>
              </a:ext>
            </a:extLst>
          </p:cNvPr>
          <p:cNvSpPr>
            <a:spLocks noGrp="1"/>
          </p:cNvSpPr>
          <p:nvPr>
            <p:ph type="pic" sz="quarter" idx="11"/>
          </p:nvPr>
        </p:nvSpPr>
        <p:spPr/>
        <p:txBody>
          <a:bodyPr/>
          <a:lstStyle/>
          <a:p>
            <a:endParaRPr lang="en-US"/>
          </a:p>
        </p:txBody>
      </p:sp>
      <p:sp>
        <p:nvSpPr>
          <p:cNvPr id="8" name="Picture Placeholder 7">
            <a:extLst>
              <a:ext uri="{FF2B5EF4-FFF2-40B4-BE49-F238E27FC236}">
                <a16:creationId xmlns:a16="http://schemas.microsoft.com/office/drawing/2014/main" id="{60C66B49-F0F6-1455-72B7-6DBFEB6EEFF4}"/>
              </a:ext>
            </a:extLst>
          </p:cNvPr>
          <p:cNvSpPr>
            <a:spLocks noGrp="1"/>
          </p:cNvSpPr>
          <p:nvPr>
            <p:ph type="pic" sz="quarter" idx="12"/>
          </p:nvPr>
        </p:nvSpPr>
        <p:spPr/>
        <p:txBody>
          <a:bodyPr/>
          <a:lstStyle/>
          <a:p>
            <a:endParaRPr lang="en-US"/>
          </a:p>
        </p:txBody>
      </p:sp>
      <p:sp>
        <p:nvSpPr>
          <p:cNvPr id="9" name="Picture Placeholder 8">
            <a:extLst>
              <a:ext uri="{FF2B5EF4-FFF2-40B4-BE49-F238E27FC236}">
                <a16:creationId xmlns:a16="http://schemas.microsoft.com/office/drawing/2014/main" id="{A934685C-CF8C-DF17-A7DB-93CE5D75AC51}"/>
              </a:ext>
            </a:extLst>
          </p:cNvPr>
          <p:cNvSpPr>
            <a:spLocks noGrp="1"/>
          </p:cNvSpPr>
          <p:nvPr>
            <p:ph type="pic" sz="quarter" idx="13"/>
          </p:nvPr>
        </p:nvSpPr>
        <p:spPr/>
        <p:txBody>
          <a:bodyPr/>
          <a:lstStyle/>
          <a:p>
            <a:endParaRPr lang="en-US"/>
          </a:p>
        </p:txBody>
      </p:sp>
    </p:spTree>
    <p:extLst>
      <p:ext uri="{BB962C8B-B14F-4D97-AF65-F5344CB8AC3E}">
        <p14:creationId xmlns:p14="http://schemas.microsoft.com/office/powerpoint/2010/main" val="40725258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9B58BE-4089-6363-203D-672051094A1E}"/>
              </a:ext>
            </a:extLst>
          </p:cNvPr>
          <p:cNvSpPr>
            <a:spLocks noGrp="1"/>
          </p:cNvSpPr>
          <p:nvPr>
            <p:ph idx="1"/>
          </p:nvPr>
        </p:nvSpPr>
        <p:spPr/>
        <p:txBody>
          <a:bodyPr anchor="ctr" anchorCtr="0"/>
          <a:lstStyle/>
          <a:p>
            <a:r>
              <a:rPr lang="en-US" dirty="0"/>
              <a:t>First level bullet text, Arial 24pt</a:t>
            </a:r>
          </a:p>
          <a:p>
            <a:r>
              <a:rPr lang="en-US" dirty="0"/>
              <a:t>Line spacing, before paragraph 12pt</a:t>
            </a:r>
          </a:p>
          <a:p>
            <a:r>
              <a:rPr lang="en-US" dirty="0"/>
              <a:t>Left justified</a:t>
            </a:r>
          </a:p>
          <a:p>
            <a:r>
              <a:rPr lang="en-US" dirty="0"/>
              <a:t>Sentence case </a:t>
            </a:r>
          </a:p>
        </p:txBody>
      </p:sp>
      <p:sp>
        <p:nvSpPr>
          <p:cNvPr id="24" name="Picture Placeholder 23">
            <a:extLst>
              <a:ext uri="{FF2B5EF4-FFF2-40B4-BE49-F238E27FC236}">
                <a16:creationId xmlns:a16="http://schemas.microsoft.com/office/drawing/2014/main" id="{956DD7F4-268E-10E8-BAE6-F034FA96A20C}"/>
              </a:ext>
            </a:extLst>
          </p:cNvPr>
          <p:cNvSpPr>
            <a:spLocks noGrp="1"/>
          </p:cNvSpPr>
          <p:nvPr>
            <p:ph type="pic" sz="quarter" idx="10"/>
          </p:nvPr>
        </p:nvSpPr>
        <p:spPr/>
        <p:txBody>
          <a:bodyPr/>
          <a:lstStyle/>
          <a:p>
            <a:endParaRPr lang="en-US"/>
          </a:p>
        </p:txBody>
      </p:sp>
      <p:sp>
        <p:nvSpPr>
          <p:cNvPr id="25" name="Picture Placeholder 24">
            <a:extLst>
              <a:ext uri="{FF2B5EF4-FFF2-40B4-BE49-F238E27FC236}">
                <a16:creationId xmlns:a16="http://schemas.microsoft.com/office/drawing/2014/main" id="{B0252353-0915-6E6F-7AE8-A04E9587ECE9}"/>
              </a:ext>
            </a:extLst>
          </p:cNvPr>
          <p:cNvSpPr>
            <a:spLocks noGrp="1"/>
          </p:cNvSpPr>
          <p:nvPr>
            <p:ph type="pic" sz="quarter" idx="11"/>
          </p:nvPr>
        </p:nvSpPr>
        <p:spPr/>
        <p:txBody>
          <a:bodyPr/>
          <a:lstStyle/>
          <a:p>
            <a:endParaRPr lang="en-US"/>
          </a:p>
        </p:txBody>
      </p:sp>
      <p:sp>
        <p:nvSpPr>
          <p:cNvPr id="26" name="Picture Placeholder 25">
            <a:extLst>
              <a:ext uri="{FF2B5EF4-FFF2-40B4-BE49-F238E27FC236}">
                <a16:creationId xmlns:a16="http://schemas.microsoft.com/office/drawing/2014/main" id="{6F5442D3-A235-CF80-812B-44552467E44C}"/>
              </a:ext>
            </a:extLst>
          </p:cNvPr>
          <p:cNvSpPr>
            <a:spLocks noGrp="1"/>
          </p:cNvSpPr>
          <p:nvPr>
            <p:ph type="pic" sz="quarter" idx="12"/>
          </p:nvPr>
        </p:nvSpPr>
        <p:spPr/>
        <p:txBody>
          <a:bodyPr/>
          <a:lstStyle/>
          <a:p>
            <a:endParaRPr lang="en-US"/>
          </a:p>
        </p:txBody>
      </p:sp>
      <p:sp>
        <p:nvSpPr>
          <p:cNvPr id="27" name="Picture Placeholder 26">
            <a:extLst>
              <a:ext uri="{FF2B5EF4-FFF2-40B4-BE49-F238E27FC236}">
                <a16:creationId xmlns:a16="http://schemas.microsoft.com/office/drawing/2014/main" id="{C0E8EFCB-2C06-6F9D-21F9-78CE5B2F3C8D}"/>
              </a:ext>
            </a:extLst>
          </p:cNvPr>
          <p:cNvSpPr>
            <a:spLocks noGrp="1"/>
          </p:cNvSpPr>
          <p:nvPr>
            <p:ph type="pic" sz="quarter" idx="13"/>
          </p:nvPr>
        </p:nvSpPr>
        <p:spPr/>
        <p:txBody>
          <a:bodyPr/>
          <a:lstStyle/>
          <a:p>
            <a:endParaRPr lang="en-US"/>
          </a:p>
        </p:txBody>
      </p:sp>
      <p:sp>
        <p:nvSpPr>
          <p:cNvPr id="28" name="Title 1">
            <a:extLst>
              <a:ext uri="{FF2B5EF4-FFF2-40B4-BE49-F238E27FC236}">
                <a16:creationId xmlns:a16="http://schemas.microsoft.com/office/drawing/2014/main" id="{07B08DE9-9445-7CF8-02EA-6FCD2053B107}"/>
              </a:ext>
            </a:extLst>
          </p:cNvPr>
          <p:cNvSpPr txBox="1">
            <a:spLocks/>
          </p:cNvSpPr>
          <p:nvPr/>
        </p:nvSpPr>
        <p:spPr>
          <a:xfrm>
            <a:off x="609600" y="363090"/>
            <a:ext cx="10972800" cy="800100"/>
          </a:xfrm>
          <a:prstGeom prst="rect">
            <a:avLst/>
          </a:prstGeom>
        </p:spPr>
        <p:txBody>
          <a:bodyPr vert="horz" lIns="0" tIns="45720" rIns="0" bIns="45720" rtlCol="0" anchor="b" anchorCtr="0">
            <a:noAutofit/>
          </a:bodyPr>
          <a:lstStyle>
            <a:lvl1pPr algn="l" defTabSz="914400" rtl="0" eaLnBrk="1" latinLnBrk="0" hangingPunct="1">
              <a:lnSpc>
                <a:spcPts val="3800"/>
              </a:lnSpc>
              <a:spcBef>
                <a:spcPct val="0"/>
              </a:spcBef>
              <a:buNone/>
              <a:defRPr sz="3600" b="1" kern="1200">
                <a:solidFill>
                  <a:srgbClr val="272626"/>
                </a:solidFill>
                <a:latin typeface="Arial" panose="020B0604020202020204" pitchFamily="34" charset="0"/>
                <a:ea typeface="Verdana" pitchFamily="34" charset="0"/>
                <a:cs typeface="Arial" panose="020B060402020202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Layout: Content Right and 4 Photos</a:t>
            </a:r>
            <a:br>
              <a:rPr lang="en-US" dirty="0"/>
            </a:br>
            <a:r>
              <a:rPr lang="en-US" dirty="0"/>
              <a:t>Arial Bold 36pt</a:t>
            </a:r>
          </a:p>
        </p:txBody>
      </p:sp>
    </p:spTree>
    <p:extLst>
      <p:ext uri="{BB962C8B-B14F-4D97-AF65-F5344CB8AC3E}">
        <p14:creationId xmlns:p14="http://schemas.microsoft.com/office/powerpoint/2010/main" val="324627230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8E9B1-BCE0-2EE0-42C4-4322EBF1786E}"/>
              </a:ext>
            </a:extLst>
          </p:cNvPr>
          <p:cNvSpPr>
            <a:spLocks noGrp="1"/>
          </p:cNvSpPr>
          <p:nvPr>
            <p:ph type="title"/>
          </p:nvPr>
        </p:nvSpPr>
        <p:spPr/>
        <p:txBody>
          <a:bodyPr/>
          <a:lstStyle/>
          <a:p>
            <a:r>
              <a:rPr lang="en-US" dirty="0"/>
              <a:t>Layout: 3 Photos with Captions</a:t>
            </a:r>
            <a:br>
              <a:rPr lang="en-US" dirty="0"/>
            </a:br>
            <a:r>
              <a:rPr lang="en-US" dirty="0"/>
              <a:t>Arial Bold 36pt</a:t>
            </a:r>
          </a:p>
        </p:txBody>
      </p:sp>
      <p:sp>
        <p:nvSpPr>
          <p:cNvPr id="3" name="Picture Placeholder 2">
            <a:extLst>
              <a:ext uri="{FF2B5EF4-FFF2-40B4-BE49-F238E27FC236}">
                <a16:creationId xmlns:a16="http://schemas.microsoft.com/office/drawing/2014/main" id="{2679B96C-893F-478C-5CEC-CF4EB6A067BA}"/>
              </a:ext>
            </a:extLst>
          </p:cNvPr>
          <p:cNvSpPr>
            <a:spLocks noGrp="1"/>
          </p:cNvSpPr>
          <p:nvPr>
            <p:ph type="pic" sz="quarter" idx="10"/>
          </p:nvPr>
        </p:nvSpPr>
        <p:spPr/>
        <p:txBody>
          <a:bodyPr/>
          <a:lstStyle/>
          <a:p>
            <a:endParaRPr lang="en-US"/>
          </a:p>
        </p:txBody>
      </p:sp>
      <p:sp>
        <p:nvSpPr>
          <p:cNvPr id="4" name="Picture Placeholder 3">
            <a:extLst>
              <a:ext uri="{FF2B5EF4-FFF2-40B4-BE49-F238E27FC236}">
                <a16:creationId xmlns:a16="http://schemas.microsoft.com/office/drawing/2014/main" id="{4E06BE9D-B0FE-E31F-8B5D-38C84BCF3D41}"/>
              </a:ext>
            </a:extLst>
          </p:cNvPr>
          <p:cNvSpPr>
            <a:spLocks noGrp="1"/>
          </p:cNvSpPr>
          <p:nvPr>
            <p:ph type="pic" sz="quarter" idx="12"/>
          </p:nvPr>
        </p:nvSpPr>
        <p:spPr/>
        <p:txBody>
          <a:bodyPr/>
          <a:lstStyle/>
          <a:p>
            <a:endParaRPr lang="en-US"/>
          </a:p>
        </p:txBody>
      </p:sp>
      <p:sp>
        <p:nvSpPr>
          <p:cNvPr id="5" name="Picture Placeholder 4">
            <a:extLst>
              <a:ext uri="{FF2B5EF4-FFF2-40B4-BE49-F238E27FC236}">
                <a16:creationId xmlns:a16="http://schemas.microsoft.com/office/drawing/2014/main" id="{9F89E1F2-6B14-6868-AFD4-44A794FD9509}"/>
              </a:ext>
            </a:extLst>
          </p:cNvPr>
          <p:cNvSpPr>
            <a:spLocks noGrp="1"/>
          </p:cNvSpPr>
          <p:nvPr>
            <p:ph type="pic" sz="quarter" idx="14"/>
          </p:nvPr>
        </p:nvSpPr>
        <p:spPr/>
        <p:txBody>
          <a:bodyPr/>
          <a:lstStyle/>
          <a:p>
            <a:endParaRPr lang="en-US"/>
          </a:p>
        </p:txBody>
      </p:sp>
      <p:sp>
        <p:nvSpPr>
          <p:cNvPr id="6" name="Text Placeholder 5">
            <a:extLst>
              <a:ext uri="{FF2B5EF4-FFF2-40B4-BE49-F238E27FC236}">
                <a16:creationId xmlns:a16="http://schemas.microsoft.com/office/drawing/2014/main" id="{DAB4E90D-4A48-8509-B68D-4BBF021B0F49}"/>
              </a:ext>
            </a:extLst>
          </p:cNvPr>
          <p:cNvSpPr>
            <a:spLocks noGrp="1"/>
          </p:cNvSpPr>
          <p:nvPr>
            <p:ph type="body" sz="quarter" idx="16"/>
          </p:nvPr>
        </p:nvSpPr>
        <p:spPr/>
        <p:txBody>
          <a:bodyPr/>
          <a:lstStyle/>
          <a:p>
            <a:r>
              <a:rPr lang="en-US" dirty="0"/>
              <a:t>Raw FFT spectrum showing spectral leakage around fundamental tone</a:t>
            </a:r>
          </a:p>
        </p:txBody>
      </p:sp>
      <p:sp>
        <p:nvSpPr>
          <p:cNvPr id="7" name="Text Placeholder 6">
            <a:extLst>
              <a:ext uri="{FF2B5EF4-FFF2-40B4-BE49-F238E27FC236}">
                <a16:creationId xmlns:a16="http://schemas.microsoft.com/office/drawing/2014/main" id="{3085BCBD-8CEA-F57E-6A0F-59CFBDF3D306}"/>
              </a:ext>
            </a:extLst>
          </p:cNvPr>
          <p:cNvSpPr>
            <a:spLocks noGrp="1"/>
          </p:cNvSpPr>
          <p:nvPr>
            <p:ph type="body" sz="quarter" idx="17"/>
          </p:nvPr>
        </p:nvSpPr>
        <p:spPr/>
        <p:txBody>
          <a:bodyPr/>
          <a:lstStyle/>
          <a:p>
            <a:r>
              <a:rPr lang="en-US" dirty="0"/>
              <a:t>Caption, Arial 16pt</a:t>
            </a:r>
          </a:p>
        </p:txBody>
      </p:sp>
      <p:sp>
        <p:nvSpPr>
          <p:cNvPr id="9" name="Text Placeholder 8">
            <a:extLst>
              <a:ext uri="{FF2B5EF4-FFF2-40B4-BE49-F238E27FC236}">
                <a16:creationId xmlns:a16="http://schemas.microsoft.com/office/drawing/2014/main" id="{F209D88A-031F-FA0D-7C1B-B6B2E87BCD03}"/>
              </a:ext>
            </a:extLst>
          </p:cNvPr>
          <p:cNvSpPr>
            <a:spLocks noGrp="1"/>
          </p:cNvSpPr>
          <p:nvPr>
            <p:ph type="body" sz="quarter" idx="18"/>
          </p:nvPr>
        </p:nvSpPr>
        <p:spPr/>
        <p:txBody>
          <a:bodyPr/>
          <a:lstStyle/>
          <a:p>
            <a:r>
              <a:rPr lang="en-US" dirty="0"/>
              <a:t>Caption, Arial 16pt</a:t>
            </a:r>
          </a:p>
        </p:txBody>
      </p:sp>
      <p:sp>
        <p:nvSpPr>
          <p:cNvPr id="46" name="TextBox 45">
            <a:extLst>
              <a:ext uri="{FF2B5EF4-FFF2-40B4-BE49-F238E27FC236}">
                <a16:creationId xmlns:a16="http://schemas.microsoft.com/office/drawing/2014/main" id="{5E2CF3AE-F42C-E378-1DDB-60AF0311F82F}"/>
              </a:ext>
            </a:extLst>
          </p:cNvPr>
          <p:cNvSpPr txBox="1"/>
          <p:nvPr/>
        </p:nvSpPr>
        <p:spPr>
          <a:xfrm>
            <a:off x="9175262" y="6596185"/>
            <a:ext cx="0" cy="0"/>
          </a:xfrm>
          <a:prstGeom prst="rect">
            <a:avLst/>
          </a:prstGeom>
          <a:noFill/>
        </p:spPr>
        <p:txBody>
          <a:bodyPr wrap="none" rtlCol="0">
            <a:noAutofit/>
          </a:bodyPr>
          <a:lstStyle/>
          <a:p>
            <a:pPr algn="ctr"/>
            <a:endParaRPr lang="en-US" sz="1600" dirty="0" err="1"/>
          </a:p>
        </p:txBody>
      </p:sp>
    </p:spTree>
    <p:extLst>
      <p:ext uri="{BB962C8B-B14F-4D97-AF65-F5344CB8AC3E}">
        <p14:creationId xmlns:p14="http://schemas.microsoft.com/office/powerpoint/2010/main" val="231062665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8E9B1-BCE0-2EE0-42C4-4322EBF1786E}"/>
              </a:ext>
            </a:extLst>
          </p:cNvPr>
          <p:cNvSpPr>
            <a:spLocks noGrp="1"/>
          </p:cNvSpPr>
          <p:nvPr>
            <p:ph type="title"/>
          </p:nvPr>
        </p:nvSpPr>
        <p:spPr/>
        <p:txBody>
          <a:bodyPr/>
          <a:lstStyle/>
          <a:p>
            <a:r>
              <a:rPr lang="en-US" dirty="0"/>
              <a:t>Layout: 3 Table/Charts with Captions</a:t>
            </a:r>
            <a:br>
              <a:rPr lang="en-US" dirty="0"/>
            </a:br>
            <a:r>
              <a:rPr lang="en-US" dirty="0"/>
              <a:t>Arial Bold 36pt</a:t>
            </a:r>
          </a:p>
        </p:txBody>
      </p:sp>
      <p:sp>
        <p:nvSpPr>
          <p:cNvPr id="8" name="Text Placeholder 7">
            <a:extLst>
              <a:ext uri="{FF2B5EF4-FFF2-40B4-BE49-F238E27FC236}">
                <a16:creationId xmlns:a16="http://schemas.microsoft.com/office/drawing/2014/main" id="{B1675487-FA8E-D261-2327-3E2F21558A5F}"/>
              </a:ext>
            </a:extLst>
          </p:cNvPr>
          <p:cNvSpPr>
            <a:spLocks noGrp="1"/>
          </p:cNvSpPr>
          <p:nvPr>
            <p:ph type="body" sz="quarter" idx="16"/>
          </p:nvPr>
        </p:nvSpPr>
        <p:spPr/>
        <p:txBody>
          <a:bodyPr/>
          <a:lstStyle/>
          <a:p>
            <a:r>
              <a:rPr lang="en-US" dirty="0"/>
              <a:t>Caption, Arial 16pt</a:t>
            </a:r>
          </a:p>
        </p:txBody>
      </p:sp>
      <p:sp>
        <p:nvSpPr>
          <p:cNvPr id="10" name="Text Placeholder 9">
            <a:extLst>
              <a:ext uri="{FF2B5EF4-FFF2-40B4-BE49-F238E27FC236}">
                <a16:creationId xmlns:a16="http://schemas.microsoft.com/office/drawing/2014/main" id="{FC2B88A0-8D40-8138-C0AE-635375E42A34}"/>
              </a:ext>
            </a:extLst>
          </p:cNvPr>
          <p:cNvSpPr>
            <a:spLocks noGrp="1"/>
          </p:cNvSpPr>
          <p:nvPr>
            <p:ph type="body" sz="quarter" idx="17"/>
          </p:nvPr>
        </p:nvSpPr>
        <p:spPr/>
        <p:txBody>
          <a:bodyPr/>
          <a:lstStyle/>
          <a:p>
            <a:r>
              <a:rPr lang="en-US" dirty="0"/>
              <a:t>Caption, Arial 16pt</a:t>
            </a:r>
          </a:p>
        </p:txBody>
      </p:sp>
      <p:sp>
        <p:nvSpPr>
          <p:cNvPr id="11" name="Text Placeholder 10">
            <a:extLst>
              <a:ext uri="{FF2B5EF4-FFF2-40B4-BE49-F238E27FC236}">
                <a16:creationId xmlns:a16="http://schemas.microsoft.com/office/drawing/2014/main" id="{AEB8072A-BA06-B5EE-FD16-B245F6E4AECD}"/>
              </a:ext>
            </a:extLst>
          </p:cNvPr>
          <p:cNvSpPr>
            <a:spLocks noGrp="1"/>
          </p:cNvSpPr>
          <p:nvPr>
            <p:ph type="body" sz="quarter" idx="18"/>
          </p:nvPr>
        </p:nvSpPr>
        <p:spPr/>
        <p:txBody>
          <a:bodyPr/>
          <a:lstStyle/>
          <a:p>
            <a:r>
              <a:rPr lang="en-US" dirty="0"/>
              <a:t>Caption, Arial 16pt</a:t>
            </a:r>
          </a:p>
        </p:txBody>
      </p:sp>
      <p:sp>
        <p:nvSpPr>
          <p:cNvPr id="12" name="Chart Placeholder 11">
            <a:extLst>
              <a:ext uri="{FF2B5EF4-FFF2-40B4-BE49-F238E27FC236}">
                <a16:creationId xmlns:a16="http://schemas.microsoft.com/office/drawing/2014/main" id="{526C885E-0DAB-CADF-3E08-F5A0D4D5E242}"/>
              </a:ext>
            </a:extLst>
          </p:cNvPr>
          <p:cNvSpPr>
            <a:spLocks noGrp="1"/>
          </p:cNvSpPr>
          <p:nvPr>
            <p:ph type="chart" sz="quarter" idx="19"/>
          </p:nvPr>
        </p:nvSpPr>
        <p:spPr/>
        <p:txBody>
          <a:bodyPr/>
          <a:lstStyle/>
          <a:p>
            <a:endParaRPr lang="en-US"/>
          </a:p>
        </p:txBody>
      </p:sp>
      <p:sp>
        <p:nvSpPr>
          <p:cNvPr id="13" name="Chart Placeholder 12">
            <a:extLst>
              <a:ext uri="{FF2B5EF4-FFF2-40B4-BE49-F238E27FC236}">
                <a16:creationId xmlns:a16="http://schemas.microsoft.com/office/drawing/2014/main" id="{42DADFC4-35E0-E83F-1CDB-CAEFD532359B}"/>
              </a:ext>
            </a:extLst>
          </p:cNvPr>
          <p:cNvSpPr>
            <a:spLocks noGrp="1"/>
          </p:cNvSpPr>
          <p:nvPr>
            <p:ph type="chart" sz="quarter" idx="20"/>
          </p:nvPr>
        </p:nvSpPr>
        <p:spPr/>
        <p:txBody>
          <a:bodyPr/>
          <a:lstStyle/>
          <a:p>
            <a:endParaRPr lang="en-US"/>
          </a:p>
        </p:txBody>
      </p:sp>
      <p:sp>
        <p:nvSpPr>
          <p:cNvPr id="14" name="Chart Placeholder 13">
            <a:extLst>
              <a:ext uri="{FF2B5EF4-FFF2-40B4-BE49-F238E27FC236}">
                <a16:creationId xmlns:a16="http://schemas.microsoft.com/office/drawing/2014/main" id="{39ABB890-1B99-20BF-21AA-1BBC603A203B}"/>
              </a:ext>
            </a:extLst>
          </p:cNvPr>
          <p:cNvSpPr>
            <a:spLocks noGrp="1"/>
          </p:cNvSpPr>
          <p:nvPr>
            <p:ph type="chart" sz="quarter" idx="21"/>
          </p:nvPr>
        </p:nvSpPr>
        <p:spPr/>
        <p:txBody>
          <a:bodyPr/>
          <a:lstStyle/>
          <a:p>
            <a:endParaRPr lang="en-US"/>
          </a:p>
        </p:txBody>
      </p:sp>
      <p:sp>
        <p:nvSpPr>
          <p:cNvPr id="46" name="TextBox 45">
            <a:extLst>
              <a:ext uri="{FF2B5EF4-FFF2-40B4-BE49-F238E27FC236}">
                <a16:creationId xmlns:a16="http://schemas.microsoft.com/office/drawing/2014/main" id="{5E2CF3AE-F42C-E378-1DDB-60AF0311F82F}"/>
              </a:ext>
            </a:extLst>
          </p:cNvPr>
          <p:cNvSpPr txBox="1"/>
          <p:nvPr/>
        </p:nvSpPr>
        <p:spPr>
          <a:xfrm>
            <a:off x="9175262" y="6596185"/>
            <a:ext cx="0" cy="0"/>
          </a:xfrm>
          <a:prstGeom prst="rect">
            <a:avLst/>
          </a:prstGeom>
          <a:noFill/>
        </p:spPr>
        <p:txBody>
          <a:bodyPr wrap="none" rtlCol="0">
            <a:noAutofit/>
          </a:bodyPr>
          <a:lstStyle/>
          <a:p>
            <a:pPr algn="ctr"/>
            <a:endParaRPr lang="en-US" sz="1600" dirty="0" err="1"/>
          </a:p>
        </p:txBody>
      </p:sp>
    </p:spTree>
    <p:extLst>
      <p:ext uri="{BB962C8B-B14F-4D97-AF65-F5344CB8AC3E}">
        <p14:creationId xmlns:p14="http://schemas.microsoft.com/office/powerpoint/2010/main" val="20507986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8E9B1-BCE0-2EE0-42C4-4322EBF1786E}"/>
              </a:ext>
            </a:extLst>
          </p:cNvPr>
          <p:cNvSpPr>
            <a:spLocks noGrp="1"/>
          </p:cNvSpPr>
          <p:nvPr>
            <p:ph type="title"/>
          </p:nvPr>
        </p:nvSpPr>
        <p:spPr/>
        <p:txBody>
          <a:bodyPr/>
          <a:lstStyle/>
          <a:p>
            <a:r>
              <a:rPr lang="en-US" dirty="0"/>
              <a:t>Layout: Table/Chart</a:t>
            </a:r>
            <a:br>
              <a:rPr lang="en-US" dirty="0"/>
            </a:br>
            <a:r>
              <a:rPr lang="en-US" dirty="0"/>
              <a:t>Arial Bold 36pt</a:t>
            </a:r>
          </a:p>
        </p:txBody>
      </p:sp>
      <p:sp>
        <p:nvSpPr>
          <p:cNvPr id="8" name="Table Placeholder 7">
            <a:extLst>
              <a:ext uri="{FF2B5EF4-FFF2-40B4-BE49-F238E27FC236}">
                <a16:creationId xmlns:a16="http://schemas.microsoft.com/office/drawing/2014/main" id="{FFEA4E94-D80F-0986-5541-87624AD6B898}"/>
              </a:ext>
            </a:extLst>
          </p:cNvPr>
          <p:cNvSpPr>
            <a:spLocks noGrp="1"/>
          </p:cNvSpPr>
          <p:nvPr>
            <p:ph type="tbl" sz="quarter" idx="16"/>
          </p:nvPr>
        </p:nvSpPr>
        <p:spPr/>
        <p:txBody>
          <a:bodyPr/>
          <a:lstStyle/>
          <a:p>
            <a:endParaRPr lang="en-US"/>
          </a:p>
        </p:txBody>
      </p:sp>
      <p:sp>
        <p:nvSpPr>
          <p:cNvPr id="46" name="TextBox 45">
            <a:extLst>
              <a:ext uri="{FF2B5EF4-FFF2-40B4-BE49-F238E27FC236}">
                <a16:creationId xmlns:a16="http://schemas.microsoft.com/office/drawing/2014/main" id="{5E2CF3AE-F42C-E378-1DDB-60AF0311F82F}"/>
              </a:ext>
            </a:extLst>
          </p:cNvPr>
          <p:cNvSpPr txBox="1"/>
          <p:nvPr/>
        </p:nvSpPr>
        <p:spPr>
          <a:xfrm>
            <a:off x="9175262" y="6596185"/>
            <a:ext cx="0" cy="0"/>
          </a:xfrm>
          <a:prstGeom prst="rect">
            <a:avLst/>
          </a:prstGeom>
          <a:noFill/>
        </p:spPr>
        <p:txBody>
          <a:bodyPr wrap="none" rtlCol="0">
            <a:noAutofit/>
          </a:bodyPr>
          <a:lstStyle/>
          <a:p>
            <a:pPr algn="ctr"/>
            <a:endParaRPr lang="en-US" sz="1600" dirty="0" err="1"/>
          </a:p>
        </p:txBody>
      </p:sp>
    </p:spTree>
    <p:extLst>
      <p:ext uri="{BB962C8B-B14F-4D97-AF65-F5344CB8AC3E}">
        <p14:creationId xmlns:p14="http://schemas.microsoft.com/office/powerpoint/2010/main" val="29452941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25D4199E-00E4-C3BD-F3B9-58706CBBCF81}"/>
              </a:ext>
            </a:extLst>
          </p:cNvPr>
          <p:cNvSpPr>
            <a:spLocks noGrp="1"/>
          </p:cNvSpPr>
          <p:nvPr>
            <p:ph idx="1"/>
          </p:nvPr>
        </p:nvSpPr>
        <p:spPr>
          <a:xfrm>
            <a:off x="609600" y="1795464"/>
            <a:ext cx="4141304" cy="4189412"/>
          </a:xfrm>
        </p:spPr>
        <p:txBody>
          <a:bodyPr/>
          <a:lstStyle/>
          <a:p>
            <a:r>
              <a:rPr lang="en-US" dirty="0"/>
              <a:t>First level bullet text, Arial 24pt</a:t>
            </a:r>
          </a:p>
          <a:p>
            <a:r>
              <a:rPr lang="en-US" dirty="0"/>
              <a:t>Line spacing, before paragraph 12pt</a:t>
            </a:r>
          </a:p>
          <a:p>
            <a:r>
              <a:rPr lang="en-US" dirty="0"/>
              <a:t>Left justified</a:t>
            </a:r>
          </a:p>
          <a:p>
            <a:r>
              <a:rPr lang="en-US" dirty="0"/>
              <a:t>Sentence case </a:t>
            </a:r>
          </a:p>
        </p:txBody>
      </p:sp>
      <p:sp>
        <p:nvSpPr>
          <p:cNvPr id="5" name="Chart Placeholder 4">
            <a:extLst>
              <a:ext uri="{FF2B5EF4-FFF2-40B4-BE49-F238E27FC236}">
                <a16:creationId xmlns:a16="http://schemas.microsoft.com/office/drawing/2014/main" id="{E8F0D9CF-18C6-AA12-2C75-8B7B3EEF9496}"/>
              </a:ext>
            </a:extLst>
          </p:cNvPr>
          <p:cNvSpPr>
            <a:spLocks noGrp="1"/>
          </p:cNvSpPr>
          <p:nvPr>
            <p:ph type="chart" sz="quarter" idx="11"/>
          </p:nvPr>
        </p:nvSpPr>
        <p:spPr/>
        <p:txBody>
          <a:bodyPr/>
          <a:lstStyle/>
          <a:p>
            <a:endParaRPr lang="en-US"/>
          </a:p>
        </p:txBody>
      </p:sp>
      <p:sp>
        <p:nvSpPr>
          <p:cNvPr id="46" name="TextBox 45">
            <a:extLst>
              <a:ext uri="{FF2B5EF4-FFF2-40B4-BE49-F238E27FC236}">
                <a16:creationId xmlns:a16="http://schemas.microsoft.com/office/drawing/2014/main" id="{5E2CF3AE-F42C-E378-1DDB-60AF0311F82F}"/>
              </a:ext>
            </a:extLst>
          </p:cNvPr>
          <p:cNvSpPr txBox="1"/>
          <p:nvPr/>
        </p:nvSpPr>
        <p:spPr>
          <a:xfrm>
            <a:off x="9175262" y="6596185"/>
            <a:ext cx="0" cy="0"/>
          </a:xfrm>
          <a:prstGeom prst="rect">
            <a:avLst/>
          </a:prstGeom>
          <a:noFill/>
        </p:spPr>
        <p:txBody>
          <a:bodyPr wrap="none" rtlCol="0">
            <a:noAutofit/>
          </a:bodyPr>
          <a:lstStyle/>
          <a:p>
            <a:pPr algn="ctr"/>
            <a:endParaRPr lang="en-US" sz="1600" dirty="0" err="1"/>
          </a:p>
        </p:txBody>
      </p:sp>
      <p:sp>
        <p:nvSpPr>
          <p:cNvPr id="8" name="Title 1">
            <a:extLst>
              <a:ext uri="{FF2B5EF4-FFF2-40B4-BE49-F238E27FC236}">
                <a16:creationId xmlns:a16="http://schemas.microsoft.com/office/drawing/2014/main" id="{83C3136D-363B-A899-D38A-B524A5CE87AC}"/>
              </a:ext>
            </a:extLst>
          </p:cNvPr>
          <p:cNvSpPr txBox="1">
            <a:spLocks/>
          </p:cNvSpPr>
          <p:nvPr/>
        </p:nvSpPr>
        <p:spPr>
          <a:xfrm>
            <a:off x="609600" y="363090"/>
            <a:ext cx="10972800" cy="800100"/>
          </a:xfrm>
          <a:prstGeom prst="rect">
            <a:avLst/>
          </a:prstGeom>
        </p:spPr>
        <p:txBody>
          <a:bodyPr vert="horz" lIns="0" tIns="45720" rIns="0" bIns="45720" rtlCol="0" anchor="b" anchorCtr="0">
            <a:noAutofit/>
          </a:bodyPr>
          <a:lstStyle>
            <a:lvl1pPr algn="l" defTabSz="914400" rtl="0" eaLnBrk="1" latinLnBrk="0" hangingPunct="1">
              <a:lnSpc>
                <a:spcPts val="3800"/>
              </a:lnSpc>
              <a:spcBef>
                <a:spcPct val="0"/>
              </a:spcBef>
              <a:buNone/>
              <a:defRPr sz="3600" b="1" kern="1200">
                <a:solidFill>
                  <a:srgbClr val="272626"/>
                </a:solidFill>
                <a:latin typeface="Arial" panose="020B0604020202020204" pitchFamily="34" charset="0"/>
                <a:ea typeface="Verdana" pitchFamily="34" charset="0"/>
                <a:cs typeface="Arial" panose="020B060402020202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Layout: Content Left and Table/Chart</a:t>
            </a:r>
            <a:br>
              <a:rPr lang="en-US" dirty="0"/>
            </a:br>
            <a:r>
              <a:rPr lang="en-US" dirty="0"/>
              <a:t>Arial Bold 36pt</a:t>
            </a:r>
          </a:p>
        </p:txBody>
      </p:sp>
    </p:spTree>
    <p:extLst>
      <p:ext uri="{BB962C8B-B14F-4D97-AF65-F5344CB8AC3E}">
        <p14:creationId xmlns:p14="http://schemas.microsoft.com/office/powerpoint/2010/main" val="39102008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Autofit/>
          </a:bodyPr>
          <a:lstStyle/>
          <a:p>
            <a:br>
              <a:rPr lang="en-US" dirty="0"/>
            </a:br>
            <a:r>
              <a:rPr lang="en-US" dirty="0"/>
              <a:t>Default Table Style</a:t>
            </a:r>
          </a:p>
        </p:txBody>
      </p:sp>
      <p:graphicFrame>
        <p:nvGraphicFramePr>
          <p:cNvPr id="6" name="Table 5">
            <a:extLst>
              <a:ext uri="{FF2B5EF4-FFF2-40B4-BE49-F238E27FC236}">
                <a16:creationId xmlns:a16="http://schemas.microsoft.com/office/drawing/2014/main" id="{F0CB8139-BFF3-7BA7-CBCB-F831E2915A15}"/>
              </a:ext>
            </a:extLst>
          </p:cNvPr>
          <p:cNvGraphicFramePr>
            <a:graphicFrameLocks noGrp="1"/>
          </p:cNvGraphicFramePr>
          <p:nvPr>
            <p:extLst>
              <p:ext uri="{D42A27DB-BD31-4B8C-83A1-F6EECF244321}">
                <p14:modId xmlns:p14="http://schemas.microsoft.com/office/powerpoint/2010/main" val="3826656516"/>
              </p:ext>
            </p:extLst>
          </p:nvPr>
        </p:nvGraphicFramePr>
        <p:xfrm>
          <a:off x="609599" y="1852248"/>
          <a:ext cx="10972800" cy="3821720"/>
        </p:xfrm>
        <a:graphic>
          <a:graphicData uri="http://schemas.openxmlformats.org/drawingml/2006/table">
            <a:tbl>
              <a:tblPr firstRow="1" bandRow="1">
                <a:tableStyleId>{21E4AEA4-8DFA-4A89-87EB-49C32662AFE0}</a:tableStyleId>
              </a:tblPr>
              <a:tblGrid>
                <a:gridCol w="21945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tblGrid>
              <a:tr h="764344">
                <a:tc>
                  <a:txBody>
                    <a:bodyPr/>
                    <a:lstStyle/>
                    <a:p>
                      <a:r>
                        <a:rPr lang="en-US" sz="1800" dirty="0"/>
                        <a:t>Heading</a:t>
                      </a:r>
                      <a:r>
                        <a:rPr lang="en-US" sz="1800" baseline="0" dirty="0"/>
                        <a:t> 1</a:t>
                      </a:r>
                      <a:endParaRPr lang="en-US" sz="1800" dirty="0"/>
                    </a:p>
                  </a:txBody>
                  <a:tcPr marL="89777" marR="89777" marT="44889" marB="44889"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AB162B"/>
                    </a:solidFill>
                  </a:tcPr>
                </a:tc>
                <a:tc>
                  <a:txBody>
                    <a:bodyPr/>
                    <a:lstStyle/>
                    <a:p>
                      <a:r>
                        <a:rPr lang="en-US" sz="1800" dirty="0"/>
                        <a:t>Heading 2</a:t>
                      </a:r>
                    </a:p>
                  </a:txBody>
                  <a:tcPr marL="89777" marR="89777" marT="44889" marB="4488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AB162B"/>
                    </a:solidFill>
                  </a:tcPr>
                </a:tc>
                <a:tc>
                  <a:txBody>
                    <a:bodyPr/>
                    <a:lstStyle/>
                    <a:p>
                      <a:r>
                        <a:rPr lang="en-US" sz="1800" dirty="0"/>
                        <a:t>Heading 3</a:t>
                      </a:r>
                    </a:p>
                  </a:txBody>
                  <a:tcPr marL="89777" marR="89777" marT="44889" marB="4488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AB162B"/>
                    </a:solidFill>
                  </a:tcPr>
                </a:tc>
                <a:tc>
                  <a:txBody>
                    <a:bodyPr/>
                    <a:lstStyle/>
                    <a:p>
                      <a:r>
                        <a:rPr lang="en-US" sz="1800" dirty="0"/>
                        <a:t>Heading 4</a:t>
                      </a:r>
                    </a:p>
                  </a:txBody>
                  <a:tcPr marL="89777" marR="89777" marT="44889" marB="4488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AB162B"/>
                    </a:solidFill>
                  </a:tcPr>
                </a:tc>
                <a:tc>
                  <a:txBody>
                    <a:bodyPr/>
                    <a:lstStyle/>
                    <a:p>
                      <a:r>
                        <a:rPr lang="en-US" sz="1800" dirty="0"/>
                        <a:t>Heading 5</a:t>
                      </a:r>
                    </a:p>
                  </a:txBody>
                  <a:tcPr marL="89777" marR="89777" marT="44889" marB="44889"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rgbClr val="AB162B"/>
                    </a:solidFill>
                  </a:tcPr>
                </a:tc>
                <a:extLst>
                  <a:ext uri="{0D108BD9-81ED-4DB2-BD59-A6C34878D82A}">
                    <a16:rowId xmlns:a16="http://schemas.microsoft.com/office/drawing/2014/main" val="10000"/>
                  </a:ext>
                </a:extLst>
              </a:tr>
              <a:tr h="764344">
                <a:tc>
                  <a:txBody>
                    <a:bodyPr/>
                    <a:lstStyle/>
                    <a:p>
                      <a:r>
                        <a:rPr lang="en-US" sz="1800" dirty="0"/>
                        <a:t>Content</a:t>
                      </a:r>
                    </a:p>
                  </a:txBody>
                  <a:tcPr marL="89777" marR="89777" marT="44889" marB="44889"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2B7BB">
                        <a:alpha val="29804"/>
                      </a:srgbClr>
                    </a:solidFill>
                  </a:tcPr>
                </a:tc>
                <a:tc>
                  <a:txBody>
                    <a:bodyPr/>
                    <a:lstStyle/>
                    <a:p>
                      <a:r>
                        <a:rPr lang="en-US" sz="1800" dirty="0"/>
                        <a:t>Content</a:t>
                      </a:r>
                    </a:p>
                  </a:txBody>
                  <a:tcPr marL="89777" marR="89777" marT="44889" marB="4488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2B7BB">
                        <a:alpha val="29804"/>
                      </a:srgbClr>
                    </a:solidFill>
                  </a:tcPr>
                </a:tc>
                <a:tc>
                  <a:txBody>
                    <a:bodyPr/>
                    <a:lstStyle/>
                    <a:p>
                      <a:r>
                        <a:rPr lang="en-US" sz="1800" dirty="0"/>
                        <a:t>Content</a:t>
                      </a:r>
                    </a:p>
                  </a:txBody>
                  <a:tcPr marL="89777" marR="89777" marT="44889" marB="4488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2B7BB">
                        <a:alpha val="29804"/>
                      </a:srgbClr>
                    </a:solidFill>
                  </a:tcPr>
                </a:tc>
                <a:tc>
                  <a:txBody>
                    <a:bodyPr/>
                    <a:lstStyle/>
                    <a:p>
                      <a:r>
                        <a:rPr lang="en-US" sz="1800" dirty="0"/>
                        <a:t>Content</a:t>
                      </a:r>
                    </a:p>
                  </a:txBody>
                  <a:tcPr marL="89777" marR="89777" marT="44889" marB="4488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2B7BB">
                        <a:alpha val="29804"/>
                      </a:srgbClr>
                    </a:solidFill>
                  </a:tcPr>
                </a:tc>
                <a:tc>
                  <a:txBody>
                    <a:bodyPr/>
                    <a:lstStyle/>
                    <a:p>
                      <a:r>
                        <a:rPr lang="en-US" sz="1800" dirty="0"/>
                        <a:t>Content</a:t>
                      </a:r>
                    </a:p>
                  </a:txBody>
                  <a:tcPr marL="89777" marR="89777" marT="44889" marB="44889"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2B7BB">
                        <a:alpha val="29804"/>
                      </a:srgbClr>
                    </a:solidFill>
                  </a:tcPr>
                </a:tc>
                <a:extLst>
                  <a:ext uri="{0D108BD9-81ED-4DB2-BD59-A6C34878D82A}">
                    <a16:rowId xmlns:a16="http://schemas.microsoft.com/office/drawing/2014/main" val="10001"/>
                  </a:ext>
                </a:extLst>
              </a:tr>
              <a:tr h="7643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Content</a:t>
                      </a:r>
                    </a:p>
                  </a:txBody>
                  <a:tcPr marL="89777" marR="89777" marT="44889" marB="44889"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2B7BB">
                        <a:alpha val="14902"/>
                      </a:srgb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Content</a:t>
                      </a:r>
                    </a:p>
                  </a:txBody>
                  <a:tcPr marL="89777" marR="89777" marT="44889" marB="4488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2B7BB">
                        <a:alpha val="14902"/>
                      </a:srgb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Content</a:t>
                      </a:r>
                    </a:p>
                  </a:txBody>
                  <a:tcPr marL="89777" marR="89777" marT="44889" marB="4488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2B7BB">
                        <a:alpha val="14902"/>
                      </a:srgb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Content</a:t>
                      </a:r>
                    </a:p>
                  </a:txBody>
                  <a:tcPr marL="89777" marR="89777" marT="44889" marB="4488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2B7BB">
                        <a:alpha val="14902"/>
                      </a:srgb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Content</a:t>
                      </a:r>
                    </a:p>
                  </a:txBody>
                  <a:tcPr marL="89777" marR="89777" marT="44889" marB="44889"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2B7BB">
                        <a:alpha val="14902"/>
                      </a:srgbClr>
                    </a:solidFill>
                  </a:tcPr>
                </a:tc>
                <a:extLst>
                  <a:ext uri="{0D108BD9-81ED-4DB2-BD59-A6C34878D82A}">
                    <a16:rowId xmlns:a16="http://schemas.microsoft.com/office/drawing/2014/main" val="10002"/>
                  </a:ext>
                </a:extLst>
              </a:tr>
              <a:tr h="7643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Content</a:t>
                      </a:r>
                    </a:p>
                  </a:txBody>
                  <a:tcPr marL="89777" marR="89777" marT="44889" marB="44889"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2B7BB">
                        <a:alpha val="29804"/>
                      </a:srgb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Content</a:t>
                      </a:r>
                    </a:p>
                  </a:txBody>
                  <a:tcPr marL="89777" marR="89777" marT="44889" marB="4488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2B7BB">
                        <a:alpha val="29804"/>
                      </a:srgb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Content</a:t>
                      </a:r>
                    </a:p>
                  </a:txBody>
                  <a:tcPr marL="89777" marR="89777" marT="44889" marB="4488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2B7BB">
                        <a:alpha val="29804"/>
                      </a:srgb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Content</a:t>
                      </a:r>
                    </a:p>
                  </a:txBody>
                  <a:tcPr marL="89777" marR="89777" marT="44889" marB="4488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2B7BB">
                        <a:alpha val="29804"/>
                      </a:srgb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Content</a:t>
                      </a:r>
                    </a:p>
                  </a:txBody>
                  <a:tcPr marL="89777" marR="89777" marT="44889" marB="44889"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2B7BB">
                        <a:alpha val="29804"/>
                      </a:srgbClr>
                    </a:solidFill>
                  </a:tcPr>
                </a:tc>
                <a:extLst>
                  <a:ext uri="{0D108BD9-81ED-4DB2-BD59-A6C34878D82A}">
                    <a16:rowId xmlns:a16="http://schemas.microsoft.com/office/drawing/2014/main" val="10003"/>
                  </a:ext>
                </a:extLst>
              </a:tr>
              <a:tr h="7643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Content</a:t>
                      </a:r>
                    </a:p>
                  </a:txBody>
                  <a:tcPr marL="89777" marR="89777" marT="44889" marB="44889"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B2B7BB">
                        <a:alpha val="14902"/>
                      </a:srgb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Content</a:t>
                      </a:r>
                    </a:p>
                  </a:txBody>
                  <a:tcPr marL="89777" marR="89777" marT="44889" marB="4488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B2B7BB">
                        <a:alpha val="14902"/>
                      </a:srgb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Content</a:t>
                      </a:r>
                    </a:p>
                  </a:txBody>
                  <a:tcPr marL="89777" marR="89777" marT="44889" marB="4488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B2B7BB">
                        <a:alpha val="14902"/>
                      </a:srgb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Content</a:t>
                      </a:r>
                    </a:p>
                  </a:txBody>
                  <a:tcPr marL="89777" marR="89777" marT="44889" marB="4488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B2B7BB">
                        <a:alpha val="14902"/>
                      </a:srgb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Content</a:t>
                      </a:r>
                    </a:p>
                  </a:txBody>
                  <a:tcPr marL="89777" marR="89777" marT="44889" marB="44889"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solidFill>
                      <a:srgbClr val="B2B7BB">
                        <a:alpha val="14902"/>
                      </a:srgb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53336087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Layout: Content</a:t>
            </a:r>
            <a:br>
              <a:rPr lang="en-US" dirty="0"/>
            </a:br>
            <a:r>
              <a:rPr lang="en-US" dirty="0"/>
              <a:t>Column Chart Sample</a:t>
            </a:r>
          </a:p>
        </p:txBody>
      </p:sp>
      <p:graphicFrame>
        <p:nvGraphicFramePr>
          <p:cNvPr id="9" name="Content Placeholder 8"/>
          <p:cNvGraphicFramePr>
            <a:graphicFrameLocks noGrp="1"/>
          </p:cNvGraphicFramePr>
          <p:nvPr>
            <p:ph type="tbl" sz="quarter" idx="16"/>
            <p:extLst>
              <p:ext uri="{D42A27DB-BD31-4B8C-83A1-F6EECF244321}">
                <p14:modId xmlns:p14="http://schemas.microsoft.com/office/powerpoint/2010/main" val="880745597"/>
              </p:ext>
            </p:extLst>
          </p:nvPr>
        </p:nvGraphicFramePr>
        <p:xfrm>
          <a:off x="609600" y="1798638"/>
          <a:ext cx="10972800" cy="418306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5651426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Layout: Content </a:t>
            </a:r>
            <a:br>
              <a:rPr lang="en-US"/>
            </a:br>
            <a:r>
              <a:rPr lang="en-US"/>
              <a:t>Line Chart Sample</a:t>
            </a:r>
            <a:endParaRPr lang="en-US" dirty="0"/>
          </a:p>
        </p:txBody>
      </p:sp>
      <p:graphicFrame>
        <p:nvGraphicFramePr>
          <p:cNvPr id="11" name="Content Placeholder 10"/>
          <p:cNvGraphicFramePr>
            <a:graphicFrameLocks noGrp="1"/>
          </p:cNvGraphicFramePr>
          <p:nvPr>
            <p:ph type="tbl" sz="quarter" idx="16"/>
            <p:extLst>
              <p:ext uri="{D42A27DB-BD31-4B8C-83A1-F6EECF244321}">
                <p14:modId xmlns:p14="http://schemas.microsoft.com/office/powerpoint/2010/main" val="3939711632"/>
              </p:ext>
            </p:extLst>
          </p:nvPr>
        </p:nvGraphicFramePr>
        <p:xfrm>
          <a:off x="609600" y="1798638"/>
          <a:ext cx="10972800" cy="418306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559834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03" name="Rectangle 3"/>
          <p:cNvSpPr>
            <a:spLocks noGrp="1" noChangeArrowheads="1"/>
          </p:cNvSpPr>
          <p:nvPr>
            <p:ph type="title"/>
          </p:nvPr>
        </p:nvSpPr>
        <p:spPr/>
        <p:txBody>
          <a:bodyPr/>
          <a:lstStyle/>
          <a:p>
            <a:r>
              <a:rPr lang="en-US" dirty="0"/>
              <a:t>Layout: Content </a:t>
            </a:r>
            <a:br>
              <a:rPr lang="en-US" dirty="0"/>
            </a:br>
            <a:r>
              <a:rPr lang="en-US" dirty="0"/>
              <a:t>Pie Charts Sample </a:t>
            </a:r>
          </a:p>
        </p:txBody>
      </p:sp>
      <p:graphicFrame>
        <p:nvGraphicFramePr>
          <p:cNvPr id="3" name="Content Placeholder 7">
            <a:extLst>
              <a:ext uri="{FF2B5EF4-FFF2-40B4-BE49-F238E27FC236}">
                <a16:creationId xmlns:a16="http://schemas.microsoft.com/office/drawing/2014/main" id="{719AF460-7D5D-3D1B-E4E2-9E970BED7230}"/>
              </a:ext>
            </a:extLst>
          </p:cNvPr>
          <p:cNvGraphicFramePr>
            <a:graphicFrameLocks/>
          </p:cNvGraphicFramePr>
          <p:nvPr>
            <p:extLst>
              <p:ext uri="{D42A27DB-BD31-4B8C-83A1-F6EECF244321}">
                <p14:modId xmlns:p14="http://schemas.microsoft.com/office/powerpoint/2010/main" val="502372050"/>
              </p:ext>
            </p:extLst>
          </p:nvPr>
        </p:nvGraphicFramePr>
        <p:xfrm>
          <a:off x="762000" y="1892423"/>
          <a:ext cx="5404338" cy="418306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ontent Placeholder 7">
            <a:extLst>
              <a:ext uri="{FF2B5EF4-FFF2-40B4-BE49-F238E27FC236}">
                <a16:creationId xmlns:a16="http://schemas.microsoft.com/office/drawing/2014/main" id="{B60971DA-A7BF-60A4-22BD-08CF3D2D1611}"/>
              </a:ext>
            </a:extLst>
          </p:cNvPr>
          <p:cNvGraphicFramePr>
            <a:graphicFrameLocks/>
          </p:cNvGraphicFramePr>
          <p:nvPr>
            <p:extLst>
              <p:ext uri="{D42A27DB-BD31-4B8C-83A1-F6EECF244321}">
                <p14:modId xmlns:p14="http://schemas.microsoft.com/office/powerpoint/2010/main" val="3719365624"/>
              </p:ext>
            </p:extLst>
          </p:nvPr>
        </p:nvGraphicFramePr>
        <p:xfrm>
          <a:off x="6178062" y="1892423"/>
          <a:ext cx="5404338" cy="418306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0928770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8E9B1-BCE0-2EE0-42C4-4322EBF1786E}"/>
              </a:ext>
            </a:extLst>
          </p:cNvPr>
          <p:cNvSpPr>
            <a:spLocks noGrp="1"/>
          </p:cNvSpPr>
          <p:nvPr>
            <p:ph type="title"/>
          </p:nvPr>
        </p:nvSpPr>
        <p:spPr/>
        <p:txBody>
          <a:bodyPr/>
          <a:lstStyle/>
          <a:p>
            <a:r>
              <a:rPr lang="en-US" dirty="0"/>
              <a:t>Default Settings</a:t>
            </a:r>
          </a:p>
        </p:txBody>
      </p:sp>
      <p:sp>
        <p:nvSpPr>
          <p:cNvPr id="25" name="Content Placeholder 24">
            <a:extLst>
              <a:ext uri="{FF2B5EF4-FFF2-40B4-BE49-F238E27FC236}">
                <a16:creationId xmlns:a16="http://schemas.microsoft.com/office/drawing/2014/main" id="{F7F4F414-1618-BCC4-CACC-764B94DF159F}"/>
              </a:ext>
            </a:extLst>
          </p:cNvPr>
          <p:cNvSpPr>
            <a:spLocks noGrp="1"/>
          </p:cNvSpPr>
          <p:nvPr>
            <p:ph idx="1"/>
          </p:nvPr>
        </p:nvSpPr>
        <p:spPr>
          <a:xfrm>
            <a:off x="609600" y="1524000"/>
            <a:ext cx="3915508" cy="4648200"/>
          </a:xfrm>
        </p:spPr>
        <p:txBody>
          <a:bodyPr>
            <a:normAutofit/>
          </a:bodyPr>
          <a:lstStyle/>
          <a:p>
            <a:r>
              <a:rPr lang="en-US" dirty="0"/>
              <a:t>Theme Fonts:</a:t>
            </a:r>
          </a:p>
          <a:p>
            <a:pPr lvl="1"/>
            <a:r>
              <a:rPr lang="en-US" dirty="0"/>
              <a:t>Arial (heading)</a:t>
            </a:r>
          </a:p>
          <a:p>
            <a:pPr lvl="1"/>
            <a:r>
              <a:rPr lang="en-US" dirty="0"/>
              <a:t>Arial (body)</a:t>
            </a:r>
          </a:p>
          <a:p>
            <a:pPr marL="320040" lvl="1" indent="0">
              <a:buNone/>
            </a:pPr>
            <a:endParaRPr lang="en-US" dirty="0"/>
          </a:p>
          <a:p>
            <a:r>
              <a:rPr lang="en-US" dirty="0"/>
              <a:t>Text Box Default:</a:t>
            </a:r>
          </a:p>
          <a:p>
            <a:pPr lvl="1"/>
            <a:r>
              <a:rPr lang="en-US" dirty="0"/>
              <a:t>Arial 16pt</a:t>
            </a:r>
          </a:p>
          <a:p>
            <a:pPr lvl="1"/>
            <a:r>
              <a:rPr lang="en-US" dirty="0"/>
              <a:t>Align: Center</a:t>
            </a:r>
          </a:p>
          <a:p>
            <a:pPr lvl="1"/>
            <a:r>
              <a:rPr lang="en-US" dirty="0"/>
              <a:t>Line Spacing: Multiple .95</a:t>
            </a:r>
          </a:p>
        </p:txBody>
      </p:sp>
      <p:cxnSp>
        <p:nvCxnSpPr>
          <p:cNvPr id="28" name="Straight Arrow Connector 27">
            <a:extLst>
              <a:ext uri="{FF2B5EF4-FFF2-40B4-BE49-F238E27FC236}">
                <a16:creationId xmlns:a16="http://schemas.microsoft.com/office/drawing/2014/main" id="{9CC827D7-4B05-6787-DF2C-24253EE909E3}"/>
              </a:ext>
            </a:extLst>
          </p:cNvPr>
          <p:cNvCxnSpPr>
            <a:cxnSpLocks/>
          </p:cNvCxnSpPr>
          <p:nvPr/>
        </p:nvCxnSpPr>
        <p:spPr bwMode="auto">
          <a:xfrm>
            <a:off x="912090" y="5698173"/>
            <a:ext cx="3613018" cy="0"/>
          </a:xfrm>
          <a:prstGeom prst="straightConnector1">
            <a:avLst/>
          </a:prstGeom>
          <a:solidFill>
            <a:schemeClr val="accent2"/>
          </a:solidFill>
          <a:ln w="19050" cap="sq" cmpd="sng" algn="ctr">
            <a:solidFill>
              <a:schemeClr val="tx2"/>
            </a:solidFill>
            <a:prstDash val="solid"/>
            <a:round/>
            <a:headEnd type="triangle" w="med" len="med"/>
            <a:tailEnd type="triangle" w="med" len="med"/>
          </a:ln>
          <a:effectLst/>
        </p:spPr>
      </p:cxnSp>
      <p:sp>
        <p:nvSpPr>
          <p:cNvPr id="30" name="Rectangle 11">
            <a:extLst>
              <a:ext uri="{FF2B5EF4-FFF2-40B4-BE49-F238E27FC236}">
                <a16:creationId xmlns:a16="http://schemas.microsoft.com/office/drawing/2014/main" id="{55CCF85C-FD72-7FA6-9ECC-3C262E40962A}"/>
              </a:ext>
            </a:extLst>
          </p:cNvPr>
          <p:cNvSpPr>
            <a:spLocks noChangeArrowheads="1"/>
          </p:cNvSpPr>
          <p:nvPr/>
        </p:nvSpPr>
        <p:spPr bwMode="auto">
          <a:xfrm>
            <a:off x="5258300" y="2139334"/>
            <a:ext cx="1005840" cy="1005840"/>
          </a:xfrm>
          <a:prstGeom prst="rect">
            <a:avLst/>
          </a:prstGeom>
          <a:solidFill>
            <a:srgbClr val="AB162B"/>
          </a:solidFill>
          <a:ln w="12700" cap="sq" algn="ctr">
            <a:noFill/>
            <a:miter lim="800000"/>
            <a:headEnd/>
            <a:tailEnd/>
          </a:ln>
          <a:effectLst/>
        </p:spPr>
        <p:txBody>
          <a:bodyPr wrap="none" anchor="ctr"/>
          <a:lstStyle/>
          <a:p>
            <a:pPr algn="ctr">
              <a:lnSpc>
                <a:spcPct val="95000"/>
              </a:lnSpc>
            </a:pPr>
            <a:r>
              <a:rPr lang="en-US" sz="1600" dirty="0">
                <a:solidFill>
                  <a:schemeClr val="bg1"/>
                </a:solidFill>
              </a:rPr>
              <a:t>Sample</a:t>
            </a:r>
          </a:p>
        </p:txBody>
      </p:sp>
      <p:sp>
        <p:nvSpPr>
          <p:cNvPr id="32" name="Oval 31">
            <a:extLst>
              <a:ext uri="{FF2B5EF4-FFF2-40B4-BE49-F238E27FC236}">
                <a16:creationId xmlns:a16="http://schemas.microsoft.com/office/drawing/2014/main" id="{FC3E0246-66C3-5D70-27F8-F21D321103EE}"/>
              </a:ext>
            </a:extLst>
          </p:cNvPr>
          <p:cNvSpPr/>
          <p:nvPr/>
        </p:nvSpPr>
        <p:spPr bwMode="auto">
          <a:xfrm>
            <a:off x="6631408" y="2146954"/>
            <a:ext cx="990600" cy="990600"/>
          </a:xfrm>
          <a:prstGeom prst="ellipse">
            <a:avLst/>
          </a:prstGeom>
          <a:solidFill>
            <a:srgbClr val="AB162B"/>
          </a:solidFill>
          <a:ln w="12700" cap="sq" algn="ctr">
            <a:noFill/>
            <a:miter lim="800000"/>
            <a:headEnd/>
            <a:tailEnd/>
          </a:ln>
          <a:effectLst/>
        </p:spPr>
        <p:txBody>
          <a:bodyPr wrap="none" rtlCol="0" anchor="ctr"/>
          <a:lstStyle/>
          <a:p>
            <a:pPr algn="ctr"/>
            <a:r>
              <a:rPr lang="en-US" sz="1600" dirty="0">
                <a:solidFill>
                  <a:schemeClr val="bg1"/>
                </a:solidFill>
              </a:rPr>
              <a:t>Sample</a:t>
            </a:r>
          </a:p>
        </p:txBody>
      </p:sp>
      <p:sp>
        <p:nvSpPr>
          <p:cNvPr id="33" name="Rounded Rectangle 32">
            <a:extLst>
              <a:ext uri="{FF2B5EF4-FFF2-40B4-BE49-F238E27FC236}">
                <a16:creationId xmlns:a16="http://schemas.microsoft.com/office/drawing/2014/main" id="{29E7D4A3-2597-7461-B802-97A06B2021E4}"/>
              </a:ext>
            </a:extLst>
          </p:cNvPr>
          <p:cNvSpPr/>
          <p:nvPr/>
        </p:nvSpPr>
        <p:spPr bwMode="auto">
          <a:xfrm>
            <a:off x="7989276" y="2146954"/>
            <a:ext cx="990600" cy="990600"/>
          </a:xfrm>
          <a:prstGeom prst="roundRect">
            <a:avLst/>
          </a:prstGeom>
          <a:solidFill>
            <a:srgbClr val="AB162B"/>
          </a:solidFill>
          <a:ln w="12700" cap="sq" algn="ctr">
            <a:noFill/>
            <a:miter lim="800000"/>
            <a:headEnd/>
            <a:tailEnd/>
          </a:ln>
          <a:effectLst/>
        </p:spPr>
        <p:txBody>
          <a:bodyPr wrap="none" rtlCol="0" anchor="ctr"/>
          <a:lstStyle/>
          <a:p>
            <a:pPr algn="ctr"/>
            <a:r>
              <a:rPr lang="en-US" sz="1600" dirty="0">
                <a:solidFill>
                  <a:schemeClr val="bg1"/>
                </a:solidFill>
              </a:rPr>
              <a:t>Sample</a:t>
            </a:r>
          </a:p>
        </p:txBody>
      </p:sp>
      <p:sp>
        <p:nvSpPr>
          <p:cNvPr id="34" name="Content Placeholder 24">
            <a:extLst>
              <a:ext uri="{FF2B5EF4-FFF2-40B4-BE49-F238E27FC236}">
                <a16:creationId xmlns:a16="http://schemas.microsoft.com/office/drawing/2014/main" id="{C4BBA027-9458-612C-0F34-5D669CB508D1}"/>
              </a:ext>
            </a:extLst>
          </p:cNvPr>
          <p:cNvSpPr txBox="1">
            <a:spLocks/>
          </p:cNvSpPr>
          <p:nvPr/>
        </p:nvSpPr>
        <p:spPr>
          <a:xfrm>
            <a:off x="4955810" y="1524000"/>
            <a:ext cx="3915508" cy="463421"/>
          </a:xfrm>
          <a:prstGeom prst="rect">
            <a:avLst/>
          </a:prstGeom>
        </p:spPr>
        <p:txBody>
          <a:bodyPr vert="horz" lIns="0" tIns="45720" rIns="0" bIns="45720" rtlCol="0" anchor="t" anchorCtr="0">
            <a:normAutofit/>
          </a:bodyPr>
          <a:lstStyle>
            <a:lvl1pPr marL="274320" indent="-274320" algn="l" defTabSz="914400" rtl="0" eaLnBrk="1" latinLnBrk="0" hangingPunct="1">
              <a:lnSpc>
                <a:spcPct val="95000"/>
              </a:lnSpc>
              <a:spcBef>
                <a:spcPts val="1200"/>
              </a:spcBef>
              <a:buClr>
                <a:srgbClr val="C4122F"/>
              </a:buClr>
              <a:buFont typeface="Arial" pitchFamily="34" charset="0"/>
              <a:buChar char="•"/>
              <a:defRPr sz="2400" kern="1200">
                <a:solidFill>
                  <a:srgbClr val="272626"/>
                </a:solidFill>
                <a:latin typeface="Arial" panose="020B0604020202020204" pitchFamily="34" charset="0"/>
                <a:ea typeface="Verdana" pitchFamily="34" charset="0"/>
                <a:cs typeface="Arial" panose="020B0604020202020204" pitchFamily="34" charset="0"/>
              </a:defRPr>
            </a:lvl1pPr>
            <a:lvl2pPr marL="594360" indent="-274320" algn="l" defTabSz="914400" rtl="0" eaLnBrk="1" latinLnBrk="0" hangingPunct="1">
              <a:lnSpc>
                <a:spcPct val="95000"/>
              </a:lnSpc>
              <a:spcBef>
                <a:spcPts val="600"/>
              </a:spcBef>
              <a:buClr>
                <a:srgbClr val="C4122F"/>
              </a:buClr>
              <a:buFont typeface="Verdana" pitchFamily="34" charset="0"/>
              <a:buChar char="─"/>
              <a:defRPr sz="2000" kern="1200">
                <a:solidFill>
                  <a:srgbClr val="272626"/>
                </a:solidFill>
                <a:latin typeface="Arial" panose="020B0604020202020204" pitchFamily="34" charset="0"/>
                <a:ea typeface="Verdana" pitchFamily="34" charset="0"/>
                <a:cs typeface="Arial" panose="020B0604020202020204" pitchFamily="34" charset="0"/>
              </a:defRPr>
            </a:lvl2pPr>
            <a:lvl3pPr marL="868680" indent="-228600" algn="l" defTabSz="914400" rtl="0" eaLnBrk="1" latinLnBrk="0" hangingPunct="1">
              <a:lnSpc>
                <a:spcPct val="95000"/>
              </a:lnSpc>
              <a:spcBef>
                <a:spcPts val="600"/>
              </a:spcBef>
              <a:buClr>
                <a:srgbClr val="C4122F"/>
              </a:buClr>
              <a:buFont typeface="Wingdings" pitchFamily="2" charset="2"/>
              <a:buChar char="§"/>
              <a:defRPr sz="1800" kern="1200">
                <a:solidFill>
                  <a:srgbClr val="272626"/>
                </a:solidFill>
                <a:latin typeface="Arial" panose="020B0604020202020204" pitchFamily="34" charset="0"/>
                <a:ea typeface="Verdana" pitchFamily="34" charset="0"/>
                <a:cs typeface="Arial" panose="020B0604020202020204" pitchFamily="34" charset="0"/>
              </a:defRPr>
            </a:lvl3pPr>
            <a:lvl4pPr marL="1143000" indent="-228600" algn="l" defTabSz="914400" rtl="0" eaLnBrk="1" latinLnBrk="0" hangingPunct="1">
              <a:lnSpc>
                <a:spcPct val="95000"/>
              </a:lnSpc>
              <a:spcBef>
                <a:spcPts val="600"/>
              </a:spcBef>
              <a:buClr>
                <a:srgbClr val="C4122F"/>
              </a:buClr>
              <a:buFont typeface="Courier New" pitchFamily="49" charset="0"/>
              <a:buChar char="o"/>
              <a:defRPr sz="1600" kern="1200">
                <a:solidFill>
                  <a:srgbClr val="272626"/>
                </a:solidFill>
                <a:latin typeface="Arial" panose="020B0604020202020204" pitchFamily="34" charset="0"/>
                <a:ea typeface="Verdana" pitchFamily="34" charset="0"/>
                <a:cs typeface="Arial" panose="020B0604020202020204" pitchFamily="34" charset="0"/>
              </a:defRPr>
            </a:lvl4pPr>
            <a:lvl5pPr marL="1371600" indent="-228600" algn="l" defTabSz="914400" rtl="0" eaLnBrk="1" latinLnBrk="0" hangingPunct="1">
              <a:lnSpc>
                <a:spcPct val="95000"/>
              </a:lnSpc>
              <a:spcBef>
                <a:spcPts val="600"/>
              </a:spcBef>
              <a:buClr>
                <a:srgbClr val="C4122F"/>
              </a:buClr>
              <a:buFont typeface="Arial" pitchFamily="34" charset="0"/>
              <a:buChar char="•"/>
              <a:defRPr sz="1600" kern="1200" baseline="0">
                <a:solidFill>
                  <a:srgbClr val="272626"/>
                </a:solidFill>
                <a:latin typeface="Arial" panose="020B0604020202020204" pitchFamily="34" charset="0"/>
                <a:ea typeface="Verdana" pitchFamily="34" charset="0"/>
                <a:cs typeface="Arial" panose="020B0604020202020204" pitchFamily="34" charset="0"/>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a:lstStyle>
          <a:p>
            <a:r>
              <a:rPr lang="en-US" dirty="0"/>
              <a:t>Drawing Default Styles:</a:t>
            </a:r>
          </a:p>
        </p:txBody>
      </p:sp>
      <p:sp>
        <p:nvSpPr>
          <p:cNvPr id="36" name="Content Placeholder 24">
            <a:extLst>
              <a:ext uri="{FF2B5EF4-FFF2-40B4-BE49-F238E27FC236}">
                <a16:creationId xmlns:a16="http://schemas.microsoft.com/office/drawing/2014/main" id="{E6D63B28-D875-2B9E-8518-B9A6E42F9117}"/>
              </a:ext>
            </a:extLst>
          </p:cNvPr>
          <p:cNvSpPr txBox="1">
            <a:spLocks/>
          </p:cNvSpPr>
          <p:nvPr/>
        </p:nvSpPr>
        <p:spPr>
          <a:xfrm>
            <a:off x="609600" y="5084427"/>
            <a:ext cx="3915508" cy="463421"/>
          </a:xfrm>
          <a:prstGeom prst="rect">
            <a:avLst/>
          </a:prstGeom>
        </p:spPr>
        <p:txBody>
          <a:bodyPr vert="horz" lIns="0" tIns="45720" rIns="0" bIns="45720" rtlCol="0" anchor="t" anchorCtr="0">
            <a:normAutofit/>
          </a:bodyPr>
          <a:lstStyle>
            <a:lvl1pPr marL="274320" indent="-274320" algn="l" defTabSz="914400" rtl="0" eaLnBrk="1" latinLnBrk="0" hangingPunct="1">
              <a:lnSpc>
                <a:spcPct val="95000"/>
              </a:lnSpc>
              <a:spcBef>
                <a:spcPts val="1200"/>
              </a:spcBef>
              <a:buClr>
                <a:srgbClr val="C4122F"/>
              </a:buClr>
              <a:buFont typeface="Arial" pitchFamily="34" charset="0"/>
              <a:buChar char="•"/>
              <a:defRPr sz="2400" kern="1200">
                <a:solidFill>
                  <a:srgbClr val="272626"/>
                </a:solidFill>
                <a:latin typeface="Arial" panose="020B0604020202020204" pitchFamily="34" charset="0"/>
                <a:ea typeface="Verdana" pitchFamily="34" charset="0"/>
                <a:cs typeface="Arial" panose="020B0604020202020204" pitchFamily="34" charset="0"/>
              </a:defRPr>
            </a:lvl1pPr>
            <a:lvl2pPr marL="594360" indent="-274320" algn="l" defTabSz="914400" rtl="0" eaLnBrk="1" latinLnBrk="0" hangingPunct="1">
              <a:lnSpc>
                <a:spcPct val="95000"/>
              </a:lnSpc>
              <a:spcBef>
                <a:spcPts val="600"/>
              </a:spcBef>
              <a:buClr>
                <a:srgbClr val="C4122F"/>
              </a:buClr>
              <a:buFont typeface="Verdana" pitchFamily="34" charset="0"/>
              <a:buChar char="─"/>
              <a:defRPr sz="2000" kern="1200">
                <a:solidFill>
                  <a:srgbClr val="272626"/>
                </a:solidFill>
                <a:latin typeface="Arial" panose="020B0604020202020204" pitchFamily="34" charset="0"/>
                <a:ea typeface="Verdana" pitchFamily="34" charset="0"/>
                <a:cs typeface="Arial" panose="020B0604020202020204" pitchFamily="34" charset="0"/>
              </a:defRPr>
            </a:lvl2pPr>
            <a:lvl3pPr marL="868680" indent="-228600" algn="l" defTabSz="914400" rtl="0" eaLnBrk="1" latinLnBrk="0" hangingPunct="1">
              <a:lnSpc>
                <a:spcPct val="95000"/>
              </a:lnSpc>
              <a:spcBef>
                <a:spcPts val="600"/>
              </a:spcBef>
              <a:buClr>
                <a:srgbClr val="C4122F"/>
              </a:buClr>
              <a:buFont typeface="Wingdings" pitchFamily="2" charset="2"/>
              <a:buChar char="§"/>
              <a:defRPr sz="1800" kern="1200">
                <a:solidFill>
                  <a:srgbClr val="272626"/>
                </a:solidFill>
                <a:latin typeface="Arial" panose="020B0604020202020204" pitchFamily="34" charset="0"/>
                <a:ea typeface="Verdana" pitchFamily="34" charset="0"/>
                <a:cs typeface="Arial" panose="020B0604020202020204" pitchFamily="34" charset="0"/>
              </a:defRPr>
            </a:lvl3pPr>
            <a:lvl4pPr marL="1143000" indent="-228600" algn="l" defTabSz="914400" rtl="0" eaLnBrk="1" latinLnBrk="0" hangingPunct="1">
              <a:lnSpc>
                <a:spcPct val="95000"/>
              </a:lnSpc>
              <a:spcBef>
                <a:spcPts val="600"/>
              </a:spcBef>
              <a:buClr>
                <a:srgbClr val="C4122F"/>
              </a:buClr>
              <a:buFont typeface="Courier New" pitchFamily="49" charset="0"/>
              <a:buChar char="o"/>
              <a:defRPr sz="1600" kern="1200">
                <a:solidFill>
                  <a:srgbClr val="272626"/>
                </a:solidFill>
                <a:latin typeface="Arial" panose="020B0604020202020204" pitchFamily="34" charset="0"/>
                <a:ea typeface="Verdana" pitchFamily="34" charset="0"/>
                <a:cs typeface="Arial" panose="020B0604020202020204" pitchFamily="34" charset="0"/>
              </a:defRPr>
            </a:lvl4pPr>
            <a:lvl5pPr marL="1371600" indent="-228600" algn="l" defTabSz="914400" rtl="0" eaLnBrk="1" latinLnBrk="0" hangingPunct="1">
              <a:lnSpc>
                <a:spcPct val="95000"/>
              </a:lnSpc>
              <a:spcBef>
                <a:spcPts val="600"/>
              </a:spcBef>
              <a:buClr>
                <a:srgbClr val="C4122F"/>
              </a:buClr>
              <a:buFont typeface="Arial" pitchFamily="34" charset="0"/>
              <a:buChar char="•"/>
              <a:defRPr sz="1600" kern="1200" baseline="0">
                <a:solidFill>
                  <a:srgbClr val="272626"/>
                </a:solidFill>
                <a:latin typeface="Arial" panose="020B0604020202020204" pitchFamily="34" charset="0"/>
                <a:ea typeface="Verdana" pitchFamily="34" charset="0"/>
                <a:cs typeface="Arial" panose="020B0604020202020204" pitchFamily="34" charset="0"/>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a:lstStyle>
          <a:p>
            <a:r>
              <a:rPr lang="en-US" dirty="0"/>
              <a:t>Line Default Style:</a:t>
            </a:r>
          </a:p>
        </p:txBody>
      </p:sp>
      <p:sp>
        <p:nvSpPr>
          <p:cNvPr id="42" name="Rectangle 11">
            <a:extLst>
              <a:ext uri="{FF2B5EF4-FFF2-40B4-BE49-F238E27FC236}">
                <a16:creationId xmlns:a16="http://schemas.microsoft.com/office/drawing/2014/main" id="{14FB4448-7D84-0348-490B-21AA7DFBB916}"/>
              </a:ext>
            </a:extLst>
          </p:cNvPr>
          <p:cNvSpPr>
            <a:spLocks noChangeArrowheads="1"/>
          </p:cNvSpPr>
          <p:nvPr/>
        </p:nvSpPr>
        <p:spPr bwMode="auto">
          <a:xfrm>
            <a:off x="5258300" y="3415833"/>
            <a:ext cx="1005840" cy="1005840"/>
          </a:xfrm>
          <a:prstGeom prst="rect">
            <a:avLst/>
          </a:prstGeom>
          <a:solidFill>
            <a:schemeClr val="bg1"/>
          </a:solidFill>
          <a:ln w="12700" cap="sq" algn="ctr">
            <a:solidFill>
              <a:srgbClr val="272626"/>
            </a:solidFill>
            <a:miter lim="800000"/>
            <a:headEnd/>
            <a:tailEnd/>
          </a:ln>
          <a:effectLst/>
        </p:spPr>
        <p:txBody>
          <a:bodyPr wrap="none" anchor="ctr"/>
          <a:lstStyle/>
          <a:p>
            <a:pPr algn="ctr">
              <a:lnSpc>
                <a:spcPct val="95000"/>
              </a:lnSpc>
            </a:pPr>
            <a:r>
              <a:rPr lang="en-US" sz="1600" dirty="0">
                <a:solidFill>
                  <a:srgbClr val="272626"/>
                </a:solidFill>
              </a:rPr>
              <a:t>Sample</a:t>
            </a:r>
          </a:p>
        </p:txBody>
      </p:sp>
      <p:sp>
        <p:nvSpPr>
          <p:cNvPr id="43" name="Oval 42">
            <a:extLst>
              <a:ext uri="{FF2B5EF4-FFF2-40B4-BE49-F238E27FC236}">
                <a16:creationId xmlns:a16="http://schemas.microsoft.com/office/drawing/2014/main" id="{94E54825-0F25-AE8C-FFB1-E9D107F41673}"/>
              </a:ext>
            </a:extLst>
          </p:cNvPr>
          <p:cNvSpPr/>
          <p:nvPr/>
        </p:nvSpPr>
        <p:spPr bwMode="auto">
          <a:xfrm>
            <a:off x="6631408" y="3423453"/>
            <a:ext cx="990600" cy="990600"/>
          </a:xfrm>
          <a:prstGeom prst="ellipse">
            <a:avLst/>
          </a:prstGeom>
          <a:solidFill>
            <a:schemeClr val="bg1"/>
          </a:solidFill>
          <a:ln w="12700" cap="sq" algn="ctr">
            <a:solidFill>
              <a:srgbClr val="272626"/>
            </a:solidFill>
            <a:miter lim="800000"/>
            <a:headEnd/>
            <a:tailEnd/>
          </a:ln>
          <a:effectLst/>
        </p:spPr>
        <p:txBody>
          <a:bodyPr wrap="none" rtlCol="0" anchor="ctr"/>
          <a:lstStyle/>
          <a:p>
            <a:pPr algn="ctr"/>
            <a:r>
              <a:rPr lang="en-US" sz="1600" dirty="0">
                <a:solidFill>
                  <a:srgbClr val="272626"/>
                </a:solidFill>
              </a:rPr>
              <a:t>Sample</a:t>
            </a:r>
          </a:p>
        </p:txBody>
      </p:sp>
      <p:sp>
        <p:nvSpPr>
          <p:cNvPr id="44" name="Rounded Rectangle 43">
            <a:extLst>
              <a:ext uri="{FF2B5EF4-FFF2-40B4-BE49-F238E27FC236}">
                <a16:creationId xmlns:a16="http://schemas.microsoft.com/office/drawing/2014/main" id="{5908FBD7-2BD5-EBDF-BCB7-86E906AF1495}"/>
              </a:ext>
            </a:extLst>
          </p:cNvPr>
          <p:cNvSpPr/>
          <p:nvPr/>
        </p:nvSpPr>
        <p:spPr bwMode="auto">
          <a:xfrm>
            <a:off x="7989276" y="3423453"/>
            <a:ext cx="990600" cy="990600"/>
          </a:xfrm>
          <a:prstGeom prst="roundRect">
            <a:avLst/>
          </a:prstGeom>
          <a:solidFill>
            <a:schemeClr val="bg1"/>
          </a:solidFill>
          <a:ln w="12700" cap="sq" algn="ctr">
            <a:solidFill>
              <a:srgbClr val="272626"/>
            </a:solidFill>
            <a:miter lim="800000"/>
            <a:headEnd/>
            <a:tailEnd/>
          </a:ln>
          <a:effectLst/>
        </p:spPr>
        <p:txBody>
          <a:bodyPr wrap="none" rtlCol="0" anchor="ctr"/>
          <a:lstStyle/>
          <a:p>
            <a:pPr algn="ctr"/>
            <a:r>
              <a:rPr lang="en-US" sz="1600" dirty="0">
                <a:solidFill>
                  <a:srgbClr val="272626"/>
                </a:solidFill>
              </a:rPr>
              <a:t>Sample</a:t>
            </a:r>
          </a:p>
        </p:txBody>
      </p:sp>
      <p:sp>
        <p:nvSpPr>
          <p:cNvPr id="45" name="Rectangle 11">
            <a:extLst>
              <a:ext uri="{FF2B5EF4-FFF2-40B4-BE49-F238E27FC236}">
                <a16:creationId xmlns:a16="http://schemas.microsoft.com/office/drawing/2014/main" id="{9AFCE544-F7F1-251C-05AB-899159E19C40}"/>
              </a:ext>
            </a:extLst>
          </p:cNvPr>
          <p:cNvSpPr>
            <a:spLocks noChangeArrowheads="1"/>
          </p:cNvSpPr>
          <p:nvPr/>
        </p:nvSpPr>
        <p:spPr bwMode="auto">
          <a:xfrm>
            <a:off x="5258300" y="4692333"/>
            <a:ext cx="1005840" cy="1005840"/>
          </a:xfrm>
          <a:prstGeom prst="rect">
            <a:avLst/>
          </a:prstGeom>
          <a:solidFill>
            <a:srgbClr val="002E6D"/>
          </a:solidFill>
          <a:ln w="12700" cap="sq" algn="ctr">
            <a:noFill/>
            <a:miter lim="800000"/>
            <a:headEnd/>
            <a:tailEnd/>
          </a:ln>
          <a:effectLst/>
        </p:spPr>
        <p:txBody>
          <a:bodyPr wrap="none" anchor="ctr"/>
          <a:lstStyle/>
          <a:p>
            <a:pPr algn="ctr">
              <a:lnSpc>
                <a:spcPct val="95000"/>
              </a:lnSpc>
            </a:pPr>
            <a:r>
              <a:rPr lang="en-US" sz="1600" dirty="0">
                <a:solidFill>
                  <a:schemeClr val="bg1"/>
                </a:solidFill>
              </a:rPr>
              <a:t>Sample</a:t>
            </a:r>
          </a:p>
        </p:txBody>
      </p:sp>
      <p:sp>
        <p:nvSpPr>
          <p:cNvPr id="46" name="Oval 45">
            <a:extLst>
              <a:ext uri="{FF2B5EF4-FFF2-40B4-BE49-F238E27FC236}">
                <a16:creationId xmlns:a16="http://schemas.microsoft.com/office/drawing/2014/main" id="{98C6E2BC-6941-A96E-3BD9-BF30FE0BE666}"/>
              </a:ext>
            </a:extLst>
          </p:cNvPr>
          <p:cNvSpPr/>
          <p:nvPr/>
        </p:nvSpPr>
        <p:spPr bwMode="auto">
          <a:xfrm>
            <a:off x="6631408" y="4699953"/>
            <a:ext cx="990600" cy="990600"/>
          </a:xfrm>
          <a:prstGeom prst="ellipse">
            <a:avLst/>
          </a:prstGeom>
          <a:solidFill>
            <a:srgbClr val="5E7361"/>
          </a:solidFill>
          <a:ln w="12700" cap="sq" algn="ctr">
            <a:noFill/>
            <a:miter lim="800000"/>
            <a:headEnd/>
            <a:tailEnd/>
          </a:ln>
          <a:effectLst/>
        </p:spPr>
        <p:txBody>
          <a:bodyPr wrap="none" rtlCol="0" anchor="ctr"/>
          <a:lstStyle/>
          <a:p>
            <a:pPr algn="ctr"/>
            <a:r>
              <a:rPr lang="en-US" sz="1600" dirty="0">
                <a:solidFill>
                  <a:schemeClr val="bg1"/>
                </a:solidFill>
              </a:rPr>
              <a:t>Sample</a:t>
            </a:r>
          </a:p>
        </p:txBody>
      </p:sp>
      <p:sp>
        <p:nvSpPr>
          <p:cNvPr id="47" name="Rounded Rectangle 46">
            <a:extLst>
              <a:ext uri="{FF2B5EF4-FFF2-40B4-BE49-F238E27FC236}">
                <a16:creationId xmlns:a16="http://schemas.microsoft.com/office/drawing/2014/main" id="{06862369-45E1-1F62-EC94-52ECCED9615B}"/>
              </a:ext>
            </a:extLst>
          </p:cNvPr>
          <p:cNvSpPr/>
          <p:nvPr/>
        </p:nvSpPr>
        <p:spPr bwMode="auto">
          <a:xfrm>
            <a:off x="7989276" y="4699953"/>
            <a:ext cx="990600" cy="990600"/>
          </a:xfrm>
          <a:prstGeom prst="roundRect">
            <a:avLst/>
          </a:prstGeom>
          <a:solidFill>
            <a:srgbClr val="7C6569"/>
          </a:solidFill>
          <a:ln w="12700" cap="sq" algn="ctr">
            <a:noFill/>
            <a:miter lim="800000"/>
            <a:headEnd/>
            <a:tailEnd/>
          </a:ln>
          <a:effectLst/>
        </p:spPr>
        <p:txBody>
          <a:bodyPr wrap="none" rtlCol="0" anchor="ctr"/>
          <a:lstStyle/>
          <a:p>
            <a:pPr algn="ctr"/>
            <a:r>
              <a:rPr lang="en-US" sz="1600" dirty="0">
                <a:solidFill>
                  <a:schemeClr val="bg1"/>
                </a:solidFill>
              </a:rPr>
              <a:t>Sample</a:t>
            </a:r>
          </a:p>
        </p:txBody>
      </p:sp>
      <p:sp>
        <p:nvSpPr>
          <p:cNvPr id="48" name="TextBox 47">
            <a:extLst>
              <a:ext uri="{FF2B5EF4-FFF2-40B4-BE49-F238E27FC236}">
                <a16:creationId xmlns:a16="http://schemas.microsoft.com/office/drawing/2014/main" id="{D02596D8-1BA2-CD15-AFE9-BCDED46564FD}"/>
              </a:ext>
            </a:extLst>
          </p:cNvPr>
          <p:cNvSpPr txBox="1"/>
          <p:nvPr/>
        </p:nvSpPr>
        <p:spPr>
          <a:xfrm>
            <a:off x="9847385" y="5193323"/>
            <a:ext cx="0" cy="0"/>
          </a:xfrm>
          <a:prstGeom prst="rect">
            <a:avLst/>
          </a:prstGeom>
          <a:noFill/>
        </p:spPr>
        <p:txBody>
          <a:bodyPr wrap="none" rtlCol="0">
            <a:noAutofit/>
          </a:bodyPr>
          <a:lstStyle/>
          <a:p>
            <a:pPr algn="ctr"/>
            <a:endParaRPr lang="en-US" sz="1600" dirty="0" err="1"/>
          </a:p>
        </p:txBody>
      </p:sp>
    </p:spTree>
    <p:extLst>
      <p:ext uri="{BB962C8B-B14F-4D97-AF65-F5344CB8AC3E}">
        <p14:creationId xmlns:p14="http://schemas.microsoft.com/office/powerpoint/2010/main" val="166100654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8E9B1-BCE0-2EE0-42C4-4322EBF1786E}"/>
              </a:ext>
            </a:extLst>
          </p:cNvPr>
          <p:cNvSpPr>
            <a:spLocks noGrp="1"/>
          </p:cNvSpPr>
          <p:nvPr>
            <p:ph type="title"/>
          </p:nvPr>
        </p:nvSpPr>
        <p:spPr>
          <a:xfrm>
            <a:off x="609600" y="351367"/>
            <a:ext cx="10972800" cy="800100"/>
          </a:xfrm>
        </p:spPr>
        <p:txBody>
          <a:bodyPr/>
          <a:lstStyle/>
          <a:p>
            <a:r>
              <a:rPr lang="en-US" dirty="0"/>
              <a:t>Color Scheme</a:t>
            </a:r>
          </a:p>
        </p:txBody>
      </p:sp>
      <p:sp>
        <p:nvSpPr>
          <p:cNvPr id="6" name="Rectangle 2">
            <a:extLst>
              <a:ext uri="{FF2B5EF4-FFF2-40B4-BE49-F238E27FC236}">
                <a16:creationId xmlns:a16="http://schemas.microsoft.com/office/drawing/2014/main" id="{D539DF4A-39DB-14C6-D914-C3DD0F20F81C}"/>
              </a:ext>
            </a:extLst>
          </p:cNvPr>
          <p:cNvSpPr>
            <a:spLocks noChangeArrowheads="1"/>
          </p:cNvSpPr>
          <p:nvPr/>
        </p:nvSpPr>
        <p:spPr bwMode="gray">
          <a:xfrm>
            <a:off x="2683362" y="2824631"/>
            <a:ext cx="550567" cy="586754"/>
          </a:xfrm>
          <a:prstGeom prst="rect">
            <a:avLst/>
          </a:prstGeom>
          <a:solidFill>
            <a:srgbClr val="272626"/>
          </a:solidFill>
          <a:ln w="9525">
            <a:noFill/>
            <a:miter lim="800000"/>
            <a:headEnd/>
            <a:tailEnd/>
          </a:ln>
          <a:effectLst/>
        </p:spPr>
        <p:txBody>
          <a:bodyPr wrap="none" anchor="ctr"/>
          <a:lstStyle/>
          <a:p>
            <a:endParaRPr lang="en-US"/>
          </a:p>
        </p:txBody>
      </p:sp>
      <p:sp>
        <p:nvSpPr>
          <p:cNvPr id="7" name="Text Box 10">
            <a:extLst>
              <a:ext uri="{FF2B5EF4-FFF2-40B4-BE49-F238E27FC236}">
                <a16:creationId xmlns:a16="http://schemas.microsoft.com/office/drawing/2014/main" id="{3B6E9B52-6BE0-3FC2-69A1-CFCA4918D6F7}"/>
              </a:ext>
            </a:extLst>
          </p:cNvPr>
          <p:cNvSpPr txBox="1">
            <a:spLocks noChangeArrowheads="1"/>
          </p:cNvSpPr>
          <p:nvPr/>
        </p:nvSpPr>
        <p:spPr bwMode="auto">
          <a:xfrm>
            <a:off x="3380132" y="2798958"/>
            <a:ext cx="1430190" cy="631983"/>
          </a:xfrm>
          <a:prstGeom prst="rect">
            <a:avLst/>
          </a:prstGeom>
          <a:noFill/>
          <a:ln w="9525">
            <a:noFill/>
            <a:miter lim="800000"/>
            <a:headEnd/>
            <a:tailEnd/>
          </a:ln>
          <a:effectLst/>
        </p:spPr>
        <p:txBody>
          <a:bodyPr wrap="none" anchor="ctr">
            <a:spAutoFit/>
          </a:bodyPr>
          <a:lstStyle/>
          <a:p>
            <a:pPr algn="l" eaLnBrk="0" hangingPunct="0">
              <a:spcBef>
                <a:spcPct val="0"/>
              </a:spcBef>
              <a:buClrTx/>
            </a:pPr>
            <a:r>
              <a:rPr lang="en-US" sz="1400" dirty="0">
                <a:solidFill>
                  <a:srgbClr val="272626"/>
                </a:solidFill>
              </a:rPr>
              <a:t>Black</a:t>
            </a:r>
          </a:p>
          <a:p>
            <a:pPr algn="l" eaLnBrk="0" hangingPunct="0">
              <a:spcBef>
                <a:spcPct val="0"/>
              </a:spcBef>
            </a:pPr>
            <a:r>
              <a:rPr lang="en-US" sz="1200" dirty="0">
                <a:solidFill>
                  <a:srgbClr val="272626"/>
                </a:solidFill>
              </a:rPr>
              <a:t>R39 G38 B38</a:t>
            </a:r>
          </a:p>
        </p:txBody>
      </p:sp>
      <p:sp>
        <p:nvSpPr>
          <p:cNvPr id="8" name="Rectangle 4">
            <a:extLst>
              <a:ext uri="{FF2B5EF4-FFF2-40B4-BE49-F238E27FC236}">
                <a16:creationId xmlns:a16="http://schemas.microsoft.com/office/drawing/2014/main" id="{BAFB1374-A30B-F6AD-F174-156815338A6A}"/>
              </a:ext>
            </a:extLst>
          </p:cNvPr>
          <p:cNvSpPr>
            <a:spLocks noChangeArrowheads="1"/>
          </p:cNvSpPr>
          <p:nvPr/>
        </p:nvSpPr>
        <p:spPr bwMode="gray">
          <a:xfrm>
            <a:off x="2683362" y="3756103"/>
            <a:ext cx="550567" cy="586754"/>
          </a:xfrm>
          <a:prstGeom prst="rect">
            <a:avLst/>
          </a:prstGeom>
          <a:solidFill>
            <a:srgbClr val="AB162B"/>
          </a:solidFill>
          <a:ln w="9525">
            <a:noFill/>
            <a:miter lim="800000"/>
            <a:headEnd/>
            <a:tailEnd/>
          </a:ln>
          <a:effectLst/>
        </p:spPr>
        <p:txBody>
          <a:bodyPr wrap="none" anchor="ctr"/>
          <a:lstStyle/>
          <a:p>
            <a:endParaRPr lang="en-US"/>
          </a:p>
        </p:txBody>
      </p:sp>
      <p:sp>
        <p:nvSpPr>
          <p:cNvPr id="9" name="Text Box 11">
            <a:extLst>
              <a:ext uri="{FF2B5EF4-FFF2-40B4-BE49-F238E27FC236}">
                <a16:creationId xmlns:a16="http://schemas.microsoft.com/office/drawing/2014/main" id="{3D17F2E0-0220-226A-31FB-5B59899D6C0F}"/>
              </a:ext>
            </a:extLst>
          </p:cNvPr>
          <p:cNvSpPr txBox="1">
            <a:spLocks noChangeArrowheads="1"/>
          </p:cNvSpPr>
          <p:nvPr/>
        </p:nvSpPr>
        <p:spPr bwMode="auto">
          <a:xfrm>
            <a:off x="3380131" y="3730430"/>
            <a:ext cx="1594769" cy="631983"/>
          </a:xfrm>
          <a:prstGeom prst="rect">
            <a:avLst/>
          </a:prstGeom>
          <a:noFill/>
          <a:ln w="9525">
            <a:noFill/>
            <a:miter lim="800000"/>
            <a:headEnd/>
            <a:tailEnd/>
          </a:ln>
          <a:effectLst/>
        </p:spPr>
        <p:txBody>
          <a:bodyPr wrap="none" anchor="ctr">
            <a:spAutoFit/>
          </a:bodyPr>
          <a:lstStyle/>
          <a:p>
            <a:pPr algn="l" eaLnBrk="0" hangingPunct="0">
              <a:spcBef>
                <a:spcPct val="0"/>
              </a:spcBef>
              <a:buClrTx/>
              <a:buFontTx/>
              <a:buNone/>
            </a:pPr>
            <a:r>
              <a:rPr lang="en-US" sz="1400" dirty="0">
                <a:solidFill>
                  <a:srgbClr val="272626"/>
                </a:solidFill>
              </a:rPr>
              <a:t>Red</a:t>
            </a:r>
            <a:br>
              <a:rPr lang="en-US" sz="1400" dirty="0">
                <a:solidFill>
                  <a:srgbClr val="272626"/>
                </a:solidFill>
              </a:rPr>
            </a:br>
            <a:r>
              <a:rPr lang="en-US" sz="1200" dirty="0">
                <a:solidFill>
                  <a:srgbClr val="272626"/>
                </a:solidFill>
              </a:rPr>
              <a:t>R171 G22  B43</a:t>
            </a:r>
            <a:endParaRPr lang="en-US" sz="1400" dirty="0">
              <a:solidFill>
                <a:srgbClr val="272626"/>
              </a:solidFill>
            </a:endParaRPr>
          </a:p>
        </p:txBody>
      </p:sp>
      <p:sp>
        <p:nvSpPr>
          <p:cNvPr id="10" name="Rectangle 5">
            <a:extLst>
              <a:ext uri="{FF2B5EF4-FFF2-40B4-BE49-F238E27FC236}">
                <a16:creationId xmlns:a16="http://schemas.microsoft.com/office/drawing/2014/main" id="{3789A888-DDA1-B0FA-E188-2B3A16BB0AE3}"/>
              </a:ext>
            </a:extLst>
          </p:cNvPr>
          <p:cNvSpPr>
            <a:spLocks noChangeArrowheads="1"/>
          </p:cNvSpPr>
          <p:nvPr/>
        </p:nvSpPr>
        <p:spPr bwMode="gray">
          <a:xfrm>
            <a:off x="2683362" y="4687574"/>
            <a:ext cx="550567" cy="586754"/>
          </a:xfrm>
          <a:prstGeom prst="rect">
            <a:avLst/>
          </a:prstGeom>
          <a:solidFill>
            <a:srgbClr val="6D6D6D"/>
          </a:solidFill>
          <a:ln w="9525">
            <a:noFill/>
            <a:miter lim="800000"/>
            <a:headEnd/>
            <a:tailEnd/>
          </a:ln>
          <a:effectLst/>
        </p:spPr>
        <p:txBody>
          <a:bodyPr wrap="none" anchor="ctr"/>
          <a:lstStyle/>
          <a:p>
            <a:endParaRPr lang="en-US"/>
          </a:p>
        </p:txBody>
      </p:sp>
      <p:sp>
        <p:nvSpPr>
          <p:cNvPr id="12" name="Text Box 12">
            <a:extLst>
              <a:ext uri="{FF2B5EF4-FFF2-40B4-BE49-F238E27FC236}">
                <a16:creationId xmlns:a16="http://schemas.microsoft.com/office/drawing/2014/main" id="{DBBA7F1D-EFEB-D39C-CC21-A700F0F8218C}"/>
              </a:ext>
            </a:extLst>
          </p:cNvPr>
          <p:cNvSpPr txBox="1">
            <a:spLocks noChangeArrowheads="1"/>
          </p:cNvSpPr>
          <p:nvPr/>
        </p:nvSpPr>
        <p:spPr bwMode="auto">
          <a:xfrm>
            <a:off x="3380132" y="4661902"/>
            <a:ext cx="1923926" cy="631983"/>
          </a:xfrm>
          <a:prstGeom prst="rect">
            <a:avLst/>
          </a:prstGeom>
          <a:noFill/>
          <a:ln w="9525">
            <a:noFill/>
            <a:miter lim="800000"/>
            <a:headEnd/>
            <a:tailEnd/>
          </a:ln>
          <a:effectLst/>
        </p:spPr>
        <p:txBody>
          <a:bodyPr wrap="none" anchor="ctr">
            <a:spAutoFit/>
          </a:bodyPr>
          <a:lstStyle/>
          <a:p>
            <a:pPr algn="l" eaLnBrk="0" hangingPunct="0">
              <a:spcBef>
                <a:spcPct val="0"/>
              </a:spcBef>
            </a:pPr>
            <a:r>
              <a:rPr lang="en-US" sz="1400" dirty="0">
                <a:solidFill>
                  <a:srgbClr val="272626"/>
                </a:solidFill>
              </a:rPr>
              <a:t>Grey</a:t>
            </a:r>
          </a:p>
          <a:p>
            <a:pPr algn="l" eaLnBrk="0" hangingPunct="0">
              <a:spcBef>
                <a:spcPct val="0"/>
              </a:spcBef>
              <a:buClrTx/>
              <a:buFontTx/>
              <a:buNone/>
            </a:pPr>
            <a:r>
              <a:rPr lang="en-US" sz="1200" dirty="0">
                <a:solidFill>
                  <a:srgbClr val="272626"/>
                </a:solidFill>
              </a:rPr>
              <a:t>R109  G109  B109 </a:t>
            </a:r>
            <a:endParaRPr lang="en-US" sz="1400" dirty="0">
              <a:solidFill>
                <a:srgbClr val="272626"/>
              </a:solidFill>
            </a:endParaRPr>
          </a:p>
        </p:txBody>
      </p:sp>
      <p:sp>
        <p:nvSpPr>
          <p:cNvPr id="13" name="Rectangle 3">
            <a:extLst>
              <a:ext uri="{FF2B5EF4-FFF2-40B4-BE49-F238E27FC236}">
                <a16:creationId xmlns:a16="http://schemas.microsoft.com/office/drawing/2014/main" id="{DDCC6911-012B-2EB0-5D9E-B523F3D285C0}"/>
              </a:ext>
            </a:extLst>
          </p:cNvPr>
          <p:cNvSpPr>
            <a:spLocks noChangeArrowheads="1"/>
          </p:cNvSpPr>
          <p:nvPr/>
        </p:nvSpPr>
        <p:spPr bwMode="gray">
          <a:xfrm>
            <a:off x="2683362" y="1893159"/>
            <a:ext cx="550567" cy="586754"/>
          </a:xfrm>
          <a:prstGeom prst="rect">
            <a:avLst/>
          </a:prstGeom>
          <a:solidFill>
            <a:schemeClr val="bg1"/>
          </a:solidFill>
          <a:ln w="9525">
            <a:solidFill>
              <a:srgbClr val="272626"/>
            </a:solidFill>
            <a:miter lim="800000"/>
            <a:headEnd/>
            <a:tailEnd/>
          </a:ln>
          <a:effectLst/>
        </p:spPr>
        <p:txBody>
          <a:bodyPr wrap="none" anchor="ctr"/>
          <a:lstStyle/>
          <a:p>
            <a:endParaRPr lang="en-US"/>
          </a:p>
        </p:txBody>
      </p:sp>
      <p:sp>
        <p:nvSpPr>
          <p:cNvPr id="14" name="Text Box 17">
            <a:extLst>
              <a:ext uri="{FF2B5EF4-FFF2-40B4-BE49-F238E27FC236}">
                <a16:creationId xmlns:a16="http://schemas.microsoft.com/office/drawing/2014/main" id="{D9381F76-99C5-ECBB-AC22-EF9926413C98}"/>
              </a:ext>
            </a:extLst>
          </p:cNvPr>
          <p:cNvSpPr txBox="1">
            <a:spLocks noChangeArrowheads="1"/>
          </p:cNvSpPr>
          <p:nvPr/>
        </p:nvSpPr>
        <p:spPr bwMode="auto">
          <a:xfrm>
            <a:off x="3380132" y="1867488"/>
            <a:ext cx="2179024" cy="631983"/>
          </a:xfrm>
          <a:prstGeom prst="rect">
            <a:avLst/>
          </a:prstGeom>
          <a:noFill/>
          <a:ln w="9525">
            <a:noFill/>
            <a:miter lim="800000"/>
            <a:headEnd/>
            <a:tailEnd/>
          </a:ln>
          <a:effectLst/>
        </p:spPr>
        <p:txBody>
          <a:bodyPr wrap="none" anchor="ctr">
            <a:spAutoFit/>
          </a:bodyPr>
          <a:lstStyle/>
          <a:p>
            <a:pPr eaLnBrk="0" hangingPunct="0">
              <a:spcBef>
                <a:spcPct val="0"/>
              </a:spcBef>
            </a:pPr>
            <a:r>
              <a:rPr lang="en-US" sz="1400" dirty="0">
                <a:solidFill>
                  <a:srgbClr val="272626"/>
                </a:solidFill>
              </a:rPr>
              <a:t>White–Background</a:t>
            </a:r>
          </a:p>
          <a:p>
            <a:pPr algn="l" eaLnBrk="0" hangingPunct="0">
              <a:spcBef>
                <a:spcPct val="0"/>
              </a:spcBef>
            </a:pPr>
            <a:r>
              <a:rPr lang="en-US" sz="1200" dirty="0">
                <a:solidFill>
                  <a:srgbClr val="272626"/>
                </a:solidFill>
              </a:rPr>
              <a:t>R255 G255 B255</a:t>
            </a:r>
          </a:p>
        </p:txBody>
      </p:sp>
      <p:sp>
        <p:nvSpPr>
          <p:cNvPr id="15" name="Rectangle 2">
            <a:extLst>
              <a:ext uri="{FF2B5EF4-FFF2-40B4-BE49-F238E27FC236}">
                <a16:creationId xmlns:a16="http://schemas.microsoft.com/office/drawing/2014/main" id="{920FD231-479B-8663-7707-0926DDADED5C}"/>
              </a:ext>
            </a:extLst>
          </p:cNvPr>
          <p:cNvSpPr>
            <a:spLocks noChangeArrowheads="1"/>
          </p:cNvSpPr>
          <p:nvPr/>
        </p:nvSpPr>
        <p:spPr bwMode="gray">
          <a:xfrm>
            <a:off x="6902795" y="1893159"/>
            <a:ext cx="550567" cy="586754"/>
          </a:xfrm>
          <a:prstGeom prst="rect">
            <a:avLst/>
          </a:prstGeom>
          <a:solidFill>
            <a:schemeClr val="accent2"/>
          </a:solidFill>
          <a:ln w="9525">
            <a:noFill/>
            <a:miter lim="800000"/>
            <a:headEnd/>
            <a:tailEnd/>
          </a:ln>
          <a:effectLst/>
        </p:spPr>
        <p:txBody>
          <a:bodyPr wrap="none" anchor="ctr"/>
          <a:lstStyle/>
          <a:p>
            <a:endParaRPr lang="en-US"/>
          </a:p>
        </p:txBody>
      </p:sp>
      <p:sp>
        <p:nvSpPr>
          <p:cNvPr id="16" name="Text Box 10">
            <a:extLst>
              <a:ext uri="{FF2B5EF4-FFF2-40B4-BE49-F238E27FC236}">
                <a16:creationId xmlns:a16="http://schemas.microsoft.com/office/drawing/2014/main" id="{EFD5A384-32B6-8382-DE61-394607EA9451}"/>
              </a:ext>
            </a:extLst>
          </p:cNvPr>
          <p:cNvSpPr txBox="1">
            <a:spLocks noChangeArrowheads="1"/>
          </p:cNvSpPr>
          <p:nvPr/>
        </p:nvSpPr>
        <p:spPr bwMode="auto">
          <a:xfrm>
            <a:off x="7587341" y="1867488"/>
            <a:ext cx="1868382" cy="631983"/>
          </a:xfrm>
          <a:prstGeom prst="rect">
            <a:avLst/>
          </a:prstGeom>
          <a:noFill/>
          <a:ln w="9525">
            <a:noFill/>
            <a:miter lim="800000"/>
            <a:headEnd/>
            <a:tailEnd/>
          </a:ln>
          <a:effectLst/>
        </p:spPr>
        <p:txBody>
          <a:bodyPr wrap="none" anchor="ctr">
            <a:spAutoFit/>
          </a:bodyPr>
          <a:lstStyle/>
          <a:p>
            <a:pPr algn="l" eaLnBrk="0" hangingPunct="0">
              <a:spcBef>
                <a:spcPct val="0"/>
              </a:spcBef>
              <a:buClrTx/>
              <a:buFontTx/>
              <a:buNone/>
            </a:pPr>
            <a:r>
              <a:rPr lang="en-US" sz="1400" dirty="0">
                <a:solidFill>
                  <a:srgbClr val="272626"/>
                </a:solidFill>
              </a:rPr>
              <a:t>Accent 1 </a:t>
            </a:r>
          </a:p>
          <a:p>
            <a:pPr eaLnBrk="0" hangingPunct="0">
              <a:spcBef>
                <a:spcPct val="0"/>
              </a:spcBef>
            </a:pPr>
            <a:r>
              <a:rPr lang="en-US" sz="1200" dirty="0">
                <a:solidFill>
                  <a:srgbClr val="272626"/>
                </a:solidFill>
              </a:rPr>
              <a:t>R178  G183  B187</a:t>
            </a:r>
            <a:endParaRPr lang="en-US" sz="1400" dirty="0">
              <a:solidFill>
                <a:srgbClr val="272626"/>
              </a:solidFill>
            </a:endParaRPr>
          </a:p>
        </p:txBody>
      </p:sp>
      <p:sp>
        <p:nvSpPr>
          <p:cNvPr id="17" name="Rectangle 4">
            <a:extLst>
              <a:ext uri="{FF2B5EF4-FFF2-40B4-BE49-F238E27FC236}">
                <a16:creationId xmlns:a16="http://schemas.microsoft.com/office/drawing/2014/main" id="{57C603FD-6C72-0565-E8B1-703C32E488E0}"/>
              </a:ext>
            </a:extLst>
          </p:cNvPr>
          <p:cNvSpPr>
            <a:spLocks noChangeArrowheads="1"/>
          </p:cNvSpPr>
          <p:nvPr/>
        </p:nvSpPr>
        <p:spPr bwMode="gray">
          <a:xfrm>
            <a:off x="6902795" y="2824631"/>
            <a:ext cx="550567" cy="586754"/>
          </a:xfrm>
          <a:prstGeom prst="rect">
            <a:avLst/>
          </a:prstGeom>
          <a:solidFill>
            <a:srgbClr val="002E6D"/>
          </a:solidFill>
          <a:ln w="9525">
            <a:noFill/>
            <a:miter lim="800000"/>
            <a:headEnd/>
            <a:tailEnd/>
          </a:ln>
          <a:effectLst/>
        </p:spPr>
        <p:txBody>
          <a:bodyPr wrap="none" anchor="ctr"/>
          <a:lstStyle/>
          <a:p>
            <a:endParaRPr lang="en-US"/>
          </a:p>
        </p:txBody>
      </p:sp>
      <p:sp>
        <p:nvSpPr>
          <p:cNvPr id="18" name="Text Box 11">
            <a:extLst>
              <a:ext uri="{FF2B5EF4-FFF2-40B4-BE49-F238E27FC236}">
                <a16:creationId xmlns:a16="http://schemas.microsoft.com/office/drawing/2014/main" id="{70BA533C-4E80-92DE-9B3A-48617D534BF0}"/>
              </a:ext>
            </a:extLst>
          </p:cNvPr>
          <p:cNvSpPr txBox="1">
            <a:spLocks noChangeArrowheads="1"/>
          </p:cNvSpPr>
          <p:nvPr/>
        </p:nvSpPr>
        <p:spPr bwMode="auto">
          <a:xfrm>
            <a:off x="7587340" y="2798960"/>
            <a:ext cx="1409618" cy="631983"/>
          </a:xfrm>
          <a:prstGeom prst="rect">
            <a:avLst/>
          </a:prstGeom>
          <a:noFill/>
          <a:ln w="9525">
            <a:noFill/>
            <a:miter lim="800000"/>
            <a:headEnd/>
            <a:tailEnd/>
          </a:ln>
          <a:effectLst/>
        </p:spPr>
        <p:txBody>
          <a:bodyPr wrap="none" anchor="ctr">
            <a:spAutoFit/>
          </a:bodyPr>
          <a:lstStyle/>
          <a:p>
            <a:pPr algn="l" eaLnBrk="0" hangingPunct="0">
              <a:spcBef>
                <a:spcPct val="0"/>
              </a:spcBef>
              <a:buClrTx/>
              <a:buFontTx/>
              <a:buNone/>
            </a:pPr>
            <a:r>
              <a:rPr lang="en-US" sz="1400" dirty="0">
                <a:solidFill>
                  <a:srgbClr val="272626"/>
                </a:solidFill>
              </a:rPr>
              <a:t>Accent 2</a:t>
            </a:r>
            <a:br>
              <a:rPr lang="en-US" sz="1400" dirty="0">
                <a:solidFill>
                  <a:srgbClr val="272626"/>
                </a:solidFill>
              </a:rPr>
            </a:br>
            <a:r>
              <a:rPr lang="en-US" sz="1200" dirty="0">
                <a:solidFill>
                  <a:srgbClr val="272626"/>
                </a:solidFill>
              </a:rPr>
              <a:t>R0  G46  109</a:t>
            </a:r>
            <a:endParaRPr lang="en-US" sz="1400" dirty="0">
              <a:solidFill>
                <a:srgbClr val="272626"/>
              </a:solidFill>
            </a:endParaRPr>
          </a:p>
        </p:txBody>
      </p:sp>
      <p:sp>
        <p:nvSpPr>
          <p:cNvPr id="19" name="Rectangle 5">
            <a:extLst>
              <a:ext uri="{FF2B5EF4-FFF2-40B4-BE49-F238E27FC236}">
                <a16:creationId xmlns:a16="http://schemas.microsoft.com/office/drawing/2014/main" id="{AA270D6F-EB24-958E-EBC6-A401F35834A4}"/>
              </a:ext>
            </a:extLst>
          </p:cNvPr>
          <p:cNvSpPr>
            <a:spLocks noChangeArrowheads="1"/>
          </p:cNvSpPr>
          <p:nvPr/>
        </p:nvSpPr>
        <p:spPr bwMode="gray">
          <a:xfrm>
            <a:off x="6902795" y="3756103"/>
            <a:ext cx="550567" cy="586754"/>
          </a:xfrm>
          <a:prstGeom prst="rect">
            <a:avLst/>
          </a:prstGeom>
          <a:solidFill>
            <a:srgbClr val="5E7361"/>
          </a:solidFill>
          <a:ln w="9525">
            <a:noFill/>
            <a:miter lim="800000"/>
            <a:headEnd/>
            <a:tailEnd/>
          </a:ln>
          <a:effectLst/>
        </p:spPr>
        <p:txBody>
          <a:bodyPr wrap="none" anchor="ctr"/>
          <a:lstStyle/>
          <a:p>
            <a:endParaRPr lang="en-US"/>
          </a:p>
        </p:txBody>
      </p:sp>
      <p:sp>
        <p:nvSpPr>
          <p:cNvPr id="20" name="Text Box 12">
            <a:extLst>
              <a:ext uri="{FF2B5EF4-FFF2-40B4-BE49-F238E27FC236}">
                <a16:creationId xmlns:a16="http://schemas.microsoft.com/office/drawing/2014/main" id="{6DE04506-4BC8-A803-9349-B692A7CC549C}"/>
              </a:ext>
            </a:extLst>
          </p:cNvPr>
          <p:cNvSpPr txBox="1">
            <a:spLocks noChangeArrowheads="1"/>
          </p:cNvSpPr>
          <p:nvPr/>
        </p:nvSpPr>
        <p:spPr bwMode="auto">
          <a:xfrm>
            <a:off x="7587341" y="3730431"/>
            <a:ext cx="1635667" cy="631983"/>
          </a:xfrm>
          <a:prstGeom prst="rect">
            <a:avLst/>
          </a:prstGeom>
          <a:noFill/>
          <a:ln w="9525">
            <a:noFill/>
            <a:miter lim="800000"/>
            <a:headEnd/>
            <a:tailEnd/>
          </a:ln>
          <a:effectLst/>
        </p:spPr>
        <p:txBody>
          <a:bodyPr wrap="none" anchor="ctr">
            <a:spAutoFit/>
          </a:bodyPr>
          <a:lstStyle/>
          <a:p>
            <a:pPr algn="l" eaLnBrk="0" hangingPunct="0">
              <a:spcBef>
                <a:spcPct val="0"/>
              </a:spcBef>
              <a:buClrTx/>
              <a:buFontTx/>
              <a:buNone/>
            </a:pPr>
            <a:r>
              <a:rPr lang="en-US" sz="1400" dirty="0">
                <a:solidFill>
                  <a:srgbClr val="272626"/>
                </a:solidFill>
              </a:rPr>
              <a:t>Accent 3</a:t>
            </a:r>
          </a:p>
          <a:p>
            <a:pPr algn="l" eaLnBrk="0" hangingPunct="0">
              <a:spcBef>
                <a:spcPct val="0"/>
              </a:spcBef>
              <a:buClrTx/>
              <a:buFontTx/>
              <a:buNone/>
            </a:pPr>
            <a:r>
              <a:rPr lang="en-US" sz="1200" dirty="0">
                <a:solidFill>
                  <a:srgbClr val="272626"/>
                </a:solidFill>
              </a:rPr>
              <a:t>R94  G115  B97</a:t>
            </a:r>
            <a:endParaRPr lang="en-US" sz="1400" dirty="0">
              <a:solidFill>
                <a:srgbClr val="272626"/>
              </a:solidFill>
            </a:endParaRPr>
          </a:p>
        </p:txBody>
      </p:sp>
      <p:sp>
        <p:nvSpPr>
          <p:cNvPr id="37" name="Rectangle 5">
            <a:extLst>
              <a:ext uri="{FF2B5EF4-FFF2-40B4-BE49-F238E27FC236}">
                <a16:creationId xmlns:a16="http://schemas.microsoft.com/office/drawing/2014/main" id="{D1733C4B-27E0-1F9F-9A02-1D0D89F06177}"/>
              </a:ext>
            </a:extLst>
          </p:cNvPr>
          <p:cNvSpPr>
            <a:spLocks noChangeArrowheads="1"/>
          </p:cNvSpPr>
          <p:nvPr/>
        </p:nvSpPr>
        <p:spPr bwMode="gray">
          <a:xfrm>
            <a:off x="6902795" y="4687167"/>
            <a:ext cx="550567" cy="586754"/>
          </a:xfrm>
          <a:prstGeom prst="rect">
            <a:avLst/>
          </a:prstGeom>
          <a:solidFill>
            <a:srgbClr val="C78A3D"/>
          </a:solidFill>
          <a:ln w="9525">
            <a:noFill/>
            <a:miter lim="800000"/>
            <a:headEnd/>
            <a:tailEnd/>
          </a:ln>
          <a:effectLst/>
        </p:spPr>
        <p:txBody>
          <a:bodyPr wrap="none" anchor="ctr"/>
          <a:lstStyle/>
          <a:p>
            <a:endParaRPr lang="en-US"/>
          </a:p>
        </p:txBody>
      </p:sp>
      <p:sp>
        <p:nvSpPr>
          <p:cNvPr id="38" name="Text Box 12">
            <a:extLst>
              <a:ext uri="{FF2B5EF4-FFF2-40B4-BE49-F238E27FC236}">
                <a16:creationId xmlns:a16="http://schemas.microsoft.com/office/drawing/2014/main" id="{41AEDD52-83DE-71D5-B8A4-C71A05E4EBE2}"/>
              </a:ext>
            </a:extLst>
          </p:cNvPr>
          <p:cNvSpPr txBox="1">
            <a:spLocks noChangeArrowheads="1"/>
          </p:cNvSpPr>
          <p:nvPr/>
        </p:nvSpPr>
        <p:spPr bwMode="auto">
          <a:xfrm>
            <a:off x="7587341" y="4661496"/>
            <a:ext cx="1868382" cy="631983"/>
          </a:xfrm>
          <a:prstGeom prst="rect">
            <a:avLst/>
          </a:prstGeom>
          <a:noFill/>
          <a:ln w="9525">
            <a:noFill/>
            <a:miter lim="800000"/>
            <a:headEnd/>
            <a:tailEnd/>
          </a:ln>
          <a:effectLst/>
        </p:spPr>
        <p:txBody>
          <a:bodyPr wrap="square" anchor="ctr">
            <a:spAutoFit/>
          </a:bodyPr>
          <a:lstStyle/>
          <a:p>
            <a:pPr algn="l" eaLnBrk="0" hangingPunct="0">
              <a:spcBef>
                <a:spcPct val="0"/>
              </a:spcBef>
              <a:buClrTx/>
              <a:buFontTx/>
              <a:buNone/>
            </a:pPr>
            <a:r>
              <a:rPr lang="en-US" sz="1400" dirty="0">
                <a:solidFill>
                  <a:srgbClr val="272626"/>
                </a:solidFill>
              </a:rPr>
              <a:t>Accent 4</a:t>
            </a:r>
          </a:p>
          <a:p>
            <a:pPr algn="l" eaLnBrk="0" hangingPunct="0">
              <a:spcBef>
                <a:spcPct val="0"/>
              </a:spcBef>
              <a:buClrTx/>
              <a:buFontTx/>
              <a:buNone/>
            </a:pPr>
            <a:r>
              <a:rPr lang="en-US" sz="1200" dirty="0">
                <a:solidFill>
                  <a:srgbClr val="272626"/>
                </a:solidFill>
              </a:rPr>
              <a:t>R199  G138  B61</a:t>
            </a:r>
            <a:endParaRPr lang="en-US" sz="1400" dirty="0">
              <a:solidFill>
                <a:srgbClr val="272626"/>
              </a:solidFill>
            </a:endParaRPr>
          </a:p>
        </p:txBody>
      </p:sp>
      <p:sp>
        <p:nvSpPr>
          <p:cNvPr id="39" name="Rectangle 4">
            <a:extLst>
              <a:ext uri="{FF2B5EF4-FFF2-40B4-BE49-F238E27FC236}">
                <a16:creationId xmlns:a16="http://schemas.microsoft.com/office/drawing/2014/main" id="{20C367D8-0ABD-B979-B159-4026F0543976}"/>
              </a:ext>
            </a:extLst>
          </p:cNvPr>
          <p:cNvSpPr>
            <a:spLocks noChangeArrowheads="1"/>
          </p:cNvSpPr>
          <p:nvPr/>
        </p:nvSpPr>
        <p:spPr bwMode="gray">
          <a:xfrm>
            <a:off x="6902795" y="5618639"/>
            <a:ext cx="550567" cy="586754"/>
          </a:xfrm>
          <a:prstGeom prst="rect">
            <a:avLst/>
          </a:prstGeom>
          <a:solidFill>
            <a:srgbClr val="7C6569"/>
          </a:solidFill>
          <a:ln w="9525">
            <a:noFill/>
            <a:miter lim="800000"/>
            <a:headEnd/>
            <a:tailEnd/>
          </a:ln>
          <a:effectLst/>
        </p:spPr>
        <p:txBody>
          <a:bodyPr wrap="none" anchor="ctr"/>
          <a:lstStyle/>
          <a:p>
            <a:endParaRPr lang="en-US"/>
          </a:p>
        </p:txBody>
      </p:sp>
      <p:sp>
        <p:nvSpPr>
          <p:cNvPr id="40" name="Text Box 11">
            <a:extLst>
              <a:ext uri="{FF2B5EF4-FFF2-40B4-BE49-F238E27FC236}">
                <a16:creationId xmlns:a16="http://schemas.microsoft.com/office/drawing/2014/main" id="{6F2C135B-5783-8AE5-0DE0-1E15E1022508}"/>
              </a:ext>
            </a:extLst>
          </p:cNvPr>
          <p:cNvSpPr txBox="1">
            <a:spLocks noChangeArrowheads="1"/>
          </p:cNvSpPr>
          <p:nvPr/>
        </p:nvSpPr>
        <p:spPr bwMode="auto">
          <a:xfrm>
            <a:off x="7587340" y="5592971"/>
            <a:ext cx="2108040" cy="631983"/>
          </a:xfrm>
          <a:prstGeom prst="rect">
            <a:avLst/>
          </a:prstGeom>
          <a:noFill/>
          <a:ln w="9525">
            <a:noFill/>
            <a:miter lim="800000"/>
            <a:headEnd/>
            <a:tailEnd/>
          </a:ln>
          <a:effectLst/>
        </p:spPr>
        <p:txBody>
          <a:bodyPr wrap="square" anchor="ctr">
            <a:spAutoFit/>
          </a:bodyPr>
          <a:lstStyle/>
          <a:p>
            <a:pPr algn="l" eaLnBrk="0" hangingPunct="0">
              <a:spcBef>
                <a:spcPct val="0"/>
              </a:spcBef>
            </a:pPr>
            <a:r>
              <a:rPr lang="en-US" sz="1400" dirty="0">
                <a:solidFill>
                  <a:srgbClr val="272626"/>
                </a:solidFill>
              </a:rPr>
              <a:t>Accent 5</a:t>
            </a:r>
            <a:br>
              <a:rPr lang="en-US" sz="1400" dirty="0">
                <a:solidFill>
                  <a:srgbClr val="272626"/>
                </a:solidFill>
              </a:rPr>
            </a:br>
            <a:r>
              <a:rPr lang="en-US" sz="1200" dirty="0">
                <a:solidFill>
                  <a:srgbClr val="272626"/>
                </a:solidFill>
              </a:rPr>
              <a:t>R124  G101  B105</a:t>
            </a:r>
            <a:endParaRPr lang="en-US" sz="1400" dirty="0">
              <a:solidFill>
                <a:srgbClr val="272626"/>
              </a:solidFill>
            </a:endParaRPr>
          </a:p>
        </p:txBody>
      </p:sp>
    </p:spTree>
    <p:extLst>
      <p:ext uri="{BB962C8B-B14F-4D97-AF65-F5344CB8AC3E}">
        <p14:creationId xmlns:p14="http://schemas.microsoft.com/office/powerpoint/2010/main" val="339962977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45">
            <a:extLst>
              <a:ext uri="{FF2B5EF4-FFF2-40B4-BE49-F238E27FC236}">
                <a16:creationId xmlns:a16="http://schemas.microsoft.com/office/drawing/2014/main" id="{5E2CF3AE-F42C-E378-1DDB-60AF0311F82F}"/>
              </a:ext>
            </a:extLst>
          </p:cNvPr>
          <p:cNvSpPr txBox="1"/>
          <p:nvPr/>
        </p:nvSpPr>
        <p:spPr>
          <a:xfrm>
            <a:off x="9175262" y="6596185"/>
            <a:ext cx="0" cy="0"/>
          </a:xfrm>
          <a:prstGeom prst="rect">
            <a:avLst/>
          </a:prstGeom>
          <a:noFill/>
        </p:spPr>
        <p:txBody>
          <a:bodyPr wrap="none" rtlCol="0">
            <a:noAutofit/>
          </a:bodyPr>
          <a:lstStyle/>
          <a:p>
            <a:pPr algn="ctr"/>
            <a:endParaRPr lang="en-US" sz="1600" dirty="0" err="1"/>
          </a:p>
        </p:txBody>
      </p:sp>
    </p:spTree>
    <p:extLst>
      <p:ext uri="{BB962C8B-B14F-4D97-AF65-F5344CB8AC3E}">
        <p14:creationId xmlns:p14="http://schemas.microsoft.com/office/powerpoint/2010/main" val="245671833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45">
            <a:extLst>
              <a:ext uri="{FF2B5EF4-FFF2-40B4-BE49-F238E27FC236}">
                <a16:creationId xmlns:a16="http://schemas.microsoft.com/office/drawing/2014/main" id="{5E2CF3AE-F42C-E378-1DDB-60AF0311F82F}"/>
              </a:ext>
            </a:extLst>
          </p:cNvPr>
          <p:cNvSpPr txBox="1"/>
          <p:nvPr/>
        </p:nvSpPr>
        <p:spPr>
          <a:xfrm>
            <a:off x="9175262" y="6596185"/>
            <a:ext cx="0" cy="0"/>
          </a:xfrm>
          <a:prstGeom prst="rect">
            <a:avLst/>
          </a:prstGeom>
          <a:noFill/>
        </p:spPr>
        <p:txBody>
          <a:bodyPr wrap="none" rtlCol="0">
            <a:noAutofit/>
          </a:bodyPr>
          <a:lstStyle/>
          <a:p>
            <a:pPr algn="ctr"/>
            <a:endParaRPr lang="en-US" sz="1600" dirty="0" err="1"/>
          </a:p>
        </p:txBody>
      </p:sp>
    </p:spTree>
    <p:extLst>
      <p:ext uri="{BB962C8B-B14F-4D97-AF65-F5344CB8AC3E}">
        <p14:creationId xmlns:p14="http://schemas.microsoft.com/office/powerpoint/2010/main" val="383677606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58CBA-04AA-AC5A-BCC5-4AB2960D1AE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974682F-3549-0FD8-E784-E4205E0DAC34}"/>
              </a:ext>
            </a:extLst>
          </p:cNvPr>
          <p:cNvSpPr>
            <a:spLocks noGrp="1"/>
          </p:cNvSpPr>
          <p:nvPr>
            <p:ph type="subTitle" idx="1"/>
          </p:nvPr>
        </p:nvSpPr>
        <p:spPr/>
        <p:txBody>
          <a:bodyPr/>
          <a:lstStyle/>
          <a:p>
            <a:pPr marL="0" indent="0">
              <a:buNone/>
            </a:pPr>
            <a:r>
              <a:rPr lang="en-US" dirty="0"/>
              <a:t>Any Questions?</a:t>
            </a:r>
          </a:p>
        </p:txBody>
      </p:sp>
      <p:sp>
        <p:nvSpPr>
          <p:cNvPr id="2" name="Title 1">
            <a:extLst>
              <a:ext uri="{FF2B5EF4-FFF2-40B4-BE49-F238E27FC236}">
                <a16:creationId xmlns:a16="http://schemas.microsoft.com/office/drawing/2014/main" id="{D7FAF52B-E9A4-BF6D-F5C9-706D6F894E4F}"/>
              </a:ext>
            </a:extLst>
          </p:cNvPr>
          <p:cNvSpPr>
            <a:spLocks noGrp="1"/>
          </p:cNvSpPr>
          <p:nvPr>
            <p:ph type="ctrTitle"/>
          </p:nvPr>
        </p:nvSpPr>
        <p:spPr/>
        <p:txBody>
          <a:bodyPr/>
          <a:lstStyle/>
          <a:p>
            <a:r>
              <a:rPr lang="en-US" dirty="0"/>
              <a:t>EXTRA CIRCUIT SCREENSHOTS</a:t>
            </a:r>
          </a:p>
        </p:txBody>
      </p:sp>
      <p:sp>
        <p:nvSpPr>
          <p:cNvPr id="6" name="TextBox 5">
            <a:extLst>
              <a:ext uri="{FF2B5EF4-FFF2-40B4-BE49-F238E27FC236}">
                <a16:creationId xmlns:a16="http://schemas.microsoft.com/office/drawing/2014/main" id="{95F2F016-279E-D0E1-3CE8-254311AA6624}"/>
              </a:ext>
            </a:extLst>
          </p:cNvPr>
          <p:cNvSpPr txBox="1"/>
          <p:nvPr/>
        </p:nvSpPr>
        <p:spPr>
          <a:xfrm>
            <a:off x="3901440" y="5953760"/>
            <a:ext cx="0" cy="0"/>
          </a:xfrm>
          <a:prstGeom prst="rect">
            <a:avLst/>
          </a:prstGeom>
          <a:noFill/>
        </p:spPr>
        <p:txBody>
          <a:bodyPr wrap="none" rtlCol="0">
            <a:noAutofit/>
          </a:bodyPr>
          <a:lstStyle/>
          <a:p>
            <a:pPr algn="ctr"/>
            <a:endParaRPr lang="en-US" sz="1600" dirty="0" err="1"/>
          </a:p>
        </p:txBody>
      </p:sp>
    </p:spTree>
    <p:extLst>
      <p:ext uri="{BB962C8B-B14F-4D97-AF65-F5344CB8AC3E}">
        <p14:creationId xmlns:p14="http://schemas.microsoft.com/office/powerpoint/2010/main" val="104077458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194C4-F29F-916A-9ECF-98BED2DD51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C83F57-8D98-9A4E-9191-20C01E8074FC}"/>
              </a:ext>
            </a:extLst>
          </p:cNvPr>
          <p:cNvSpPr>
            <a:spLocks noGrp="1"/>
          </p:cNvSpPr>
          <p:nvPr>
            <p:ph type="title"/>
          </p:nvPr>
        </p:nvSpPr>
        <p:spPr>
          <a:xfrm>
            <a:off x="609600" y="363090"/>
            <a:ext cx="10972800" cy="800100"/>
          </a:xfrm>
        </p:spPr>
        <p:txBody>
          <a:bodyPr anchor="b">
            <a:normAutofit/>
          </a:bodyPr>
          <a:lstStyle/>
          <a:p>
            <a:r>
              <a:rPr lang="en-US" dirty="0"/>
              <a:t>CARRIER PCB</a:t>
            </a:r>
          </a:p>
        </p:txBody>
      </p:sp>
      <p:pic>
        <p:nvPicPr>
          <p:cNvPr id="5" name="Picture 4">
            <a:extLst>
              <a:ext uri="{FF2B5EF4-FFF2-40B4-BE49-F238E27FC236}">
                <a16:creationId xmlns:a16="http://schemas.microsoft.com/office/drawing/2014/main" id="{99127D00-CB38-FB94-C2CE-82841C4CE8C1}"/>
              </a:ext>
            </a:extLst>
          </p:cNvPr>
          <p:cNvPicPr>
            <a:picLocks noChangeAspect="1"/>
          </p:cNvPicPr>
          <p:nvPr/>
        </p:nvPicPr>
        <p:blipFill>
          <a:blip r:embed="rId3"/>
          <a:stretch>
            <a:fillRect/>
          </a:stretch>
        </p:blipFill>
        <p:spPr>
          <a:xfrm>
            <a:off x="2690725" y="1524000"/>
            <a:ext cx="6810549" cy="4648200"/>
          </a:xfrm>
          <a:prstGeom prst="rect">
            <a:avLst/>
          </a:prstGeom>
          <a:noFill/>
        </p:spPr>
      </p:pic>
    </p:spTree>
    <p:extLst>
      <p:ext uri="{BB962C8B-B14F-4D97-AF65-F5344CB8AC3E}">
        <p14:creationId xmlns:p14="http://schemas.microsoft.com/office/powerpoint/2010/main" val="140912496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7BEDB-22AA-A5F2-5E81-C351FCF85A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0C13A0-6D79-E739-5854-A47FC8E2FF9E}"/>
              </a:ext>
            </a:extLst>
          </p:cNvPr>
          <p:cNvSpPr>
            <a:spLocks noGrp="1"/>
          </p:cNvSpPr>
          <p:nvPr>
            <p:ph type="title"/>
          </p:nvPr>
        </p:nvSpPr>
        <p:spPr>
          <a:xfrm>
            <a:off x="609600" y="363090"/>
            <a:ext cx="10972800" cy="800100"/>
          </a:xfrm>
        </p:spPr>
        <p:txBody>
          <a:bodyPr anchor="b">
            <a:normAutofit/>
          </a:bodyPr>
          <a:lstStyle/>
          <a:p>
            <a:r>
              <a:rPr lang="en-US" dirty="0"/>
              <a:t>Layout of S/H </a:t>
            </a:r>
            <a:r>
              <a:rPr lang="en-US" dirty="0" err="1"/>
              <a:t>OpAmp</a:t>
            </a:r>
            <a:endParaRPr lang="en-US" dirty="0"/>
          </a:p>
        </p:txBody>
      </p:sp>
      <p:pic>
        <p:nvPicPr>
          <p:cNvPr id="9" name="Content Placeholder 8">
            <a:extLst>
              <a:ext uri="{FF2B5EF4-FFF2-40B4-BE49-F238E27FC236}">
                <a16:creationId xmlns:a16="http://schemas.microsoft.com/office/drawing/2014/main" id="{599C9FBA-EA64-2F36-30F0-0759550F69A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rcRect l="29612" r="28870"/>
          <a:stretch>
            <a:fillRect/>
          </a:stretch>
        </p:blipFill>
        <p:spPr>
          <a:xfrm>
            <a:off x="609600" y="1795464"/>
            <a:ext cx="4141304" cy="4189412"/>
          </a:xfrm>
          <a:prstGeom prst="rect">
            <a:avLst/>
          </a:prstGeom>
          <a:noFill/>
        </p:spPr>
      </p:pic>
    </p:spTree>
    <p:extLst>
      <p:ext uri="{BB962C8B-B14F-4D97-AF65-F5344CB8AC3E}">
        <p14:creationId xmlns:p14="http://schemas.microsoft.com/office/powerpoint/2010/main" val="233111536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5e1d76e6ed25a0b9acc172e1212e12c5ea2ecb"/>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PI-White">
  <a:themeElements>
    <a:clrScheme name="Custom 56">
      <a:dk1>
        <a:sysClr val="windowText" lastClr="000000"/>
      </a:dk1>
      <a:lt1>
        <a:sysClr val="window" lastClr="FFFFFF"/>
      </a:lt1>
      <a:dk2>
        <a:srgbClr val="6D6D6D"/>
      </a:dk2>
      <a:lt2>
        <a:srgbClr val="AB192D"/>
      </a:lt2>
      <a:accent1>
        <a:srgbClr val="AB192D"/>
      </a:accent1>
      <a:accent2>
        <a:srgbClr val="B2B7BB"/>
      </a:accent2>
      <a:accent3>
        <a:srgbClr val="2C6A8C"/>
      </a:accent3>
      <a:accent4>
        <a:srgbClr val="B7A079"/>
      </a:accent4>
      <a:accent5>
        <a:srgbClr val="46A0DC"/>
      </a:accent5>
      <a:accent6>
        <a:srgbClr val="6D6D6D"/>
      </a:accent6>
      <a:hlink>
        <a:srgbClr val="46A0DC"/>
      </a:hlink>
      <a:folHlink>
        <a:srgbClr val="808DA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wsPrint">
      <a:fillStyleLst>
        <a:solidFill>
          <a:schemeClr val="phClr"/>
        </a:solidFill>
        <a:gradFill rotWithShape="1">
          <a:gsLst>
            <a:gs pos="0">
              <a:schemeClr val="phClr">
                <a:tint val="37000"/>
                <a:hueMod val="100000"/>
                <a:satMod val="200000"/>
                <a:lumMod val="88000"/>
              </a:schemeClr>
            </a:gs>
            <a:gs pos="100000">
              <a:schemeClr val="phClr">
                <a:tint val="53000"/>
                <a:shade val="100000"/>
                <a:hueMod val="100000"/>
                <a:satMod val="350000"/>
                <a:lumMod val="79000"/>
              </a:schemeClr>
            </a:gs>
          </a:gsLst>
          <a:lin ang="5400000" scaled="1"/>
        </a:gradFill>
        <a:gradFill rotWithShape="1">
          <a:gsLst>
            <a:gs pos="0">
              <a:schemeClr val="phClr">
                <a:tint val="83000"/>
                <a:shade val="100000"/>
                <a:alpha val="100000"/>
                <a:hueMod val="100000"/>
                <a:satMod val="220000"/>
                <a:lumMod val="90000"/>
              </a:schemeClr>
            </a:gs>
            <a:gs pos="76000">
              <a:schemeClr val="phClr">
                <a:shade val="100000"/>
              </a:schemeClr>
            </a:gs>
            <a:gs pos="100000">
              <a:schemeClr val="phClr">
                <a:shade val="93000"/>
                <a:alpha val="100000"/>
                <a:satMod val="100000"/>
                <a:lumMod val="93000"/>
              </a:schemeClr>
            </a:gs>
          </a:gsLst>
          <a:path path="circle">
            <a:fillToRect l="15000" t="15000" r="100000" b="100000"/>
          </a:path>
        </a:gradFill>
      </a:fillStyleLst>
      <a:lnStyleLst>
        <a:ln w="15875" cap="flat" cmpd="sng" algn="ctr">
          <a:solidFill>
            <a:schemeClr val="phClr"/>
          </a:solidFill>
          <a:prstDash val="solid"/>
        </a:ln>
        <a:ln w="22225" cap="flat" cmpd="sng" algn="ctr">
          <a:solidFill>
            <a:schemeClr val="phClr"/>
          </a:solidFill>
          <a:prstDash val="solid"/>
        </a:ln>
        <a:ln w="34925" cap="flat" cmpd="sng" algn="ctr">
          <a:solidFill>
            <a:schemeClr val="phClr"/>
          </a:solidFill>
          <a:prstDash val="solid"/>
        </a:ln>
      </a:lnStyleLst>
      <a:effectStyleLst>
        <a:effectStyle>
          <a:effectLst>
            <a:outerShdw blurRad="50800" dist="12700" dir="5280000" rotWithShape="0">
              <a:srgbClr val="000000">
                <a:alpha val="40000"/>
              </a:srgbClr>
            </a:outerShdw>
          </a:effectLst>
        </a:effectStyle>
        <a:effectStyle>
          <a:effectLst>
            <a:outerShdw blurRad="38100" dist="38100" dir="5400000" rotWithShape="0">
              <a:srgbClr val="000000">
                <a:alpha val="35000"/>
              </a:srgbClr>
            </a:outerShdw>
          </a:effectLst>
        </a:effectStyle>
        <a:effectStyle>
          <a:effectLst>
            <a:outerShdw blurRad="38100" dist="38100" dir="5400000" rotWithShape="0">
              <a:srgbClr val="000000">
                <a:alpha val="35000"/>
              </a:srgbClr>
            </a:outerShdw>
          </a:effectLst>
          <a:scene3d>
            <a:camera prst="orthographicFront">
              <a:rot lat="0" lon="0" rev="0"/>
            </a:camera>
            <a:lightRig rig="brightRoom" dir="tl"/>
          </a:scene3d>
          <a:sp3d contourW="12700">
            <a:bevelT w="31750" h="12700"/>
            <a:contourClr>
              <a:schemeClr val="phClr"/>
            </a:contourClr>
          </a:sp3d>
        </a:effectStyle>
      </a:effectStyleLst>
      <a:bgFillStyleLst>
        <a:solidFill>
          <a:schemeClr val="phClr"/>
        </a:solidFill>
        <a:gradFill rotWithShape="1">
          <a:gsLst>
            <a:gs pos="0">
              <a:schemeClr val="phClr">
                <a:tint val="93000"/>
              </a:schemeClr>
            </a:gs>
            <a:gs pos="100000">
              <a:schemeClr val="phClr">
                <a:shade val="55000"/>
              </a:schemeClr>
            </a:gs>
          </a:gsLst>
          <a:lin ang="5400000" scaled="1"/>
        </a:gradFill>
        <a:blipFill rotWithShape="1">
          <a:blip xmlns:r="http://schemas.openxmlformats.org/officeDocument/2006/relationships" r:embed="rId1">
            <a:duotone>
              <a:schemeClr val="phClr">
                <a:shade val="20000"/>
                <a:satMod val="350000"/>
                <a:lumMod val="125000"/>
              </a:schemeClr>
              <a:schemeClr val="phClr">
                <a:tint val="90000"/>
                <a:satMod val="250000"/>
              </a:schemeClr>
            </a:duotone>
          </a:blip>
          <a:stretch/>
        </a:blipFill>
      </a:bgFillStyleLst>
    </a:fmtScheme>
  </a:themeElements>
  <a:objectDefaults>
    <a:spDef>
      <a:spPr bwMode="auto">
        <a:solidFill>
          <a:schemeClr val="accent2"/>
        </a:solidFill>
        <a:ln w="12700" cap="sq" algn="ctr">
          <a:solidFill>
            <a:schemeClr val="tx2"/>
          </a:solidFill>
          <a:miter lim="800000"/>
          <a:headEnd/>
          <a:tailEnd/>
        </a:ln>
        <a:effectLst/>
      </a:spPr>
      <a:bodyPr wrap="none" anchor="ctr"/>
      <a:lstStyle>
        <a:defPPr algn="ctr">
          <a:defRPr sz="1600" dirty="0" smtClean="0">
            <a:solidFill>
              <a:schemeClr val="bg1"/>
            </a:solidFill>
            <a:latin typeface="+mn-lt"/>
          </a:defRPr>
        </a:defPPr>
      </a:lstStyle>
    </a:spDef>
    <a:txDef>
      <a:spPr>
        <a:noFill/>
      </a:spPr>
      <a:bodyPr wrap="none" rtlCol="0">
        <a:noAutofit/>
      </a:bodyPr>
      <a:lstStyle>
        <a:defPPr algn="ctr">
          <a:defRPr sz="1600" dirty="0" err="1" smtClean="0"/>
        </a:defPPr>
      </a:lstStyle>
    </a:txDef>
  </a:objectDefaults>
  <a:extraClrSchemeLst/>
  <a:extLst>
    <a:ext uri="{05A4C25C-085E-4340-85A3-A5531E510DB2}">
      <thm15:themeFamily xmlns:thm15="http://schemas.microsoft.com/office/thememl/2012/main" name="WPI_University_Powerpointtemplate_wide" id="{9C2DA543-CD7E-4A5E-AD34-4D91D35A4DE4}" vid="{C6AD18C4-18DF-4131-AC4D-F1EFF5ED718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36010</TotalTime>
  <Words>2824</Words>
  <Application>Microsoft Office PowerPoint</Application>
  <PresentationFormat>Widescreen</PresentationFormat>
  <Paragraphs>679</Paragraphs>
  <Slides>79</Slides>
  <Notes>68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79</vt:i4>
      </vt:variant>
    </vt:vector>
  </HeadingPairs>
  <TitlesOfParts>
    <vt:vector size="87" baseType="lpstr">
      <vt:lpstr>Arial</vt:lpstr>
      <vt:lpstr>Calibri</vt:lpstr>
      <vt:lpstr>Cambria Math</vt:lpstr>
      <vt:lpstr>Courier New</vt:lpstr>
      <vt:lpstr>Times New Roman</vt:lpstr>
      <vt:lpstr>Verdana</vt:lpstr>
      <vt:lpstr>Wingdings</vt:lpstr>
      <vt:lpstr>WPI-White</vt:lpstr>
      <vt:lpstr>Development and Characterization of 4 MS/s 8-bit Flash ADC</vt:lpstr>
      <vt:lpstr>About Me</vt:lpstr>
      <vt:lpstr>Table of Contents</vt:lpstr>
      <vt:lpstr>Background + Architecture</vt:lpstr>
      <vt:lpstr>Worcester CMOS Image Sensor – WCIS MQP</vt:lpstr>
      <vt:lpstr>High Level Diagram</vt:lpstr>
      <vt:lpstr>Flash ADC (FADC) Circuit Diagram</vt:lpstr>
      <vt:lpstr>Flash ADC (FADC) Circuit Diagram</vt:lpstr>
      <vt:lpstr>Flash ADC (FADC) Circuit Diagram</vt:lpstr>
      <vt:lpstr>Flash ADC (FADC) Circuit Diagram</vt:lpstr>
      <vt:lpstr>Flash ADC (FADC) Circuit Diagram</vt:lpstr>
      <vt:lpstr>Timing Diagram</vt:lpstr>
      <vt:lpstr>FADC Layout</vt:lpstr>
      <vt:lpstr>FADC Layout</vt:lpstr>
      <vt:lpstr>FADC Layout</vt:lpstr>
      <vt:lpstr>Test Methods</vt:lpstr>
      <vt:lpstr>Test Setup</vt:lpstr>
      <vt:lpstr>Coherent Sampling Setup</vt:lpstr>
      <vt:lpstr>Coherent Sampling Setup</vt:lpstr>
      <vt:lpstr>Coherent Sampling Setup</vt:lpstr>
      <vt:lpstr>Coherent Sampling Setup</vt:lpstr>
      <vt:lpstr>FFT Spectrum Analysis</vt:lpstr>
      <vt:lpstr>Initial FFT Measurement</vt:lpstr>
      <vt:lpstr>Hanning Window</vt:lpstr>
      <vt:lpstr>Signal Estimation - Tabei &amp; Ueda Method</vt:lpstr>
      <vt:lpstr>Breakdown Characterization Calculations</vt:lpstr>
      <vt:lpstr>Measured ENOB (Uncalibrated)</vt:lpstr>
      <vt:lpstr>Static Characterization</vt:lpstr>
      <vt:lpstr>Static Characterization Capture</vt:lpstr>
      <vt:lpstr>Static Characterization - Histogram Method</vt:lpstr>
      <vt:lpstr>CTL Function (T[k])</vt:lpstr>
      <vt:lpstr>Static Gain and Offset (IEEE-1241)</vt:lpstr>
      <vt:lpstr>PowerPoint Presentation</vt:lpstr>
      <vt:lpstr>Results &amp; Comparison</vt:lpstr>
      <vt:lpstr>Comparison</vt:lpstr>
      <vt:lpstr>Comparison</vt:lpstr>
      <vt:lpstr>Walden Figure of Merit</vt:lpstr>
      <vt:lpstr>Comparison</vt:lpstr>
      <vt:lpstr>Schreier Figure of Merit</vt:lpstr>
      <vt:lpstr>Comparison</vt:lpstr>
      <vt:lpstr>Schreier Figure of Merit</vt:lpstr>
      <vt:lpstr>Conclusions</vt:lpstr>
      <vt:lpstr>Reflection</vt:lpstr>
      <vt:lpstr>Limitations &amp; Hindsight</vt:lpstr>
      <vt:lpstr>Next Steps</vt:lpstr>
      <vt:lpstr>Thank you!</vt:lpstr>
      <vt:lpstr>Thank you!</vt:lpstr>
      <vt:lpstr>Serializer</vt:lpstr>
      <vt:lpstr>Current Bias Scan Chain Registers</vt:lpstr>
      <vt:lpstr>Coherent Sampling Setup</vt:lpstr>
      <vt:lpstr>PowerPoint Presentation</vt:lpstr>
      <vt:lpstr>Extra Slides</vt:lpstr>
      <vt:lpstr>FADC Layout</vt:lpstr>
      <vt:lpstr>FADC Layout</vt:lpstr>
      <vt:lpstr>ROM Encoder Layout</vt:lpstr>
      <vt:lpstr>Python Waveform Monitor</vt:lpstr>
      <vt:lpstr>Section Divider, Arial Bold 40pt</vt:lpstr>
      <vt:lpstr>Layout: One Column Content Arial Bold 36pt</vt:lpstr>
      <vt:lpstr>Layout: Two Column Content Arial Bold 36pt</vt:lpstr>
      <vt:lpstr>Layout: 6 Photos Arial Bold 36pt</vt:lpstr>
      <vt:lpstr>Layout: Content Left and Photo Arial Bold 36pt</vt:lpstr>
      <vt:lpstr>Layout: Content Right and Photo Arial Bold 36pt</vt:lpstr>
      <vt:lpstr>Layout: Content Left and 4 Photos Arial Bold 36pt</vt:lpstr>
      <vt:lpstr>PowerPoint Presentation</vt:lpstr>
      <vt:lpstr>Layout: 3 Photos with Captions Arial Bold 36pt</vt:lpstr>
      <vt:lpstr>Layout: 3 Table/Charts with Captions Arial Bold 36pt</vt:lpstr>
      <vt:lpstr>Layout: Table/Chart Arial Bold 36pt</vt:lpstr>
      <vt:lpstr>PowerPoint Presentation</vt:lpstr>
      <vt:lpstr> Default Table Style</vt:lpstr>
      <vt:lpstr>Layout: Content Column Chart Sample</vt:lpstr>
      <vt:lpstr>Layout: Content  Line Chart Sample</vt:lpstr>
      <vt:lpstr>Layout: Content  Pie Charts Sample </vt:lpstr>
      <vt:lpstr>Default Settings</vt:lpstr>
      <vt:lpstr>Color Scheme</vt:lpstr>
      <vt:lpstr>PowerPoint Presentation</vt:lpstr>
      <vt:lpstr>PowerPoint Presentation</vt:lpstr>
      <vt:lpstr>EXTRA CIRCUIT SCREENSHOTS</vt:lpstr>
      <vt:lpstr>CARRIER PCB</vt:lpstr>
      <vt:lpstr>Layout of S/H OpAmp</vt:lpstr>
    </vt:vector>
  </TitlesOfParts>
  <Company>WPI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This Will Work</dc:title>
  <dc:creator>Siegel, Kyle</dc:creator>
  <cp:lastModifiedBy>Frankie Marrocco</cp:lastModifiedBy>
  <cp:revision>79</cp:revision>
  <cp:lastPrinted>2023-02-14T12:46:00Z</cp:lastPrinted>
  <dcterms:created xsi:type="dcterms:W3CDTF">2023-02-08T18:44:35Z</dcterms:created>
  <dcterms:modified xsi:type="dcterms:W3CDTF">2026-04-22T11:40:09Z</dcterms:modified>
</cp:coreProperties>
</file>